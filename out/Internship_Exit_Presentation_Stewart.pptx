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panel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ai/assets/gen/mark-sla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-822960"/>
            <a:ext cx="6035040" cy="6035040"/>
          </a:xfrm>
          <a:prstGeom prst="rect">
            <a:avLst/>
          </a:prstGeom>
        </p:spPr>
      </p:pic>
      <p:pic>
        <p:nvPicPr>
          <p:cNvPr id="4" name="Image 2" descr="/home/user/ai/assets/gen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66928"/>
            <a:ext cx="1481328" cy="221277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777240" y="23042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STEWART TITLE  ·  INFORMATION SECURITY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777240" y="2633472"/>
            <a:ext cx="8595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5000" spc="-10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Security Analyst</a:t>
            </a:r>
            <a:endParaRPr lang="en-US" sz="5000" dirty="0"/>
          </a:p>
          <a:p>
            <a:pPr indent="0" marL="0">
              <a:lnSpc>
                <a:spcPct val="96000"/>
              </a:lnSpc>
              <a:buNone/>
            </a:pPr>
            <a:r>
              <a:rPr lang="en-US" sz="5000" spc="-10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Internship</a:t>
            </a:r>
            <a:endParaRPr lang="en-US" sz="5000" dirty="0"/>
          </a:p>
        </p:txBody>
      </p:sp>
      <p:sp>
        <p:nvSpPr>
          <p:cNvPr id="7" name="Shape 2"/>
          <p:cNvSpPr/>
          <p:nvPr/>
        </p:nvSpPr>
        <p:spPr>
          <a:xfrm>
            <a:off x="777240" y="4370832"/>
            <a:ext cx="713232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3"/>
          <p:cNvSpPr txBox="1"/>
          <p:nvPr/>
        </p:nvSpPr>
        <p:spPr>
          <a:xfrm>
            <a:off x="777240" y="464515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Jair Maldonado</a:t>
            </a:r>
            <a:endParaRPr lang="en-US" sz="1900" dirty="0"/>
          </a:p>
        </p:txBody>
      </p:sp>
      <p:sp>
        <p:nvSpPr>
          <p:cNvPr id="9" name="Text 4"/>
          <p:cNvSpPr txBox="1"/>
          <p:nvPr/>
        </p:nvSpPr>
        <p:spPr>
          <a:xfrm>
            <a:off x="777240" y="5029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30" kern="0" dirty="0">
                <a:solidFill>
                  <a:srgbClr val="DAB4B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Exit Presentation  ·  Summer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CONTENTS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What I will walk through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TABLE OF CONTENTS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02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12140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01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1618488" y="210312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About Me</a:t>
            </a:r>
            <a:endParaRPr lang="en-US" sz="1550" dirty="0"/>
          </a:p>
        </p:txBody>
      </p:sp>
      <p:sp>
        <p:nvSpPr>
          <p:cNvPr id="11" name="Text 8"/>
          <p:cNvSpPr txBox="1"/>
          <p:nvPr/>
        </p:nvSpPr>
        <p:spPr>
          <a:xfrm>
            <a:off x="5989320" y="213969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I am and where I am headed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77240" y="2596896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" y="279349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02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1618488" y="277520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Internship Overview</a:t>
            </a:r>
            <a:endParaRPr lang="en-US" sz="1550" dirty="0"/>
          </a:p>
        </p:txBody>
      </p:sp>
      <p:sp>
        <p:nvSpPr>
          <p:cNvPr id="15" name="Text 12"/>
          <p:cNvSpPr txBox="1"/>
          <p:nvPr/>
        </p:nvSpPr>
        <p:spPr>
          <a:xfrm>
            <a:off x="5989320" y="281178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rotations across the security team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77240" y="3268980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77240" y="3465576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03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1618488" y="344728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Image Management Program</a:t>
            </a:r>
            <a:endParaRPr lang="en-US" sz="1550" dirty="0"/>
          </a:p>
        </p:txBody>
      </p:sp>
      <p:sp>
        <p:nvSpPr>
          <p:cNvPr id="19" name="Text 16"/>
          <p:cNvSpPr txBox="1"/>
          <p:nvPr/>
        </p:nvSpPr>
        <p:spPr>
          <a:xfrm>
            <a:off x="5989320" y="348386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Securing every machine before it ships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77240" y="394106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77240" y="413766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04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1618488" y="4119372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AEGIS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5989320" y="415594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Defending against supply-chain attacks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77240" y="4613148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77240" y="480974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05</a:t>
            </a:r>
            <a:endParaRPr lang="en-US" sz="2100" dirty="0"/>
          </a:p>
        </p:txBody>
      </p:sp>
      <p:sp>
        <p:nvSpPr>
          <p:cNvPr id="26" name="Text 23"/>
          <p:cNvSpPr txBox="1"/>
          <p:nvPr/>
        </p:nvSpPr>
        <p:spPr>
          <a:xfrm>
            <a:off x="1618488" y="479145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CVE-to-Patch Automation</a:t>
            </a:r>
            <a:endParaRPr lang="en-US" sz="1550" dirty="0"/>
          </a:p>
        </p:txBody>
      </p:sp>
      <p:sp>
        <p:nvSpPr>
          <p:cNvPr id="27" name="Text 24"/>
          <p:cNvSpPr txBox="1"/>
          <p:nvPr/>
        </p:nvSpPr>
        <p:spPr>
          <a:xfrm>
            <a:off x="5989320" y="4828032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hours of manual lookup to seconds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777240" y="5285232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77240" y="548182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06</a:t>
            </a:r>
            <a:endParaRPr lang="en-US" sz="2100" dirty="0"/>
          </a:p>
        </p:txBody>
      </p:sp>
      <p:sp>
        <p:nvSpPr>
          <p:cNvPr id="30" name="Text 27"/>
          <p:cNvSpPr txBox="1"/>
          <p:nvPr/>
        </p:nvSpPr>
        <p:spPr>
          <a:xfrm>
            <a:off x="1618488" y="546354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Summary</a:t>
            </a:r>
            <a:endParaRPr lang="en-US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5989320" y="550011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this means for Stewart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panel-red-le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343400" cy="6858000"/>
          </a:xfrm>
          <a:prstGeom prst="rect">
            <a:avLst/>
          </a:prstGeom>
        </p:spPr>
      </p:pic>
      <p:pic>
        <p:nvPicPr>
          <p:cNvPr id="3" name="Image 1" descr="/home/user/ai/assets/gen/mark-slash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40080" y="3931920"/>
            <a:ext cx="3840480" cy="38404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77240" y="13716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ABOUT ME</a:t>
            </a:r>
            <a:endParaRPr lang="en-US" sz="10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173736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spc="-7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Jair Maldonado</a:t>
            </a:r>
            <a:endParaRPr lang="en-US" sz="3300" dirty="0"/>
          </a:p>
        </p:txBody>
      </p:sp>
      <p:sp>
        <p:nvSpPr>
          <p:cNvPr id="6" name="Shape 2"/>
          <p:cNvSpPr/>
          <p:nvPr/>
        </p:nvSpPr>
        <p:spPr>
          <a:xfrm>
            <a:off x="777240" y="3127248"/>
            <a:ext cx="54864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77240" y="336499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E4C9CE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Security Analyst Intern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120640" y="868680"/>
            <a:ext cx="62938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BACKGROUND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120640" y="1298448"/>
            <a:ext cx="6293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POSITION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5120640" y="1545336"/>
            <a:ext cx="6293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Security Analyst Intern — Information Security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120640" y="2084832"/>
            <a:ext cx="62938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120640" y="2240280"/>
            <a:ext cx="6293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SCHOOL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5120640" y="2487168"/>
            <a:ext cx="6293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Studying cybersecurity, with a focus on offensive security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120640" y="3026664"/>
            <a:ext cx="62938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120640" y="3182112"/>
            <a:ext cx="6293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BACKGROUND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5120640" y="3429000"/>
            <a:ext cx="6293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Hands-on security work across vulnerability management, application security, and network security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120640" y="3968496"/>
            <a:ext cx="62938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120640" y="4123944"/>
            <a:ext cx="6293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CERTIFICATIONS</a:t>
            </a:r>
            <a:endParaRPr 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5120640" y="4370832"/>
            <a:ext cx="6293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Working toward the PWPA and PJPT practical certifications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5120640" y="4910328"/>
            <a:ext cx="62938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120640" y="5065776"/>
            <a:ext cx="62938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CAREER DIRECTION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5120640" y="5312664"/>
            <a:ext cx="62938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Penetration testing — finding weaknesses before an attacker does</a:t>
            </a:r>
            <a:endParaRPr lang="en-US" sz="1250" dirty="0"/>
          </a:p>
        </p:txBody>
      </p:sp>
      <p:pic>
        <p:nvPicPr>
          <p:cNvPr id="23" name="Image 2" descr="/home/user/ai/assets/gen/logo-r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120640" y="6181344"/>
            <a:ext cx="62938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51206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ABOUT ME</a:t>
            </a:r>
            <a:endParaRPr lang="en-US" sz="850" dirty="0"/>
          </a:p>
        </p:txBody>
      </p:sp>
      <p:sp>
        <p:nvSpPr>
          <p:cNvPr id="26" name="Text 21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INTERNSHIP OVERVIEW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Three rotations across the security team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INTERNSHIP OVERVIEW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04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883664"/>
            <a:ext cx="9052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 moved through three different areas of Information Security. Each rotation produced one project.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2852928"/>
            <a:ext cx="10637215" cy="10973"/>
          </a:xfrm>
          <a:prstGeom prst="rect">
            <a:avLst/>
          </a:prstGeom>
          <a:solidFill>
            <a:srgbClr val="C9C6C4"/>
          </a:solidFill>
          <a:ln/>
        </p:spPr>
      </p:sp>
      <p:sp>
        <p:nvSpPr>
          <p:cNvPr id="11" name="Shape 8"/>
          <p:cNvSpPr/>
          <p:nvPr/>
        </p:nvSpPr>
        <p:spPr>
          <a:xfrm>
            <a:off x="1033272" y="2756916"/>
            <a:ext cx="201168" cy="201168"/>
          </a:xfrm>
          <a:prstGeom prst="ellipse">
            <a:avLst/>
          </a:prstGeom>
          <a:solidFill>
            <a:srgbClr val="94283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77240" y="3310128"/>
            <a:ext cx="331012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77800" dist="44450" dir="5400000">
              <a:srgbClr val="959092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77240" y="3310128"/>
            <a:ext cx="33101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88136" y="356616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spc="-5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01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088136" y="4041648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Vulnerability Management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88136" y="4462272"/>
            <a:ext cx="26883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Finding known weaknesses across company machines and making sure they actually get fixed.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696816" y="2756916"/>
            <a:ext cx="201168" cy="201168"/>
          </a:xfrm>
          <a:prstGeom prst="ellipse">
            <a:avLst/>
          </a:prstGeom>
          <a:solidFill>
            <a:srgbClr val="94283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440784" y="3310128"/>
            <a:ext cx="331012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2258060000" dist="564515000" dir="324000000000">
              <a:srgbClr val="959092">
                <a:alpha val="220000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440784" y="3310128"/>
            <a:ext cx="33101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751680" y="356616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spc="-5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02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4751680" y="4041648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Application Security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4751680" y="4462272"/>
            <a:ext cx="26883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Checking the software we build and the outside code we rely on for weaknesses.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8360359" y="2756916"/>
            <a:ext cx="201168" cy="201168"/>
          </a:xfrm>
          <a:prstGeom prst="ellipse">
            <a:avLst/>
          </a:prstGeom>
          <a:solidFill>
            <a:srgbClr val="94283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104327" y="3310128"/>
            <a:ext cx="331012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28677362000000" dist="7169340500000" dir="19440000000000000">
              <a:srgbClr val="959092">
                <a:alpha val="22000000000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104327" y="3310128"/>
            <a:ext cx="33101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415223" y="356616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spc="-50" kern="0" dirty="0">
                <a:solidFill>
                  <a:srgbClr val="DFBEC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03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415223" y="4041648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Network Security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415223" y="4462272"/>
            <a:ext cx="26883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Protecting how machines talk to each other, and what is allowed in and out.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panel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ai/assets/gen/mark-slash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365760"/>
            <a:ext cx="5120640" cy="51206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766560" y="566928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0" spc="-800" kern="0" dirty="0">
                <a:solidFill>
                  <a:srgbClr val="B9737E">
                    <a:alpha val="38000"/>
                  </a:srgbClr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01</a:t>
            </a:r>
            <a:endParaRPr lang="en-US" sz="210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39572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01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274320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100" spc="-9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Image Management Program</a:t>
            </a:r>
            <a:endParaRPr lang="en-US" sz="4100" dirty="0"/>
          </a:p>
        </p:txBody>
      </p:sp>
      <p:sp>
        <p:nvSpPr>
          <p:cNvPr id="7" name="Shape 3"/>
          <p:cNvSpPr/>
          <p:nvPr/>
        </p:nvSpPr>
        <p:spPr>
          <a:xfrm>
            <a:off x="777240" y="4114800"/>
            <a:ext cx="640080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AB4B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Defining the security tools every new machine must carry — and who owns installing them.</a:t>
            </a:r>
            <a:endParaRPr lang="en-US" sz="1400" dirty="0"/>
          </a:p>
        </p:txBody>
      </p:sp>
      <p:pic>
        <p:nvPicPr>
          <p:cNvPr id="9" name="Image 2" descr="/home/user/ai/assets/gen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01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01  ·  THE PROBLEM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Nine required tools. No process to install them.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IMAGE MANAGEMENT PROGRAM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06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029968"/>
            <a:ext cx="10241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 </a:t>
            </a:r>
            <a:pPr indent="0" marL="0">
              <a:buNone/>
            </a:pPr>
            <a:r>
              <a:rPr lang="en-US" sz="140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Golden Image</a:t>
            </a:r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 is the standard template every new virtual machine is built from — set it up once, and every machine created afterwards inherits it.</a:t>
            </a:r>
            <a:endParaRPr lang="en-US" sz="1400" dirty="0"/>
          </a:p>
        </p:txBody>
      </p:sp>
      <p:pic>
        <p:nvPicPr>
          <p:cNvPr id="10" name="Image 1" descr="/home/user/ai/assets/gen/iso-mach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05456"/>
            <a:ext cx="3108960" cy="30175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94360" y="5577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Each layer is security tooling the image should carry before it is ever deployed.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4224528" y="2578608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THE NINE REQUIRED TOOLS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4224528" y="29260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14300" dist="25400" dir="5400000">
              <a:srgbClr val="959092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224528" y="29260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398264" y="29992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Tenable Nessus Agent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620256" y="29260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451610000" dist="322580000" dir="324000000000">
              <a:srgbClr val="959092">
                <a:alpha val="160000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620256" y="29260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793992" y="29992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CrowdStrike Falcon Sensor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9015984" y="29260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8435447000000" dist="4096766000000" dir="19440000000000000">
              <a:srgbClr val="959092">
                <a:alpha val="16000000000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9015984" y="29260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9189720" y="29992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Netskope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4224528" y="36118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234130176900000000" dist="52028928200000000" dir="1.1664e+21">
              <a:srgbClr val="959092">
                <a:alpha val="1600000000000000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224528" y="36118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4398264" y="36850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Cribl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6620256" y="36118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2.97345324663e+21" dist="660767388140000000000" dir="6.9984e+25">
              <a:srgbClr val="959092">
                <a:alpha val="1.6e+24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6620256" y="36118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6793992" y="36850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Splunk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9015984" y="36118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3.7762856232201e+25" dist="8.391745829378e+24" dir="4.19904e+30">
              <a:srgbClr val="959092">
                <a:alpha val="1.6e+29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9015984" y="36118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9189720" y="36850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ThreatLocker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4224528" y="42976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4.795882741489527e+29" dist="1.0657517203310059e+29" dir="2.519424e+35">
              <a:srgbClr val="959092">
                <a:alpha val="1.6e+34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4224528" y="42976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4398264" y="43708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Proofpoint DLP Agent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6620256" y="42976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6.090771081691699e+33" dist="1.3535046848203775e+33" dir="1.5116544e+40">
              <a:srgbClr val="959092">
                <a:alpha val="1.6e+39"/>
              </a:srgbClr>
            </a:outerShdw>
          </a:effectLst>
        </p:spPr>
      </p:sp>
      <p:sp>
        <p:nvSpPr>
          <p:cNvPr id="35" name="Shape 31"/>
          <p:cNvSpPr/>
          <p:nvPr/>
        </p:nvSpPr>
        <p:spPr>
          <a:xfrm>
            <a:off x="6620256" y="42976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36" name="Text 32"/>
          <p:cNvSpPr txBox="1"/>
          <p:nvPr/>
        </p:nvSpPr>
        <p:spPr>
          <a:xfrm>
            <a:off x="6793992" y="43708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SCCM Agent</a:t>
            </a:r>
            <a:endParaRPr lang="en-US" sz="1050" dirty="0"/>
          </a:p>
        </p:txBody>
      </p:sp>
      <p:sp>
        <p:nvSpPr>
          <p:cNvPr id="37" name="Shape 33"/>
          <p:cNvSpPr/>
          <p:nvPr/>
        </p:nvSpPr>
        <p:spPr>
          <a:xfrm>
            <a:off x="9015984" y="4297680"/>
            <a:ext cx="2212848" cy="530352"/>
          </a:xfrm>
          <a:prstGeom prst="roundRect">
            <a:avLst>
              <a:gd name="adj" fmla="val 8621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7.735279273748459e+37" dist="1.7189509497218795e+37" dir="9.069926400000001e+44">
              <a:srgbClr val="959092">
                <a:alpha val="1.6e+44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9015984" y="4297680"/>
            <a:ext cx="45720" cy="53035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9189720" y="43708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ControlUp Agent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4224528" y="5029200"/>
            <a:ext cx="7187184" cy="841248"/>
          </a:xfrm>
          <a:prstGeom prst="roundRect">
            <a:avLst>
              <a:gd name="adj" fmla="val 5435"/>
            </a:avLst>
          </a:prstGeom>
          <a:solidFill>
            <a:srgbClr val="F6EEF0"/>
          </a:solidFill>
          <a:ln/>
        </p:spPr>
      </p:sp>
      <p:sp>
        <p:nvSpPr>
          <p:cNvPr id="41" name="Shape 37"/>
          <p:cNvSpPr/>
          <p:nvPr/>
        </p:nvSpPr>
        <p:spPr>
          <a:xfrm>
            <a:off x="4224528" y="5029200"/>
            <a:ext cx="50292" cy="841248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4443984" y="5157216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THE ACTUAL GAP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4443984" y="53949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dedicated process exists yet for installing these tools onto cloud images before deployment. My job was to define it.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01  ·  WHAT I BUILT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Building the process from scratch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IMAGE MANAGEMENT PROGRAM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07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56816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My role was to coordinate and bridge teams — define what is required, name who owns it, and get it signed off. I did not build or provision the machines myself.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2615184"/>
            <a:ext cx="3310128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364202497400000000" dist="91050624350000000" dir="1.1664e+21">
              <a:srgbClr val="959092">
                <a:alpha val="2200000000000000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88136" y="2926080"/>
            <a:ext cx="658368" cy="658368"/>
          </a:xfrm>
          <a:prstGeom prst="roundRect">
            <a:avLst>
              <a:gd name="adj" fmla="val 8333"/>
            </a:avLst>
          </a:prstGeom>
          <a:solidFill>
            <a:srgbClr val="F6EEF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88136" y="2926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01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1088136" y="3749040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Define the Tools</a:t>
            </a:r>
            <a:endParaRPr lang="en-US" sz="1550" dirty="0"/>
          </a:p>
        </p:txBody>
      </p:sp>
      <p:sp>
        <p:nvSpPr>
          <p:cNvPr id="14" name="Text 11"/>
          <p:cNvSpPr txBox="1"/>
          <p:nvPr/>
        </p:nvSpPr>
        <p:spPr>
          <a:xfrm>
            <a:off x="1088136" y="4151376"/>
            <a:ext cx="2688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Agree on exactly which security tools belong on every image — nine of them.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062908" y="3438144"/>
            <a:ext cx="402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C6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3"/>
          <p:cNvSpPr/>
          <p:nvPr/>
        </p:nvSpPr>
        <p:spPr>
          <a:xfrm>
            <a:off x="4440784" y="2615184"/>
            <a:ext cx="3310128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4.62537171698e+21" dist="1.156342929245e+21" dir="6.9984e+25">
              <a:srgbClr val="959092">
                <a:alpha val="2.2e+24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751680" y="2926080"/>
            <a:ext cx="658368" cy="658368"/>
          </a:xfrm>
          <a:prstGeom prst="roundRect">
            <a:avLst>
              <a:gd name="adj" fmla="val 8333"/>
            </a:avLst>
          </a:prstGeom>
          <a:solidFill>
            <a:srgbClr val="F6EEF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751680" y="2926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02</a:t>
            </a:r>
            <a:endParaRPr lang="en-US" sz="2100" dirty="0"/>
          </a:p>
        </p:txBody>
      </p:sp>
      <p:sp>
        <p:nvSpPr>
          <p:cNvPr id="19" name="Text 16"/>
          <p:cNvSpPr txBox="1"/>
          <p:nvPr/>
        </p:nvSpPr>
        <p:spPr>
          <a:xfrm>
            <a:off x="4751680" y="3749040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Define the Owners</a:t>
            </a:r>
            <a:endParaRPr lang="en-US" sz="1550" dirty="0"/>
          </a:p>
        </p:txBody>
      </p:sp>
      <p:sp>
        <p:nvSpPr>
          <p:cNvPr id="20" name="Text 17"/>
          <p:cNvSpPr txBox="1"/>
          <p:nvPr/>
        </p:nvSpPr>
        <p:spPr>
          <a:xfrm>
            <a:off x="4751680" y="4151376"/>
            <a:ext cx="2688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Name the team responsible for installing and maintaining each one.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7726451" y="3438144"/>
            <a:ext cx="402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C6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3000" dirty="0"/>
          </a:p>
        </p:txBody>
      </p:sp>
      <p:sp>
        <p:nvSpPr>
          <p:cNvPr id="22" name="Shape 19"/>
          <p:cNvSpPr/>
          <p:nvPr/>
        </p:nvSpPr>
        <p:spPr>
          <a:xfrm>
            <a:off x="8104327" y="2615184"/>
            <a:ext cx="3310128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5.8742220805646e+25" dist="1.46855552014115e+25" dir="4.19904e+30">
              <a:srgbClr val="959092">
                <a:alpha val="2.2e+29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8415223" y="2926080"/>
            <a:ext cx="658368" cy="658368"/>
          </a:xfrm>
          <a:prstGeom prst="roundRect">
            <a:avLst>
              <a:gd name="adj" fmla="val 8333"/>
            </a:avLst>
          </a:prstGeom>
          <a:solidFill>
            <a:srgbClr val="F6EEF0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415223" y="2926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spc="-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03</a:t>
            </a:r>
            <a:endParaRPr lang="en-US" sz="2100" dirty="0"/>
          </a:p>
        </p:txBody>
      </p:sp>
      <p:sp>
        <p:nvSpPr>
          <p:cNvPr id="25" name="Text 22"/>
          <p:cNvSpPr txBox="1"/>
          <p:nvPr/>
        </p:nvSpPr>
        <p:spPr>
          <a:xfrm>
            <a:off x="8415223" y="3749040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Get It Adopted</a:t>
            </a:r>
            <a:endParaRPr lang="en-US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8415223" y="4151376"/>
            <a:ext cx="2688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Turn that into a written framework the company formally signs off on.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77240" y="5138928"/>
            <a:ext cx="10637215" cy="859536"/>
          </a:xfrm>
          <a:prstGeom prst="roundRect">
            <a:avLst>
              <a:gd name="adj" fmla="val 6383"/>
            </a:avLst>
          </a:prstGeom>
          <a:solidFill>
            <a:srgbClr val="2B2D30"/>
          </a:solidFill>
          <a:ln/>
          <a:effectLst>
            <a:outerShdw sx="100000" sy="100000" kx="0" ky="0" algn="bl" rotWithShape="0" blurRad="9.823804677660543e+41" dist="2.183067706146787e+41" dir="5.44195584e+49">
              <a:srgbClr val="959092">
                <a:alpha val="1.6e+49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1069848" y="5285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D9A3A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DELIVERED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1069848" y="5522976"/>
            <a:ext cx="100519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written Roles &amp; Responsibilities framework — drafted, staged for review, and set for formal adoption once the policy manager returns in Q4.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panel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ai/assets/gen/mark-slash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365760"/>
            <a:ext cx="5120640" cy="51206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766560" y="566928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0" spc="-800" kern="0" dirty="0">
                <a:solidFill>
                  <a:srgbClr val="B9737E">
                    <a:alpha val="38000"/>
                  </a:srgbClr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02</a:t>
            </a:r>
            <a:endParaRPr lang="en-US" sz="210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39572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02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274320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100" spc="-9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AEGIS — Supply-Chain Defense</a:t>
            </a:r>
            <a:endParaRPr lang="en-US" sz="4100" dirty="0"/>
          </a:p>
        </p:txBody>
      </p:sp>
      <p:sp>
        <p:nvSpPr>
          <p:cNvPr id="7" name="Shape 3"/>
          <p:cNvSpPr/>
          <p:nvPr/>
        </p:nvSpPr>
        <p:spPr>
          <a:xfrm>
            <a:off x="777240" y="4114800"/>
            <a:ext cx="640080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AB4B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Catching malicious code hidden inside the open-source packages our software depends on.</a:t>
            </a:r>
            <a:endParaRPr lang="en-US" sz="1400" dirty="0"/>
          </a:p>
        </p:txBody>
      </p:sp>
      <p:pic>
        <p:nvPicPr>
          <p:cNvPr id="9" name="Image 2" descr="/home/user/ai/assets/gen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02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02  ·  THE PROBLEM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One poisoned package reaches everyone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AEGIS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09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751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In a supply-chain attack, an attacker hides malicious code inside a legitimate, widely-used open-source package. Everyone who installs it inherits the compromise — including us. Real campaigns in 2025 and 2026 worked exactly this way, including a self-spreading family that reused each victim to infect the next.</a:t>
            </a:r>
            <a:endParaRPr lang="en-US" sz="1400" dirty="0"/>
          </a:p>
        </p:txBody>
      </p:sp>
      <p:pic>
        <p:nvPicPr>
          <p:cNvPr id="10" name="Image 1" descr="/home/user/ai/assets/gen/supply-ch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798064"/>
            <a:ext cx="9875520" cy="28803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8523" y="57698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43464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Attacker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2365370" y="57698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43464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Poisoned package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4587362" y="57698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43464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Public registry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8024043" y="57698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43464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Every project that installs it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777240" y="5138928"/>
            <a:ext cx="10637215" cy="859536"/>
          </a:xfrm>
          <a:prstGeom prst="roundRect">
            <a:avLst>
              <a:gd name="adj" fmla="val 6383"/>
            </a:avLst>
          </a:prstGeom>
          <a:solidFill>
            <a:srgbClr val="F6EEF0"/>
          </a:solidFill>
          <a:ln/>
        </p:spPr>
      </p:sp>
      <p:sp>
        <p:nvSpPr>
          <p:cNvPr id="16" name="Shape 12"/>
          <p:cNvSpPr/>
          <p:nvPr/>
        </p:nvSpPr>
        <p:spPr>
          <a:xfrm>
            <a:off x="777240" y="5138928"/>
            <a:ext cx="50292" cy="859536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1014984" y="527608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WHY EXISTING TOOLS WERE NOT ENOUGH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1014984" y="5513832"/>
            <a:ext cx="10134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Most scanners only say "you have a known flaw." They do not say whether our own code actually uses the flawed part — so teams cannot tell what is urgent and what is noise.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02  ·  WHAT I BUILT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 scanner that checks if the flaw is reachable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AEGIS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10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066544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spc="-2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5,675</a:t>
            </a:r>
            <a:endParaRPr lang="en-US" sz="7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5526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real packages scanned in production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95528" y="3602736"/>
            <a:ext cx="109728" cy="109728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33272" y="352958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Zero active compromise found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1033272" y="3803904"/>
            <a:ext cx="3703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Nothing malicious was live in our dependencies.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95528" y="4462272"/>
            <a:ext cx="109728" cy="109728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33272" y="43891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Full coverage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33272" y="4663440"/>
            <a:ext cx="3703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package our software depends on was checked, not a sample.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95528" y="5321808"/>
            <a:ext cx="109728" cy="109728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033272" y="52486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Reachability, not just presence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5522976"/>
            <a:ext cx="3703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AEGIS checks whether our code calls the flawed part, then prepares a fix ready for review.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175504" y="2066544"/>
            <a:ext cx="6238951" cy="3803904"/>
          </a:xfrm>
          <a:prstGeom prst="roundRect">
            <a:avLst>
              <a:gd name="adj" fmla="val 1442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7.460262042317042e+29" dist="1.8650655105792604e+29" dir="2.519424e+35">
              <a:srgbClr val="959092">
                <a:alpha val="2.2e+34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5486400" y="2322576"/>
            <a:ext cx="56171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PACKAGES SCANNED PER VALIDATION RUN</a:t>
            </a:r>
            <a:endParaRPr lang="en-US" sz="850" dirty="0"/>
          </a:p>
        </p:txBody>
      </p:sp>
      <p:pic>
        <p:nvPicPr>
          <p:cNvPr id="22" name="Image 1" descr="/home/user/ai/assets/gen/chart-packag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633472"/>
            <a:ext cx="5763463" cy="326090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02  ·  HOW IT FITS TOGETHER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Four parts, one rule: nothing grades itself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AEGIS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11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7510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Built as four separate parts so no single component can both make a change and declare it safe.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2542032"/>
            <a:ext cx="2212848" cy="1865376"/>
          </a:xfrm>
          <a:prstGeom prst="rect">
            <a:avLst/>
          </a:prstGeom>
          <a:solidFill>
            <a:srgbClr val="FFFFFF"/>
          </a:solidFill>
          <a:ln w="12700">
            <a:solidFill>
              <a:srgbClr val="43464A"/>
            </a:solidFill>
            <a:prstDash val="solid"/>
          </a:ln>
          <a:effectLst>
            <a:outerShdw sx="100000" sy="100000" kx="0" ky="0" algn="bl" rotWithShape="0" blurRad="1.247623194062889e+46" dist="2.7724959868064195e+45" dir="3.2651735040000005e+54">
              <a:srgbClr val="959092">
                <a:alpha val="1.6e+54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7240" y="2542032"/>
            <a:ext cx="2212848" cy="713232"/>
          </a:xfrm>
          <a:prstGeom prst="rect">
            <a:avLst/>
          </a:prstGeom>
          <a:solidFill>
            <a:srgbClr val="942838"/>
          </a:solidFill>
          <a:ln w="12700">
            <a:solidFill>
              <a:srgbClr val="43464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68680" y="2651760"/>
            <a:ext cx="2029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E4C9CE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«detector»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2871216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spc="4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AEGIS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23544" y="34015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findVulnerable()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923544" y="37033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checkReachable()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923544" y="40050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markResolved()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585362" y="2542032"/>
            <a:ext cx="2212848" cy="1865376"/>
          </a:xfrm>
          <a:prstGeom prst="rect">
            <a:avLst/>
          </a:prstGeom>
          <a:solidFill>
            <a:srgbClr val="FFFFFF"/>
          </a:solidFill>
          <a:ln w="12700">
            <a:solidFill>
              <a:srgbClr val="43464A"/>
            </a:solidFill>
            <a:prstDash val="solid"/>
          </a:ln>
          <a:effectLst>
            <a:outerShdw sx="100000" sy="100000" kx="0" ky="0" algn="bl" rotWithShape="0" blurRad="1.5844814564598688e+50" dist="3.5210699032441527e+49" dir="1.9591041024000004e+59">
              <a:srgbClr val="959092">
                <a:alpha val="1.6e+59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585362" y="2542032"/>
            <a:ext cx="2212848" cy="713232"/>
          </a:xfrm>
          <a:prstGeom prst="rect">
            <a:avLst/>
          </a:prstGeom>
          <a:solidFill>
            <a:srgbClr val="F5F4F3"/>
          </a:solidFill>
          <a:ln w="12700">
            <a:solidFill>
              <a:srgbClr val="43464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676802" y="2651760"/>
            <a:ext cx="2029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«remediator»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3676802" y="2871216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spc="4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FORGE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731666" y="34015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proposeFix()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3731666" y="37033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openBranch()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3731666" y="40050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runTests()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393485" y="2542032"/>
            <a:ext cx="2212848" cy="1865376"/>
          </a:xfrm>
          <a:prstGeom prst="rect">
            <a:avLst/>
          </a:prstGeom>
          <a:solidFill>
            <a:srgbClr val="FFFFFF"/>
          </a:solidFill>
          <a:ln w="12700">
            <a:solidFill>
              <a:srgbClr val="43464A"/>
            </a:solidFill>
            <a:prstDash val="solid"/>
          </a:ln>
          <a:effectLst>
            <a:outerShdw sx="100000" sy="100000" kx="0" ky="0" algn="bl" rotWithShape="0" blurRad="2.0122914497040333e+54" dist="4.471758777120074e+53" dir="1.1754624614400003e+64">
              <a:srgbClr val="959092">
                <a:alpha val="1.5999999999999998e+64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393485" y="2542032"/>
            <a:ext cx="2212848" cy="713232"/>
          </a:xfrm>
          <a:prstGeom prst="rect">
            <a:avLst/>
          </a:prstGeom>
          <a:solidFill>
            <a:srgbClr val="F5F4F3"/>
          </a:solidFill>
          <a:ln w="12700">
            <a:solidFill>
              <a:srgbClr val="43464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84925" y="2651760"/>
            <a:ext cx="2029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«recorder»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6484925" y="2871216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spc="4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LEDGER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6539789" y="34015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recordFinding()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539789" y="37033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trackState()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539789" y="40050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auditTrail()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9201607" y="2542032"/>
            <a:ext cx="2212848" cy="1865376"/>
          </a:xfrm>
          <a:prstGeom prst="rect">
            <a:avLst/>
          </a:prstGeom>
          <a:solidFill>
            <a:srgbClr val="FFFFFF"/>
          </a:solidFill>
          <a:ln w="12700">
            <a:solidFill>
              <a:srgbClr val="43464A"/>
            </a:solidFill>
            <a:prstDash val="solid"/>
          </a:ln>
          <a:effectLst>
            <a:outerShdw sx="100000" sy="100000" kx="0" ky="0" algn="bl" rotWithShape="0" blurRad="2.5556101411241224e+58" dist="5.679133646942494e+57" dir="7.052774768640002e+68">
              <a:srgbClr val="959092">
                <a:alpha val="1.5999999999999997e+69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9201607" y="2542032"/>
            <a:ext cx="2212848" cy="713232"/>
          </a:xfrm>
          <a:prstGeom prst="rect">
            <a:avLst/>
          </a:prstGeom>
          <a:solidFill>
            <a:srgbClr val="F5F4F3"/>
          </a:solidFill>
          <a:ln w="12700">
            <a:solidFill>
              <a:srgbClr val="43464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293047" y="2651760"/>
            <a:ext cx="2029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«monitor»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9293047" y="2871216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spc="4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WATCHTOWER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9347911" y="34015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watchFeeds()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9347911" y="37033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raiseAlert()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9347911" y="40050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346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reportDrift()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3044952" y="3639312"/>
            <a:ext cx="485546" cy="0"/>
          </a:xfrm>
          <a:prstGeom prst="line">
            <a:avLst/>
          </a:prstGeom>
          <a:noFill/>
          <a:ln w="19050">
            <a:solidFill>
              <a:srgbClr val="43464A"/>
            </a:solidFill>
            <a:prstDash val="solid"/>
            <a:tailEnd type="triangle"/>
          </a:ln>
        </p:spPr>
      </p:sp>
      <p:sp>
        <p:nvSpPr>
          <p:cNvPr id="39" name="Text 36"/>
          <p:cNvSpPr txBox="1"/>
          <p:nvPr/>
        </p:nvSpPr>
        <p:spPr>
          <a:xfrm>
            <a:off x="2990088" y="3072384"/>
            <a:ext cx="59527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findings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5853074" y="3639312"/>
            <a:ext cx="485546" cy="0"/>
          </a:xfrm>
          <a:prstGeom prst="line">
            <a:avLst/>
          </a:prstGeom>
          <a:noFill/>
          <a:ln w="19050">
            <a:solidFill>
              <a:srgbClr val="43464A"/>
            </a:solidFill>
            <a:prstDash val="solid"/>
            <a:tailEnd type="triangle"/>
          </a:ln>
        </p:spPr>
      </p:sp>
      <p:sp>
        <p:nvSpPr>
          <p:cNvPr id="41" name="Text 38"/>
          <p:cNvSpPr txBox="1"/>
          <p:nvPr/>
        </p:nvSpPr>
        <p:spPr>
          <a:xfrm>
            <a:off x="5798210" y="3072384"/>
            <a:ext cx="59527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fix</a:t>
            </a:r>
            <a:endParaRPr lang="en-US" sz="8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proposal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8661197" y="3639312"/>
            <a:ext cx="485546" cy="0"/>
          </a:xfrm>
          <a:prstGeom prst="line">
            <a:avLst/>
          </a:prstGeom>
          <a:noFill/>
          <a:ln w="19050">
            <a:solidFill>
              <a:srgbClr val="43464A"/>
            </a:solidFill>
            <a:prstDash val="solid"/>
            <a:tailEnd type="triangle"/>
          </a:ln>
        </p:spPr>
      </p:sp>
      <p:sp>
        <p:nvSpPr>
          <p:cNvPr id="43" name="Text 40"/>
          <p:cNvSpPr txBox="1"/>
          <p:nvPr/>
        </p:nvSpPr>
        <p:spPr>
          <a:xfrm>
            <a:off x="8606333" y="3072384"/>
            <a:ext cx="59527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approved</a:t>
            </a:r>
            <a:endParaRPr lang="en-US" sz="8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change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10308031" y="4407408"/>
            <a:ext cx="0" cy="420624"/>
          </a:xfrm>
          <a:prstGeom prst="line">
            <a:avLst/>
          </a:prstGeom>
          <a:noFill/>
          <a:ln w="19050">
            <a:solidFill>
              <a:srgbClr val="942838"/>
            </a:solidFill>
            <a:prstDash val="dash"/>
          </a:ln>
        </p:spPr>
      </p:sp>
      <p:sp>
        <p:nvSpPr>
          <p:cNvPr id="45" name="Shape 42"/>
          <p:cNvSpPr/>
          <p:nvPr/>
        </p:nvSpPr>
        <p:spPr>
          <a:xfrm>
            <a:off x="1883664" y="4828032"/>
            <a:ext cx="8424367" cy="0"/>
          </a:xfrm>
          <a:prstGeom prst="line">
            <a:avLst/>
          </a:prstGeom>
          <a:noFill/>
          <a:ln w="19050">
            <a:solidFill>
              <a:srgbClr val="942838"/>
            </a:solidFill>
            <a:prstDash val="dash"/>
          </a:ln>
        </p:spPr>
      </p:sp>
      <p:sp>
        <p:nvSpPr>
          <p:cNvPr id="46" name="Shape 43"/>
          <p:cNvSpPr/>
          <p:nvPr/>
        </p:nvSpPr>
        <p:spPr>
          <a:xfrm>
            <a:off x="1883664" y="4407408"/>
            <a:ext cx="0" cy="420624"/>
          </a:xfrm>
          <a:prstGeom prst="line">
            <a:avLst/>
          </a:prstGeom>
          <a:noFill/>
          <a:ln w="19050">
            <a:solidFill>
              <a:srgbClr val="942838"/>
            </a:solidFill>
            <a:prstDash val="dash"/>
            <a:headEnd type="triangle"/>
            <a:tailEnd type="triangle"/>
          </a:ln>
        </p:spPr>
      </p:sp>
      <p:sp>
        <p:nvSpPr>
          <p:cNvPr id="47" name="Text 44"/>
          <p:cNvSpPr txBox="1"/>
          <p:nvPr/>
        </p:nvSpPr>
        <p:spPr>
          <a:xfrm>
            <a:off x="1883664" y="4882896"/>
            <a:ext cx="84243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«verify»  —  only AEGIS may mark a finding RESOLVED</a:t>
            </a:r>
            <a:endParaRPr lang="en-US" sz="950" dirty="0"/>
          </a:p>
        </p:txBody>
      </p:sp>
      <p:sp>
        <p:nvSpPr>
          <p:cNvPr id="48" name="Shape 45"/>
          <p:cNvSpPr/>
          <p:nvPr/>
        </p:nvSpPr>
        <p:spPr>
          <a:xfrm>
            <a:off x="777240" y="5175504"/>
            <a:ext cx="5175504" cy="841248"/>
          </a:xfrm>
          <a:prstGeom prst="rect">
            <a:avLst/>
          </a:prstGeom>
          <a:solidFill>
            <a:srgbClr val="F5F4F3"/>
          </a:solidFill>
          <a:ln w="9525">
            <a:solidFill>
              <a:srgbClr val="C9C6C4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5294376"/>
            <a:ext cx="4718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THE INVARIANT</a:t>
            </a:r>
            <a:endParaRPr lang="en-US" sz="850" dirty="0"/>
          </a:p>
        </p:txBody>
      </p:sp>
      <p:sp>
        <p:nvSpPr>
          <p:cNvPr id="50" name="Text 47"/>
          <p:cNvSpPr txBox="1"/>
          <p:nvPr/>
        </p:nvSpPr>
        <p:spPr>
          <a:xfrm>
            <a:off x="960120" y="5522976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FORGE never assigns severity. AEGIS never checks out a branch. Each part does one job.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6236208" y="5175504"/>
            <a:ext cx="5175504" cy="841248"/>
          </a:xfrm>
          <a:prstGeom prst="rect">
            <a:avLst/>
          </a:prstGeom>
          <a:solidFill>
            <a:srgbClr val="F6EEF0"/>
          </a:solidFill>
          <a:ln w="9525">
            <a:solidFill>
              <a:srgbClr val="942838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419088" y="5294376"/>
            <a:ext cx="4718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CURRENT STATUS</a:t>
            </a:r>
            <a:endParaRPr lang="en-US" sz="850" dirty="0"/>
          </a:p>
        </p:txBody>
      </p:sp>
      <p:sp>
        <p:nvSpPr>
          <p:cNvPr id="53" name="Text 50"/>
          <p:cNvSpPr txBox="1"/>
          <p:nvPr/>
        </p:nvSpPr>
        <p:spPr>
          <a:xfrm>
            <a:off x="6419088" y="5522976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Built end to end; first full pipeline test just run. Results to be confirmed before rollout.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panel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ai/assets/gen/mark-slash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365760"/>
            <a:ext cx="5120640" cy="51206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766560" y="566928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0" spc="-800" kern="0" dirty="0">
                <a:solidFill>
                  <a:srgbClr val="B9737E">
                    <a:alpha val="38000"/>
                  </a:srgbClr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03</a:t>
            </a:r>
            <a:endParaRPr lang="en-US" sz="210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39572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274320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100" spc="-9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CVE-to-Patch Automation</a:t>
            </a:r>
            <a:endParaRPr lang="en-US" sz="4100" dirty="0"/>
          </a:p>
        </p:txBody>
      </p:sp>
      <p:sp>
        <p:nvSpPr>
          <p:cNvPr id="7" name="Shape 3"/>
          <p:cNvSpPr/>
          <p:nvPr/>
        </p:nvSpPr>
        <p:spPr>
          <a:xfrm>
            <a:off x="777240" y="4114800"/>
            <a:ext cx="640080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AB4B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Turning a manual, one-at-a-time patch lookup into a job that finishes in seconds.</a:t>
            </a:r>
            <a:endParaRPr lang="en-US" sz="1400" dirty="0"/>
          </a:p>
        </p:txBody>
      </p:sp>
      <p:pic>
        <p:nvPicPr>
          <p:cNvPr id="9" name="Image 2" descr="/home/user/ai/assets/gen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  ·  THE PROBLEM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Every flaw needed its own patch, found by hand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CVE-TO-PATCH AUTOMATION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13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157984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spc="-25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117</a:t>
            </a:r>
            <a:endParaRPr lang="en-US" sz="7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34670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known flaws flagged this cycle,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each needing its own specific patch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77240" y="3968496"/>
            <a:ext cx="566928" cy="45720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4169664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Kevlar is the tool the team uses to track which machines are exposed to which flaw.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0" y="2139696"/>
            <a:ext cx="6385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WHAT A "KNOWN FLAW" IS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5029200" y="2395728"/>
            <a:ext cx="638525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publicly published weakness in software that attackers already know about. Each one has a matching fix released by the vendor.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029200" y="3182112"/>
            <a:ext cx="638525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29200" y="3438144"/>
            <a:ext cx="6385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WHY IT IS SLOW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5029200" y="3694176"/>
            <a:ext cx="638525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Finding the right fix means searching the vendor's patch catalogue for that exact flaw, on that exact software version — then repeating it.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029200" y="4480560"/>
            <a:ext cx="638525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19" name="Shape 16"/>
          <p:cNvSpPr/>
          <p:nvPr/>
        </p:nvSpPr>
        <p:spPr>
          <a:xfrm>
            <a:off x="5029200" y="4773168"/>
            <a:ext cx="6385255" cy="1207008"/>
          </a:xfrm>
          <a:prstGeom prst="roundRect">
            <a:avLst>
              <a:gd name="adj" fmla="val 4545"/>
            </a:avLst>
          </a:prstGeom>
          <a:solidFill>
            <a:srgbClr val="2B2D30"/>
          </a:solidFill>
          <a:ln/>
          <a:effectLst>
            <a:outerShdw sx="100000" sy="100000" kx="0" ky="0" algn="bl" rotWithShape="0" blurRad="3.2456248792276356e+62" dist="7.212499731616968e+61" dir="4.2316648611840007e+73">
              <a:srgbClr val="959092">
                <a:alpha val="1.5999999999999997e+74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5303520" y="49377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D9A3A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BEFORE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5303520" y="5230368"/>
            <a:ext cx="58366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spc="-8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18+ min</a:t>
            </a:r>
            <a:pPr indent="0" marL="0">
              <a:buNone/>
            </a:pPr>
            <a:r>
              <a:rPr lang="en-US" sz="1300" dirty="0">
                <a:solidFill>
                  <a:srgbClr val="DED9D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   of analyst time, every cycle</a:t>
            </a:r>
            <a:endParaRPr lang="en-US" sz="2600" dirty="0"/>
          </a:p>
        </p:txBody>
      </p:sp>
      <p:sp>
        <p:nvSpPr>
          <p:cNvPr id="22" name="Text 19"/>
          <p:cNvSpPr txBox="1"/>
          <p:nvPr/>
        </p:nvSpPr>
        <p:spPr>
          <a:xfrm>
            <a:off x="5303520" y="5687568"/>
            <a:ext cx="58366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4BBB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None of it automated — 0% matched without a person doing the searching.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  ·  THE RESULT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From hours of manual lookup to seconds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CVE-TO-PATCH AUTOMATION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14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5681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 built a script that searches Microsoft's official patch catalogue automatically and returns the exact fix for each flaw.</a:t>
            </a:r>
            <a:endParaRPr lang="en-US" sz="1400" dirty="0"/>
          </a:p>
        </p:txBody>
      </p:sp>
      <p:pic>
        <p:nvPicPr>
          <p:cNvPr id="10" name="Image 1" descr="/home/user/ai/assets/gen/chart-mat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87168"/>
            <a:ext cx="5852160" cy="3251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77240" y="58115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Share of the 117 flaws matched to their correct patch automatically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7315200" y="2432304"/>
            <a:ext cx="409925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9.474532793742643e+33" dist="2.3686331984356606e+33" dir="1.5116544e+40">
              <a:srgbClr val="959092">
                <a:alpha val="2.2e+39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7589520" y="2606040"/>
            <a:ext cx="35506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spc="-9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117/117</a:t>
            </a:r>
            <a:endParaRPr lang="en-US" sz="2700" dirty="0"/>
          </a:p>
        </p:txBody>
      </p:sp>
      <p:sp>
        <p:nvSpPr>
          <p:cNvPr id="14" name="Text 10"/>
          <p:cNvSpPr txBox="1"/>
          <p:nvPr/>
        </p:nvSpPr>
        <p:spPr>
          <a:xfrm>
            <a:off x="7589520" y="3081528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flaws matched to the correct patch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315200" y="3675888"/>
            <a:ext cx="409925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.2032656648053156e+38" dist="3.008164162013289e+37" dir="9.069926400000001e+44">
              <a:srgbClr val="959092">
                <a:alpha val="2.2e+44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589520" y="3849624"/>
            <a:ext cx="35506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spc="-9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~12 sec</a:t>
            </a:r>
            <a:endParaRPr lang="en-US" sz="2700" dirty="0"/>
          </a:p>
        </p:txBody>
      </p:sp>
      <p:sp>
        <p:nvSpPr>
          <p:cNvPr id="17" name="Text 13"/>
          <p:cNvSpPr txBox="1"/>
          <p:nvPr/>
        </p:nvSpPr>
        <p:spPr>
          <a:xfrm>
            <a:off x="7589520" y="4325112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runtime, start to finish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315200" y="4919472"/>
            <a:ext cx="4099255" cy="1097280"/>
          </a:xfrm>
          <a:prstGeom prst="roundRect">
            <a:avLst>
              <a:gd name="adj" fmla="val 5000"/>
            </a:avLst>
          </a:prstGeom>
          <a:solidFill>
            <a:srgbClr val="F6EEF0"/>
          </a:solidFill>
          <a:ln w="9525">
            <a:solidFill>
              <a:srgbClr val="942838"/>
            </a:solidFill>
            <a:prstDash val="solid"/>
          </a:ln>
          <a:effectLst>
            <a:outerShdw sx="100000" sy="100000" kx="0" ky="0" algn="bl" rotWithShape="0" blurRad="1.528147394302751e+42" dist="3.8203684857568774e+41" dir="5.44195584e+49">
              <a:srgbClr val="959092">
                <a:alpha val="2.2e+49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589520" y="5093208"/>
            <a:ext cx="35506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spc="-9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29/29</a:t>
            </a:r>
            <a:endParaRPr lang="en-US" sz="2700" dirty="0"/>
          </a:p>
        </p:txBody>
      </p:sp>
      <p:sp>
        <p:nvSpPr>
          <p:cNvPr id="20" name="Text 16"/>
          <p:cNvSpPr txBox="1"/>
          <p:nvPr/>
        </p:nvSpPr>
        <p:spPr>
          <a:xfrm>
            <a:off x="7589520" y="5568696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independently spot-checked and confirmed correct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  ·  GOING DEEPER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Matching the flaws was only half the job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CVE-TO-PATCH AUTOMATION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777240" y="2029968"/>
            <a:ext cx="5175504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.9407471907644937e+46" dist="4.851867976911234e+45" dir="3.2651735040000005e+54">
              <a:srgbClr val="959092">
                <a:alpha val="2.2e+54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088136" y="2304288"/>
            <a:ext cx="4553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WHY 209 IS NOT 117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1088136" y="2578608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spc="-10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117</a:t>
            </a:r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  flaws  →  </a:t>
            </a:r>
            <a:pPr indent="0" marL="0">
              <a:buNone/>
            </a:pPr>
            <a:r>
              <a:rPr lang="en-US" sz="3000" spc="-10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209</a:t>
            </a:r>
            <a:pPr indent="0" marL="0">
              <a:buNone/>
            </a:pPr>
            <a:r>
              <a:rPr lang="en-US" sz="140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  fix-actions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088136" y="3108960"/>
            <a:ext cx="4553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After matching, I cross-referenced against Kevlar's real per-machine tracking data. One flaw can need patching on many machines, and one patch can fix several flaws — so the real count of individual fix-actions across the fleet was 209.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36208" y="2029968"/>
            <a:ext cx="5175504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2.464748932270907e+50" dist="6.161872330677268e+49" dir="1.9591041024000004e+59">
              <a:srgbClr val="959092">
                <a:alpha val="2.2e+59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547104" y="2304288"/>
            <a:ext cx="4553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THE RULE THAT COLLAPSES IT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547104" y="2578608"/>
            <a:ext cx="4553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spc="-7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Newest patch wins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6547104" y="3108960"/>
            <a:ext cx="4553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4346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Windows patches supersede each other — the newest one already contains every older fix for that software. So we keep only the newest patch for each machine-and-software pair. It silently covers the rest, with nothing left unpatched.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46817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THE FULL CHAIN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777240" y="4992624"/>
            <a:ext cx="2487168" cy="932688"/>
          </a:xfrm>
          <a:prstGeom prst="roundRect">
            <a:avLst>
              <a:gd name="adj" fmla="val 5882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01600" dist="50800" dir="5400000">
              <a:srgbClr val="FFFFFF">
                <a:alpha val="7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960120" y="513892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spc="-9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117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923544" y="55961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flaws matched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3196285" y="5248656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C6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2600" dirty="0"/>
          </a:p>
        </p:txBody>
      </p:sp>
      <p:sp>
        <p:nvSpPr>
          <p:cNvPr id="22" name="Shape 19"/>
          <p:cNvSpPr/>
          <p:nvPr/>
        </p:nvSpPr>
        <p:spPr>
          <a:xfrm>
            <a:off x="3493922" y="4992624"/>
            <a:ext cx="2487168" cy="932688"/>
          </a:xfrm>
          <a:prstGeom prst="roundRect">
            <a:avLst>
              <a:gd name="adj" fmla="val 5882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290320000" dist="645160000" dir="324000000000">
              <a:srgbClr val="FFFFFF">
                <a:alpha val="750000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3676802" y="513892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spc="-9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209</a:t>
            </a:r>
            <a:endParaRPr lang="en-US" sz="2600" dirty="0"/>
          </a:p>
        </p:txBody>
      </p:sp>
      <p:sp>
        <p:nvSpPr>
          <p:cNvPr id="24" name="Text 21"/>
          <p:cNvSpPr txBox="1"/>
          <p:nvPr/>
        </p:nvSpPr>
        <p:spPr>
          <a:xfrm>
            <a:off x="3640226" y="55961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real fix-actions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912968" y="5248656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C6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2600" dirty="0"/>
          </a:p>
        </p:txBody>
      </p:sp>
      <p:sp>
        <p:nvSpPr>
          <p:cNvPr id="26" name="Shape 23"/>
          <p:cNvSpPr/>
          <p:nvPr/>
        </p:nvSpPr>
        <p:spPr>
          <a:xfrm>
            <a:off x="6210605" y="4992624"/>
            <a:ext cx="2487168" cy="932688"/>
          </a:xfrm>
          <a:prstGeom prst="roundRect">
            <a:avLst>
              <a:gd name="adj" fmla="val 5882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16387064000000" dist="8193532000000" dir="19440000000000000">
              <a:srgbClr val="FFFFFF">
                <a:alpha val="750000000000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6393485" y="513892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spc="12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RULE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6356909" y="55961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newest patch only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8629650" y="5248656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C6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2600" dirty="0"/>
          </a:p>
        </p:txBody>
      </p:sp>
      <p:sp>
        <p:nvSpPr>
          <p:cNvPr id="30" name="Shape 27"/>
          <p:cNvSpPr/>
          <p:nvPr/>
        </p:nvSpPr>
        <p:spPr>
          <a:xfrm>
            <a:off x="8927287" y="4992624"/>
            <a:ext cx="2487168" cy="932688"/>
          </a:xfrm>
          <a:prstGeom prst="roundRect">
            <a:avLst>
              <a:gd name="adj" fmla="val 5882"/>
            </a:avLst>
          </a:prstGeom>
          <a:solidFill>
            <a:srgbClr val="942838"/>
          </a:solidFill>
          <a:ln w="9525">
            <a:solidFill>
              <a:srgbClr val="942838"/>
            </a:solidFill>
            <a:prstDash val="solid"/>
          </a:ln>
          <a:effectLst>
            <a:outerShdw sx="100000" sy="100000" kx="0" ky="0" algn="bl" rotWithShape="0" blurRad="203200" dist="50800" dir="5400000">
              <a:srgbClr val="5D1923">
                <a:alpha val="34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9110167" y="513892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spc="-9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46</a:t>
            </a:r>
            <a:endParaRPr lang="en-US" sz="2600" dirty="0"/>
          </a:p>
        </p:txBody>
      </p:sp>
      <p:sp>
        <p:nvSpPr>
          <p:cNvPr id="32" name="Text 29"/>
          <p:cNvSpPr txBox="1"/>
          <p:nvPr/>
        </p:nvSpPr>
        <p:spPr>
          <a:xfrm>
            <a:off x="9073591" y="55961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30" kern="0" dirty="0">
                <a:solidFill>
                  <a:srgbClr val="E4C9CE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tickets opened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  ·  THE PAYOFF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209 fix-actions became 46 tickets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CVE-TO-PATCH AUTOMATION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16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777240" y="2011680"/>
            <a:ext cx="3310128" cy="1481328"/>
          </a:xfrm>
          <a:prstGeom prst="roundRect">
            <a:avLst>
              <a:gd name="adj" fmla="val 3704"/>
            </a:avLst>
          </a:prstGeom>
          <a:solidFill>
            <a:srgbClr val="F5F4F3"/>
          </a:solidFill>
          <a:ln w="9525">
            <a:solidFill>
              <a:srgbClr val="E6E4E2"/>
            </a:solidFill>
            <a:prstDash val="solid"/>
          </a:ln>
          <a:effectLst>
            <a:outerShdw sx="100000" sy="100000" kx="0" ky="0" algn="bl" rotWithShape="0" blurRad="3.1302311439840524e+54" dist="7.825577859960131e+53" dir="1.1754624614400003e+64">
              <a:srgbClr val="959092">
                <a:alpha val="2.2e+64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996696" y="2194560"/>
            <a:ext cx="28712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spc="-18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209</a:t>
            </a:r>
            <a:endParaRPr lang="en-US" sz="4600" dirty="0"/>
          </a:p>
        </p:txBody>
      </p:sp>
      <p:sp>
        <p:nvSpPr>
          <p:cNvPr id="11" name="Text 8"/>
          <p:cNvSpPr txBox="1"/>
          <p:nvPr/>
        </p:nvSpPr>
        <p:spPr>
          <a:xfrm>
            <a:off x="996696" y="2907792"/>
            <a:ext cx="2871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individual fix-actions</a:t>
            </a:r>
            <a:endParaRPr lang="en-US" sz="9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identified across the fleet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440784" y="2011680"/>
            <a:ext cx="3310128" cy="1481328"/>
          </a:xfrm>
          <a:prstGeom prst="roundRect">
            <a:avLst>
              <a:gd name="adj" fmla="val 3704"/>
            </a:avLst>
          </a:prstGeom>
          <a:solidFill>
            <a:srgbClr val="F6EEF0"/>
          </a:solidFill>
          <a:ln w="9525">
            <a:solidFill>
              <a:srgbClr val="942838"/>
            </a:solidFill>
            <a:prstDash val="solid"/>
          </a:ln>
          <a:effectLst>
            <a:outerShdw sx="100000" sy="100000" kx="0" ky="0" algn="bl" rotWithShape="0" blurRad="3.9753935528597466e+58" dist="9.938483882149366e+57" dir="7.052774768640002e+68">
              <a:srgbClr val="959092">
                <a:alpha val="2.2e+69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660240" y="2194560"/>
            <a:ext cx="28712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spc="-18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46</a:t>
            </a:r>
            <a:endParaRPr lang="en-US" sz="4600" dirty="0"/>
          </a:p>
        </p:txBody>
      </p:sp>
      <p:sp>
        <p:nvSpPr>
          <p:cNvPr id="14" name="Text 11"/>
          <p:cNvSpPr txBox="1"/>
          <p:nvPr/>
        </p:nvSpPr>
        <p:spPr>
          <a:xfrm>
            <a:off x="4660240" y="2907792"/>
            <a:ext cx="2871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tickets actually opened</a:t>
            </a:r>
            <a:endParaRPr lang="en-US" sz="9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after consolidation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104327" y="2011680"/>
            <a:ext cx="3310128" cy="1481328"/>
          </a:xfrm>
          <a:prstGeom prst="roundRect">
            <a:avLst>
              <a:gd name="adj" fmla="val 3704"/>
            </a:avLst>
          </a:prstGeom>
          <a:solidFill>
            <a:srgbClr val="F6EEF0"/>
          </a:solidFill>
          <a:ln w="9525">
            <a:solidFill>
              <a:srgbClr val="942838"/>
            </a:solidFill>
            <a:prstDash val="solid"/>
          </a:ln>
          <a:effectLst>
            <a:outerShdw sx="100000" sy="100000" kx="0" ky="0" algn="bl" rotWithShape="0" blurRad="5.048749812131878e+62" dist="1.2621874530329695e+62" dir="4.2316648611840007e+73">
              <a:srgbClr val="959092">
                <a:alpha val="2.2e+74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323783" y="2194560"/>
            <a:ext cx="28712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spc="-180" kern="0" dirty="0">
                <a:solidFill>
                  <a:srgbClr val="942838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78%</a:t>
            </a:r>
            <a:endParaRPr lang="en-US" sz="4600" dirty="0"/>
          </a:p>
        </p:txBody>
      </p:sp>
      <p:sp>
        <p:nvSpPr>
          <p:cNvPr id="17" name="Text 14"/>
          <p:cNvSpPr txBox="1"/>
          <p:nvPr/>
        </p:nvSpPr>
        <p:spPr>
          <a:xfrm>
            <a:off x="8323783" y="2907792"/>
            <a:ext cx="2871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fewer tickets for the</a:t>
            </a:r>
            <a:endParaRPr lang="en-US" sz="9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50" spc="30" kern="0" dirty="0">
                <a:solidFill>
                  <a:srgbClr val="6E717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team to work through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3803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EVERY SQUARE IS ONE REAL FIX-ACTION</a:t>
            </a:r>
            <a:endParaRPr lang="en-US" sz="850" dirty="0"/>
          </a:p>
        </p:txBody>
      </p:sp>
      <p:pic>
        <p:nvPicPr>
          <p:cNvPr id="19" name="Image 1" descr="/home/user/ai/assets/gen/chart-consolid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096512"/>
            <a:ext cx="10637215" cy="122149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77240" y="540945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46 opened as tickets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5928055" y="540945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163 absorbed by a newer patch already being installed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777240" y="585216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Zero coverage loss</a:t>
            </a:r>
            <a:pPr indent="0" marL="0">
              <a:buNone/>
            </a:pPr>
            <a:r>
              <a:rPr lang="en-US" sz="115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—  verified across 2,658 machine-and-software combinations.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logo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PROJECT 03  ·  WHAT COMES NEXT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932688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900" spc="-50" kern="0" dirty="0">
                <a:solidFill>
                  <a:srgbClr val="2B2D3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Four systems, one screen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77240" y="1700784"/>
            <a:ext cx="566928" cy="50292"/>
          </a:xfrm>
          <a:prstGeom prst="rect">
            <a:avLst/>
          </a:prstGeom>
          <a:solidFill>
            <a:srgbClr val="942838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6181344"/>
            <a:ext cx="10637215" cy="10973"/>
          </a:xfrm>
          <a:prstGeom prst="rect">
            <a:avLst/>
          </a:prstGeom>
          <a:solidFill>
            <a:srgbClr val="E6E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CVE-TO-PATCH AUTOMATION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6E7175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17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011680"/>
            <a:ext cx="4160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Today these four systems each hold one piece of the story, and someone has to stitch them together by hand. The next step is a single view where the whole path is visible at once.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95528" y="3118104"/>
            <a:ext cx="182880" cy="182880"/>
          </a:xfrm>
          <a:prstGeom prst="ellipse">
            <a:avLst/>
          </a:prstGeom>
          <a:solidFill>
            <a:srgbClr val="F6EEF0"/>
          </a:solidFill>
          <a:ln w="19050">
            <a:solidFill>
              <a:srgbClr val="94283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50392" y="3172968"/>
            <a:ext cx="73152" cy="73152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12" name="Shape 9"/>
          <p:cNvSpPr/>
          <p:nvPr/>
        </p:nvSpPr>
        <p:spPr>
          <a:xfrm>
            <a:off x="882396" y="3319272"/>
            <a:ext cx="10973" cy="457200"/>
          </a:xfrm>
          <a:prstGeom prst="rect">
            <a:avLst/>
          </a:prstGeom>
          <a:solidFill>
            <a:srgbClr val="C9C6C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43000" y="3054096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Tenable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finds the flaw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95528" y="3776472"/>
            <a:ext cx="182880" cy="182880"/>
          </a:xfrm>
          <a:prstGeom prst="ellipse">
            <a:avLst/>
          </a:prstGeom>
          <a:solidFill>
            <a:srgbClr val="F6EEF0"/>
          </a:solidFill>
          <a:ln w="19050">
            <a:solidFill>
              <a:srgbClr val="94283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50392" y="3831336"/>
            <a:ext cx="73152" cy="73152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17" name="Shape 14"/>
          <p:cNvSpPr/>
          <p:nvPr/>
        </p:nvSpPr>
        <p:spPr>
          <a:xfrm>
            <a:off x="882396" y="3977640"/>
            <a:ext cx="10973" cy="457200"/>
          </a:xfrm>
          <a:prstGeom prst="rect">
            <a:avLst/>
          </a:prstGeom>
          <a:solidFill>
            <a:srgbClr val="C9C6C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143000" y="3712464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Kevlar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9684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tracks which machines are exposed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95528" y="4434840"/>
            <a:ext cx="182880" cy="182880"/>
          </a:xfrm>
          <a:prstGeom prst="ellipse">
            <a:avLst/>
          </a:prstGeom>
          <a:solidFill>
            <a:srgbClr val="F6EEF0"/>
          </a:solidFill>
          <a:ln w="19050">
            <a:solidFill>
              <a:srgbClr val="94283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50392" y="4489704"/>
            <a:ext cx="73152" cy="73152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22" name="Shape 19"/>
          <p:cNvSpPr/>
          <p:nvPr/>
        </p:nvSpPr>
        <p:spPr>
          <a:xfrm>
            <a:off x="882396" y="4636008"/>
            <a:ext cx="10973" cy="457200"/>
          </a:xfrm>
          <a:prstGeom prst="rect">
            <a:avLst/>
          </a:prstGeom>
          <a:solidFill>
            <a:srgbClr val="C9C6C4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143000" y="4370832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ServiceNow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" y="462686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opens the ticket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795528" y="5093208"/>
            <a:ext cx="182880" cy="182880"/>
          </a:xfrm>
          <a:prstGeom prst="ellipse">
            <a:avLst/>
          </a:prstGeom>
          <a:solidFill>
            <a:srgbClr val="F6EEF0"/>
          </a:solidFill>
          <a:ln w="19050">
            <a:solidFill>
              <a:srgbClr val="94283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50392" y="5148072"/>
            <a:ext cx="73152" cy="73152"/>
          </a:xfrm>
          <a:prstGeom prst="ellipse">
            <a:avLst/>
          </a:prstGeom>
          <a:solidFill>
            <a:srgbClr val="94283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143000" y="502920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D30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Wiz</a:t>
            </a:r>
            <a:endParaRPr lang="en-US" sz="1350" dirty="0"/>
          </a:p>
        </p:txBody>
      </p:sp>
      <p:sp>
        <p:nvSpPr>
          <p:cNvPr id="28" name="Text 25"/>
          <p:cNvSpPr txBox="1"/>
          <p:nvPr/>
        </p:nvSpPr>
        <p:spPr>
          <a:xfrm>
            <a:off x="1143000" y="52852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17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confirms the machine is real and reachable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77240" y="5632704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2838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Flaw found → fix identified → ticket opened → patch confirmed, all in one place.</a:t>
            </a:r>
            <a:endParaRPr lang="en-US" sz="1100" dirty="0"/>
          </a:p>
        </p:txBody>
      </p:sp>
      <p:pic>
        <p:nvPicPr>
          <p:cNvPr id="30" name="Image 1" descr="/home/user/ai/assets/gen/dashboard-m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384" y="2103120"/>
            <a:ext cx="6056071" cy="3499063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5358384" y="5748487"/>
            <a:ext cx="60560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30" kern="0" dirty="0">
                <a:solidFill>
                  <a:srgbClr val="C9C6C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Concept — not a live system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i/assets/gen/panel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ai/assets/gen/mark-slash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2926080"/>
            <a:ext cx="4754880" cy="4754880"/>
          </a:xfrm>
          <a:prstGeom prst="rect">
            <a:avLst/>
          </a:prstGeom>
        </p:spPr>
      </p:pic>
      <p:pic>
        <p:nvPicPr>
          <p:cNvPr id="4" name="Image 2" descr="/home/user/ai/assets/gen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8887" y="457200"/>
            <a:ext cx="1115568" cy="166641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777240" y="6583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2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SUMMARY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777240" y="987552"/>
            <a:ext cx="95097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spc="-8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Not just a good intern for my team —</a:t>
            </a:r>
            <a:endParaRPr lang="en-US" sz="3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200" spc="-80" kern="0" dirty="0">
                <a:solidFill>
                  <a:srgbClr val="FFFFFF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for the company</a:t>
            </a:r>
            <a:endParaRPr lang="en-US" sz="3200" dirty="0"/>
          </a:p>
        </p:txBody>
      </p:sp>
      <p:sp>
        <p:nvSpPr>
          <p:cNvPr id="7" name="Shape 2"/>
          <p:cNvSpPr/>
          <p:nvPr/>
        </p:nvSpPr>
        <p:spPr>
          <a:xfrm>
            <a:off x="777240" y="2249424"/>
            <a:ext cx="640080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3"/>
          <p:cNvSpPr/>
          <p:nvPr/>
        </p:nvSpPr>
        <p:spPr>
          <a:xfrm>
            <a:off x="777240" y="2615184"/>
            <a:ext cx="5175504" cy="1280160"/>
          </a:xfrm>
          <a:prstGeom prst="roundRect">
            <a:avLst>
              <a:gd name="adj" fmla="val 428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CA949C"/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777240" y="2615184"/>
            <a:ext cx="4572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1033272" y="28163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Left tools behind, not just results</a:t>
            </a:r>
            <a:endParaRPr lang="en-US" sz="1350" dirty="0"/>
          </a:p>
        </p:txBody>
      </p:sp>
      <p:sp>
        <p:nvSpPr>
          <p:cNvPr id="11" name="Text 6"/>
          <p:cNvSpPr txBox="1"/>
          <p:nvPr/>
        </p:nvSpPr>
        <p:spPr>
          <a:xfrm>
            <a:off x="1033272" y="312724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C9C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scripts and frameworks I built are still in use by the team after I go.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6236208" y="2615184"/>
            <a:ext cx="5175504" cy="1280160"/>
          </a:xfrm>
          <a:prstGeom prst="roundRect">
            <a:avLst>
              <a:gd name="adj" fmla="val 428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CA949C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236208" y="2615184"/>
            <a:ext cx="4572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6492240" y="28163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Worked across team lines</a:t>
            </a:r>
            <a:endParaRPr lang="en-US" sz="1350" dirty="0"/>
          </a:p>
        </p:txBody>
      </p:sp>
      <p:sp>
        <p:nvSpPr>
          <p:cNvPr id="15" name="Text 10"/>
          <p:cNvSpPr txBox="1"/>
          <p:nvPr/>
        </p:nvSpPr>
        <p:spPr>
          <a:xfrm>
            <a:off x="6492240" y="312724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C9C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Vulnerability Management, Application Security and Network Security — plus Cloud Operations and Development.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777240" y="4133088"/>
            <a:ext cx="5175504" cy="1280160"/>
          </a:xfrm>
          <a:prstGeom prst="roundRect">
            <a:avLst>
              <a:gd name="adj" fmla="val 428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CA949C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4133088"/>
            <a:ext cx="4572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1033272" y="433425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Built proof, not opinions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1033272" y="4645152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C9C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number in this deck was independently checked before I put it on a slide.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236208" y="4133088"/>
            <a:ext cx="5175504" cy="1280160"/>
          </a:xfrm>
          <a:prstGeom prst="roundRect">
            <a:avLst>
              <a:gd name="adj" fmla="val 4286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CA949C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236208" y="4133088"/>
            <a:ext cx="4572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6492240" y="433425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Built to scale beyond one team</a:t>
            </a:r>
            <a:endParaRPr lang="en-US" sz="1350" dirty="0"/>
          </a:p>
        </p:txBody>
      </p:sp>
      <p:sp>
        <p:nvSpPr>
          <p:cNvPr id="23" name="Text 18"/>
          <p:cNvSpPr txBox="1"/>
          <p:nvPr/>
        </p:nvSpPr>
        <p:spPr>
          <a:xfrm>
            <a:off x="6492240" y="4645152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C9C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Each project was designed so another group can pick it up and run it.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777240" y="5614416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Thank you — happy to take questions.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777240" y="5980176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30" kern="0" dirty="0">
                <a:solidFill>
                  <a:srgbClr val="DAB4BA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Next up: the PWPA and PJPT certifications, heading toward penetration testing.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777240" y="63276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SUMMARY</a:t>
            </a:r>
            <a:endParaRPr lang="en-US" sz="850" dirty="0"/>
          </a:p>
        </p:txBody>
      </p:sp>
      <p:sp>
        <p:nvSpPr>
          <p:cNvPr id="27" name="Text 22"/>
          <p:cNvSpPr txBox="1"/>
          <p:nvPr/>
        </p:nvSpPr>
        <p:spPr>
          <a:xfrm>
            <a:off x="10317175" y="6327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E4C9C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Stewart Title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Security Analyst Internship — Exit Presentation</dc:title>
  <dc:subject>PptxGenJS Presentation</dc:subject>
  <dc:creator>Jair Maldonado</dc:creator>
  <cp:lastModifiedBy>Jair Maldonado</cp:lastModifiedBy>
  <cp:revision>1</cp:revision>
  <dcterms:created xsi:type="dcterms:W3CDTF">2026-07-26T03:33:25Z</dcterms:created>
  <dcterms:modified xsi:type="dcterms:W3CDTF">2026-07-26T03:33:25Z</dcterms:modified>
</cp:coreProperties>
</file>