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only take one thing from this: three separate problems, three working solutions, and I can show the evidence for each. The detail follows — feel free to tune in and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Golden Image is the template every new virtual machine is built from. Set it up once and every machine after that inherits it. Q: Does this slow down provisioning? — No. The tools go into the image itself, so a machine built from it is already compliant on first boot.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When does this actually get adopted? — Q4, when the policy manager returns. It is drafted and staged for sign-off now, not adopted. Q: Who owns the rollout? — The infrastructure security team; each named team owns its own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version: someone poisons a popular free software package, and everyone who installs it gets the poison too. It has happened repeatedly in the last two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Can AEGIS catch zero-days? — No. It catches publicly known flaws in open-source dependencies. Zero-days need different tooling entirely. Q: What about false positives? — Every finding it labels reachable is a real code path; anything it cannot confirm is labelled "can't prove", never "safe". I have not measured a false-positive rate, so I am not going to quote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for the security folks. The short version for everyone else: I tried to make the tool report a clean result it had not earned, and it refused.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Who maintains this after I leave? — The Vulnerability Management team. It is packaged as a plugin so it installs with one command, though that install flow still needs a real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Why 117 and not more? — Because that is the filtered set: high or critical severity AND directly affecting business operations. It is not a sample and it is not everything Kevlar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~17.5 hour baseline is a reasoned estimate at 8-10 minutes per flaw, not a stopwatch measurement. Say so if asked. If precision matters, have an analyst time a sample of 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Were all 117 validated? — 29 were independently spot-checked and all 29 were correct. One entry, CVE-2025-47827, is double-classified in the Kevlar export (IGEL OS and Windows). That is a data-quality issue upstream, not a bug in the script, but worth flagging to whoever owns the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chain if asked: 2,658 real host-and-product assignments, which Kevlar groups into 209 KB Priority rows, which the highest-fixed-build rule collapses to 46 tickets. The 78% is measured against Kevlar's 209, not against the 117.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Will this integrate with Jira? — The data is ready. The integration depends on a workflow decision with the team that owns ticketing. The scripts work today without it; the dashboard is the optional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user/ai/assets/gen/panel-r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ai/assets/gen/mark-slash.png">    </p:cNvPr>
          <p:cNvPicPr>
            <a:picLocks noChangeAspect="1"/>
          </p:cNvPicPr>
          <p:nvPr/>
        </p:nvPicPr>
        <p:blipFill>
          <a:blip r:embed="rId2"/>
          <a:stretch>
            <a:fillRect/>
          </a:stretch>
        </p:blipFill>
        <p:spPr>
          <a:xfrm>
            <a:off x="7040880" y="-822960"/>
            <a:ext cx="6035040" cy="6035040"/>
          </a:xfrm>
          <a:prstGeom prst="rect">
            <a:avLst/>
          </a:prstGeom>
        </p:spPr>
      </p:pic>
      <p:pic>
        <p:nvPicPr>
          <p:cNvPr id="4" name="Image 2" descr="/home/user/ai/assets/gen/logo-white.png">    </p:cNvPr>
          <p:cNvPicPr>
            <a:picLocks noChangeAspect="1"/>
          </p:cNvPicPr>
          <p:nvPr/>
        </p:nvPicPr>
        <p:blipFill>
          <a:blip r:embed="rId3"/>
          <a:stretch>
            <a:fillRect/>
          </a:stretch>
        </p:blipFill>
        <p:spPr>
          <a:xfrm>
            <a:off x="777240" y="566928"/>
            <a:ext cx="2194560" cy="221404"/>
          </a:xfrm>
          <a:prstGeom prst="rect">
            <a:avLst/>
          </a:prstGeom>
        </p:spPr>
      </p:pic>
      <p:sp>
        <p:nvSpPr>
          <p:cNvPr id="5" name="Text 0"/>
          <p:cNvSpPr txBox="1"/>
          <p:nvPr/>
        </p:nvSpPr>
        <p:spPr>
          <a:xfrm>
            <a:off x="777240" y="2304288"/>
            <a:ext cx="8229600" cy="237744"/>
          </a:xfrm>
          <a:prstGeom prst="rect">
            <a:avLst/>
          </a:prstGeom>
          <a:noFill/>
          <a:ln/>
        </p:spPr>
        <p:txBody>
          <a:bodyPr wrap="square" lIns="0" tIns="0" rIns="0" bIns="0" rtlCol="0" anchor="t"/>
          <a:lstStyle/>
          <a:p>
            <a:pPr indent="0" marL="0">
              <a:buNone/>
            </a:pPr>
            <a:r>
              <a:rPr lang="en-US" sz="1000" spc="220" kern="0" dirty="0">
                <a:solidFill>
                  <a:srgbClr val="E4C9CE"/>
                </a:solidFill>
                <a:latin typeface="Montserrat SemiBold" pitchFamily="34" charset="0"/>
                <a:ea typeface="Montserrat SemiBold" pitchFamily="34" charset="-122"/>
                <a:cs typeface="Montserrat SemiBold" pitchFamily="34" charset="-120"/>
              </a:rPr>
              <a:t>STEWART TITLE  ·  INFORMATION SECURITY</a:t>
            </a:r>
            <a:endParaRPr lang="en-US" sz="1000" dirty="0"/>
          </a:p>
        </p:txBody>
      </p:sp>
      <p:sp>
        <p:nvSpPr>
          <p:cNvPr id="6" name="Text 1"/>
          <p:cNvSpPr txBox="1"/>
          <p:nvPr/>
        </p:nvSpPr>
        <p:spPr>
          <a:xfrm>
            <a:off x="777240" y="2633472"/>
            <a:ext cx="8595360" cy="1600200"/>
          </a:xfrm>
          <a:prstGeom prst="rect">
            <a:avLst/>
          </a:prstGeom>
          <a:noFill/>
          <a:ln/>
        </p:spPr>
        <p:txBody>
          <a:bodyPr wrap="square" lIns="0" tIns="0" rIns="0" bIns="0" rtlCol="0" anchor="t"/>
          <a:lstStyle/>
          <a:p>
            <a:pPr indent="0" marL="0">
              <a:lnSpc>
                <a:spcPct val="96000"/>
              </a:lnSpc>
              <a:buNone/>
            </a:pPr>
            <a:r>
              <a:rPr lang="en-US" sz="5000" spc="-100" kern="0" dirty="0">
                <a:solidFill>
                  <a:srgbClr val="FFFFFF"/>
                </a:solidFill>
                <a:latin typeface="Montserrat ExtraBold" pitchFamily="34" charset="0"/>
                <a:ea typeface="Montserrat ExtraBold" pitchFamily="34" charset="-122"/>
                <a:cs typeface="Montserrat ExtraBold" pitchFamily="34" charset="-120"/>
              </a:rPr>
              <a:t>Information Security</a:t>
            </a:r>
            <a:endParaRPr lang="en-US" sz="5000" dirty="0"/>
          </a:p>
          <a:p>
            <a:pPr indent="0" marL="0">
              <a:lnSpc>
                <a:spcPct val="96000"/>
              </a:lnSpc>
              <a:buNone/>
            </a:pPr>
            <a:r>
              <a:rPr lang="en-US" sz="5000" spc="-100" kern="0" dirty="0">
                <a:solidFill>
                  <a:srgbClr val="FFFFFF"/>
                </a:solidFill>
                <a:latin typeface="Montserrat ExtraBold" pitchFamily="34" charset="0"/>
                <a:ea typeface="Montserrat ExtraBold" pitchFamily="34" charset="-122"/>
                <a:cs typeface="Montserrat ExtraBold" pitchFamily="34" charset="-120"/>
              </a:rPr>
              <a:t>Analyst Internship</a:t>
            </a:r>
            <a:endParaRPr lang="en-US" sz="5000" dirty="0"/>
          </a:p>
        </p:txBody>
      </p:sp>
      <p:sp>
        <p:nvSpPr>
          <p:cNvPr id="7" name="Shape 2"/>
          <p:cNvSpPr/>
          <p:nvPr/>
        </p:nvSpPr>
        <p:spPr>
          <a:xfrm>
            <a:off x="777240" y="4370832"/>
            <a:ext cx="713232" cy="54864"/>
          </a:xfrm>
          <a:prstGeom prst="rect">
            <a:avLst/>
          </a:prstGeom>
          <a:solidFill>
            <a:srgbClr val="FFFFFF"/>
          </a:solidFill>
          <a:ln/>
        </p:spPr>
      </p:sp>
      <p:sp>
        <p:nvSpPr>
          <p:cNvPr id="8" name="Text 3"/>
          <p:cNvSpPr txBox="1"/>
          <p:nvPr/>
        </p:nvSpPr>
        <p:spPr>
          <a:xfrm>
            <a:off x="777240" y="4645152"/>
            <a:ext cx="6400800" cy="365760"/>
          </a:xfrm>
          <a:prstGeom prst="rect">
            <a:avLst/>
          </a:prstGeom>
          <a:noFill/>
          <a:ln/>
        </p:spPr>
        <p:txBody>
          <a:bodyPr wrap="square" lIns="0" tIns="0" rIns="0" bIns="0" rtlCol="0" anchor="t"/>
          <a:lstStyle/>
          <a:p>
            <a:pPr indent="0" marL="0">
              <a:buNone/>
            </a:pPr>
            <a:r>
              <a:rPr lang="en-US" sz="1900" dirty="0">
                <a:solidFill>
                  <a:srgbClr val="FFFFFF"/>
                </a:solidFill>
                <a:latin typeface="Montserrat SemiBold" pitchFamily="34" charset="0"/>
                <a:ea typeface="Montserrat SemiBold" pitchFamily="34" charset="-122"/>
                <a:cs typeface="Montserrat SemiBold" pitchFamily="34" charset="-120"/>
              </a:rPr>
              <a:t>Jair Maldonado</a:t>
            </a:r>
            <a:endParaRPr lang="en-US" sz="1900" dirty="0"/>
          </a:p>
        </p:txBody>
      </p:sp>
      <p:sp>
        <p:nvSpPr>
          <p:cNvPr id="9" name="Text 4"/>
          <p:cNvSpPr txBox="1"/>
          <p:nvPr/>
        </p:nvSpPr>
        <p:spPr>
          <a:xfrm>
            <a:off x="777240" y="5029200"/>
            <a:ext cx="6400800" cy="274320"/>
          </a:xfrm>
          <a:prstGeom prst="rect">
            <a:avLst/>
          </a:prstGeom>
          <a:noFill/>
          <a:ln/>
        </p:spPr>
        <p:txBody>
          <a:bodyPr wrap="square" lIns="0" tIns="0" rIns="0" bIns="0" rtlCol="0" anchor="t"/>
          <a:lstStyle/>
          <a:p>
            <a:pPr indent="0" marL="0">
              <a:buNone/>
            </a:pPr>
            <a:r>
              <a:rPr lang="en-US" sz="950" spc="30" kern="0" dirty="0">
                <a:solidFill>
                  <a:srgbClr val="DAB4BA"/>
                </a:solidFill>
                <a:latin typeface="Montserrat Medium" pitchFamily="34" charset="0"/>
                <a:ea typeface="Montserrat Medium" pitchFamily="34" charset="-122"/>
                <a:cs typeface="Montserrat Medium" pitchFamily="34" charset="-120"/>
              </a:rPr>
              <a:t>Exit Presentation  ·  Summer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user/ai/assets/gen/logo-red.png">    </p:cNvPr>
          <p:cNvPicPr>
            <a:picLocks noChangeAspect="1"/>
          </p:cNvPicPr>
          <p:nvPr/>
        </p:nvPicPr>
        <p:blipFill>
          <a:blip r:embed="rId1"/>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indent="0" marL="0">
              <a:buNone/>
            </a:pPr>
            <a:r>
              <a:rPr lang="en-US" sz="1000" spc="220" kern="0" dirty="0">
                <a:solidFill>
                  <a:srgbClr val="942838"/>
                </a:solidFill>
                <a:latin typeface="Montserrat SemiBold" pitchFamily="34" charset="0"/>
                <a:ea typeface="Montserrat SemiBold" pitchFamily="34" charset="-122"/>
                <a:cs typeface="Montserrat SemiBold" pitchFamily="34" charset="-120"/>
              </a:rPr>
              <a:t>CONTENTS</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indent="0" marL="0">
              <a:lnSpc>
                <a:spcPct val="98000"/>
              </a:lnSpc>
              <a:buNone/>
            </a:pPr>
            <a:r>
              <a:rPr lang="en-US" sz="2900" spc="-50" kern="0" dirty="0">
                <a:solidFill>
                  <a:srgbClr val="2B2D30"/>
                </a:solidFill>
                <a:latin typeface="Montserrat ExtraBold" pitchFamily="34" charset="0"/>
                <a:ea typeface="Montserrat ExtraBold" pitchFamily="34" charset="-122"/>
                <a:cs typeface="Montserrat ExtraBold" pitchFamily="34" charset="-120"/>
              </a:rPr>
              <a:t>What I will walk through</a:t>
            </a:r>
            <a:endParaRPr lang="en-US" sz="2900" dirty="0"/>
          </a:p>
        </p:txBody>
      </p:sp>
      <p:sp>
        <p:nvSpPr>
          <p:cNvPr id="5" name="Shape 2"/>
          <p:cNvSpPr/>
          <p:nvPr/>
        </p:nvSpPr>
        <p:spPr>
          <a:xfrm>
            <a:off x="777240" y="1700784"/>
            <a:ext cx="566928" cy="50292"/>
          </a:xfrm>
          <a:prstGeom prst="rect">
            <a:avLst/>
          </a:prstGeom>
          <a:solidFill>
            <a:srgbClr val="942838"/>
          </a:solidFill>
          <a:ln/>
        </p:spPr>
      </p:sp>
      <p:sp>
        <p:nvSpPr>
          <p:cNvPr id="6" name="Shape 3"/>
          <p:cNvSpPr/>
          <p:nvPr/>
        </p:nvSpPr>
        <p:spPr>
          <a:xfrm>
            <a:off x="777240" y="6181344"/>
            <a:ext cx="10637215" cy="10973"/>
          </a:xfrm>
          <a:prstGeom prst="rect">
            <a:avLst/>
          </a:prstGeom>
          <a:solidFill>
            <a:srgbClr val="E6E4E2"/>
          </a:solidFill>
          <a:ln/>
        </p:spPr>
      </p:sp>
      <p:sp>
        <p:nvSpPr>
          <p:cNvPr id="7" name="Text 4"/>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TABLE OF CONTENTS</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02</a:t>
            </a:r>
            <a:endParaRPr lang="en-US" sz="850" dirty="0"/>
          </a:p>
        </p:txBody>
      </p:sp>
      <p:sp>
        <p:nvSpPr>
          <p:cNvPr id="9" name="Text 6"/>
          <p:cNvSpPr txBox="1"/>
          <p:nvPr/>
        </p:nvSpPr>
        <p:spPr>
          <a:xfrm>
            <a:off x="777240" y="2121408"/>
            <a:ext cx="777240" cy="384048"/>
          </a:xfrm>
          <a:prstGeom prst="rect">
            <a:avLst/>
          </a:prstGeom>
          <a:noFill/>
          <a:ln/>
        </p:spPr>
        <p:txBody>
          <a:bodyPr wrap="square" lIns="0" tIns="0" rIns="0" bIns="0" rtlCol="0" anchor="t"/>
          <a:lstStyle/>
          <a:p>
            <a:pPr indent="0" marL="0">
              <a:buNone/>
            </a:pPr>
            <a:r>
              <a:rPr lang="en-US" sz="2100" spc="-50" kern="0" dirty="0">
                <a:solidFill>
                  <a:srgbClr val="942838"/>
                </a:solidFill>
                <a:latin typeface="Montserrat ExtraBold" pitchFamily="34" charset="0"/>
                <a:ea typeface="Montserrat ExtraBold" pitchFamily="34" charset="-122"/>
                <a:cs typeface="Montserrat ExtraBold" pitchFamily="34" charset="-120"/>
              </a:rPr>
              <a:t>01</a:t>
            </a:r>
            <a:endParaRPr lang="en-US" sz="2100" dirty="0"/>
          </a:p>
        </p:txBody>
      </p:sp>
      <p:sp>
        <p:nvSpPr>
          <p:cNvPr id="10" name="Text 7"/>
          <p:cNvSpPr txBox="1"/>
          <p:nvPr/>
        </p:nvSpPr>
        <p:spPr>
          <a:xfrm>
            <a:off x="1618488" y="2103120"/>
            <a:ext cx="4663440" cy="310896"/>
          </a:xfrm>
          <a:prstGeom prst="rect">
            <a:avLst/>
          </a:prstGeom>
          <a:noFill/>
          <a:ln/>
        </p:spPr>
        <p:txBody>
          <a:bodyPr wrap="square" lIns="0" tIns="0" rIns="0" bIns="0" rtlCol="0" anchor="t"/>
          <a:lstStyle/>
          <a:p>
            <a:pPr indent="0" marL="0">
              <a:buNone/>
            </a:pPr>
            <a:r>
              <a:rPr lang="en-US" sz="1550" dirty="0">
                <a:solidFill>
                  <a:srgbClr val="2B2D30"/>
                </a:solidFill>
                <a:latin typeface="Montserrat SemiBold" pitchFamily="34" charset="0"/>
                <a:ea typeface="Montserrat SemiBold" pitchFamily="34" charset="-122"/>
                <a:cs typeface="Montserrat SemiBold" pitchFamily="34" charset="-120"/>
              </a:rPr>
              <a:t>About Me</a:t>
            </a:r>
            <a:endParaRPr lang="en-US" sz="1550" dirty="0"/>
          </a:p>
        </p:txBody>
      </p:sp>
      <p:sp>
        <p:nvSpPr>
          <p:cNvPr id="11" name="Text 8"/>
          <p:cNvSpPr txBox="1"/>
          <p:nvPr/>
        </p:nvSpPr>
        <p:spPr>
          <a:xfrm>
            <a:off x="5989320" y="2139696"/>
            <a:ext cx="4663440" cy="310896"/>
          </a:xfrm>
          <a:prstGeom prst="rect">
            <a:avLst/>
          </a:prstGeom>
          <a:noFill/>
          <a:ln/>
        </p:spPr>
        <p:txBody>
          <a:bodyPr wrap="square" lIns="0" tIns="0" rIns="0" bIns="0" rtlCol="0" anchor="t"/>
          <a:lstStyle/>
          <a:p>
            <a:pPr indent="0" marL="0">
              <a:buNone/>
            </a:pPr>
            <a:r>
              <a:rPr lang="en-US" sz="1100" dirty="0">
                <a:solidFill>
                  <a:srgbClr val="6E7175"/>
                </a:solidFill>
                <a:latin typeface="Montserrat" pitchFamily="34" charset="0"/>
                <a:ea typeface="Montserrat" pitchFamily="34" charset="-122"/>
                <a:cs typeface="Montserrat" pitchFamily="34" charset="-120"/>
              </a:rPr>
              <a:t>Who I am and where I am headed</a:t>
            </a:r>
            <a:endParaRPr lang="en-US" sz="1100" dirty="0"/>
          </a:p>
        </p:txBody>
      </p:sp>
      <p:sp>
        <p:nvSpPr>
          <p:cNvPr id="12" name="Shape 9"/>
          <p:cNvSpPr/>
          <p:nvPr/>
        </p:nvSpPr>
        <p:spPr>
          <a:xfrm>
            <a:off x="777240" y="2596896"/>
            <a:ext cx="10637215" cy="10973"/>
          </a:xfrm>
          <a:prstGeom prst="rect">
            <a:avLst/>
          </a:prstGeom>
          <a:solidFill>
            <a:srgbClr val="E6E4E2"/>
          </a:solidFill>
          <a:ln/>
        </p:spPr>
      </p:sp>
      <p:sp>
        <p:nvSpPr>
          <p:cNvPr id="13" name="Text 10"/>
          <p:cNvSpPr txBox="1"/>
          <p:nvPr/>
        </p:nvSpPr>
        <p:spPr>
          <a:xfrm>
            <a:off x="777240" y="2793492"/>
            <a:ext cx="777240" cy="384048"/>
          </a:xfrm>
          <a:prstGeom prst="rect">
            <a:avLst/>
          </a:prstGeom>
          <a:noFill/>
          <a:ln/>
        </p:spPr>
        <p:txBody>
          <a:bodyPr wrap="square" lIns="0" tIns="0" rIns="0" bIns="0" rtlCol="0" anchor="t"/>
          <a:lstStyle/>
          <a:p>
            <a:pPr indent="0" marL="0">
              <a:buNone/>
            </a:pPr>
            <a:r>
              <a:rPr lang="en-US" sz="2100" spc="-50" kern="0" dirty="0">
                <a:solidFill>
                  <a:srgbClr val="942838"/>
                </a:solidFill>
                <a:latin typeface="Montserrat ExtraBold" pitchFamily="34" charset="0"/>
                <a:ea typeface="Montserrat ExtraBold" pitchFamily="34" charset="-122"/>
                <a:cs typeface="Montserrat ExtraBold" pitchFamily="34" charset="-120"/>
              </a:rPr>
              <a:t>02</a:t>
            </a:r>
            <a:endParaRPr lang="en-US" sz="2100" dirty="0"/>
          </a:p>
        </p:txBody>
      </p:sp>
      <p:sp>
        <p:nvSpPr>
          <p:cNvPr id="14" name="Text 11"/>
          <p:cNvSpPr txBox="1"/>
          <p:nvPr/>
        </p:nvSpPr>
        <p:spPr>
          <a:xfrm>
            <a:off x="1618488" y="2775204"/>
            <a:ext cx="4663440" cy="310896"/>
          </a:xfrm>
          <a:prstGeom prst="rect">
            <a:avLst/>
          </a:prstGeom>
          <a:noFill/>
          <a:ln/>
        </p:spPr>
        <p:txBody>
          <a:bodyPr wrap="square" lIns="0" tIns="0" rIns="0" bIns="0" rtlCol="0" anchor="t"/>
          <a:lstStyle/>
          <a:p>
            <a:pPr indent="0" marL="0">
              <a:buNone/>
            </a:pPr>
            <a:r>
              <a:rPr lang="en-US" sz="1550" dirty="0">
                <a:solidFill>
                  <a:srgbClr val="2B2D30"/>
                </a:solidFill>
                <a:latin typeface="Montserrat SemiBold" pitchFamily="34" charset="0"/>
                <a:ea typeface="Montserrat SemiBold" pitchFamily="34" charset="-122"/>
                <a:cs typeface="Montserrat SemiBold" pitchFamily="34" charset="-120"/>
              </a:rPr>
              <a:t>Internship Overview</a:t>
            </a:r>
            <a:endParaRPr lang="en-US" sz="1550" dirty="0"/>
          </a:p>
        </p:txBody>
      </p:sp>
      <p:sp>
        <p:nvSpPr>
          <p:cNvPr id="15" name="Text 12"/>
          <p:cNvSpPr txBox="1"/>
          <p:nvPr/>
        </p:nvSpPr>
        <p:spPr>
          <a:xfrm>
            <a:off x="5989320" y="2811780"/>
            <a:ext cx="4663440" cy="310896"/>
          </a:xfrm>
          <a:prstGeom prst="rect">
            <a:avLst/>
          </a:prstGeom>
          <a:noFill/>
          <a:ln/>
        </p:spPr>
        <p:txBody>
          <a:bodyPr wrap="square" lIns="0" tIns="0" rIns="0" bIns="0" rtlCol="0" anchor="t"/>
          <a:lstStyle/>
          <a:p>
            <a:pPr indent="0" marL="0">
              <a:buNone/>
            </a:pPr>
            <a:r>
              <a:rPr lang="en-US" sz="1100" dirty="0">
                <a:solidFill>
                  <a:srgbClr val="6E7175"/>
                </a:solidFill>
                <a:latin typeface="Montserrat" pitchFamily="34" charset="0"/>
                <a:ea typeface="Montserrat" pitchFamily="34" charset="-122"/>
                <a:cs typeface="Montserrat" pitchFamily="34" charset="-120"/>
              </a:rPr>
              <a:t>Three rotations across the security team</a:t>
            </a:r>
            <a:endParaRPr lang="en-US" sz="1100" dirty="0"/>
          </a:p>
        </p:txBody>
      </p:sp>
      <p:sp>
        <p:nvSpPr>
          <p:cNvPr id="16" name="Shape 13"/>
          <p:cNvSpPr/>
          <p:nvPr/>
        </p:nvSpPr>
        <p:spPr>
          <a:xfrm>
            <a:off x="777240" y="3268980"/>
            <a:ext cx="10637215" cy="10973"/>
          </a:xfrm>
          <a:prstGeom prst="rect">
            <a:avLst/>
          </a:prstGeom>
          <a:solidFill>
            <a:srgbClr val="E6E4E2"/>
          </a:solidFill>
          <a:ln/>
        </p:spPr>
      </p:sp>
      <p:sp>
        <p:nvSpPr>
          <p:cNvPr id="17" name="Text 14"/>
          <p:cNvSpPr txBox="1"/>
          <p:nvPr/>
        </p:nvSpPr>
        <p:spPr>
          <a:xfrm>
            <a:off x="777240" y="3465576"/>
            <a:ext cx="777240" cy="384048"/>
          </a:xfrm>
          <a:prstGeom prst="rect">
            <a:avLst/>
          </a:prstGeom>
          <a:noFill/>
          <a:ln/>
        </p:spPr>
        <p:txBody>
          <a:bodyPr wrap="square" lIns="0" tIns="0" rIns="0" bIns="0" rtlCol="0" anchor="t"/>
          <a:lstStyle/>
          <a:p>
            <a:pPr indent="0" marL="0">
              <a:buNone/>
            </a:pPr>
            <a:r>
              <a:rPr lang="en-US" sz="2100" spc="-50" kern="0" dirty="0">
                <a:solidFill>
                  <a:srgbClr val="942838"/>
                </a:solidFill>
                <a:latin typeface="Montserrat ExtraBold" pitchFamily="34" charset="0"/>
                <a:ea typeface="Montserrat ExtraBold" pitchFamily="34" charset="-122"/>
                <a:cs typeface="Montserrat ExtraBold" pitchFamily="34" charset="-120"/>
              </a:rPr>
              <a:t>03</a:t>
            </a:r>
            <a:endParaRPr lang="en-US" sz="2100" dirty="0"/>
          </a:p>
        </p:txBody>
      </p:sp>
      <p:sp>
        <p:nvSpPr>
          <p:cNvPr id="18" name="Text 15"/>
          <p:cNvSpPr txBox="1"/>
          <p:nvPr/>
        </p:nvSpPr>
        <p:spPr>
          <a:xfrm>
            <a:off x="1618488" y="3447288"/>
            <a:ext cx="4663440" cy="310896"/>
          </a:xfrm>
          <a:prstGeom prst="rect">
            <a:avLst/>
          </a:prstGeom>
          <a:noFill/>
          <a:ln/>
        </p:spPr>
        <p:txBody>
          <a:bodyPr wrap="square" lIns="0" tIns="0" rIns="0" bIns="0" rtlCol="0" anchor="t"/>
          <a:lstStyle/>
          <a:p>
            <a:pPr indent="0" marL="0">
              <a:buNone/>
            </a:pPr>
            <a:r>
              <a:rPr lang="en-US" sz="1550" dirty="0">
                <a:solidFill>
                  <a:srgbClr val="2B2D30"/>
                </a:solidFill>
                <a:latin typeface="Montserrat SemiBold" pitchFamily="34" charset="0"/>
                <a:ea typeface="Montserrat SemiBold" pitchFamily="34" charset="-122"/>
                <a:cs typeface="Montserrat SemiBold" pitchFamily="34" charset="-120"/>
              </a:rPr>
              <a:t>Image Management Program</a:t>
            </a:r>
            <a:endParaRPr lang="en-US" sz="1550" dirty="0"/>
          </a:p>
        </p:txBody>
      </p:sp>
      <p:sp>
        <p:nvSpPr>
          <p:cNvPr id="19" name="Text 16"/>
          <p:cNvSpPr txBox="1"/>
          <p:nvPr/>
        </p:nvSpPr>
        <p:spPr>
          <a:xfrm>
            <a:off x="5989320" y="3483864"/>
            <a:ext cx="4663440" cy="310896"/>
          </a:xfrm>
          <a:prstGeom prst="rect">
            <a:avLst/>
          </a:prstGeom>
          <a:noFill/>
          <a:ln/>
        </p:spPr>
        <p:txBody>
          <a:bodyPr wrap="square" lIns="0" tIns="0" rIns="0" bIns="0" rtlCol="0" anchor="t"/>
          <a:lstStyle/>
          <a:p>
            <a:pPr indent="0" marL="0">
              <a:buNone/>
            </a:pPr>
            <a:r>
              <a:rPr lang="en-US" sz="1100" dirty="0">
                <a:solidFill>
                  <a:srgbClr val="6E7175"/>
                </a:solidFill>
                <a:latin typeface="Montserrat" pitchFamily="34" charset="0"/>
                <a:ea typeface="Montserrat" pitchFamily="34" charset="-122"/>
                <a:cs typeface="Montserrat" pitchFamily="34" charset="-120"/>
              </a:rPr>
              <a:t>Making sure every new machine starts secure</a:t>
            </a:r>
            <a:endParaRPr lang="en-US" sz="1100" dirty="0"/>
          </a:p>
        </p:txBody>
      </p:sp>
      <p:sp>
        <p:nvSpPr>
          <p:cNvPr id="20" name="Shape 17"/>
          <p:cNvSpPr/>
          <p:nvPr/>
        </p:nvSpPr>
        <p:spPr>
          <a:xfrm>
            <a:off x="777240" y="3941064"/>
            <a:ext cx="10637215" cy="10973"/>
          </a:xfrm>
          <a:prstGeom prst="rect">
            <a:avLst/>
          </a:prstGeom>
          <a:solidFill>
            <a:srgbClr val="E6E4E2"/>
          </a:solidFill>
          <a:ln/>
        </p:spPr>
      </p:sp>
      <p:sp>
        <p:nvSpPr>
          <p:cNvPr id="21" name="Text 18"/>
          <p:cNvSpPr txBox="1"/>
          <p:nvPr/>
        </p:nvSpPr>
        <p:spPr>
          <a:xfrm>
            <a:off x="777240" y="4137660"/>
            <a:ext cx="777240" cy="384048"/>
          </a:xfrm>
          <a:prstGeom prst="rect">
            <a:avLst/>
          </a:prstGeom>
          <a:noFill/>
          <a:ln/>
        </p:spPr>
        <p:txBody>
          <a:bodyPr wrap="square" lIns="0" tIns="0" rIns="0" bIns="0" rtlCol="0" anchor="t"/>
          <a:lstStyle/>
          <a:p>
            <a:pPr indent="0" marL="0">
              <a:buNone/>
            </a:pPr>
            <a:r>
              <a:rPr lang="en-US" sz="2100" spc="-50" kern="0" dirty="0">
                <a:solidFill>
                  <a:srgbClr val="942838"/>
                </a:solidFill>
                <a:latin typeface="Montserrat ExtraBold" pitchFamily="34" charset="0"/>
                <a:ea typeface="Montserrat ExtraBold" pitchFamily="34" charset="-122"/>
                <a:cs typeface="Montserrat ExtraBold" pitchFamily="34" charset="-120"/>
              </a:rPr>
              <a:t>04</a:t>
            </a:r>
            <a:endParaRPr lang="en-US" sz="2100" dirty="0"/>
          </a:p>
        </p:txBody>
      </p:sp>
      <p:sp>
        <p:nvSpPr>
          <p:cNvPr id="22" name="Text 19"/>
          <p:cNvSpPr txBox="1"/>
          <p:nvPr/>
        </p:nvSpPr>
        <p:spPr>
          <a:xfrm>
            <a:off x="1618488" y="4119372"/>
            <a:ext cx="4663440" cy="310896"/>
          </a:xfrm>
          <a:prstGeom prst="rect">
            <a:avLst/>
          </a:prstGeom>
          <a:noFill/>
          <a:ln/>
        </p:spPr>
        <p:txBody>
          <a:bodyPr wrap="square" lIns="0" tIns="0" rIns="0" bIns="0" rtlCol="0" anchor="t"/>
          <a:lstStyle/>
          <a:p>
            <a:pPr indent="0" marL="0">
              <a:buNone/>
            </a:pPr>
            <a:r>
              <a:rPr lang="en-US" sz="1550" dirty="0">
                <a:solidFill>
                  <a:srgbClr val="2B2D30"/>
                </a:solidFill>
                <a:latin typeface="Montserrat SemiBold" pitchFamily="34" charset="0"/>
                <a:ea typeface="Montserrat SemiBold" pitchFamily="34" charset="-122"/>
                <a:cs typeface="Montserrat SemiBold" pitchFamily="34" charset="-120"/>
              </a:rPr>
              <a:t>AEGIS</a:t>
            </a:r>
            <a:endParaRPr lang="en-US" sz="1550" dirty="0"/>
          </a:p>
        </p:txBody>
      </p:sp>
      <p:sp>
        <p:nvSpPr>
          <p:cNvPr id="23" name="Text 20"/>
          <p:cNvSpPr txBox="1"/>
          <p:nvPr/>
        </p:nvSpPr>
        <p:spPr>
          <a:xfrm>
            <a:off x="5989320" y="4155948"/>
            <a:ext cx="4663440" cy="310896"/>
          </a:xfrm>
          <a:prstGeom prst="rect">
            <a:avLst/>
          </a:prstGeom>
          <a:noFill/>
          <a:ln/>
        </p:spPr>
        <p:txBody>
          <a:bodyPr wrap="square" lIns="0" tIns="0" rIns="0" bIns="0" rtlCol="0" anchor="t"/>
          <a:lstStyle/>
          <a:p>
            <a:pPr indent="0" marL="0">
              <a:buNone/>
            </a:pPr>
            <a:r>
              <a:rPr lang="en-US" sz="1100" dirty="0">
                <a:solidFill>
                  <a:srgbClr val="6E7175"/>
                </a:solidFill>
                <a:latin typeface="Montserrat" pitchFamily="34" charset="0"/>
                <a:ea typeface="Montserrat" pitchFamily="34" charset="-122"/>
                <a:cs typeface="Montserrat" pitchFamily="34" charset="-120"/>
              </a:rPr>
              <a:t>Catching supply-chain attacks before they reach us</a:t>
            </a:r>
            <a:endParaRPr lang="en-US" sz="1100" dirty="0"/>
          </a:p>
        </p:txBody>
      </p:sp>
      <p:sp>
        <p:nvSpPr>
          <p:cNvPr id="24" name="Shape 21"/>
          <p:cNvSpPr/>
          <p:nvPr/>
        </p:nvSpPr>
        <p:spPr>
          <a:xfrm>
            <a:off x="777240" y="4613148"/>
            <a:ext cx="10637215" cy="10973"/>
          </a:xfrm>
          <a:prstGeom prst="rect">
            <a:avLst/>
          </a:prstGeom>
          <a:solidFill>
            <a:srgbClr val="E6E4E2"/>
          </a:solidFill>
          <a:ln/>
        </p:spPr>
      </p:sp>
      <p:sp>
        <p:nvSpPr>
          <p:cNvPr id="25" name="Text 22"/>
          <p:cNvSpPr txBox="1"/>
          <p:nvPr/>
        </p:nvSpPr>
        <p:spPr>
          <a:xfrm>
            <a:off x="777240" y="4809744"/>
            <a:ext cx="777240" cy="384048"/>
          </a:xfrm>
          <a:prstGeom prst="rect">
            <a:avLst/>
          </a:prstGeom>
          <a:noFill/>
          <a:ln/>
        </p:spPr>
        <p:txBody>
          <a:bodyPr wrap="square" lIns="0" tIns="0" rIns="0" bIns="0" rtlCol="0" anchor="t"/>
          <a:lstStyle/>
          <a:p>
            <a:pPr indent="0" marL="0">
              <a:buNone/>
            </a:pPr>
            <a:r>
              <a:rPr lang="en-US" sz="2100" spc="-50" kern="0" dirty="0">
                <a:solidFill>
                  <a:srgbClr val="942838"/>
                </a:solidFill>
                <a:latin typeface="Montserrat ExtraBold" pitchFamily="34" charset="0"/>
                <a:ea typeface="Montserrat ExtraBold" pitchFamily="34" charset="-122"/>
                <a:cs typeface="Montserrat ExtraBold" pitchFamily="34" charset="-120"/>
              </a:rPr>
              <a:t>05</a:t>
            </a:r>
            <a:endParaRPr lang="en-US" sz="2100" dirty="0"/>
          </a:p>
        </p:txBody>
      </p:sp>
      <p:sp>
        <p:nvSpPr>
          <p:cNvPr id="26" name="Text 23"/>
          <p:cNvSpPr txBox="1"/>
          <p:nvPr/>
        </p:nvSpPr>
        <p:spPr>
          <a:xfrm>
            <a:off x="1618488" y="4791456"/>
            <a:ext cx="4663440" cy="310896"/>
          </a:xfrm>
          <a:prstGeom prst="rect">
            <a:avLst/>
          </a:prstGeom>
          <a:noFill/>
          <a:ln/>
        </p:spPr>
        <p:txBody>
          <a:bodyPr wrap="square" lIns="0" tIns="0" rIns="0" bIns="0" rtlCol="0" anchor="t"/>
          <a:lstStyle/>
          <a:p>
            <a:pPr indent="0" marL="0">
              <a:buNone/>
            </a:pPr>
            <a:r>
              <a:rPr lang="en-US" sz="1550" dirty="0">
                <a:solidFill>
                  <a:srgbClr val="2B2D30"/>
                </a:solidFill>
                <a:latin typeface="Montserrat SemiBold" pitchFamily="34" charset="0"/>
                <a:ea typeface="Montserrat SemiBold" pitchFamily="34" charset="-122"/>
                <a:cs typeface="Montserrat SemiBold" pitchFamily="34" charset="-120"/>
              </a:rPr>
              <a:t>CVE-to-Patch Automation</a:t>
            </a:r>
            <a:endParaRPr lang="en-US" sz="1550" dirty="0"/>
          </a:p>
        </p:txBody>
      </p:sp>
      <p:sp>
        <p:nvSpPr>
          <p:cNvPr id="27" name="Text 24"/>
          <p:cNvSpPr txBox="1"/>
          <p:nvPr/>
        </p:nvSpPr>
        <p:spPr>
          <a:xfrm>
            <a:off x="5989320" y="4828032"/>
            <a:ext cx="4663440" cy="310896"/>
          </a:xfrm>
          <a:prstGeom prst="rect">
            <a:avLst/>
          </a:prstGeom>
          <a:noFill/>
          <a:ln/>
        </p:spPr>
        <p:txBody>
          <a:bodyPr wrap="square" lIns="0" tIns="0" rIns="0" bIns="0" rtlCol="0" anchor="t"/>
          <a:lstStyle/>
          <a:p>
            <a:pPr indent="0" marL="0">
              <a:buNone/>
            </a:pPr>
            <a:r>
              <a:rPr lang="en-US" sz="1100" dirty="0">
                <a:solidFill>
                  <a:srgbClr val="6E7175"/>
                </a:solidFill>
                <a:latin typeface="Montserrat" pitchFamily="34" charset="0"/>
                <a:ea typeface="Montserrat" pitchFamily="34" charset="-122"/>
                <a:cs typeface="Montserrat" pitchFamily="34" charset="-120"/>
              </a:rPr>
              <a:t>Turning two days of patch work into twelve seconds</a:t>
            </a:r>
            <a:endParaRPr lang="en-US" sz="1100" dirty="0"/>
          </a:p>
        </p:txBody>
      </p:sp>
      <p:sp>
        <p:nvSpPr>
          <p:cNvPr id="28" name="Shape 25"/>
          <p:cNvSpPr/>
          <p:nvPr/>
        </p:nvSpPr>
        <p:spPr>
          <a:xfrm>
            <a:off x="777240" y="5285232"/>
            <a:ext cx="10637215" cy="10973"/>
          </a:xfrm>
          <a:prstGeom prst="rect">
            <a:avLst/>
          </a:prstGeom>
          <a:solidFill>
            <a:srgbClr val="E6E4E2"/>
          </a:solidFill>
          <a:ln/>
        </p:spPr>
      </p:sp>
      <p:sp>
        <p:nvSpPr>
          <p:cNvPr id="29" name="Text 26"/>
          <p:cNvSpPr txBox="1"/>
          <p:nvPr/>
        </p:nvSpPr>
        <p:spPr>
          <a:xfrm>
            <a:off x="777240" y="5481828"/>
            <a:ext cx="777240" cy="384048"/>
          </a:xfrm>
          <a:prstGeom prst="rect">
            <a:avLst/>
          </a:prstGeom>
          <a:noFill/>
          <a:ln/>
        </p:spPr>
        <p:txBody>
          <a:bodyPr wrap="square" lIns="0" tIns="0" rIns="0" bIns="0" rtlCol="0" anchor="t"/>
          <a:lstStyle/>
          <a:p>
            <a:pPr indent="0" marL="0">
              <a:buNone/>
            </a:pPr>
            <a:r>
              <a:rPr lang="en-US" sz="2100" spc="-50" kern="0" dirty="0">
                <a:solidFill>
                  <a:srgbClr val="942838"/>
                </a:solidFill>
                <a:latin typeface="Montserrat ExtraBold" pitchFamily="34" charset="0"/>
                <a:ea typeface="Montserrat ExtraBold" pitchFamily="34" charset="-122"/>
                <a:cs typeface="Montserrat ExtraBold" pitchFamily="34" charset="-120"/>
              </a:rPr>
              <a:t>06</a:t>
            </a:r>
            <a:endParaRPr lang="en-US" sz="2100" dirty="0"/>
          </a:p>
        </p:txBody>
      </p:sp>
      <p:sp>
        <p:nvSpPr>
          <p:cNvPr id="30" name="Text 27"/>
          <p:cNvSpPr txBox="1"/>
          <p:nvPr/>
        </p:nvSpPr>
        <p:spPr>
          <a:xfrm>
            <a:off x="1618488" y="5463540"/>
            <a:ext cx="4663440" cy="310896"/>
          </a:xfrm>
          <a:prstGeom prst="rect">
            <a:avLst/>
          </a:prstGeom>
          <a:noFill/>
          <a:ln/>
        </p:spPr>
        <p:txBody>
          <a:bodyPr wrap="square" lIns="0" tIns="0" rIns="0" bIns="0" rtlCol="0" anchor="t"/>
          <a:lstStyle/>
          <a:p>
            <a:pPr indent="0" marL="0">
              <a:buNone/>
            </a:pPr>
            <a:r>
              <a:rPr lang="en-US" sz="1550" dirty="0">
                <a:solidFill>
                  <a:srgbClr val="2B2D30"/>
                </a:solidFill>
                <a:latin typeface="Montserrat SemiBold" pitchFamily="34" charset="0"/>
                <a:ea typeface="Montserrat SemiBold" pitchFamily="34" charset="-122"/>
                <a:cs typeface="Montserrat SemiBold" pitchFamily="34" charset="-120"/>
              </a:rPr>
              <a:t>Summary</a:t>
            </a:r>
            <a:endParaRPr lang="en-US" sz="1550" dirty="0"/>
          </a:p>
        </p:txBody>
      </p:sp>
      <p:sp>
        <p:nvSpPr>
          <p:cNvPr id="31" name="Text 28"/>
          <p:cNvSpPr txBox="1"/>
          <p:nvPr/>
        </p:nvSpPr>
        <p:spPr>
          <a:xfrm>
            <a:off x="5989320" y="5500116"/>
            <a:ext cx="4663440" cy="310896"/>
          </a:xfrm>
          <a:prstGeom prst="rect">
            <a:avLst/>
          </a:prstGeom>
          <a:noFill/>
          <a:ln/>
        </p:spPr>
        <p:txBody>
          <a:bodyPr wrap="square" lIns="0" tIns="0" rIns="0" bIns="0" rtlCol="0" anchor="t"/>
          <a:lstStyle/>
          <a:p>
            <a:pPr indent="0" marL="0">
              <a:buNone/>
            </a:pPr>
            <a:r>
              <a:rPr lang="en-US" sz="1100" dirty="0">
                <a:solidFill>
                  <a:srgbClr val="6E7175"/>
                </a:solidFill>
                <a:latin typeface="Montserrat" pitchFamily="34" charset="0"/>
                <a:ea typeface="Montserrat" pitchFamily="34" charset="-122"/>
                <a:cs typeface="Montserrat" pitchFamily="34" charset="-120"/>
              </a:rPr>
              <a:t>What this means for Stewart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user/ai/assets/gen/panel-red-left.png">    </p:cNvPr>
          <p:cNvPicPr>
            <a:picLocks noChangeAspect="1"/>
          </p:cNvPicPr>
          <p:nvPr/>
        </p:nvPicPr>
        <p:blipFill>
          <a:blip r:embed="rId1"/>
          <a:stretch>
            <a:fillRect/>
          </a:stretch>
        </p:blipFill>
        <p:spPr>
          <a:xfrm>
            <a:off x="0" y="0"/>
            <a:ext cx="4343400" cy="6858000"/>
          </a:xfrm>
          <a:prstGeom prst="rect">
            <a:avLst/>
          </a:prstGeom>
        </p:spPr>
      </p:pic>
      <p:pic>
        <p:nvPicPr>
          <p:cNvPr id="3" name="Image 1" descr="/home/user/ai/assets/gen/mark-slash-faint.png">    </p:cNvPr>
          <p:cNvPicPr>
            <a:picLocks noChangeAspect="1"/>
          </p:cNvPicPr>
          <p:nvPr/>
        </p:nvPicPr>
        <p:blipFill>
          <a:blip r:embed="rId2"/>
          <a:stretch>
            <a:fillRect/>
          </a:stretch>
        </p:blipFill>
        <p:spPr>
          <a:xfrm>
            <a:off x="-640080" y="3931920"/>
            <a:ext cx="3840480" cy="3840480"/>
          </a:xfrm>
          <a:prstGeom prst="rect">
            <a:avLst/>
          </a:prstGeom>
        </p:spPr>
      </p:pic>
      <p:sp>
        <p:nvSpPr>
          <p:cNvPr id="4" name="Text 0"/>
          <p:cNvSpPr txBox="1"/>
          <p:nvPr/>
        </p:nvSpPr>
        <p:spPr>
          <a:xfrm>
            <a:off x="777240" y="1371600"/>
            <a:ext cx="3108960" cy="237744"/>
          </a:xfrm>
          <a:prstGeom prst="rect">
            <a:avLst/>
          </a:prstGeom>
          <a:noFill/>
          <a:ln/>
        </p:spPr>
        <p:txBody>
          <a:bodyPr wrap="square" lIns="0" tIns="0" rIns="0" bIns="0" rtlCol="0" anchor="t"/>
          <a:lstStyle/>
          <a:p>
            <a:pPr indent="0" marL="0">
              <a:buNone/>
            </a:pPr>
            <a:r>
              <a:rPr lang="en-US" sz="1000" spc="220" kern="0" dirty="0">
                <a:solidFill>
                  <a:srgbClr val="E4C9CE"/>
                </a:solidFill>
                <a:latin typeface="Montserrat SemiBold" pitchFamily="34" charset="0"/>
                <a:ea typeface="Montserrat SemiBold" pitchFamily="34" charset="-122"/>
                <a:cs typeface="Montserrat SemiBold" pitchFamily="34" charset="-120"/>
              </a:rPr>
              <a:t>ABOUT ME</a:t>
            </a:r>
            <a:endParaRPr lang="en-US" sz="1000" dirty="0"/>
          </a:p>
        </p:txBody>
      </p:sp>
      <p:sp>
        <p:nvSpPr>
          <p:cNvPr id="5" name="Text 1"/>
          <p:cNvSpPr txBox="1"/>
          <p:nvPr/>
        </p:nvSpPr>
        <p:spPr>
          <a:xfrm>
            <a:off x="777240" y="1737360"/>
            <a:ext cx="3291840" cy="1371600"/>
          </a:xfrm>
          <a:prstGeom prst="rect">
            <a:avLst/>
          </a:prstGeom>
          <a:noFill/>
          <a:ln/>
        </p:spPr>
        <p:txBody>
          <a:bodyPr wrap="square" lIns="0" tIns="0" rIns="0" bIns="0" rtlCol="0" anchor="t"/>
          <a:lstStyle/>
          <a:p>
            <a:pPr indent="0" marL="0">
              <a:lnSpc>
                <a:spcPct val="98000"/>
              </a:lnSpc>
              <a:buNone/>
            </a:pPr>
            <a:r>
              <a:rPr lang="en-US" sz="3300" spc="-70" kern="0" dirty="0">
                <a:solidFill>
                  <a:srgbClr val="FFFFFF"/>
                </a:solidFill>
                <a:latin typeface="Montserrat ExtraBold" pitchFamily="34" charset="0"/>
                <a:ea typeface="Montserrat ExtraBold" pitchFamily="34" charset="-122"/>
                <a:cs typeface="Montserrat ExtraBold" pitchFamily="34" charset="-120"/>
              </a:rPr>
              <a:t>Jair Maldonado</a:t>
            </a:r>
            <a:endParaRPr lang="en-US" sz="3300" dirty="0"/>
          </a:p>
        </p:txBody>
      </p:sp>
      <p:sp>
        <p:nvSpPr>
          <p:cNvPr id="6" name="Shape 2"/>
          <p:cNvSpPr/>
          <p:nvPr/>
        </p:nvSpPr>
        <p:spPr>
          <a:xfrm>
            <a:off x="777240" y="3127248"/>
            <a:ext cx="548640" cy="45720"/>
          </a:xfrm>
          <a:prstGeom prst="rect">
            <a:avLst/>
          </a:prstGeom>
          <a:solidFill>
            <a:srgbClr val="FFFFFF"/>
          </a:solidFill>
          <a:ln/>
        </p:spPr>
      </p:sp>
      <p:sp>
        <p:nvSpPr>
          <p:cNvPr id="7" name="Text 3"/>
          <p:cNvSpPr txBox="1"/>
          <p:nvPr/>
        </p:nvSpPr>
        <p:spPr>
          <a:xfrm>
            <a:off x="777240" y="3364992"/>
            <a:ext cx="3200400" cy="548640"/>
          </a:xfrm>
          <a:prstGeom prst="rect">
            <a:avLst/>
          </a:prstGeom>
          <a:noFill/>
          <a:ln/>
        </p:spPr>
        <p:txBody>
          <a:bodyPr wrap="square" lIns="0" tIns="0" rIns="0" bIns="0" rtlCol="0" anchor="t"/>
          <a:lstStyle/>
          <a:p>
            <a:pPr indent="0" marL="0">
              <a:lnSpc>
                <a:spcPct val="120000"/>
              </a:lnSpc>
              <a:buNone/>
            </a:pPr>
            <a:r>
              <a:rPr lang="en-US" sz="950" spc="30" kern="0" dirty="0">
                <a:solidFill>
                  <a:srgbClr val="E4C9CE"/>
                </a:solidFill>
                <a:latin typeface="Montserrat Medium" pitchFamily="34" charset="0"/>
                <a:ea typeface="Montserrat Medium" pitchFamily="34" charset="-122"/>
                <a:cs typeface="Montserrat Medium" pitchFamily="34" charset="-120"/>
              </a:rPr>
              <a:t>Information Security Analyst Intern</a:t>
            </a:r>
            <a:endParaRPr lang="en-US" sz="950" dirty="0"/>
          </a:p>
        </p:txBody>
      </p:sp>
      <p:sp>
        <p:nvSpPr>
          <p:cNvPr id="8" name="Text 4"/>
          <p:cNvSpPr txBox="1"/>
          <p:nvPr/>
        </p:nvSpPr>
        <p:spPr>
          <a:xfrm>
            <a:off x="5120640" y="868680"/>
            <a:ext cx="6293815" cy="237744"/>
          </a:xfrm>
          <a:prstGeom prst="rect">
            <a:avLst/>
          </a:prstGeom>
          <a:noFill/>
          <a:ln/>
        </p:spPr>
        <p:txBody>
          <a:bodyPr wrap="square" lIns="0" tIns="0" rIns="0" bIns="0" rtlCol="0" anchor="t"/>
          <a:lstStyle/>
          <a:p>
            <a:pPr indent="0" marL="0">
              <a:buNone/>
            </a:pPr>
            <a:r>
              <a:rPr lang="en-US" sz="1000" spc="220" kern="0" dirty="0">
                <a:solidFill>
                  <a:srgbClr val="942838"/>
                </a:solidFill>
                <a:latin typeface="Montserrat SemiBold" pitchFamily="34" charset="0"/>
                <a:ea typeface="Montserrat SemiBold" pitchFamily="34" charset="-122"/>
                <a:cs typeface="Montserrat SemiBold" pitchFamily="34" charset="-120"/>
              </a:rPr>
              <a:t>BACKGROUND</a:t>
            </a:r>
            <a:endParaRPr lang="en-US" sz="1000" dirty="0"/>
          </a:p>
        </p:txBody>
      </p:sp>
      <p:sp>
        <p:nvSpPr>
          <p:cNvPr id="9" name="Text 5"/>
          <p:cNvSpPr txBox="1"/>
          <p:nvPr/>
        </p:nvSpPr>
        <p:spPr>
          <a:xfrm>
            <a:off x="5120640" y="1298448"/>
            <a:ext cx="6293815" cy="219456"/>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POSITION</a:t>
            </a:r>
            <a:endParaRPr lang="en-US" sz="850" dirty="0"/>
          </a:p>
        </p:txBody>
      </p:sp>
      <p:sp>
        <p:nvSpPr>
          <p:cNvPr id="10" name="Text 6"/>
          <p:cNvSpPr txBox="1"/>
          <p:nvPr/>
        </p:nvSpPr>
        <p:spPr>
          <a:xfrm>
            <a:off x="5120640" y="1545336"/>
            <a:ext cx="6293815" cy="475488"/>
          </a:xfrm>
          <a:prstGeom prst="rect">
            <a:avLst/>
          </a:prstGeom>
          <a:noFill/>
          <a:ln/>
        </p:spPr>
        <p:txBody>
          <a:bodyPr wrap="square" lIns="0" tIns="0" rIns="0" bIns="0" rtlCol="0" anchor="t"/>
          <a:lstStyle/>
          <a:p>
            <a:pPr indent="0" marL="0">
              <a:lnSpc>
                <a:spcPct val="120000"/>
              </a:lnSpc>
              <a:buNone/>
            </a:pPr>
            <a:r>
              <a:rPr lang="en-US" sz="1250" dirty="0">
                <a:solidFill>
                  <a:srgbClr val="43464A"/>
                </a:solidFill>
                <a:latin typeface="Montserrat" pitchFamily="34" charset="0"/>
                <a:ea typeface="Montserrat" pitchFamily="34" charset="-122"/>
                <a:cs typeface="Montserrat" pitchFamily="34" charset="-120"/>
              </a:rPr>
              <a:t>Information Security Analyst Intern</a:t>
            </a:r>
            <a:endParaRPr lang="en-US" sz="1250" dirty="0"/>
          </a:p>
        </p:txBody>
      </p:sp>
      <p:sp>
        <p:nvSpPr>
          <p:cNvPr id="11" name="Shape 7"/>
          <p:cNvSpPr/>
          <p:nvPr/>
        </p:nvSpPr>
        <p:spPr>
          <a:xfrm>
            <a:off x="5120640" y="2084832"/>
            <a:ext cx="6293815" cy="10973"/>
          </a:xfrm>
          <a:prstGeom prst="rect">
            <a:avLst/>
          </a:prstGeom>
          <a:solidFill>
            <a:srgbClr val="E6E4E2"/>
          </a:solidFill>
          <a:ln/>
        </p:spPr>
      </p:sp>
      <p:sp>
        <p:nvSpPr>
          <p:cNvPr id="12" name="Text 8"/>
          <p:cNvSpPr txBox="1"/>
          <p:nvPr/>
        </p:nvSpPr>
        <p:spPr>
          <a:xfrm>
            <a:off x="5120640" y="2240280"/>
            <a:ext cx="6293815" cy="219456"/>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SCHOOL</a:t>
            </a:r>
            <a:endParaRPr lang="en-US" sz="850" dirty="0"/>
          </a:p>
        </p:txBody>
      </p:sp>
      <p:sp>
        <p:nvSpPr>
          <p:cNvPr id="13" name="Text 9"/>
          <p:cNvSpPr txBox="1"/>
          <p:nvPr/>
        </p:nvSpPr>
        <p:spPr>
          <a:xfrm>
            <a:off x="5120640" y="2487168"/>
            <a:ext cx="6293815" cy="475488"/>
          </a:xfrm>
          <a:prstGeom prst="rect">
            <a:avLst/>
          </a:prstGeom>
          <a:noFill/>
          <a:ln/>
        </p:spPr>
        <p:txBody>
          <a:bodyPr wrap="square" lIns="0" tIns="0" rIns="0" bIns="0" rtlCol="0" anchor="t"/>
          <a:lstStyle/>
          <a:p>
            <a:pPr indent="0" marL="0">
              <a:lnSpc>
                <a:spcPct val="120000"/>
              </a:lnSpc>
              <a:buNone/>
            </a:pPr>
            <a:r>
              <a:rPr lang="en-US" sz="1250" dirty="0">
                <a:solidFill>
                  <a:srgbClr val="43464A"/>
                </a:solidFill>
                <a:latin typeface="Montserrat" pitchFamily="34" charset="0"/>
                <a:ea typeface="Montserrat" pitchFamily="34" charset="-122"/>
                <a:cs typeface="Montserrat" pitchFamily="34" charset="-120"/>
              </a:rPr>
              <a:t>Studying cybersecurity, with a focus on offensive security</a:t>
            </a:r>
            <a:endParaRPr lang="en-US" sz="1250" dirty="0"/>
          </a:p>
        </p:txBody>
      </p:sp>
      <p:sp>
        <p:nvSpPr>
          <p:cNvPr id="14" name="Shape 10"/>
          <p:cNvSpPr/>
          <p:nvPr/>
        </p:nvSpPr>
        <p:spPr>
          <a:xfrm>
            <a:off x="5120640" y="3026664"/>
            <a:ext cx="6293815" cy="10973"/>
          </a:xfrm>
          <a:prstGeom prst="rect">
            <a:avLst/>
          </a:prstGeom>
          <a:solidFill>
            <a:srgbClr val="E6E4E2"/>
          </a:solidFill>
          <a:ln/>
        </p:spPr>
      </p:sp>
      <p:sp>
        <p:nvSpPr>
          <p:cNvPr id="15" name="Text 11"/>
          <p:cNvSpPr txBox="1"/>
          <p:nvPr/>
        </p:nvSpPr>
        <p:spPr>
          <a:xfrm>
            <a:off x="5120640" y="3182112"/>
            <a:ext cx="6293815" cy="219456"/>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BACKGROUND</a:t>
            </a:r>
            <a:endParaRPr lang="en-US" sz="850" dirty="0"/>
          </a:p>
        </p:txBody>
      </p:sp>
      <p:sp>
        <p:nvSpPr>
          <p:cNvPr id="16" name="Text 12"/>
          <p:cNvSpPr txBox="1"/>
          <p:nvPr/>
        </p:nvSpPr>
        <p:spPr>
          <a:xfrm>
            <a:off x="5120640" y="3429000"/>
            <a:ext cx="6293815" cy="475488"/>
          </a:xfrm>
          <a:prstGeom prst="rect">
            <a:avLst/>
          </a:prstGeom>
          <a:noFill/>
          <a:ln/>
        </p:spPr>
        <p:txBody>
          <a:bodyPr wrap="square" lIns="0" tIns="0" rIns="0" bIns="0" rtlCol="0" anchor="t"/>
          <a:lstStyle/>
          <a:p>
            <a:pPr indent="0" marL="0">
              <a:lnSpc>
                <a:spcPct val="120000"/>
              </a:lnSpc>
              <a:buNone/>
            </a:pPr>
            <a:r>
              <a:rPr lang="en-US" sz="1250" dirty="0">
                <a:solidFill>
                  <a:srgbClr val="43464A"/>
                </a:solidFill>
                <a:latin typeface="Montserrat" pitchFamily="34" charset="0"/>
                <a:ea typeface="Montserrat" pitchFamily="34" charset="-122"/>
                <a:cs typeface="Montserrat" pitchFamily="34" charset="-120"/>
              </a:rPr>
              <a:t>Hands-on security work across vulnerability management, application security, and network security</a:t>
            </a:r>
            <a:endParaRPr lang="en-US" sz="1250" dirty="0"/>
          </a:p>
        </p:txBody>
      </p:sp>
      <p:sp>
        <p:nvSpPr>
          <p:cNvPr id="17" name="Shape 13"/>
          <p:cNvSpPr/>
          <p:nvPr/>
        </p:nvSpPr>
        <p:spPr>
          <a:xfrm>
            <a:off x="5120640" y="3968496"/>
            <a:ext cx="6293815" cy="10973"/>
          </a:xfrm>
          <a:prstGeom prst="rect">
            <a:avLst/>
          </a:prstGeom>
          <a:solidFill>
            <a:srgbClr val="E6E4E2"/>
          </a:solidFill>
          <a:ln/>
        </p:spPr>
      </p:sp>
      <p:sp>
        <p:nvSpPr>
          <p:cNvPr id="18" name="Text 14"/>
          <p:cNvSpPr txBox="1"/>
          <p:nvPr/>
        </p:nvSpPr>
        <p:spPr>
          <a:xfrm>
            <a:off x="5120640" y="4123944"/>
            <a:ext cx="6293815" cy="219456"/>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CERTIFICATIONS</a:t>
            </a:r>
            <a:endParaRPr lang="en-US" sz="850" dirty="0"/>
          </a:p>
        </p:txBody>
      </p:sp>
      <p:sp>
        <p:nvSpPr>
          <p:cNvPr id="19" name="Text 15"/>
          <p:cNvSpPr txBox="1"/>
          <p:nvPr/>
        </p:nvSpPr>
        <p:spPr>
          <a:xfrm>
            <a:off x="5120640" y="4370832"/>
            <a:ext cx="6293815" cy="475488"/>
          </a:xfrm>
          <a:prstGeom prst="rect">
            <a:avLst/>
          </a:prstGeom>
          <a:noFill/>
          <a:ln/>
        </p:spPr>
        <p:txBody>
          <a:bodyPr wrap="square" lIns="0" tIns="0" rIns="0" bIns="0" rtlCol="0" anchor="t"/>
          <a:lstStyle/>
          <a:p>
            <a:pPr indent="0" marL="0">
              <a:lnSpc>
                <a:spcPct val="120000"/>
              </a:lnSpc>
              <a:buNone/>
            </a:pPr>
            <a:r>
              <a:rPr lang="en-US" sz="1250" dirty="0">
                <a:solidFill>
                  <a:srgbClr val="43464A"/>
                </a:solidFill>
                <a:latin typeface="Montserrat" pitchFamily="34" charset="0"/>
                <a:ea typeface="Montserrat" pitchFamily="34" charset="-122"/>
                <a:cs typeface="Montserrat" pitchFamily="34" charset="-120"/>
              </a:rPr>
              <a:t>Working toward the PWPA and PJPT practical certifications</a:t>
            </a:r>
            <a:endParaRPr lang="en-US" sz="1250" dirty="0"/>
          </a:p>
        </p:txBody>
      </p:sp>
      <p:sp>
        <p:nvSpPr>
          <p:cNvPr id="20" name="Shape 16"/>
          <p:cNvSpPr/>
          <p:nvPr/>
        </p:nvSpPr>
        <p:spPr>
          <a:xfrm>
            <a:off x="5120640" y="4910328"/>
            <a:ext cx="6293815" cy="10973"/>
          </a:xfrm>
          <a:prstGeom prst="rect">
            <a:avLst/>
          </a:prstGeom>
          <a:solidFill>
            <a:srgbClr val="E6E4E2"/>
          </a:solidFill>
          <a:ln/>
        </p:spPr>
      </p:sp>
      <p:sp>
        <p:nvSpPr>
          <p:cNvPr id="21" name="Text 17"/>
          <p:cNvSpPr txBox="1"/>
          <p:nvPr/>
        </p:nvSpPr>
        <p:spPr>
          <a:xfrm>
            <a:off x="5120640" y="5065776"/>
            <a:ext cx="6293815" cy="219456"/>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CAREER DIRECTION</a:t>
            </a:r>
            <a:endParaRPr lang="en-US" sz="850" dirty="0"/>
          </a:p>
        </p:txBody>
      </p:sp>
      <p:sp>
        <p:nvSpPr>
          <p:cNvPr id="22" name="Text 18"/>
          <p:cNvSpPr txBox="1"/>
          <p:nvPr/>
        </p:nvSpPr>
        <p:spPr>
          <a:xfrm>
            <a:off x="5120640" y="5312664"/>
            <a:ext cx="6293815" cy="475488"/>
          </a:xfrm>
          <a:prstGeom prst="rect">
            <a:avLst/>
          </a:prstGeom>
          <a:noFill/>
          <a:ln/>
        </p:spPr>
        <p:txBody>
          <a:bodyPr wrap="square" lIns="0" tIns="0" rIns="0" bIns="0" rtlCol="0" anchor="t"/>
          <a:lstStyle/>
          <a:p>
            <a:pPr indent="0" marL="0">
              <a:lnSpc>
                <a:spcPct val="120000"/>
              </a:lnSpc>
              <a:buNone/>
            </a:pPr>
            <a:r>
              <a:rPr lang="en-US" sz="1250" dirty="0">
                <a:solidFill>
                  <a:srgbClr val="43464A"/>
                </a:solidFill>
                <a:latin typeface="Montserrat" pitchFamily="34" charset="0"/>
                <a:ea typeface="Montserrat" pitchFamily="34" charset="-122"/>
                <a:cs typeface="Montserrat" pitchFamily="34" charset="-120"/>
              </a:rPr>
              <a:t>Penetration testing — finding weaknesses before an attacker does</a:t>
            </a:r>
            <a:endParaRPr lang="en-US" sz="1250" dirty="0"/>
          </a:p>
        </p:txBody>
      </p:sp>
      <p:pic>
        <p:nvPicPr>
          <p:cNvPr id="23" name="Image 2" descr="/home/user/ai/assets/gen/logo-red.png">    </p:cNvPr>
          <p:cNvPicPr>
            <a:picLocks noChangeAspect="1"/>
          </p:cNvPicPr>
          <p:nvPr/>
        </p:nvPicPr>
        <p:blipFill>
          <a:blip r:embed="rId3"/>
          <a:stretch>
            <a:fillRect/>
          </a:stretch>
        </p:blipFill>
        <p:spPr>
          <a:xfrm>
            <a:off x="9768535" y="457200"/>
            <a:ext cx="1645920" cy="166053"/>
          </a:xfrm>
          <a:prstGeom prst="rect">
            <a:avLst/>
          </a:prstGeom>
        </p:spPr>
      </p:pic>
      <p:sp>
        <p:nvSpPr>
          <p:cNvPr id="24" name="Shape 19"/>
          <p:cNvSpPr/>
          <p:nvPr/>
        </p:nvSpPr>
        <p:spPr>
          <a:xfrm>
            <a:off x="5120640" y="6181344"/>
            <a:ext cx="6293815" cy="10973"/>
          </a:xfrm>
          <a:prstGeom prst="rect">
            <a:avLst/>
          </a:prstGeom>
          <a:solidFill>
            <a:srgbClr val="E6E4E2"/>
          </a:solidFill>
          <a:ln/>
        </p:spPr>
      </p:sp>
      <p:sp>
        <p:nvSpPr>
          <p:cNvPr id="25" name="Text 20"/>
          <p:cNvSpPr txBox="1"/>
          <p:nvPr/>
        </p:nvSpPr>
        <p:spPr>
          <a:xfrm>
            <a:off x="5120640" y="6327648"/>
            <a:ext cx="73152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ABOUT ME</a:t>
            </a:r>
            <a:endParaRPr lang="en-US" sz="850" dirty="0"/>
          </a:p>
        </p:txBody>
      </p:sp>
      <p:sp>
        <p:nvSpPr>
          <p:cNvPr id="26" name="Text 21"/>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home/user/ai/assets/gen/logo-red.png">    </p:cNvPr>
          <p:cNvPicPr>
            <a:picLocks noChangeAspect="1"/>
          </p:cNvPicPr>
          <p:nvPr/>
        </p:nvPicPr>
        <p:blipFill>
          <a:blip r:embed="rId1"/>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indent="0" marL="0">
              <a:buNone/>
            </a:pPr>
            <a:r>
              <a:rPr lang="en-US" sz="1000" spc="220" kern="0" dirty="0">
                <a:solidFill>
                  <a:srgbClr val="942838"/>
                </a:solidFill>
                <a:latin typeface="Montserrat SemiBold" pitchFamily="34" charset="0"/>
                <a:ea typeface="Montserrat SemiBold" pitchFamily="34" charset="-122"/>
                <a:cs typeface="Montserrat SemiBold" pitchFamily="34" charset="-120"/>
              </a:rPr>
              <a:t>INTERNSHIP OVERVIEW</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indent="0" marL="0">
              <a:lnSpc>
                <a:spcPct val="98000"/>
              </a:lnSpc>
              <a:buNone/>
            </a:pPr>
            <a:r>
              <a:rPr lang="en-US" sz="2900" spc="-50" kern="0" dirty="0">
                <a:solidFill>
                  <a:srgbClr val="2B2D30"/>
                </a:solidFill>
                <a:latin typeface="Montserrat ExtraBold" pitchFamily="34" charset="0"/>
                <a:ea typeface="Montserrat ExtraBold" pitchFamily="34" charset="-122"/>
                <a:cs typeface="Montserrat ExtraBold" pitchFamily="34" charset="-120"/>
              </a:rPr>
              <a:t>Three rotations across the security team</a:t>
            </a:r>
            <a:endParaRPr lang="en-US" sz="2900" dirty="0"/>
          </a:p>
        </p:txBody>
      </p:sp>
      <p:sp>
        <p:nvSpPr>
          <p:cNvPr id="5" name="Shape 2"/>
          <p:cNvSpPr/>
          <p:nvPr/>
        </p:nvSpPr>
        <p:spPr>
          <a:xfrm>
            <a:off x="777240" y="1700784"/>
            <a:ext cx="566928" cy="50292"/>
          </a:xfrm>
          <a:prstGeom prst="rect">
            <a:avLst/>
          </a:prstGeom>
          <a:solidFill>
            <a:srgbClr val="942838"/>
          </a:solidFill>
          <a:ln/>
        </p:spPr>
      </p:sp>
      <p:sp>
        <p:nvSpPr>
          <p:cNvPr id="6" name="Shape 3"/>
          <p:cNvSpPr/>
          <p:nvPr/>
        </p:nvSpPr>
        <p:spPr>
          <a:xfrm>
            <a:off x="777240" y="6181344"/>
            <a:ext cx="10637215" cy="10973"/>
          </a:xfrm>
          <a:prstGeom prst="rect">
            <a:avLst/>
          </a:prstGeom>
          <a:solidFill>
            <a:srgbClr val="E6E4E2"/>
          </a:solidFill>
          <a:ln/>
        </p:spPr>
      </p:sp>
      <p:sp>
        <p:nvSpPr>
          <p:cNvPr id="7" name="Text 4"/>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INTERNSHIP OVERVIEW</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04</a:t>
            </a:r>
            <a:endParaRPr lang="en-US" sz="850" dirty="0"/>
          </a:p>
        </p:txBody>
      </p:sp>
      <p:sp>
        <p:nvSpPr>
          <p:cNvPr id="9" name="Text 6"/>
          <p:cNvSpPr txBox="1"/>
          <p:nvPr/>
        </p:nvSpPr>
        <p:spPr>
          <a:xfrm>
            <a:off x="777240" y="1883664"/>
            <a:ext cx="9052560" cy="310896"/>
          </a:xfrm>
          <a:prstGeom prst="rect">
            <a:avLst/>
          </a:prstGeom>
          <a:noFill/>
          <a:ln/>
        </p:spPr>
        <p:txBody>
          <a:bodyPr wrap="square" lIns="0" tIns="0" rIns="0" bIns="0" rtlCol="0" anchor="t"/>
          <a:lstStyle/>
          <a:p>
            <a:pPr indent="0" marL="0">
              <a:buNone/>
            </a:pPr>
            <a:r>
              <a:rPr lang="en-US" sz="1400" dirty="0">
                <a:solidFill>
                  <a:srgbClr val="6E7175"/>
                </a:solidFill>
                <a:latin typeface="Montserrat Medium" pitchFamily="34" charset="0"/>
                <a:ea typeface="Montserrat Medium" pitchFamily="34" charset="-122"/>
                <a:cs typeface="Montserrat Medium" pitchFamily="34" charset="-120"/>
              </a:rPr>
              <a:t>I moved through three different areas of Information Security. Each rotation produced one project.</a:t>
            </a:r>
            <a:endParaRPr lang="en-US" sz="1400" dirty="0"/>
          </a:p>
        </p:txBody>
      </p:sp>
      <p:sp>
        <p:nvSpPr>
          <p:cNvPr id="10" name="Shape 7"/>
          <p:cNvSpPr/>
          <p:nvPr/>
        </p:nvSpPr>
        <p:spPr>
          <a:xfrm>
            <a:off x="777240" y="2852928"/>
            <a:ext cx="10637215" cy="10973"/>
          </a:xfrm>
          <a:prstGeom prst="rect">
            <a:avLst/>
          </a:prstGeom>
          <a:solidFill>
            <a:srgbClr val="C9C6C4"/>
          </a:solidFill>
          <a:ln/>
        </p:spPr>
      </p:sp>
      <p:sp>
        <p:nvSpPr>
          <p:cNvPr id="11" name="Shape 8"/>
          <p:cNvSpPr/>
          <p:nvPr/>
        </p:nvSpPr>
        <p:spPr>
          <a:xfrm>
            <a:off x="1033272" y="2756916"/>
            <a:ext cx="201168" cy="201168"/>
          </a:xfrm>
          <a:prstGeom prst="ellipse">
            <a:avLst/>
          </a:prstGeom>
          <a:solidFill>
            <a:srgbClr val="942838"/>
          </a:solidFill>
          <a:ln w="25400">
            <a:solidFill>
              <a:srgbClr val="FFFFFF"/>
            </a:solidFill>
            <a:prstDash val="solid"/>
          </a:ln>
        </p:spPr>
      </p:sp>
      <p:sp>
        <p:nvSpPr>
          <p:cNvPr id="12" name="Shape 9"/>
          <p:cNvSpPr/>
          <p:nvPr/>
        </p:nvSpPr>
        <p:spPr>
          <a:xfrm>
            <a:off x="777240" y="3310128"/>
            <a:ext cx="3310128" cy="2286000"/>
          </a:xfrm>
          <a:prstGeom prst="roundRect">
            <a:avLst>
              <a:gd name="adj" fmla="val 2400"/>
            </a:avLst>
          </a:prstGeom>
          <a:solidFill>
            <a:srgbClr val="FFFFFF"/>
          </a:solidFill>
          <a:ln w="9525">
            <a:solidFill>
              <a:srgbClr val="E6E4E2"/>
            </a:solidFill>
            <a:prstDash val="solid"/>
          </a:ln>
          <a:effectLst>
            <a:outerShdw sx="100000" sy="100000" kx="0" ky="0" algn="bl" rotWithShape="0" blurRad="177800" dist="44450" dir="5400000">
              <a:srgbClr val="959092">
                <a:alpha val="22000"/>
              </a:srgbClr>
            </a:outerShdw>
          </a:effectLst>
        </p:spPr>
      </p:sp>
      <p:sp>
        <p:nvSpPr>
          <p:cNvPr id="13" name="Shape 10"/>
          <p:cNvSpPr/>
          <p:nvPr/>
        </p:nvSpPr>
        <p:spPr>
          <a:xfrm>
            <a:off x="777240" y="3310128"/>
            <a:ext cx="3310128" cy="50292"/>
          </a:xfrm>
          <a:prstGeom prst="rect">
            <a:avLst/>
          </a:prstGeom>
          <a:solidFill>
            <a:srgbClr val="942838"/>
          </a:solidFill>
          <a:ln/>
        </p:spPr>
      </p:sp>
      <p:sp>
        <p:nvSpPr>
          <p:cNvPr id="14" name="Text 11"/>
          <p:cNvSpPr txBox="1"/>
          <p:nvPr/>
        </p:nvSpPr>
        <p:spPr>
          <a:xfrm>
            <a:off x="1088136" y="3566160"/>
            <a:ext cx="914400" cy="384048"/>
          </a:xfrm>
          <a:prstGeom prst="rect">
            <a:avLst/>
          </a:prstGeom>
          <a:noFill/>
          <a:ln/>
        </p:spPr>
        <p:txBody>
          <a:bodyPr wrap="square" lIns="0" tIns="0" rIns="0" bIns="0" rtlCol="0" anchor="t"/>
          <a:lstStyle/>
          <a:p>
            <a:pPr indent="0" marL="0">
              <a:buNone/>
            </a:pPr>
            <a:r>
              <a:rPr lang="en-US" sz="2400" spc="-50" kern="0" dirty="0">
                <a:solidFill>
                  <a:srgbClr val="DFBEC4"/>
                </a:solidFill>
                <a:latin typeface="Montserrat ExtraBold" pitchFamily="34" charset="0"/>
                <a:ea typeface="Montserrat ExtraBold" pitchFamily="34" charset="-122"/>
                <a:cs typeface="Montserrat ExtraBold" pitchFamily="34" charset="-120"/>
              </a:rPr>
              <a:t>01</a:t>
            </a:r>
            <a:endParaRPr lang="en-US" sz="2400" dirty="0"/>
          </a:p>
        </p:txBody>
      </p:sp>
      <p:sp>
        <p:nvSpPr>
          <p:cNvPr id="15" name="Text 12"/>
          <p:cNvSpPr txBox="1"/>
          <p:nvPr/>
        </p:nvSpPr>
        <p:spPr>
          <a:xfrm>
            <a:off x="1088136" y="4041648"/>
            <a:ext cx="2688336" cy="329184"/>
          </a:xfrm>
          <a:prstGeom prst="rect">
            <a:avLst/>
          </a:prstGeom>
          <a:noFill/>
          <a:ln/>
        </p:spPr>
        <p:txBody>
          <a:bodyPr wrap="square" lIns="0" tIns="0" rIns="0" bIns="0" rtlCol="0" anchor="t"/>
          <a:lstStyle/>
          <a:p>
            <a:pPr indent="0" marL="0">
              <a:lnSpc>
                <a:spcPct val="105000"/>
              </a:lnSpc>
              <a:buNone/>
            </a:pPr>
            <a:r>
              <a:rPr lang="en-US" sz="1500" dirty="0">
                <a:solidFill>
                  <a:srgbClr val="2B2D30"/>
                </a:solidFill>
                <a:latin typeface="Montserrat SemiBold" pitchFamily="34" charset="0"/>
                <a:ea typeface="Montserrat SemiBold" pitchFamily="34" charset="-122"/>
                <a:cs typeface="Montserrat SemiBold" pitchFamily="34" charset="-120"/>
              </a:rPr>
              <a:t>Vulnerability Management</a:t>
            </a:r>
            <a:endParaRPr lang="en-US" sz="1500" dirty="0"/>
          </a:p>
        </p:txBody>
      </p:sp>
      <p:sp>
        <p:nvSpPr>
          <p:cNvPr id="16" name="Text 13"/>
          <p:cNvSpPr txBox="1"/>
          <p:nvPr/>
        </p:nvSpPr>
        <p:spPr>
          <a:xfrm>
            <a:off x="1088136" y="4462272"/>
            <a:ext cx="2688336" cy="777240"/>
          </a:xfrm>
          <a:prstGeom prst="rect">
            <a:avLst/>
          </a:prstGeom>
          <a:noFill/>
          <a:ln/>
        </p:spPr>
        <p:txBody>
          <a:bodyPr wrap="square" lIns="0" tIns="0" rIns="0" bIns="0" rtlCol="0" anchor="t"/>
          <a:lstStyle/>
          <a:p>
            <a:pPr indent="0" marL="0">
              <a:lnSpc>
                <a:spcPct val="122000"/>
              </a:lnSpc>
              <a:buNone/>
            </a:pPr>
            <a:r>
              <a:rPr lang="en-US" sz="1100" dirty="0">
                <a:solidFill>
                  <a:srgbClr val="6E7175"/>
                </a:solidFill>
                <a:latin typeface="Montserrat" pitchFamily="34" charset="0"/>
                <a:ea typeface="Montserrat" pitchFamily="34" charset="-122"/>
                <a:cs typeface="Montserrat" pitchFamily="34" charset="-120"/>
              </a:rPr>
              <a:t>Finding known weaknesses across company machines and making sure they actually get fixed.</a:t>
            </a:r>
            <a:endParaRPr lang="en-US" sz="1100" dirty="0"/>
          </a:p>
        </p:txBody>
      </p:sp>
      <p:sp>
        <p:nvSpPr>
          <p:cNvPr id="17" name="Shape 14"/>
          <p:cNvSpPr/>
          <p:nvPr/>
        </p:nvSpPr>
        <p:spPr>
          <a:xfrm>
            <a:off x="4696816" y="2756916"/>
            <a:ext cx="201168" cy="201168"/>
          </a:xfrm>
          <a:prstGeom prst="ellipse">
            <a:avLst/>
          </a:prstGeom>
          <a:solidFill>
            <a:srgbClr val="942838"/>
          </a:solidFill>
          <a:ln w="25400">
            <a:solidFill>
              <a:srgbClr val="FFFFFF"/>
            </a:solidFill>
            <a:prstDash val="solid"/>
          </a:ln>
        </p:spPr>
      </p:sp>
      <p:sp>
        <p:nvSpPr>
          <p:cNvPr id="18" name="Shape 15"/>
          <p:cNvSpPr/>
          <p:nvPr/>
        </p:nvSpPr>
        <p:spPr>
          <a:xfrm>
            <a:off x="4440784" y="3310128"/>
            <a:ext cx="3310128" cy="2286000"/>
          </a:xfrm>
          <a:prstGeom prst="roundRect">
            <a:avLst>
              <a:gd name="adj" fmla="val 2400"/>
            </a:avLst>
          </a:prstGeom>
          <a:solidFill>
            <a:srgbClr val="FFFFFF"/>
          </a:solidFill>
          <a:ln w="9525">
            <a:solidFill>
              <a:srgbClr val="E6E4E2"/>
            </a:solidFill>
            <a:prstDash val="solid"/>
          </a:ln>
          <a:effectLst>
            <a:outerShdw sx="100000" sy="100000" kx="0" ky="0" algn="bl" rotWithShape="0" blurRad="2258060000" dist="564515000" dir="324000000000">
              <a:srgbClr val="959092">
                <a:alpha val="2200000000"/>
              </a:srgbClr>
            </a:outerShdw>
          </a:effectLst>
        </p:spPr>
      </p:sp>
      <p:sp>
        <p:nvSpPr>
          <p:cNvPr id="19" name="Shape 16"/>
          <p:cNvSpPr/>
          <p:nvPr/>
        </p:nvSpPr>
        <p:spPr>
          <a:xfrm>
            <a:off x="4440784" y="3310128"/>
            <a:ext cx="3310128" cy="50292"/>
          </a:xfrm>
          <a:prstGeom prst="rect">
            <a:avLst/>
          </a:prstGeom>
          <a:solidFill>
            <a:srgbClr val="942838"/>
          </a:solidFill>
          <a:ln/>
        </p:spPr>
      </p:sp>
      <p:sp>
        <p:nvSpPr>
          <p:cNvPr id="20" name="Text 17"/>
          <p:cNvSpPr txBox="1"/>
          <p:nvPr/>
        </p:nvSpPr>
        <p:spPr>
          <a:xfrm>
            <a:off x="4751680" y="3566160"/>
            <a:ext cx="914400" cy="384048"/>
          </a:xfrm>
          <a:prstGeom prst="rect">
            <a:avLst/>
          </a:prstGeom>
          <a:noFill/>
          <a:ln/>
        </p:spPr>
        <p:txBody>
          <a:bodyPr wrap="square" lIns="0" tIns="0" rIns="0" bIns="0" rtlCol="0" anchor="t"/>
          <a:lstStyle/>
          <a:p>
            <a:pPr indent="0" marL="0">
              <a:buNone/>
            </a:pPr>
            <a:r>
              <a:rPr lang="en-US" sz="2400" spc="-50" kern="0" dirty="0">
                <a:solidFill>
                  <a:srgbClr val="DFBEC4"/>
                </a:solidFill>
                <a:latin typeface="Montserrat ExtraBold" pitchFamily="34" charset="0"/>
                <a:ea typeface="Montserrat ExtraBold" pitchFamily="34" charset="-122"/>
                <a:cs typeface="Montserrat ExtraBold" pitchFamily="34" charset="-120"/>
              </a:rPr>
              <a:t>02</a:t>
            </a:r>
            <a:endParaRPr lang="en-US" sz="2400" dirty="0"/>
          </a:p>
        </p:txBody>
      </p:sp>
      <p:sp>
        <p:nvSpPr>
          <p:cNvPr id="21" name="Text 18"/>
          <p:cNvSpPr txBox="1"/>
          <p:nvPr/>
        </p:nvSpPr>
        <p:spPr>
          <a:xfrm>
            <a:off x="4751680" y="4041648"/>
            <a:ext cx="2688336" cy="329184"/>
          </a:xfrm>
          <a:prstGeom prst="rect">
            <a:avLst/>
          </a:prstGeom>
          <a:noFill/>
          <a:ln/>
        </p:spPr>
        <p:txBody>
          <a:bodyPr wrap="square" lIns="0" tIns="0" rIns="0" bIns="0" rtlCol="0" anchor="t"/>
          <a:lstStyle/>
          <a:p>
            <a:pPr indent="0" marL="0">
              <a:lnSpc>
                <a:spcPct val="105000"/>
              </a:lnSpc>
              <a:buNone/>
            </a:pPr>
            <a:r>
              <a:rPr lang="en-US" sz="1500" dirty="0">
                <a:solidFill>
                  <a:srgbClr val="2B2D30"/>
                </a:solidFill>
                <a:latin typeface="Montserrat SemiBold" pitchFamily="34" charset="0"/>
                <a:ea typeface="Montserrat SemiBold" pitchFamily="34" charset="-122"/>
                <a:cs typeface="Montserrat SemiBold" pitchFamily="34" charset="-120"/>
              </a:rPr>
              <a:t>Application Security</a:t>
            </a:r>
            <a:endParaRPr lang="en-US" sz="1500" dirty="0"/>
          </a:p>
        </p:txBody>
      </p:sp>
      <p:sp>
        <p:nvSpPr>
          <p:cNvPr id="22" name="Text 19"/>
          <p:cNvSpPr txBox="1"/>
          <p:nvPr/>
        </p:nvSpPr>
        <p:spPr>
          <a:xfrm>
            <a:off x="4751680" y="4462272"/>
            <a:ext cx="2688336" cy="777240"/>
          </a:xfrm>
          <a:prstGeom prst="rect">
            <a:avLst/>
          </a:prstGeom>
          <a:noFill/>
          <a:ln/>
        </p:spPr>
        <p:txBody>
          <a:bodyPr wrap="square" lIns="0" tIns="0" rIns="0" bIns="0" rtlCol="0" anchor="t"/>
          <a:lstStyle/>
          <a:p>
            <a:pPr indent="0" marL="0">
              <a:lnSpc>
                <a:spcPct val="122000"/>
              </a:lnSpc>
              <a:buNone/>
            </a:pPr>
            <a:r>
              <a:rPr lang="en-US" sz="1100" dirty="0">
                <a:solidFill>
                  <a:srgbClr val="6E7175"/>
                </a:solidFill>
                <a:latin typeface="Montserrat" pitchFamily="34" charset="0"/>
                <a:ea typeface="Montserrat" pitchFamily="34" charset="-122"/>
                <a:cs typeface="Montserrat" pitchFamily="34" charset="-120"/>
              </a:rPr>
              <a:t>Checking the software we build and the outside code we rely on for weaknesses.</a:t>
            </a:r>
            <a:endParaRPr lang="en-US" sz="1100" dirty="0"/>
          </a:p>
        </p:txBody>
      </p:sp>
      <p:sp>
        <p:nvSpPr>
          <p:cNvPr id="23" name="Shape 20"/>
          <p:cNvSpPr/>
          <p:nvPr/>
        </p:nvSpPr>
        <p:spPr>
          <a:xfrm>
            <a:off x="8360359" y="2756916"/>
            <a:ext cx="201168" cy="201168"/>
          </a:xfrm>
          <a:prstGeom prst="ellipse">
            <a:avLst/>
          </a:prstGeom>
          <a:solidFill>
            <a:srgbClr val="942838"/>
          </a:solidFill>
          <a:ln w="25400">
            <a:solidFill>
              <a:srgbClr val="FFFFFF"/>
            </a:solidFill>
            <a:prstDash val="solid"/>
          </a:ln>
        </p:spPr>
      </p:sp>
      <p:sp>
        <p:nvSpPr>
          <p:cNvPr id="24" name="Shape 21"/>
          <p:cNvSpPr/>
          <p:nvPr/>
        </p:nvSpPr>
        <p:spPr>
          <a:xfrm>
            <a:off x="8104327" y="3310128"/>
            <a:ext cx="3310128" cy="2286000"/>
          </a:xfrm>
          <a:prstGeom prst="roundRect">
            <a:avLst>
              <a:gd name="adj" fmla="val 2400"/>
            </a:avLst>
          </a:prstGeom>
          <a:solidFill>
            <a:srgbClr val="FFFFFF"/>
          </a:solidFill>
          <a:ln w="9525">
            <a:solidFill>
              <a:srgbClr val="E6E4E2"/>
            </a:solidFill>
            <a:prstDash val="solid"/>
          </a:ln>
          <a:effectLst>
            <a:outerShdw sx="100000" sy="100000" kx="0" ky="0" algn="bl" rotWithShape="0" blurRad="28677362000000" dist="7169340500000" dir="19440000000000000">
              <a:srgbClr val="959092">
                <a:alpha val="220000000000000"/>
              </a:srgbClr>
            </a:outerShdw>
          </a:effectLst>
        </p:spPr>
      </p:sp>
      <p:sp>
        <p:nvSpPr>
          <p:cNvPr id="25" name="Shape 22"/>
          <p:cNvSpPr/>
          <p:nvPr/>
        </p:nvSpPr>
        <p:spPr>
          <a:xfrm>
            <a:off x="8104327" y="3310128"/>
            <a:ext cx="3310128" cy="50292"/>
          </a:xfrm>
          <a:prstGeom prst="rect">
            <a:avLst/>
          </a:prstGeom>
          <a:solidFill>
            <a:srgbClr val="942838"/>
          </a:solidFill>
          <a:ln/>
        </p:spPr>
      </p:sp>
      <p:sp>
        <p:nvSpPr>
          <p:cNvPr id="26" name="Text 23"/>
          <p:cNvSpPr txBox="1"/>
          <p:nvPr/>
        </p:nvSpPr>
        <p:spPr>
          <a:xfrm>
            <a:off x="8415223" y="3566160"/>
            <a:ext cx="914400" cy="384048"/>
          </a:xfrm>
          <a:prstGeom prst="rect">
            <a:avLst/>
          </a:prstGeom>
          <a:noFill/>
          <a:ln/>
        </p:spPr>
        <p:txBody>
          <a:bodyPr wrap="square" lIns="0" tIns="0" rIns="0" bIns="0" rtlCol="0" anchor="t"/>
          <a:lstStyle/>
          <a:p>
            <a:pPr indent="0" marL="0">
              <a:buNone/>
            </a:pPr>
            <a:r>
              <a:rPr lang="en-US" sz="2400" spc="-50" kern="0" dirty="0">
                <a:solidFill>
                  <a:srgbClr val="DFBEC4"/>
                </a:solidFill>
                <a:latin typeface="Montserrat ExtraBold" pitchFamily="34" charset="0"/>
                <a:ea typeface="Montserrat ExtraBold" pitchFamily="34" charset="-122"/>
                <a:cs typeface="Montserrat ExtraBold" pitchFamily="34" charset="-120"/>
              </a:rPr>
              <a:t>03</a:t>
            </a:r>
            <a:endParaRPr lang="en-US" sz="2400" dirty="0"/>
          </a:p>
        </p:txBody>
      </p:sp>
      <p:sp>
        <p:nvSpPr>
          <p:cNvPr id="27" name="Text 24"/>
          <p:cNvSpPr txBox="1"/>
          <p:nvPr/>
        </p:nvSpPr>
        <p:spPr>
          <a:xfrm>
            <a:off x="8415223" y="4041648"/>
            <a:ext cx="2688336" cy="329184"/>
          </a:xfrm>
          <a:prstGeom prst="rect">
            <a:avLst/>
          </a:prstGeom>
          <a:noFill/>
          <a:ln/>
        </p:spPr>
        <p:txBody>
          <a:bodyPr wrap="square" lIns="0" tIns="0" rIns="0" bIns="0" rtlCol="0" anchor="t"/>
          <a:lstStyle/>
          <a:p>
            <a:pPr indent="0" marL="0">
              <a:lnSpc>
                <a:spcPct val="105000"/>
              </a:lnSpc>
              <a:buNone/>
            </a:pPr>
            <a:r>
              <a:rPr lang="en-US" sz="1500" dirty="0">
                <a:solidFill>
                  <a:srgbClr val="2B2D30"/>
                </a:solidFill>
                <a:latin typeface="Montserrat SemiBold" pitchFamily="34" charset="0"/>
                <a:ea typeface="Montserrat SemiBold" pitchFamily="34" charset="-122"/>
                <a:cs typeface="Montserrat SemiBold" pitchFamily="34" charset="-120"/>
              </a:rPr>
              <a:t>Network Security</a:t>
            </a:r>
            <a:endParaRPr lang="en-US" sz="1500" dirty="0"/>
          </a:p>
        </p:txBody>
      </p:sp>
      <p:sp>
        <p:nvSpPr>
          <p:cNvPr id="28" name="Text 25"/>
          <p:cNvSpPr txBox="1"/>
          <p:nvPr/>
        </p:nvSpPr>
        <p:spPr>
          <a:xfrm>
            <a:off x="8415223" y="4462272"/>
            <a:ext cx="2688336" cy="777240"/>
          </a:xfrm>
          <a:prstGeom prst="rect">
            <a:avLst/>
          </a:prstGeom>
          <a:noFill/>
          <a:ln/>
        </p:spPr>
        <p:txBody>
          <a:bodyPr wrap="square" lIns="0" tIns="0" rIns="0" bIns="0" rtlCol="0" anchor="t"/>
          <a:lstStyle/>
          <a:p>
            <a:pPr indent="0" marL="0">
              <a:lnSpc>
                <a:spcPct val="122000"/>
              </a:lnSpc>
              <a:buNone/>
            </a:pPr>
            <a:r>
              <a:rPr lang="en-US" sz="1100" dirty="0">
                <a:solidFill>
                  <a:srgbClr val="6E7175"/>
                </a:solidFill>
                <a:latin typeface="Montserrat" pitchFamily="34" charset="0"/>
                <a:ea typeface="Montserrat" pitchFamily="34" charset="-122"/>
                <a:cs typeface="Montserrat" pitchFamily="34" charset="-120"/>
              </a:rPr>
              <a:t>Protecting how machines talk to each other, and what is allowed in and out.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user/ai/assets/gen/logo-red.png">    </p:cNvPr>
          <p:cNvPicPr>
            <a:picLocks noChangeAspect="1"/>
          </p:cNvPicPr>
          <p:nvPr/>
        </p:nvPicPr>
        <p:blipFill>
          <a:blip r:embed="rId1"/>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indent="0" marL="0">
              <a:buNone/>
            </a:pPr>
            <a:r>
              <a:rPr lang="en-US" sz="1000" spc="220" kern="0" dirty="0">
                <a:solidFill>
                  <a:srgbClr val="942838"/>
                </a:solidFill>
                <a:latin typeface="Montserrat SemiBold" pitchFamily="34" charset="0"/>
                <a:ea typeface="Montserrat SemiBold" pitchFamily="34" charset="-122"/>
                <a:cs typeface="Montserrat SemiBold" pitchFamily="34" charset="-120"/>
              </a:rPr>
              <a:t>EXECUTIVE SUMMARY</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indent="0" marL="0">
              <a:lnSpc>
                <a:spcPct val="98000"/>
              </a:lnSpc>
              <a:buNone/>
            </a:pPr>
            <a:r>
              <a:rPr lang="en-US" sz="2900" spc="-50" kern="0" dirty="0">
                <a:solidFill>
                  <a:srgbClr val="2B2D30"/>
                </a:solidFill>
                <a:latin typeface="Montserrat ExtraBold" pitchFamily="34" charset="0"/>
                <a:ea typeface="Montserrat ExtraBold" pitchFamily="34" charset="-122"/>
                <a:cs typeface="Montserrat ExtraBold" pitchFamily="34" charset="-120"/>
              </a:rPr>
              <a:t>Three problems, three working solutions</a:t>
            </a:r>
            <a:endParaRPr lang="en-US" sz="2900" dirty="0"/>
          </a:p>
        </p:txBody>
      </p:sp>
      <p:sp>
        <p:nvSpPr>
          <p:cNvPr id="5" name="Shape 2"/>
          <p:cNvSpPr/>
          <p:nvPr/>
        </p:nvSpPr>
        <p:spPr>
          <a:xfrm>
            <a:off x="777240" y="1700784"/>
            <a:ext cx="566928" cy="50292"/>
          </a:xfrm>
          <a:prstGeom prst="rect">
            <a:avLst/>
          </a:prstGeom>
          <a:solidFill>
            <a:srgbClr val="942838"/>
          </a:solidFill>
          <a:ln/>
        </p:spPr>
      </p:sp>
      <p:sp>
        <p:nvSpPr>
          <p:cNvPr id="6" name="Shape 3"/>
          <p:cNvSpPr/>
          <p:nvPr/>
        </p:nvSpPr>
        <p:spPr>
          <a:xfrm>
            <a:off x="777240" y="6181344"/>
            <a:ext cx="10637215" cy="10973"/>
          </a:xfrm>
          <a:prstGeom prst="rect">
            <a:avLst/>
          </a:prstGeom>
          <a:solidFill>
            <a:srgbClr val="E6E4E2"/>
          </a:solidFill>
          <a:ln/>
        </p:spPr>
      </p:sp>
      <p:sp>
        <p:nvSpPr>
          <p:cNvPr id="7" name="Text 4"/>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EXECUTIVE SUMMARY</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05</a:t>
            </a:r>
            <a:endParaRPr lang="en-US" sz="850" dirty="0"/>
          </a:p>
        </p:txBody>
      </p:sp>
      <p:sp>
        <p:nvSpPr>
          <p:cNvPr id="9" name="Text 6"/>
          <p:cNvSpPr txBox="1"/>
          <p:nvPr/>
        </p:nvSpPr>
        <p:spPr>
          <a:xfrm>
            <a:off x="777240" y="1956816"/>
            <a:ext cx="10241280" cy="310896"/>
          </a:xfrm>
          <a:prstGeom prst="rect">
            <a:avLst/>
          </a:prstGeom>
          <a:noFill/>
          <a:ln/>
        </p:spPr>
        <p:txBody>
          <a:bodyPr wrap="square" lIns="0" tIns="0" rIns="0" bIns="0" rtlCol="0" anchor="t"/>
          <a:lstStyle/>
          <a:p>
            <a:pPr indent="0" marL="0">
              <a:buNone/>
            </a:pPr>
            <a:r>
              <a:rPr lang="en-US" sz="1400" dirty="0">
                <a:solidFill>
                  <a:srgbClr val="6E7175"/>
                </a:solidFill>
                <a:latin typeface="Montserrat Medium" pitchFamily="34" charset="0"/>
                <a:ea typeface="Montserrat Medium" pitchFamily="34" charset="-122"/>
                <a:cs typeface="Montserrat Medium" pitchFamily="34" charset="-120"/>
              </a:rPr>
              <a:t>One from each rotation. Three separate gaps, three things the team keeps using — then the detail on each.</a:t>
            </a:r>
            <a:endParaRPr lang="en-US" sz="1400" dirty="0"/>
          </a:p>
        </p:txBody>
      </p:sp>
      <p:sp>
        <p:nvSpPr>
          <p:cNvPr id="10" name="Text 7"/>
          <p:cNvSpPr txBox="1"/>
          <p:nvPr/>
        </p:nvSpPr>
        <p:spPr>
          <a:xfrm>
            <a:off x="777240" y="2487168"/>
            <a:ext cx="3200400" cy="201168"/>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THE PROBLEM</a:t>
            </a:r>
            <a:endParaRPr lang="en-US" sz="850" dirty="0"/>
          </a:p>
        </p:txBody>
      </p:sp>
      <p:sp>
        <p:nvSpPr>
          <p:cNvPr id="11" name="Text 8"/>
          <p:cNvSpPr txBox="1"/>
          <p:nvPr/>
        </p:nvSpPr>
        <p:spPr>
          <a:xfrm>
            <a:off x="4224528" y="2487168"/>
            <a:ext cx="3657600" cy="201168"/>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WHAT I BUILT</a:t>
            </a:r>
            <a:endParaRPr lang="en-US" sz="850" dirty="0"/>
          </a:p>
        </p:txBody>
      </p:sp>
      <p:sp>
        <p:nvSpPr>
          <p:cNvPr id="12" name="Text 9"/>
          <p:cNvSpPr txBox="1"/>
          <p:nvPr/>
        </p:nvSpPr>
        <p:spPr>
          <a:xfrm>
            <a:off x="8101584" y="2487168"/>
            <a:ext cx="3312871" cy="201168"/>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THE PROOF</a:t>
            </a:r>
            <a:endParaRPr lang="en-US" sz="850" dirty="0"/>
          </a:p>
        </p:txBody>
      </p:sp>
      <p:sp>
        <p:nvSpPr>
          <p:cNvPr id="13" name="Shape 10"/>
          <p:cNvSpPr/>
          <p:nvPr/>
        </p:nvSpPr>
        <p:spPr>
          <a:xfrm>
            <a:off x="777240" y="2743200"/>
            <a:ext cx="10637215" cy="10973"/>
          </a:xfrm>
          <a:prstGeom prst="rect">
            <a:avLst/>
          </a:prstGeom>
          <a:solidFill>
            <a:srgbClr val="E6E4E2"/>
          </a:solidFill>
          <a:ln/>
        </p:spPr>
      </p:sp>
      <p:sp>
        <p:nvSpPr>
          <p:cNvPr id="14" name="Text 11"/>
          <p:cNvSpPr txBox="1"/>
          <p:nvPr/>
        </p:nvSpPr>
        <p:spPr>
          <a:xfrm>
            <a:off x="777240" y="2889504"/>
            <a:ext cx="3200400" cy="822960"/>
          </a:xfrm>
          <a:prstGeom prst="rect">
            <a:avLst/>
          </a:prstGeom>
          <a:noFill/>
          <a:ln/>
        </p:spPr>
        <p:txBody>
          <a:bodyPr wrap="square" lIns="0" tIns="0" rIns="0" bIns="0" rtlCol="0" anchor="t"/>
          <a:lstStyle/>
          <a:p>
            <a:pPr indent="0" marL="0">
              <a:lnSpc>
                <a:spcPct val="124000"/>
              </a:lnSpc>
              <a:buNone/>
            </a:pPr>
            <a:r>
              <a:rPr lang="en-US" sz="1100" dirty="0">
                <a:solidFill>
                  <a:srgbClr val="43464A"/>
                </a:solidFill>
                <a:latin typeface="Montserrat" pitchFamily="34" charset="0"/>
                <a:ea typeface="Montserrat" pitchFamily="34" charset="-122"/>
                <a:cs typeface="Montserrat" pitchFamily="34" charset="-120"/>
              </a:rPr>
              <a:t>New machines could ship without the security tools they need.</a:t>
            </a:r>
            <a:endParaRPr lang="en-US" sz="1100" dirty="0"/>
          </a:p>
        </p:txBody>
      </p:sp>
      <p:sp>
        <p:nvSpPr>
          <p:cNvPr id="15" name="Text 12"/>
          <p:cNvSpPr txBox="1"/>
          <p:nvPr/>
        </p:nvSpPr>
        <p:spPr>
          <a:xfrm>
            <a:off x="4224528" y="2889504"/>
            <a:ext cx="3383280" cy="822960"/>
          </a:xfrm>
          <a:prstGeom prst="rect">
            <a:avLst/>
          </a:prstGeom>
          <a:noFill/>
          <a:ln/>
        </p:spPr>
        <p:txBody>
          <a:bodyPr wrap="square" lIns="0" tIns="0" rIns="0" bIns="0" rtlCol="0" anchor="t"/>
          <a:lstStyle/>
          <a:p>
            <a:pPr indent="0" marL="0">
              <a:lnSpc>
                <a:spcPct val="124000"/>
              </a:lnSpc>
              <a:buNone/>
            </a:pPr>
            <a:r>
              <a:rPr lang="en-US" sz="1100" dirty="0">
                <a:solidFill>
                  <a:srgbClr val="2B2D30"/>
                </a:solidFill>
                <a:latin typeface="Montserrat SemiBold" pitchFamily="34" charset="0"/>
                <a:ea typeface="Montserrat SemiBold" pitchFamily="34" charset="-122"/>
                <a:cs typeface="Montserrat SemiBold" pitchFamily="34" charset="-120"/>
              </a:rPr>
              <a:t>A written framework naming all nine required tools and who owns each.</a:t>
            </a:r>
            <a:endParaRPr lang="en-US" sz="1100" dirty="0"/>
          </a:p>
        </p:txBody>
      </p:sp>
      <p:sp>
        <p:nvSpPr>
          <p:cNvPr id="16" name="Shape 13"/>
          <p:cNvSpPr/>
          <p:nvPr/>
        </p:nvSpPr>
        <p:spPr>
          <a:xfrm>
            <a:off x="7918704" y="2779776"/>
            <a:ext cx="3495751" cy="859536"/>
          </a:xfrm>
          <a:prstGeom prst="roundRect">
            <a:avLst>
              <a:gd name="adj" fmla="val 5319"/>
            </a:avLst>
          </a:prstGeom>
          <a:solidFill>
            <a:srgbClr val="F6EEF0"/>
          </a:solidFill>
          <a:ln/>
        </p:spPr>
      </p:sp>
      <p:sp>
        <p:nvSpPr>
          <p:cNvPr id="17" name="Text 14"/>
          <p:cNvSpPr txBox="1"/>
          <p:nvPr/>
        </p:nvSpPr>
        <p:spPr>
          <a:xfrm>
            <a:off x="8101584" y="2779776"/>
            <a:ext cx="3129991" cy="859536"/>
          </a:xfrm>
          <a:prstGeom prst="rect">
            <a:avLst/>
          </a:prstGeom>
          <a:noFill/>
          <a:ln/>
        </p:spPr>
        <p:txBody>
          <a:bodyPr wrap="square" lIns="0" tIns="0" rIns="0" bIns="0" rtlCol="0" anchor="ctr"/>
          <a:lstStyle/>
          <a:p>
            <a:pPr indent="0" marL="0">
              <a:lnSpc>
                <a:spcPct val="124000"/>
              </a:lnSpc>
              <a:buNone/>
            </a:pPr>
            <a:r>
              <a:rPr lang="en-US" sz="1100" dirty="0">
                <a:solidFill>
                  <a:srgbClr val="942838"/>
                </a:solidFill>
                <a:latin typeface="Montserrat SemiBold" pitchFamily="34" charset="0"/>
                <a:ea typeface="Montserrat SemiBold" pitchFamily="34" charset="-122"/>
                <a:cs typeface="Montserrat SemiBold" pitchFamily="34" charset="-120"/>
              </a:rPr>
              <a:t>Drafted and staged for Q4 sign-off</a:t>
            </a:r>
            <a:endParaRPr lang="en-US" sz="1100" dirty="0"/>
          </a:p>
        </p:txBody>
      </p:sp>
      <p:sp>
        <p:nvSpPr>
          <p:cNvPr id="18" name="Shape 15"/>
          <p:cNvSpPr/>
          <p:nvPr/>
        </p:nvSpPr>
        <p:spPr>
          <a:xfrm>
            <a:off x="777240" y="3858768"/>
            <a:ext cx="10637215" cy="10973"/>
          </a:xfrm>
          <a:prstGeom prst="rect">
            <a:avLst/>
          </a:prstGeom>
          <a:solidFill>
            <a:srgbClr val="E6E4E2"/>
          </a:solidFill>
          <a:ln/>
        </p:spPr>
      </p:sp>
      <p:sp>
        <p:nvSpPr>
          <p:cNvPr id="19" name="Text 16"/>
          <p:cNvSpPr txBox="1"/>
          <p:nvPr/>
        </p:nvSpPr>
        <p:spPr>
          <a:xfrm>
            <a:off x="777240" y="4023360"/>
            <a:ext cx="3200400" cy="822960"/>
          </a:xfrm>
          <a:prstGeom prst="rect">
            <a:avLst/>
          </a:prstGeom>
          <a:noFill/>
          <a:ln/>
        </p:spPr>
        <p:txBody>
          <a:bodyPr wrap="square" lIns="0" tIns="0" rIns="0" bIns="0" rtlCol="0" anchor="t"/>
          <a:lstStyle/>
          <a:p>
            <a:pPr indent="0" marL="0">
              <a:lnSpc>
                <a:spcPct val="124000"/>
              </a:lnSpc>
              <a:buNone/>
            </a:pPr>
            <a:r>
              <a:rPr lang="en-US" sz="1100" dirty="0">
                <a:solidFill>
                  <a:srgbClr val="43464A"/>
                </a:solidFill>
                <a:latin typeface="Montserrat" pitchFamily="34" charset="0"/>
                <a:ea typeface="Montserrat" pitchFamily="34" charset="-122"/>
                <a:cs typeface="Montserrat" pitchFamily="34" charset="-120"/>
              </a:rPr>
              <a:t>Attackers hide malicious code inside the open-source packages we depend on.</a:t>
            </a:r>
            <a:endParaRPr lang="en-US" sz="1100" dirty="0"/>
          </a:p>
        </p:txBody>
      </p:sp>
      <p:sp>
        <p:nvSpPr>
          <p:cNvPr id="20" name="Text 17"/>
          <p:cNvSpPr txBox="1"/>
          <p:nvPr/>
        </p:nvSpPr>
        <p:spPr>
          <a:xfrm>
            <a:off x="4224528" y="4023360"/>
            <a:ext cx="3383280" cy="822960"/>
          </a:xfrm>
          <a:prstGeom prst="rect">
            <a:avLst/>
          </a:prstGeom>
          <a:noFill/>
          <a:ln/>
        </p:spPr>
        <p:txBody>
          <a:bodyPr wrap="square" lIns="0" tIns="0" rIns="0" bIns="0" rtlCol="0" anchor="t"/>
          <a:lstStyle/>
          <a:p>
            <a:pPr indent="0" marL="0">
              <a:lnSpc>
                <a:spcPct val="124000"/>
              </a:lnSpc>
              <a:buNone/>
            </a:pPr>
            <a:r>
              <a:rPr lang="en-US" sz="1100" dirty="0">
                <a:solidFill>
                  <a:srgbClr val="2B2D30"/>
                </a:solidFill>
                <a:latin typeface="Montserrat SemiBold" pitchFamily="34" charset="0"/>
                <a:ea typeface="Montserrat SemiBold" pitchFamily="34" charset="-122"/>
                <a:cs typeface="Montserrat SemiBold" pitchFamily="34" charset="-120"/>
              </a:rPr>
              <a:t>AEGIS — a scanner that checks whether our code actually reaches the flaw.</a:t>
            </a:r>
            <a:endParaRPr lang="en-US" sz="1100" dirty="0"/>
          </a:p>
        </p:txBody>
      </p:sp>
      <p:sp>
        <p:nvSpPr>
          <p:cNvPr id="21" name="Shape 18"/>
          <p:cNvSpPr/>
          <p:nvPr/>
        </p:nvSpPr>
        <p:spPr>
          <a:xfrm>
            <a:off x="7918704" y="3913632"/>
            <a:ext cx="3495751" cy="859536"/>
          </a:xfrm>
          <a:prstGeom prst="roundRect">
            <a:avLst>
              <a:gd name="adj" fmla="val 5319"/>
            </a:avLst>
          </a:prstGeom>
          <a:solidFill>
            <a:srgbClr val="F6EEF0"/>
          </a:solidFill>
          <a:ln/>
        </p:spPr>
      </p:sp>
      <p:sp>
        <p:nvSpPr>
          <p:cNvPr id="22" name="Text 19"/>
          <p:cNvSpPr txBox="1"/>
          <p:nvPr/>
        </p:nvSpPr>
        <p:spPr>
          <a:xfrm>
            <a:off x="8101584" y="3913632"/>
            <a:ext cx="3129991" cy="859536"/>
          </a:xfrm>
          <a:prstGeom prst="rect">
            <a:avLst/>
          </a:prstGeom>
          <a:noFill/>
          <a:ln/>
        </p:spPr>
        <p:txBody>
          <a:bodyPr wrap="square" lIns="0" tIns="0" rIns="0" bIns="0" rtlCol="0" anchor="ctr"/>
          <a:lstStyle/>
          <a:p>
            <a:pPr indent="0" marL="0">
              <a:lnSpc>
                <a:spcPct val="124000"/>
              </a:lnSpc>
              <a:buNone/>
            </a:pPr>
            <a:r>
              <a:rPr lang="en-US" sz="1100" dirty="0">
                <a:solidFill>
                  <a:srgbClr val="942838"/>
                </a:solidFill>
                <a:latin typeface="Montserrat SemiBold" pitchFamily="34" charset="0"/>
                <a:ea typeface="Montserrat SemiBold" pitchFamily="34" charset="-122"/>
                <a:cs typeface="Montserrat SemiBold" pitchFamily="34" charset="-120"/>
              </a:rPr>
              <a:t>5,675 packages scanned in production by an earlier version</a:t>
            </a:r>
            <a:endParaRPr lang="en-US" sz="1100" dirty="0"/>
          </a:p>
        </p:txBody>
      </p:sp>
      <p:sp>
        <p:nvSpPr>
          <p:cNvPr id="23" name="Shape 20"/>
          <p:cNvSpPr/>
          <p:nvPr/>
        </p:nvSpPr>
        <p:spPr>
          <a:xfrm>
            <a:off x="777240" y="4992624"/>
            <a:ext cx="10637215" cy="10973"/>
          </a:xfrm>
          <a:prstGeom prst="rect">
            <a:avLst/>
          </a:prstGeom>
          <a:solidFill>
            <a:srgbClr val="E6E4E2"/>
          </a:solidFill>
          <a:ln/>
        </p:spPr>
      </p:sp>
      <p:sp>
        <p:nvSpPr>
          <p:cNvPr id="24" name="Text 21"/>
          <p:cNvSpPr txBox="1"/>
          <p:nvPr/>
        </p:nvSpPr>
        <p:spPr>
          <a:xfrm>
            <a:off x="777240" y="5157216"/>
            <a:ext cx="3200400" cy="822960"/>
          </a:xfrm>
          <a:prstGeom prst="rect">
            <a:avLst/>
          </a:prstGeom>
          <a:noFill/>
          <a:ln/>
        </p:spPr>
        <p:txBody>
          <a:bodyPr wrap="square" lIns="0" tIns="0" rIns="0" bIns="0" rtlCol="0" anchor="t"/>
          <a:lstStyle/>
          <a:p>
            <a:pPr indent="0" marL="0">
              <a:lnSpc>
                <a:spcPct val="124000"/>
              </a:lnSpc>
              <a:buNone/>
            </a:pPr>
            <a:r>
              <a:rPr lang="en-US" sz="1100" dirty="0">
                <a:solidFill>
                  <a:srgbClr val="43464A"/>
                </a:solidFill>
                <a:latin typeface="Montserrat" pitchFamily="34" charset="0"/>
                <a:ea typeface="Montserrat" pitchFamily="34" charset="-122"/>
                <a:cs typeface="Montserrat" pitchFamily="34" charset="-120"/>
              </a:rPr>
              <a:t>Matching every tracked flaw to its patch took about two days of analyst time.</a:t>
            </a:r>
            <a:endParaRPr lang="en-US" sz="1100" dirty="0"/>
          </a:p>
        </p:txBody>
      </p:sp>
      <p:sp>
        <p:nvSpPr>
          <p:cNvPr id="25" name="Text 22"/>
          <p:cNvSpPr txBox="1"/>
          <p:nvPr/>
        </p:nvSpPr>
        <p:spPr>
          <a:xfrm>
            <a:off x="4224528" y="5157216"/>
            <a:ext cx="3383280" cy="822960"/>
          </a:xfrm>
          <a:prstGeom prst="rect">
            <a:avLst/>
          </a:prstGeom>
          <a:noFill/>
          <a:ln/>
        </p:spPr>
        <p:txBody>
          <a:bodyPr wrap="square" lIns="0" tIns="0" rIns="0" bIns="0" rtlCol="0" anchor="t"/>
          <a:lstStyle/>
          <a:p>
            <a:pPr indent="0" marL="0">
              <a:lnSpc>
                <a:spcPct val="124000"/>
              </a:lnSpc>
              <a:buNone/>
            </a:pPr>
            <a:r>
              <a:rPr lang="en-US" sz="1100" dirty="0">
                <a:solidFill>
                  <a:srgbClr val="2B2D30"/>
                </a:solidFill>
                <a:latin typeface="Montserrat SemiBold" pitchFamily="34" charset="0"/>
                <a:ea typeface="Montserrat SemiBold" pitchFamily="34" charset="-122"/>
                <a:cs typeface="Montserrat SemiBold" pitchFamily="34" charset="-120"/>
              </a:rPr>
              <a:t>A script that does the matching automatically, then consolidates the result.</a:t>
            </a:r>
            <a:endParaRPr lang="en-US" sz="1100" dirty="0"/>
          </a:p>
        </p:txBody>
      </p:sp>
      <p:sp>
        <p:nvSpPr>
          <p:cNvPr id="26" name="Shape 23"/>
          <p:cNvSpPr/>
          <p:nvPr/>
        </p:nvSpPr>
        <p:spPr>
          <a:xfrm>
            <a:off x="7918704" y="5047488"/>
            <a:ext cx="3495751" cy="859536"/>
          </a:xfrm>
          <a:prstGeom prst="roundRect">
            <a:avLst>
              <a:gd name="adj" fmla="val 5319"/>
            </a:avLst>
          </a:prstGeom>
          <a:solidFill>
            <a:srgbClr val="F6EEF0"/>
          </a:solidFill>
          <a:ln/>
        </p:spPr>
      </p:sp>
      <p:sp>
        <p:nvSpPr>
          <p:cNvPr id="27" name="Text 24"/>
          <p:cNvSpPr txBox="1"/>
          <p:nvPr/>
        </p:nvSpPr>
        <p:spPr>
          <a:xfrm>
            <a:off x="8101584" y="5047488"/>
            <a:ext cx="3129991" cy="859536"/>
          </a:xfrm>
          <a:prstGeom prst="rect">
            <a:avLst/>
          </a:prstGeom>
          <a:noFill/>
          <a:ln/>
        </p:spPr>
        <p:txBody>
          <a:bodyPr wrap="square" lIns="0" tIns="0" rIns="0" bIns="0" rtlCol="0" anchor="ctr"/>
          <a:lstStyle/>
          <a:p>
            <a:pPr indent="0" marL="0">
              <a:lnSpc>
                <a:spcPct val="124000"/>
              </a:lnSpc>
              <a:buNone/>
            </a:pPr>
            <a:r>
              <a:rPr lang="en-US" sz="1100" dirty="0">
                <a:solidFill>
                  <a:srgbClr val="942838"/>
                </a:solidFill>
                <a:latin typeface="Montserrat SemiBold" pitchFamily="34" charset="0"/>
                <a:ea typeface="Montserrat SemiBold" pitchFamily="34" charset="-122"/>
                <a:cs typeface="Montserrat SemiBold" pitchFamily="34" charset="-120"/>
              </a:rPr>
              <a:t>117 matched in ~12 sec; 209 rows became 46 tickets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user/ai/assets/gen/panel-r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ai/assets/gen/mark-slash-faint.png">    </p:cNvPr>
          <p:cNvPicPr>
            <a:picLocks noChangeAspect="1"/>
          </p:cNvPicPr>
          <p:nvPr/>
        </p:nvPicPr>
        <p:blipFill>
          <a:blip r:embed="rId2"/>
          <a:stretch>
            <a:fillRect/>
          </a:stretch>
        </p:blipFill>
        <p:spPr>
          <a:xfrm>
            <a:off x="8229600" y="365760"/>
            <a:ext cx="5120640" cy="5120640"/>
          </a:xfrm>
          <a:prstGeom prst="rect">
            <a:avLst/>
          </a:prstGeom>
        </p:spPr>
      </p:pic>
      <p:sp>
        <p:nvSpPr>
          <p:cNvPr id="4" name="Text 0"/>
          <p:cNvSpPr txBox="1"/>
          <p:nvPr/>
        </p:nvSpPr>
        <p:spPr>
          <a:xfrm>
            <a:off x="6766560" y="566928"/>
            <a:ext cx="4754880" cy="4206240"/>
          </a:xfrm>
          <a:prstGeom prst="rect">
            <a:avLst/>
          </a:prstGeom>
          <a:noFill/>
          <a:ln/>
        </p:spPr>
        <p:txBody>
          <a:bodyPr wrap="square" lIns="0" tIns="0" rIns="0" bIns="0" rtlCol="0" anchor="t"/>
          <a:lstStyle/>
          <a:p>
            <a:pPr algn="r" indent="0" marL="0">
              <a:buNone/>
            </a:pPr>
            <a:r>
              <a:rPr lang="en-US" sz="21000" spc="-800" kern="0" dirty="0">
                <a:solidFill>
                  <a:srgbClr val="B9737E">
                    <a:alpha val="38000"/>
                  </a:srgbClr>
                </a:solidFill>
                <a:latin typeface="Montserrat ExtraBold" pitchFamily="34" charset="0"/>
                <a:ea typeface="Montserrat ExtraBold" pitchFamily="34" charset="-122"/>
                <a:cs typeface="Montserrat ExtraBold" pitchFamily="34" charset="-120"/>
              </a:rPr>
              <a:t>01</a:t>
            </a:r>
            <a:endParaRPr lang="en-US" sz="21000" dirty="0"/>
          </a:p>
        </p:txBody>
      </p:sp>
      <p:sp>
        <p:nvSpPr>
          <p:cNvPr id="5" name="Text 1"/>
          <p:cNvSpPr txBox="1"/>
          <p:nvPr/>
        </p:nvSpPr>
        <p:spPr>
          <a:xfrm>
            <a:off x="777240" y="2395728"/>
            <a:ext cx="6400800" cy="256032"/>
          </a:xfrm>
          <a:prstGeom prst="rect">
            <a:avLst/>
          </a:prstGeom>
          <a:noFill/>
          <a:ln/>
        </p:spPr>
        <p:txBody>
          <a:bodyPr wrap="square" lIns="0" tIns="0" rIns="0" bIns="0" rtlCol="0" anchor="t"/>
          <a:lstStyle/>
          <a:p>
            <a:pPr indent="0" marL="0">
              <a:buNone/>
            </a:pPr>
            <a:r>
              <a:rPr lang="en-US" sz="1000" spc="220" kern="0" dirty="0">
                <a:solidFill>
                  <a:srgbClr val="E4C9CE"/>
                </a:solidFill>
                <a:latin typeface="Montserrat SemiBold" pitchFamily="34" charset="0"/>
                <a:ea typeface="Montserrat SemiBold" pitchFamily="34" charset="-122"/>
                <a:cs typeface="Montserrat SemiBold" pitchFamily="34" charset="-120"/>
              </a:rPr>
              <a:t>PROJECT 01</a:t>
            </a:r>
            <a:endParaRPr lang="en-US" sz="1000" dirty="0"/>
          </a:p>
        </p:txBody>
      </p:sp>
      <p:sp>
        <p:nvSpPr>
          <p:cNvPr id="6" name="Text 2"/>
          <p:cNvSpPr txBox="1"/>
          <p:nvPr/>
        </p:nvSpPr>
        <p:spPr>
          <a:xfrm>
            <a:off x="777240" y="2743200"/>
            <a:ext cx="6766560" cy="1280160"/>
          </a:xfrm>
          <a:prstGeom prst="rect">
            <a:avLst/>
          </a:prstGeom>
          <a:noFill/>
          <a:ln/>
        </p:spPr>
        <p:txBody>
          <a:bodyPr wrap="square" lIns="0" tIns="0" rIns="0" bIns="0" rtlCol="0" anchor="t"/>
          <a:lstStyle/>
          <a:p>
            <a:pPr indent="0" marL="0">
              <a:lnSpc>
                <a:spcPct val="98000"/>
              </a:lnSpc>
              <a:buNone/>
            </a:pPr>
            <a:r>
              <a:rPr lang="en-US" sz="4100" spc="-90" kern="0" dirty="0">
                <a:solidFill>
                  <a:srgbClr val="FFFFFF"/>
                </a:solidFill>
                <a:latin typeface="Montserrat ExtraBold" pitchFamily="34" charset="0"/>
                <a:ea typeface="Montserrat ExtraBold" pitchFamily="34" charset="-122"/>
                <a:cs typeface="Montserrat ExtraBold" pitchFamily="34" charset="-120"/>
              </a:rPr>
              <a:t>Image Management Program</a:t>
            </a:r>
            <a:endParaRPr lang="en-US" sz="4100" dirty="0"/>
          </a:p>
        </p:txBody>
      </p:sp>
      <p:sp>
        <p:nvSpPr>
          <p:cNvPr id="7" name="Shape 3"/>
          <p:cNvSpPr/>
          <p:nvPr/>
        </p:nvSpPr>
        <p:spPr>
          <a:xfrm>
            <a:off x="777240" y="4114800"/>
            <a:ext cx="640080" cy="50292"/>
          </a:xfrm>
          <a:prstGeom prst="rect">
            <a:avLst/>
          </a:prstGeom>
          <a:solidFill>
            <a:srgbClr val="FFFFFF"/>
          </a:solidFill>
          <a:ln/>
        </p:spPr>
      </p:sp>
      <p:sp>
        <p:nvSpPr>
          <p:cNvPr id="8" name="Text 4"/>
          <p:cNvSpPr txBox="1"/>
          <p:nvPr/>
        </p:nvSpPr>
        <p:spPr>
          <a:xfrm>
            <a:off x="777240" y="4389120"/>
            <a:ext cx="6309360" cy="731520"/>
          </a:xfrm>
          <a:prstGeom prst="rect">
            <a:avLst/>
          </a:prstGeom>
          <a:noFill/>
          <a:ln/>
        </p:spPr>
        <p:txBody>
          <a:bodyPr wrap="square" lIns="0" tIns="0" rIns="0" bIns="0" rtlCol="0" anchor="t"/>
          <a:lstStyle/>
          <a:p>
            <a:pPr indent="0" marL="0">
              <a:lnSpc>
                <a:spcPct val="125000"/>
              </a:lnSpc>
              <a:buNone/>
            </a:pPr>
            <a:r>
              <a:rPr lang="en-US" sz="1400" dirty="0">
                <a:solidFill>
                  <a:srgbClr val="DAB4BA"/>
                </a:solidFill>
                <a:latin typeface="Montserrat Medium" pitchFamily="34" charset="0"/>
                <a:ea typeface="Montserrat Medium" pitchFamily="34" charset="-122"/>
                <a:cs typeface="Montserrat Medium" pitchFamily="34" charset="-120"/>
              </a:rPr>
              <a:t>Making sure every new machine ships with the security tools it needs — and that nobody can skip the step.</a:t>
            </a:r>
            <a:endParaRPr lang="en-US" sz="1400" dirty="0"/>
          </a:p>
        </p:txBody>
      </p:sp>
      <p:pic>
        <p:nvPicPr>
          <p:cNvPr id="9" name="Image 2" descr="/home/user/ai/assets/gen/logo-white.png">    </p:cNvPr>
          <p:cNvPicPr>
            <a:picLocks noChangeAspect="1"/>
          </p:cNvPicPr>
          <p:nvPr/>
        </p:nvPicPr>
        <p:blipFill>
          <a:blip r:embed="rId3"/>
          <a:stretch>
            <a:fillRect/>
          </a:stretch>
        </p:blipFill>
        <p:spPr>
          <a:xfrm>
            <a:off x="9768535" y="457200"/>
            <a:ext cx="1645920" cy="166053"/>
          </a:xfrm>
          <a:prstGeom prst="rect">
            <a:avLst/>
          </a:prstGeom>
        </p:spPr>
      </p:pic>
      <p:sp>
        <p:nvSpPr>
          <p:cNvPr id="10" name="Text 5"/>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E4C9CE"/>
                </a:solidFill>
                <a:latin typeface="Montserrat SemiBold" pitchFamily="34" charset="0"/>
                <a:ea typeface="Montserrat SemiBold" pitchFamily="34" charset="-122"/>
                <a:cs typeface="Montserrat SemiBold" pitchFamily="34" charset="-120"/>
              </a:rPr>
              <a:t>PROJECT 01</a:t>
            </a:r>
            <a:endParaRPr lang="en-US" sz="850" dirty="0"/>
          </a:p>
        </p:txBody>
      </p:sp>
      <p:sp>
        <p:nvSpPr>
          <p:cNvPr id="11" name="Text 6"/>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E4C9CE"/>
                </a:solidFill>
                <a:latin typeface="Montserrat SemiBold" pitchFamily="34" charset="0"/>
                <a:ea typeface="Montserrat SemiBold" pitchFamily="34" charset="-122"/>
                <a:cs typeface="Montserrat SemiBold" pitchFamily="34" charset="-120"/>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home/user/ai/assets/gen/logo-red.png">    </p:cNvPr>
          <p:cNvPicPr>
            <a:picLocks noChangeAspect="1"/>
          </p:cNvPicPr>
          <p:nvPr/>
        </p:nvPicPr>
        <p:blipFill>
          <a:blip r:embed="rId1"/>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indent="0" marL="0">
              <a:buNone/>
            </a:pPr>
            <a:r>
              <a:rPr lang="en-US" sz="1000" spc="220" kern="0" dirty="0">
                <a:solidFill>
                  <a:srgbClr val="942838"/>
                </a:solidFill>
                <a:latin typeface="Montserrat SemiBold" pitchFamily="34" charset="0"/>
                <a:ea typeface="Montserrat SemiBold" pitchFamily="34" charset="-122"/>
                <a:cs typeface="Montserrat SemiBold" pitchFamily="34" charset="-120"/>
              </a:rPr>
              <a:t>PROJECT 01  ·  THE PROBLEM</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indent="0" marL="0">
              <a:lnSpc>
                <a:spcPct val="98000"/>
              </a:lnSpc>
              <a:buNone/>
            </a:pPr>
            <a:r>
              <a:rPr lang="en-US" sz="2900" spc="-50" kern="0" dirty="0">
                <a:solidFill>
                  <a:srgbClr val="2B2D30"/>
                </a:solidFill>
                <a:latin typeface="Montserrat ExtraBold" pitchFamily="34" charset="0"/>
                <a:ea typeface="Montserrat ExtraBold" pitchFamily="34" charset="-122"/>
                <a:cs typeface="Montserrat ExtraBold" pitchFamily="34" charset="-120"/>
              </a:rPr>
              <a:t>Nine required tools. No process to install them.</a:t>
            </a:r>
            <a:endParaRPr lang="en-US" sz="2900" dirty="0"/>
          </a:p>
        </p:txBody>
      </p:sp>
      <p:sp>
        <p:nvSpPr>
          <p:cNvPr id="5" name="Shape 2"/>
          <p:cNvSpPr/>
          <p:nvPr/>
        </p:nvSpPr>
        <p:spPr>
          <a:xfrm>
            <a:off x="777240" y="1700784"/>
            <a:ext cx="566928" cy="50292"/>
          </a:xfrm>
          <a:prstGeom prst="rect">
            <a:avLst/>
          </a:prstGeom>
          <a:solidFill>
            <a:srgbClr val="942838"/>
          </a:solidFill>
          <a:ln/>
        </p:spPr>
      </p:sp>
      <p:sp>
        <p:nvSpPr>
          <p:cNvPr id="6" name="Shape 3"/>
          <p:cNvSpPr/>
          <p:nvPr/>
        </p:nvSpPr>
        <p:spPr>
          <a:xfrm>
            <a:off x="777240" y="6181344"/>
            <a:ext cx="10637215" cy="10973"/>
          </a:xfrm>
          <a:prstGeom prst="rect">
            <a:avLst/>
          </a:prstGeom>
          <a:solidFill>
            <a:srgbClr val="E6E4E2"/>
          </a:solidFill>
          <a:ln/>
        </p:spPr>
      </p:sp>
      <p:sp>
        <p:nvSpPr>
          <p:cNvPr id="7" name="Text 4"/>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IMAGE MANAGEMENT PROGRAM</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07</a:t>
            </a:r>
            <a:endParaRPr lang="en-US" sz="850" dirty="0"/>
          </a:p>
        </p:txBody>
      </p:sp>
      <p:sp>
        <p:nvSpPr>
          <p:cNvPr id="9" name="Text 6"/>
          <p:cNvSpPr txBox="1"/>
          <p:nvPr/>
        </p:nvSpPr>
        <p:spPr>
          <a:xfrm>
            <a:off x="777240" y="2029968"/>
            <a:ext cx="10241280" cy="329184"/>
          </a:xfrm>
          <a:prstGeom prst="rect">
            <a:avLst/>
          </a:prstGeom>
          <a:noFill/>
          <a:ln/>
        </p:spPr>
        <p:txBody>
          <a:bodyPr wrap="square" lIns="0" tIns="0" rIns="0" bIns="0" rtlCol="0" anchor="t"/>
          <a:lstStyle/>
          <a:p>
            <a:pPr indent="0" marL="0">
              <a:buNone/>
            </a:pPr>
            <a:r>
              <a:rPr lang="en-US" sz="1400" dirty="0">
                <a:solidFill>
                  <a:srgbClr val="6E7175"/>
                </a:solidFill>
                <a:latin typeface="Montserrat Medium" pitchFamily="34" charset="0"/>
                <a:ea typeface="Montserrat Medium" pitchFamily="34" charset="-122"/>
                <a:cs typeface="Montserrat Medium" pitchFamily="34" charset="-120"/>
              </a:rPr>
              <a:t>A </a:t>
            </a:r>
            <a:pPr indent="0" marL="0">
              <a:buNone/>
            </a:pPr>
            <a:r>
              <a:rPr lang="en-US" sz="1400" dirty="0">
                <a:solidFill>
                  <a:srgbClr val="2B2D30"/>
                </a:solidFill>
                <a:latin typeface="Montserrat SemiBold" pitchFamily="34" charset="0"/>
                <a:ea typeface="Montserrat SemiBold" pitchFamily="34" charset="-122"/>
                <a:cs typeface="Montserrat SemiBold" pitchFamily="34" charset="-120"/>
              </a:rPr>
              <a:t>Golden Image</a:t>
            </a:r>
            <a:pPr indent="0" marL="0">
              <a:buNone/>
            </a:pPr>
            <a:r>
              <a:rPr lang="en-US" sz="1400" dirty="0">
                <a:solidFill>
                  <a:srgbClr val="6E7175"/>
                </a:solidFill>
                <a:latin typeface="Montserrat Medium" pitchFamily="34" charset="0"/>
                <a:ea typeface="Montserrat Medium" pitchFamily="34" charset="-122"/>
                <a:cs typeface="Montserrat Medium" pitchFamily="34" charset="-120"/>
              </a:rPr>
              <a:t> is the standard template every new virtual machine is built from — set it up once, and every machine created afterwards inherits it.</a:t>
            </a:r>
            <a:endParaRPr lang="en-US" sz="1400" dirty="0"/>
          </a:p>
        </p:txBody>
      </p:sp>
      <p:pic>
        <p:nvPicPr>
          <p:cNvPr id="10" name="Image 1" descr="/home/user/ai/assets/gen/iso-machine.png">    </p:cNvPr>
          <p:cNvPicPr>
            <a:picLocks noChangeAspect="1"/>
          </p:cNvPicPr>
          <p:nvPr/>
        </p:nvPicPr>
        <p:blipFill>
          <a:blip r:embed="rId2"/>
          <a:stretch>
            <a:fillRect/>
          </a:stretch>
        </p:blipFill>
        <p:spPr>
          <a:xfrm>
            <a:off x="640080" y="2505456"/>
            <a:ext cx="3108960" cy="3017520"/>
          </a:xfrm>
          <a:prstGeom prst="rect">
            <a:avLst/>
          </a:prstGeom>
        </p:spPr>
      </p:pic>
      <p:sp>
        <p:nvSpPr>
          <p:cNvPr id="11" name="Text 7"/>
          <p:cNvSpPr txBox="1"/>
          <p:nvPr/>
        </p:nvSpPr>
        <p:spPr>
          <a:xfrm>
            <a:off x="594360" y="5577840"/>
            <a:ext cx="3200400" cy="457200"/>
          </a:xfrm>
          <a:prstGeom prst="rect">
            <a:avLst/>
          </a:prstGeom>
          <a:noFill/>
          <a:ln/>
        </p:spPr>
        <p:txBody>
          <a:bodyPr wrap="square" lIns="0" tIns="0" rIns="0" bIns="0" rtlCol="0" anchor="t"/>
          <a:lstStyle/>
          <a:p>
            <a:pPr algn="ctr" indent="0" marL="0">
              <a:lnSpc>
                <a:spcPct val="120000"/>
              </a:lnSpc>
              <a:buNone/>
            </a:pPr>
            <a:r>
              <a:rPr lang="en-US" sz="950" spc="30" kern="0" dirty="0">
                <a:solidFill>
                  <a:srgbClr val="6E7175"/>
                </a:solidFill>
                <a:latin typeface="Montserrat Medium" pitchFamily="34" charset="0"/>
                <a:ea typeface="Montserrat Medium" pitchFamily="34" charset="-122"/>
                <a:cs typeface="Montserrat Medium" pitchFamily="34" charset="-120"/>
              </a:rPr>
              <a:t>Each layer is security tooling the image should carry before it is ever deployed.</a:t>
            </a:r>
            <a:endParaRPr lang="en-US" sz="950" dirty="0"/>
          </a:p>
        </p:txBody>
      </p:sp>
      <p:sp>
        <p:nvSpPr>
          <p:cNvPr id="12" name="Text 8"/>
          <p:cNvSpPr txBox="1"/>
          <p:nvPr/>
        </p:nvSpPr>
        <p:spPr>
          <a:xfrm>
            <a:off x="4224528" y="2578608"/>
            <a:ext cx="7223760" cy="219456"/>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THE NINE REQUIRED TOOLS</a:t>
            </a:r>
            <a:endParaRPr lang="en-US" sz="850" dirty="0"/>
          </a:p>
        </p:txBody>
      </p:sp>
      <p:sp>
        <p:nvSpPr>
          <p:cNvPr id="13" name="Shape 9"/>
          <p:cNvSpPr/>
          <p:nvPr/>
        </p:nvSpPr>
        <p:spPr>
          <a:xfrm>
            <a:off x="4224528" y="2926080"/>
            <a:ext cx="2212848" cy="530352"/>
          </a:xfrm>
          <a:prstGeom prst="roundRect">
            <a:avLst>
              <a:gd name="adj" fmla="val 8621"/>
            </a:avLst>
          </a:prstGeom>
          <a:solidFill>
            <a:srgbClr val="F5F4F3"/>
          </a:solidFill>
          <a:ln w="9525">
            <a:solidFill>
              <a:srgbClr val="E6E4E2"/>
            </a:solidFill>
            <a:prstDash val="solid"/>
          </a:ln>
          <a:effectLst>
            <a:outerShdw sx="100000" sy="100000" kx="0" ky="0" algn="bl" rotWithShape="0" blurRad="114300" dist="25400" dir="5400000">
              <a:srgbClr val="959092">
                <a:alpha val="16000"/>
              </a:srgbClr>
            </a:outerShdw>
          </a:effectLst>
        </p:spPr>
      </p:sp>
      <p:sp>
        <p:nvSpPr>
          <p:cNvPr id="14" name="Shape 10"/>
          <p:cNvSpPr/>
          <p:nvPr/>
        </p:nvSpPr>
        <p:spPr>
          <a:xfrm>
            <a:off x="4224528" y="2926080"/>
            <a:ext cx="45720" cy="530352"/>
          </a:xfrm>
          <a:prstGeom prst="rect">
            <a:avLst/>
          </a:prstGeom>
          <a:solidFill>
            <a:srgbClr val="942838"/>
          </a:solidFill>
          <a:ln/>
        </p:spPr>
      </p:sp>
      <p:sp>
        <p:nvSpPr>
          <p:cNvPr id="15" name="Text 11"/>
          <p:cNvSpPr txBox="1"/>
          <p:nvPr/>
        </p:nvSpPr>
        <p:spPr>
          <a:xfrm>
            <a:off x="4398264" y="2999232"/>
            <a:ext cx="1920240" cy="384048"/>
          </a:xfrm>
          <a:prstGeom prst="rect">
            <a:avLst/>
          </a:prstGeom>
          <a:noFill/>
          <a:ln/>
        </p:spPr>
        <p:txBody>
          <a:bodyPr wrap="square" lIns="0" tIns="0" rIns="0" bIns="0" rtlCol="0" anchor="ctr"/>
          <a:lstStyle/>
          <a:p>
            <a:pPr indent="0" marL="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Tenable Nessus Agent</a:t>
            </a:r>
            <a:endParaRPr lang="en-US" sz="1050" dirty="0"/>
          </a:p>
        </p:txBody>
      </p:sp>
      <p:sp>
        <p:nvSpPr>
          <p:cNvPr id="16" name="Shape 12"/>
          <p:cNvSpPr/>
          <p:nvPr/>
        </p:nvSpPr>
        <p:spPr>
          <a:xfrm>
            <a:off x="6620256" y="2926080"/>
            <a:ext cx="2212848" cy="530352"/>
          </a:xfrm>
          <a:prstGeom prst="roundRect">
            <a:avLst>
              <a:gd name="adj" fmla="val 8621"/>
            </a:avLst>
          </a:prstGeom>
          <a:solidFill>
            <a:srgbClr val="F5F4F3"/>
          </a:solidFill>
          <a:ln w="9525">
            <a:solidFill>
              <a:srgbClr val="E6E4E2"/>
            </a:solidFill>
            <a:prstDash val="solid"/>
          </a:ln>
          <a:effectLst>
            <a:outerShdw sx="100000" sy="100000" kx="0" ky="0" algn="bl" rotWithShape="0" blurRad="1451610000" dist="322580000" dir="324000000000">
              <a:srgbClr val="959092">
                <a:alpha val="1600000000"/>
              </a:srgbClr>
            </a:outerShdw>
          </a:effectLst>
        </p:spPr>
      </p:sp>
      <p:sp>
        <p:nvSpPr>
          <p:cNvPr id="17" name="Shape 13"/>
          <p:cNvSpPr/>
          <p:nvPr/>
        </p:nvSpPr>
        <p:spPr>
          <a:xfrm>
            <a:off x="6620256" y="2926080"/>
            <a:ext cx="45720" cy="530352"/>
          </a:xfrm>
          <a:prstGeom prst="rect">
            <a:avLst/>
          </a:prstGeom>
          <a:solidFill>
            <a:srgbClr val="942838"/>
          </a:solidFill>
          <a:ln/>
        </p:spPr>
      </p:sp>
      <p:sp>
        <p:nvSpPr>
          <p:cNvPr id="18" name="Text 14"/>
          <p:cNvSpPr txBox="1"/>
          <p:nvPr/>
        </p:nvSpPr>
        <p:spPr>
          <a:xfrm>
            <a:off x="6793992" y="2999232"/>
            <a:ext cx="1920240" cy="384048"/>
          </a:xfrm>
          <a:prstGeom prst="rect">
            <a:avLst/>
          </a:prstGeom>
          <a:noFill/>
          <a:ln/>
        </p:spPr>
        <p:txBody>
          <a:bodyPr wrap="square" lIns="0" tIns="0" rIns="0" bIns="0" rtlCol="0" anchor="ctr"/>
          <a:lstStyle/>
          <a:p>
            <a:pPr indent="0" marL="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CrowdStrike Falcon Sensor</a:t>
            </a:r>
            <a:endParaRPr lang="en-US" sz="1050" dirty="0"/>
          </a:p>
        </p:txBody>
      </p:sp>
      <p:sp>
        <p:nvSpPr>
          <p:cNvPr id="19" name="Shape 15"/>
          <p:cNvSpPr/>
          <p:nvPr/>
        </p:nvSpPr>
        <p:spPr>
          <a:xfrm>
            <a:off x="9015984" y="2926080"/>
            <a:ext cx="2212848" cy="530352"/>
          </a:xfrm>
          <a:prstGeom prst="roundRect">
            <a:avLst>
              <a:gd name="adj" fmla="val 8621"/>
            </a:avLst>
          </a:prstGeom>
          <a:solidFill>
            <a:srgbClr val="F5F4F3"/>
          </a:solidFill>
          <a:ln w="9525">
            <a:solidFill>
              <a:srgbClr val="E6E4E2"/>
            </a:solidFill>
            <a:prstDash val="solid"/>
          </a:ln>
          <a:effectLst>
            <a:outerShdw sx="100000" sy="100000" kx="0" ky="0" algn="bl" rotWithShape="0" blurRad="18435447000000" dist="4096766000000" dir="19440000000000000">
              <a:srgbClr val="959092">
                <a:alpha val="160000000000000"/>
              </a:srgbClr>
            </a:outerShdw>
          </a:effectLst>
        </p:spPr>
      </p:sp>
      <p:sp>
        <p:nvSpPr>
          <p:cNvPr id="20" name="Shape 16"/>
          <p:cNvSpPr/>
          <p:nvPr/>
        </p:nvSpPr>
        <p:spPr>
          <a:xfrm>
            <a:off x="9015984" y="2926080"/>
            <a:ext cx="45720" cy="530352"/>
          </a:xfrm>
          <a:prstGeom prst="rect">
            <a:avLst/>
          </a:prstGeom>
          <a:solidFill>
            <a:srgbClr val="942838"/>
          </a:solidFill>
          <a:ln/>
        </p:spPr>
      </p:sp>
      <p:sp>
        <p:nvSpPr>
          <p:cNvPr id="21" name="Text 17"/>
          <p:cNvSpPr txBox="1"/>
          <p:nvPr/>
        </p:nvSpPr>
        <p:spPr>
          <a:xfrm>
            <a:off x="9189720" y="2999232"/>
            <a:ext cx="1920240" cy="384048"/>
          </a:xfrm>
          <a:prstGeom prst="rect">
            <a:avLst/>
          </a:prstGeom>
          <a:noFill/>
          <a:ln/>
        </p:spPr>
        <p:txBody>
          <a:bodyPr wrap="square" lIns="0" tIns="0" rIns="0" bIns="0" rtlCol="0" anchor="ctr"/>
          <a:lstStyle/>
          <a:p>
            <a:pPr indent="0" marL="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Netskope</a:t>
            </a:r>
            <a:endParaRPr lang="en-US" sz="1050" dirty="0"/>
          </a:p>
        </p:txBody>
      </p:sp>
      <p:sp>
        <p:nvSpPr>
          <p:cNvPr id="22" name="Shape 18"/>
          <p:cNvSpPr/>
          <p:nvPr/>
        </p:nvSpPr>
        <p:spPr>
          <a:xfrm>
            <a:off x="4224528" y="3611880"/>
            <a:ext cx="2212848" cy="530352"/>
          </a:xfrm>
          <a:prstGeom prst="roundRect">
            <a:avLst>
              <a:gd name="adj" fmla="val 8621"/>
            </a:avLst>
          </a:prstGeom>
          <a:solidFill>
            <a:srgbClr val="F5F4F3"/>
          </a:solidFill>
          <a:ln w="9525">
            <a:solidFill>
              <a:srgbClr val="E6E4E2"/>
            </a:solidFill>
            <a:prstDash val="solid"/>
          </a:ln>
          <a:effectLst>
            <a:outerShdw sx="100000" sy="100000" kx="0" ky="0" algn="bl" rotWithShape="0" blurRad="234130176900000000" dist="52028928200000000" dir="1.1664e+21">
              <a:srgbClr val="959092">
                <a:alpha val="16000000000000000000"/>
              </a:srgbClr>
            </a:outerShdw>
          </a:effectLst>
        </p:spPr>
      </p:sp>
      <p:sp>
        <p:nvSpPr>
          <p:cNvPr id="23" name="Shape 19"/>
          <p:cNvSpPr/>
          <p:nvPr/>
        </p:nvSpPr>
        <p:spPr>
          <a:xfrm>
            <a:off x="4224528" y="3611880"/>
            <a:ext cx="45720" cy="530352"/>
          </a:xfrm>
          <a:prstGeom prst="rect">
            <a:avLst/>
          </a:prstGeom>
          <a:solidFill>
            <a:srgbClr val="942838"/>
          </a:solidFill>
          <a:ln/>
        </p:spPr>
      </p:sp>
      <p:sp>
        <p:nvSpPr>
          <p:cNvPr id="24" name="Text 20"/>
          <p:cNvSpPr txBox="1"/>
          <p:nvPr/>
        </p:nvSpPr>
        <p:spPr>
          <a:xfrm>
            <a:off x="4398264" y="3685032"/>
            <a:ext cx="1920240" cy="384048"/>
          </a:xfrm>
          <a:prstGeom prst="rect">
            <a:avLst/>
          </a:prstGeom>
          <a:noFill/>
          <a:ln/>
        </p:spPr>
        <p:txBody>
          <a:bodyPr wrap="square" lIns="0" tIns="0" rIns="0" bIns="0" rtlCol="0" anchor="ctr"/>
          <a:lstStyle/>
          <a:p>
            <a:pPr indent="0" marL="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Cribl</a:t>
            </a:r>
            <a:endParaRPr lang="en-US" sz="1050" dirty="0"/>
          </a:p>
        </p:txBody>
      </p:sp>
      <p:sp>
        <p:nvSpPr>
          <p:cNvPr id="25" name="Shape 21"/>
          <p:cNvSpPr/>
          <p:nvPr/>
        </p:nvSpPr>
        <p:spPr>
          <a:xfrm>
            <a:off x="6620256" y="3611880"/>
            <a:ext cx="2212848" cy="530352"/>
          </a:xfrm>
          <a:prstGeom prst="roundRect">
            <a:avLst>
              <a:gd name="adj" fmla="val 8621"/>
            </a:avLst>
          </a:prstGeom>
          <a:solidFill>
            <a:srgbClr val="F5F4F3"/>
          </a:solidFill>
          <a:ln w="9525">
            <a:solidFill>
              <a:srgbClr val="E6E4E2"/>
            </a:solidFill>
            <a:prstDash val="solid"/>
          </a:ln>
          <a:effectLst>
            <a:outerShdw sx="100000" sy="100000" kx="0" ky="0" algn="bl" rotWithShape="0" blurRad="2.97345324663e+21" dist="660767388140000000000" dir="6.9984e+25">
              <a:srgbClr val="959092">
                <a:alpha val="1.6e+24"/>
              </a:srgbClr>
            </a:outerShdw>
          </a:effectLst>
        </p:spPr>
      </p:sp>
      <p:sp>
        <p:nvSpPr>
          <p:cNvPr id="26" name="Shape 22"/>
          <p:cNvSpPr/>
          <p:nvPr/>
        </p:nvSpPr>
        <p:spPr>
          <a:xfrm>
            <a:off x="6620256" y="3611880"/>
            <a:ext cx="45720" cy="530352"/>
          </a:xfrm>
          <a:prstGeom prst="rect">
            <a:avLst/>
          </a:prstGeom>
          <a:solidFill>
            <a:srgbClr val="942838"/>
          </a:solidFill>
          <a:ln/>
        </p:spPr>
      </p:sp>
      <p:sp>
        <p:nvSpPr>
          <p:cNvPr id="27" name="Text 23"/>
          <p:cNvSpPr txBox="1"/>
          <p:nvPr/>
        </p:nvSpPr>
        <p:spPr>
          <a:xfrm>
            <a:off x="6793992" y="3685032"/>
            <a:ext cx="1920240" cy="384048"/>
          </a:xfrm>
          <a:prstGeom prst="rect">
            <a:avLst/>
          </a:prstGeom>
          <a:noFill/>
          <a:ln/>
        </p:spPr>
        <p:txBody>
          <a:bodyPr wrap="square" lIns="0" tIns="0" rIns="0" bIns="0" rtlCol="0" anchor="ctr"/>
          <a:lstStyle/>
          <a:p>
            <a:pPr indent="0" marL="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Splunk</a:t>
            </a:r>
            <a:endParaRPr lang="en-US" sz="1050" dirty="0"/>
          </a:p>
        </p:txBody>
      </p:sp>
      <p:sp>
        <p:nvSpPr>
          <p:cNvPr id="28" name="Shape 24"/>
          <p:cNvSpPr/>
          <p:nvPr/>
        </p:nvSpPr>
        <p:spPr>
          <a:xfrm>
            <a:off x="9015984" y="3611880"/>
            <a:ext cx="2212848" cy="530352"/>
          </a:xfrm>
          <a:prstGeom prst="roundRect">
            <a:avLst>
              <a:gd name="adj" fmla="val 8621"/>
            </a:avLst>
          </a:prstGeom>
          <a:solidFill>
            <a:srgbClr val="F5F4F3"/>
          </a:solidFill>
          <a:ln w="9525">
            <a:solidFill>
              <a:srgbClr val="E6E4E2"/>
            </a:solidFill>
            <a:prstDash val="solid"/>
          </a:ln>
          <a:effectLst>
            <a:outerShdw sx="100000" sy="100000" kx="0" ky="0" algn="bl" rotWithShape="0" blurRad="3.7762856232201e+25" dist="8.391745829378e+24" dir="4.19904e+30">
              <a:srgbClr val="959092">
                <a:alpha val="1.6e+29"/>
              </a:srgbClr>
            </a:outerShdw>
          </a:effectLst>
        </p:spPr>
      </p:sp>
      <p:sp>
        <p:nvSpPr>
          <p:cNvPr id="29" name="Shape 25"/>
          <p:cNvSpPr/>
          <p:nvPr/>
        </p:nvSpPr>
        <p:spPr>
          <a:xfrm>
            <a:off x="9015984" y="3611880"/>
            <a:ext cx="45720" cy="530352"/>
          </a:xfrm>
          <a:prstGeom prst="rect">
            <a:avLst/>
          </a:prstGeom>
          <a:solidFill>
            <a:srgbClr val="942838"/>
          </a:solidFill>
          <a:ln/>
        </p:spPr>
      </p:sp>
      <p:sp>
        <p:nvSpPr>
          <p:cNvPr id="30" name="Text 26"/>
          <p:cNvSpPr txBox="1"/>
          <p:nvPr/>
        </p:nvSpPr>
        <p:spPr>
          <a:xfrm>
            <a:off x="9189720" y="3685032"/>
            <a:ext cx="1920240" cy="384048"/>
          </a:xfrm>
          <a:prstGeom prst="rect">
            <a:avLst/>
          </a:prstGeom>
          <a:noFill/>
          <a:ln/>
        </p:spPr>
        <p:txBody>
          <a:bodyPr wrap="square" lIns="0" tIns="0" rIns="0" bIns="0" rtlCol="0" anchor="ctr"/>
          <a:lstStyle/>
          <a:p>
            <a:pPr indent="0" marL="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ThreatLocker</a:t>
            </a:r>
            <a:endParaRPr lang="en-US" sz="1050" dirty="0"/>
          </a:p>
        </p:txBody>
      </p:sp>
      <p:sp>
        <p:nvSpPr>
          <p:cNvPr id="31" name="Shape 27"/>
          <p:cNvSpPr/>
          <p:nvPr/>
        </p:nvSpPr>
        <p:spPr>
          <a:xfrm>
            <a:off x="4224528" y="4297680"/>
            <a:ext cx="2212848" cy="530352"/>
          </a:xfrm>
          <a:prstGeom prst="roundRect">
            <a:avLst>
              <a:gd name="adj" fmla="val 8621"/>
            </a:avLst>
          </a:prstGeom>
          <a:solidFill>
            <a:srgbClr val="F5F4F3"/>
          </a:solidFill>
          <a:ln w="9525">
            <a:solidFill>
              <a:srgbClr val="E6E4E2"/>
            </a:solidFill>
            <a:prstDash val="solid"/>
          </a:ln>
          <a:effectLst>
            <a:outerShdw sx="100000" sy="100000" kx="0" ky="0" algn="bl" rotWithShape="0" blurRad="4.795882741489527e+29" dist="1.0657517203310059e+29" dir="2.519424e+35">
              <a:srgbClr val="959092">
                <a:alpha val="1.6e+34"/>
              </a:srgbClr>
            </a:outerShdw>
          </a:effectLst>
        </p:spPr>
      </p:sp>
      <p:sp>
        <p:nvSpPr>
          <p:cNvPr id="32" name="Shape 28"/>
          <p:cNvSpPr/>
          <p:nvPr/>
        </p:nvSpPr>
        <p:spPr>
          <a:xfrm>
            <a:off x="4224528" y="4297680"/>
            <a:ext cx="45720" cy="530352"/>
          </a:xfrm>
          <a:prstGeom prst="rect">
            <a:avLst/>
          </a:prstGeom>
          <a:solidFill>
            <a:srgbClr val="942838"/>
          </a:solidFill>
          <a:ln/>
        </p:spPr>
      </p:sp>
      <p:sp>
        <p:nvSpPr>
          <p:cNvPr id="33" name="Text 29"/>
          <p:cNvSpPr txBox="1"/>
          <p:nvPr/>
        </p:nvSpPr>
        <p:spPr>
          <a:xfrm>
            <a:off x="4398264" y="4370832"/>
            <a:ext cx="1920240" cy="384048"/>
          </a:xfrm>
          <a:prstGeom prst="rect">
            <a:avLst/>
          </a:prstGeom>
          <a:noFill/>
          <a:ln/>
        </p:spPr>
        <p:txBody>
          <a:bodyPr wrap="square" lIns="0" tIns="0" rIns="0" bIns="0" rtlCol="0" anchor="ctr"/>
          <a:lstStyle/>
          <a:p>
            <a:pPr indent="0" marL="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Proofpoint DLP Agent</a:t>
            </a:r>
            <a:endParaRPr lang="en-US" sz="1050" dirty="0"/>
          </a:p>
        </p:txBody>
      </p:sp>
      <p:sp>
        <p:nvSpPr>
          <p:cNvPr id="34" name="Shape 30"/>
          <p:cNvSpPr/>
          <p:nvPr/>
        </p:nvSpPr>
        <p:spPr>
          <a:xfrm>
            <a:off x="6620256" y="4297680"/>
            <a:ext cx="2212848" cy="530352"/>
          </a:xfrm>
          <a:prstGeom prst="roundRect">
            <a:avLst>
              <a:gd name="adj" fmla="val 8621"/>
            </a:avLst>
          </a:prstGeom>
          <a:solidFill>
            <a:srgbClr val="F5F4F3"/>
          </a:solidFill>
          <a:ln w="9525">
            <a:solidFill>
              <a:srgbClr val="E6E4E2"/>
            </a:solidFill>
            <a:prstDash val="solid"/>
          </a:ln>
          <a:effectLst>
            <a:outerShdw sx="100000" sy="100000" kx="0" ky="0" algn="bl" rotWithShape="0" blurRad="6.090771081691699e+33" dist="1.3535046848203775e+33" dir="1.5116544e+40">
              <a:srgbClr val="959092">
                <a:alpha val="1.6e+39"/>
              </a:srgbClr>
            </a:outerShdw>
          </a:effectLst>
        </p:spPr>
      </p:sp>
      <p:sp>
        <p:nvSpPr>
          <p:cNvPr id="35" name="Shape 31"/>
          <p:cNvSpPr/>
          <p:nvPr/>
        </p:nvSpPr>
        <p:spPr>
          <a:xfrm>
            <a:off x="6620256" y="4297680"/>
            <a:ext cx="45720" cy="530352"/>
          </a:xfrm>
          <a:prstGeom prst="rect">
            <a:avLst/>
          </a:prstGeom>
          <a:solidFill>
            <a:srgbClr val="942838"/>
          </a:solidFill>
          <a:ln/>
        </p:spPr>
      </p:sp>
      <p:sp>
        <p:nvSpPr>
          <p:cNvPr id="36" name="Text 32"/>
          <p:cNvSpPr txBox="1"/>
          <p:nvPr/>
        </p:nvSpPr>
        <p:spPr>
          <a:xfrm>
            <a:off x="6793992" y="4370832"/>
            <a:ext cx="1920240" cy="384048"/>
          </a:xfrm>
          <a:prstGeom prst="rect">
            <a:avLst/>
          </a:prstGeom>
          <a:noFill/>
          <a:ln/>
        </p:spPr>
        <p:txBody>
          <a:bodyPr wrap="square" lIns="0" tIns="0" rIns="0" bIns="0" rtlCol="0" anchor="ctr"/>
          <a:lstStyle/>
          <a:p>
            <a:pPr indent="0" marL="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SCCM Agent</a:t>
            </a:r>
            <a:endParaRPr lang="en-US" sz="1050" dirty="0"/>
          </a:p>
        </p:txBody>
      </p:sp>
      <p:sp>
        <p:nvSpPr>
          <p:cNvPr id="37" name="Shape 33"/>
          <p:cNvSpPr/>
          <p:nvPr/>
        </p:nvSpPr>
        <p:spPr>
          <a:xfrm>
            <a:off x="9015984" y="4297680"/>
            <a:ext cx="2212848" cy="530352"/>
          </a:xfrm>
          <a:prstGeom prst="roundRect">
            <a:avLst>
              <a:gd name="adj" fmla="val 8621"/>
            </a:avLst>
          </a:prstGeom>
          <a:solidFill>
            <a:srgbClr val="F5F4F3"/>
          </a:solidFill>
          <a:ln w="9525">
            <a:solidFill>
              <a:srgbClr val="E6E4E2"/>
            </a:solidFill>
            <a:prstDash val="solid"/>
          </a:ln>
          <a:effectLst>
            <a:outerShdw sx="100000" sy="100000" kx="0" ky="0" algn="bl" rotWithShape="0" blurRad="7.735279273748459e+37" dist="1.7189509497218795e+37" dir="9.069926400000001e+44">
              <a:srgbClr val="959092">
                <a:alpha val="1.6e+44"/>
              </a:srgbClr>
            </a:outerShdw>
          </a:effectLst>
        </p:spPr>
      </p:sp>
      <p:sp>
        <p:nvSpPr>
          <p:cNvPr id="38" name="Shape 34"/>
          <p:cNvSpPr/>
          <p:nvPr/>
        </p:nvSpPr>
        <p:spPr>
          <a:xfrm>
            <a:off x="9015984" y="4297680"/>
            <a:ext cx="45720" cy="530352"/>
          </a:xfrm>
          <a:prstGeom prst="rect">
            <a:avLst/>
          </a:prstGeom>
          <a:solidFill>
            <a:srgbClr val="942838"/>
          </a:solidFill>
          <a:ln/>
        </p:spPr>
      </p:sp>
      <p:sp>
        <p:nvSpPr>
          <p:cNvPr id="39" name="Text 35"/>
          <p:cNvSpPr txBox="1"/>
          <p:nvPr/>
        </p:nvSpPr>
        <p:spPr>
          <a:xfrm>
            <a:off x="9189720" y="4370832"/>
            <a:ext cx="1920240" cy="384048"/>
          </a:xfrm>
          <a:prstGeom prst="rect">
            <a:avLst/>
          </a:prstGeom>
          <a:noFill/>
          <a:ln/>
        </p:spPr>
        <p:txBody>
          <a:bodyPr wrap="square" lIns="0" tIns="0" rIns="0" bIns="0" rtlCol="0" anchor="ctr"/>
          <a:lstStyle/>
          <a:p>
            <a:pPr indent="0" marL="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ControlUp Agent</a:t>
            </a:r>
            <a:endParaRPr lang="en-US" sz="1050" dirty="0"/>
          </a:p>
        </p:txBody>
      </p:sp>
      <p:sp>
        <p:nvSpPr>
          <p:cNvPr id="40" name="Text 36"/>
          <p:cNvSpPr txBox="1"/>
          <p:nvPr/>
        </p:nvSpPr>
        <p:spPr>
          <a:xfrm>
            <a:off x="4224528" y="4864608"/>
            <a:ext cx="7187184" cy="384048"/>
          </a:xfrm>
          <a:prstGeom prst="rect">
            <a:avLst/>
          </a:prstGeom>
          <a:noFill/>
          <a:ln/>
        </p:spPr>
        <p:txBody>
          <a:bodyPr wrap="square" lIns="0" tIns="0" rIns="0" bIns="0" rtlCol="0" anchor="t"/>
          <a:lstStyle/>
          <a:p>
            <a:pPr indent="0" marL="0">
              <a:lnSpc>
                <a:spcPct val="120000"/>
              </a:lnSpc>
              <a:buNone/>
            </a:pPr>
            <a:r>
              <a:rPr lang="en-US" sz="1100" dirty="0">
                <a:solidFill>
                  <a:srgbClr val="6E7175"/>
                </a:solidFill>
                <a:latin typeface="Montserrat" pitchFamily="34" charset="0"/>
                <a:ea typeface="Montserrat" pitchFamily="34" charset="-122"/>
                <a:cs typeface="Montserrat" pitchFamily="34" charset="-120"/>
              </a:rPr>
              <a:t>No single tool catches everything. Together they cover threat detection, web filtering, logging, vulnerability scanning, data-loss prevention, patch delivery and session visibility.</a:t>
            </a:r>
            <a:endParaRPr lang="en-US" sz="1100" dirty="0"/>
          </a:p>
        </p:txBody>
      </p:sp>
      <p:sp>
        <p:nvSpPr>
          <p:cNvPr id="41" name="Shape 37"/>
          <p:cNvSpPr/>
          <p:nvPr/>
        </p:nvSpPr>
        <p:spPr>
          <a:xfrm>
            <a:off x="4224528" y="5303520"/>
            <a:ext cx="7187184" cy="841248"/>
          </a:xfrm>
          <a:prstGeom prst="roundRect">
            <a:avLst>
              <a:gd name="adj" fmla="val 5435"/>
            </a:avLst>
          </a:prstGeom>
          <a:solidFill>
            <a:srgbClr val="F6EEF0"/>
          </a:solidFill>
          <a:ln/>
        </p:spPr>
      </p:sp>
      <p:sp>
        <p:nvSpPr>
          <p:cNvPr id="42" name="Shape 38"/>
          <p:cNvSpPr/>
          <p:nvPr/>
        </p:nvSpPr>
        <p:spPr>
          <a:xfrm>
            <a:off x="4224528" y="5303520"/>
            <a:ext cx="50292" cy="841248"/>
          </a:xfrm>
          <a:prstGeom prst="rect">
            <a:avLst/>
          </a:prstGeom>
          <a:solidFill>
            <a:srgbClr val="942838"/>
          </a:solidFill>
          <a:ln/>
        </p:spPr>
      </p:sp>
      <p:sp>
        <p:nvSpPr>
          <p:cNvPr id="43" name="Text 39"/>
          <p:cNvSpPr txBox="1"/>
          <p:nvPr/>
        </p:nvSpPr>
        <p:spPr>
          <a:xfrm>
            <a:off x="4443984" y="5431536"/>
            <a:ext cx="6766560" cy="201168"/>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THE ACTUAL GAP</a:t>
            </a:r>
            <a:endParaRPr lang="en-US" sz="850" dirty="0"/>
          </a:p>
        </p:txBody>
      </p:sp>
      <p:sp>
        <p:nvSpPr>
          <p:cNvPr id="44" name="Text 40"/>
          <p:cNvSpPr txBox="1"/>
          <p:nvPr/>
        </p:nvSpPr>
        <p:spPr>
          <a:xfrm>
            <a:off x="4443984" y="5669280"/>
            <a:ext cx="6766560" cy="402336"/>
          </a:xfrm>
          <a:prstGeom prst="rect">
            <a:avLst/>
          </a:prstGeom>
          <a:noFill/>
          <a:ln/>
        </p:spPr>
        <p:txBody>
          <a:bodyPr wrap="square" lIns="0" tIns="0" rIns="0" bIns="0" rtlCol="0" anchor="t"/>
          <a:lstStyle/>
          <a:p>
            <a:pPr indent="0" marL="0">
              <a:lnSpc>
                <a:spcPct val="118000"/>
              </a:lnSpc>
              <a:buNone/>
            </a:pPr>
            <a:r>
              <a:rPr lang="en-US" sz="1100" dirty="0">
                <a:solidFill>
                  <a:srgbClr val="43464A"/>
                </a:solidFill>
                <a:latin typeface="Montserrat" pitchFamily="34" charset="0"/>
                <a:ea typeface="Montserrat" pitchFamily="34" charset="-122"/>
                <a:cs typeface="Montserrat" pitchFamily="34" charset="-120"/>
              </a:rPr>
              <a:t>No dedicated process exists yet for installing these tools onto cloud images before deployment. My job was to define it.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home/user/ai/assets/gen/logo-red.png">    </p:cNvPr>
          <p:cNvPicPr>
            <a:picLocks noChangeAspect="1"/>
          </p:cNvPicPr>
          <p:nvPr/>
        </p:nvPicPr>
        <p:blipFill>
          <a:blip r:embed="rId1"/>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indent="0" marL="0">
              <a:buNone/>
            </a:pPr>
            <a:r>
              <a:rPr lang="en-US" sz="1000" spc="220" kern="0" dirty="0">
                <a:solidFill>
                  <a:srgbClr val="942838"/>
                </a:solidFill>
                <a:latin typeface="Montserrat SemiBold" pitchFamily="34" charset="0"/>
                <a:ea typeface="Montserrat SemiBold" pitchFamily="34" charset="-122"/>
                <a:cs typeface="Montserrat SemiBold" pitchFamily="34" charset="-120"/>
              </a:rPr>
              <a:t>PROJECT 01  ·  WHAT I BUILT</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indent="0" marL="0">
              <a:lnSpc>
                <a:spcPct val="98000"/>
              </a:lnSpc>
              <a:buNone/>
            </a:pPr>
            <a:r>
              <a:rPr lang="en-US" sz="2900" spc="-50" kern="0" dirty="0">
                <a:solidFill>
                  <a:srgbClr val="2B2D30"/>
                </a:solidFill>
                <a:latin typeface="Montserrat ExtraBold" pitchFamily="34" charset="0"/>
                <a:ea typeface="Montserrat ExtraBold" pitchFamily="34" charset="-122"/>
                <a:cs typeface="Montserrat ExtraBold" pitchFamily="34" charset="-120"/>
              </a:rPr>
              <a:t>Building the process from scratch</a:t>
            </a:r>
            <a:endParaRPr lang="en-US" sz="2900" dirty="0"/>
          </a:p>
        </p:txBody>
      </p:sp>
      <p:sp>
        <p:nvSpPr>
          <p:cNvPr id="5" name="Shape 2"/>
          <p:cNvSpPr/>
          <p:nvPr/>
        </p:nvSpPr>
        <p:spPr>
          <a:xfrm>
            <a:off x="777240" y="1700784"/>
            <a:ext cx="566928" cy="50292"/>
          </a:xfrm>
          <a:prstGeom prst="rect">
            <a:avLst/>
          </a:prstGeom>
          <a:solidFill>
            <a:srgbClr val="942838"/>
          </a:solidFill>
          <a:ln/>
        </p:spPr>
      </p:sp>
      <p:sp>
        <p:nvSpPr>
          <p:cNvPr id="6" name="Shape 3"/>
          <p:cNvSpPr/>
          <p:nvPr/>
        </p:nvSpPr>
        <p:spPr>
          <a:xfrm>
            <a:off x="777240" y="6181344"/>
            <a:ext cx="10637215" cy="10973"/>
          </a:xfrm>
          <a:prstGeom prst="rect">
            <a:avLst/>
          </a:prstGeom>
          <a:solidFill>
            <a:srgbClr val="E6E4E2"/>
          </a:solidFill>
          <a:ln/>
        </p:spPr>
      </p:sp>
      <p:sp>
        <p:nvSpPr>
          <p:cNvPr id="7" name="Text 4"/>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IMAGE MANAGEMENT PROGRAM</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08</a:t>
            </a:r>
            <a:endParaRPr lang="en-US" sz="850" dirty="0"/>
          </a:p>
        </p:txBody>
      </p:sp>
      <p:sp>
        <p:nvSpPr>
          <p:cNvPr id="9" name="Text 6"/>
          <p:cNvSpPr txBox="1"/>
          <p:nvPr/>
        </p:nvSpPr>
        <p:spPr>
          <a:xfrm>
            <a:off x="777240" y="1956816"/>
            <a:ext cx="9692640" cy="329184"/>
          </a:xfrm>
          <a:prstGeom prst="rect">
            <a:avLst/>
          </a:prstGeom>
          <a:noFill/>
          <a:ln/>
        </p:spPr>
        <p:txBody>
          <a:bodyPr wrap="square" lIns="0" tIns="0" rIns="0" bIns="0" rtlCol="0" anchor="t"/>
          <a:lstStyle/>
          <a:p>
            <a:pPr indent="0" marL="0">
              <a:buNone/>
            </a:pPr>
            <a:r>
              <a:rPr lang="en-US" sz="1400" dirty="0">
                <a:solidFill>
                  <a:srgbClr val="6E7175"/>
                </a:solidFill>
                <a:latin typeface="Montserrat Medium" pitchFamily="34" charset="0"/>
                <a:ea typeface="Montserrat Medium" pitchFamily="34" charset="-122"/>
                <a:cs typeface="Montserrat Medium" pitchFamily="34" charset="-120"/>
              </a:rPr>
              <a:t>My role was to coordinate and bridge teams — define what is required, name who owns it, and get it signed off. I did not build or provision the machines myself.</a:t>
            </a:r>
            <a:endParaRPr lang="en-US" sz="1400" dirty="0"/>
          </a:p>
        </p:txBody>
      </p:sp>
      <p:sp>
        <p:nvSpPr>
          <p:cNvPr id="10" name="Shape 7"/>
          <p:cNvSpPr/>
          <p:nvPr/>
        </p:nvSpPr>
        <p:spPr>
          <a:xfrm>
            <a:off x="777240" y="2615184"/>
            <a:ext cx="3310128" cy="2212848"/>
          </a:xfrm>
          <a:prstGeom prst="roundRect">
            <a:avLst>
              <a:gd name="adj" fmla="val 2479"/>
            </a:avLst>
          </a:prstGeom>
          <a:solidFill>
            <a:srgbClr val="FFFFFF"/>
          </a:solidFill>
          <a:ln w="9525">
            <a:solidFill>
              <a:srgbClr val="E6E4E2"/>
            </a:solidFill>
            <a:prstDash val="solid"/>
          </a:ln>
          <a:effectLst>
            <a:outerShdw sx="100000" sy="100000" kx="0" ky="0" algn="bl" rotWithShape="0" blurRad="364202497400000000" dist="91050624350000000" dir="1.1664e+21">
              <a:srgbClr val="959092">
                <a:alpha val="22000000000000000000"/>
              </a:srgbClr>
            </a:outerShdw>
          </a:effectLst>
        </p:spPr>
      </p:sp>
      <p:sp>
        <p:nvSpPr>
          <p:cNvPr id="11" name="Shape 8"/>
          <p:cNvSpPr/>
          <p:nvPr/>
        </p:nvSpPr>
        <p:spPr>
          <a:xfrm>
            <a:off x="1088136" y="2926080"/>
            <a:ext cx="658368" cy="658368"/>
          </a:xfrm>
          <a:prstGeom prst="roundRect">
            <a:avLst>
              <a:gd name="adj" fmla="val 8333"/>
            </a:avLst>
          </a:prstGeom>
          <a:solidFill>
            <a:srgbClr val="F6EEF0"/>
          </a:solidFill>
          <a:ln/>
        </p:spPr>
      </p:sp>
      <p:sp>
        <p:nvSpPr>
          <p:cNvPr id="12" name="Text 9"/>
          <p:cNvSpPr txBox="1"/>
          <p:nvPr/>
        </p:nvSpPr>
        <p:spPr>
          <a:xfrm>
            <a:off x="1088136" y="2926080"/>
            <a:ext cx="658368" cy="658368"/>
          </a:xfrm>
          <a:prstGeom prst="rect">
            <a:avLst/>
          </a:prstGeom>
          <a:noFill/>
          <a:ln/>
        </p:spPr>
        <p:txBody>
          <a:bodyPr wrap="square" lIns="0" tIns="0" rIns="0" bIns="0" rtlCol="0" anchor="ctr"/>
          <a:lstStyle/>
          <a:p>
            <a:pPr algn="ctr" indent="0" marL="0">
              <a:buNone/>
            </a:pPr>
            <a:r>
              <a:rPr lang="en-US" sz="2100" spc="-50" kern="0" dirty="0">
                <a:solidFill>
                  <a:srgbClr val="942838"/>
                </a:solidFill>
                <a:latin typeface="Montserrat ExtraBold" pitchFamily="34" charset="0"/>
                <a:ea typeface="Montserrat ExtraBold" pitchFamily="34" charset="-122"/>
                <a:cs typeface="Montserrat ExtraBold" pitchFamily="34" charset="-120"/>
              </a:rPr>
              <a:t>01</a:t>
            </a:r>
            <a:endParaRPr lang="en-US" sz="2100" dirty="0"/>
          </a:p>
        </p:txBody>
      </p:sp>
      <p:sp>
        <p:nvSpPr>
          <p:cNvPr id="13" name="Text 10"/>
          <p:cNvSpPr txBox="1"/>
          <p:nvPr/>
        </p:nvSpPr>
        <p:spPr>
          <a:xfrm>
            <a:off x="1088136" y="3749040"/>
            <a:ext cx="2688336" cy="329184"/>
          </a:xfrm>
          <a:prstGeom prst="rect">
            <a:avLst/>
          </a:prstGeom>
          <a:noFill/>
          <a:ln/>
        </p:spPr>
        <p:txBody>
          <a:bodyPr wrap="square" lIns="0" tIns="0" rIns="0" bIns="0" rtlCol="0" anchor="t"/>
          <a:lstStyle/>
          <a:p>
            <a:pPr indent="0" marL="0">
              <a:buNone/>
            </a:pPr>
            <a:r>
              <a:rPr lang="en-US" sz="1550" dirty="0">
                <a:solidFill>
                  <a:srgbClr val="2B2D30"/>
                </a:solidFill>
                <a:latin typeface="Montserrat SemiBold" pitchFamily="34" charset="0"/>
                <a:ea typeface="Montserrat SemiBold" pitchFamily="34" charset="-122"/>
                <a:cs typeface="Montserrat SemiBold" pitchFamily="34" charset="-120"/>
              </a:rPr>
              <a:t>Define the Tools</a:t>
            </a:r>
            <a:endParaRPr lang="en-US" sz="1550" dirty="0"/>
          </a:p>
        </p:txBody>
      </p:sp>
      <p:sp>
        <p:nvSpPr>
          <p:cNvPr id="14" name="Text 11"/>
          <p:cNvSpPr txBox="1"/>
          <p:nvPr/>
        </p:nvSpPr>
        <p:spPr>
          <a:xfrm>
            <a:off x="1088136" y="4151376"/>
            <a:ext cx="2688336" cy="658368"/>
          </a:xfrm>
          <a:prstGeom prst="rect">
            <a:avLst/>
          </a:prstGeom>
          <a:noFill/>
          <a:ln/>
        </p:spPr>
        <p:txBody>
          <a:bodyPr wrap="square" lIns="0" tIns="0" rIns="0" bIns="0" rtlCol="0" anchor="t"/>
          <a:lstStyle/>
          <a:p>
            <a:pPr indent="0" marL="0">
              <a:lnSpc>
                <a:spcPct val="122000"/>
              </a:lnSpc>
              <a:buNone/>
            </a:pPr>
            <a:r>
              <a:rPr lang="en-US" sz="1100" dirty="0">
                <a:solidFill>
                  <a:srgbClr val="6E7175"/>
                </a:solidFill>
                <a:latin typeface="Montserrat" pitchFamily="34" charset="0"/>
                <a:ea typeface="Montserrat" pitchFamily="34" charset="-122"/>
                <a:cs typeface="Montserrat" pitchFamily="34" charset="-120"/>
              </a:rPr>
              <a:t>Agree on exactly which security tools belong on every image — nine of them.</a:t>
            </a:r>
            <a:endParaRPr lang="en-US" sz="1100" dirty="0"/>
          </a:p>
        </p:txBody>
      </p:sp>
      <p:sp>
        <p:nvSpPr>
          <p:cNvPr id="15" name="Text 12"/>
          <p:cNvSpPr txBox="1"/>
          <p:nvPr/>
        </p:nvSpPr>
        <p:spPr>
          <a:xfrm>
            <a:off x="4062908" y="3438144"/>
            <a:ext cx="402336" cy="548640"/>
          </a:xfrm>
          <a:prstGeom prst="rect">
            <a:avLst/>
          </a:prstGeom>
          <a:noFill/>
          <a:ln/>
        </p:spPr>
        <p:txBody>
          <a:bodyPr wrap="square" lIns="0" tIns="0" rIns="0" bIns="0" rtlCol="0" anchor="ctr"/>
          <a:lstStyle/>
          <a:p>
            <a:pPr algn="ctr" indent="0" marL="0">
              <a:buNone/>
            </a:pPr>
            <a:r>
              <a:rPr lang="en-US" sz="3000" b="1" dirty="0">
                <a:solidFill>
                  <a:srgbClr val="C9C6C4"/>
                </a:solidFill>
                <a:latin typeface="Montserrat" pitchFamily="34" charset="0"/>
                <a:ea typeface="Montserrat" pitchFamily="34" charset="-122"/>
                <a:cs typeface="Montserrat" pitchFamily="34" charset="-120"/>
              </a:rPr>
              <a:t>›</a:t>
            </a:r>
            <a:endParaRPr lang="en-US" sz="3000" dirty="0"/>
          </a:p>
        </p:txBody>
      </p:sp>
      <p:sp>
        <p:nvSpPr>
          <p:cNvPr id="16" name="Shape 13"/>
          <p:cNvSpPr/>
          <p:nvPr/>
        </p:nvSpPr>
        <p:spPr>
          <a:xfrm>
            <a:off x="4440784" y="2615184"/>
            <a:ext cx="3310128" cy="2212848"/>
          </a:xfrm>
          <a:prstGeom prst="roundRect">
            <a:avLst>
              <a:gd name="adj" fmla="val 2479"/>
            </a:avLst>
          </a:prstGeom>
          <a:solidFill>
            <a:srgbClr val="FFFFFF"/>
          </a:solidFill>
          <a:ln w="9525">
            <a:solidFill>
              <a:srgbClr val="E6E4E2"/>
            </a:solidFill>
            <a:prstDash val="solid"/>
          </a:ln>
          <a:effectLst>
            <a:outerShdw sx="100000" sy="100000" kx="0" ky="0" algn="bl" rotWithShape="0" blurRad="4.62537171698e+21" dist="1.156342929245e+21" dir="6.9984e+25">
              <a:srgbClr val="959092">
                <a:alpha val="2.2e+24"/>
              </a:srgbClr>
            </a:outerShdw>
          </a:effectLst>
        </p:spPr>
      </p:sp>
      <p:sp>
        <p:nvSpPr>
          <p:cNvPr id="17" name="Shape 14"/>
          <p:cNvSpPr/>
          <p:nvPr/>
        </p:nvSpPr>
        <p:spPr>
          <a:xfrm>
            <a:off x="4751680" y="2926080"/>
            <a:ext cx="658368" cy="658368"/>
          </a:xfrm>
          <a:prstGeom prst="roundRect">
            <a:avLst>
              <a:gd name="adj" fmla="val 8333"/>
            </a:avLst>
          </a:prstGeom>
          <a:solidFill>
            <a:srgbClr val="F6EEF0"/>
          </a:solidFill>
          <a:ln/>
        </p:spPr>
      </p:sp>
      <p:sp>
        <p:nvSpPr>
          <p:cNvPr id="18" name="Text 15"/>
          <p:cNvSpPr txBox="1"/>
          <p:nvPr/>
        </p:nvSpPr>
        <p:spPr>
          <a:xfrm>
            <a:off x="4751680" y="2926080"/>
            <a:ext cx="658368" cy="658368"/>
          </a:xfrm>
          <a:prstGeom prst="rect">
            <a:avLst/>
          </a:prstGeom>
          <a:noFill/>
          <a:ln/>
        </p:spPr>
        <p:txBody>
          <a:bodyPr wrap="square" lIns="0" tIns="0" rIns="0" bIns="0" rtlCol="0" anchor="ctr"/>
          <a:lstStyle/>
          <a:p>
            <a:pPr algn="ctr" indent="0" marL="0">
              <a:buNone/>
            </a:pPr>
            <a:r>
              <a:rPr lang="en-US" sz="2100" spc="-50" kern="0" dirty="0">
                <a:solidFill>
                  <a:srgbClr val="942838"/>
                </a:solidFill>
                <a:latin typeface="Montserrat ExtraBold" pitchFamily="34" charset="0"/>
                <a:ea typeface="Montserrat ExtraBold" pitchFamily="34" charset="-122"/>
                <a:cs typeface="Montserrat ExtraBold" pitchFamily="34" charset="-120"/>
              </a:rPr>
              <a:t>02</a:t>
            </a:r>
            <a:endParaRPr lang="en-US" sz="2100" dirty="0"/>
          </a:p>
        </p:txBody>
      </p:sp>
      <p:sp>
        <p:nvSpPr>
          <p:cNvPr id="19" name="Text 16"/>
          <p:cNvSpPr txBox="1"/>
          <p:nvPr/>
        </p:nvSpPr>
        <p:spPr>
          <a:xfrm>
            <a:off x="4751680" y="3749040"/>
            <a:ext cx="2688336" cy="329184"/>
          </a:xfrm>
          <a:prstGeom prst="rect">
            <a:avLst/>
          </a:prstGeom>
          <a:noFill/>
          <a:ln/>
        </p:spPr>
        <p:txBody>
          <a:bodyPr wrap="square" lIns="0" tIns="0" rIns="0" bIns="0" rtlCol="0" anchor="t"/>
          <a:lstStyle/>
          <a:p>
            <a:pPr indent="0" marL="0">
              <a:buNone/>
            </a:pPr>
            <a:r>
              <a:rPr lang="en-US" sz="1550" dirty="0">
                <a:solidFill>
                  <a:srgbClr val="2B2D30"/>
                </a:solidFill>
                <a:latin typeface="Montserrat SemiBold" pitchFamily="34" charset="0"/>
                <a:ea typeface="Montserrat SemiBold" pitchFamily="34" charset="-122"/>
                <a:cs typeface="Montserrat SemiBold" pitchFamily="34" charset="-120"/>
              </a:rPr>
              <a:t>Define the Owners</a:t>
            </a:r>
            <a:endParaRPr lang="en-US" sz="1550" dirty="0"/>
          </a:p>
        </p:txBody>
      </p:sp>
      <p:sp>
        <p:nvSpPr>
          <p:cNvPr id="20" name="Text 17"/>
          <p:cNvSpPr txBox="1"/>
          <p:nvPr/>
        </p:nvSpPr>
        <p:spPr>
          <a:xfrm>
            <a:off x="4751680" y="4151376"/>
            <a:ext cx="2688336" cy="658368"/>
          </a:xfrm>
          <a:prstGeom prst="rect">
            <a:avLst/>
          </a:prstGeom>
          <a:noFill/>
          <a:ln/>
        </p:spPr>
        <p:txBody>
          <a:bodyPr wrap="square" lIns="0" tIns="0" rIns="0" bIns="0" rtlCol="0" anchor="t"/>
          <a:lstStyle/>
          <a:p>
            <a:pPr indent="0" marL="0">
              <a:lnSpc>
                <a:spcPct val="122000"/>
              </a:lnSpc>
              <a:buNone/>
            </a:pPr>
            <a:r>
              <a:rPr lang="en-US" sz="1100" dirty="0">
                <a:solidFill>
                  <a:srgbClr val="6E7175"/>
                </a:solidFill>
                <a:latin typeface="Montserrat" pitchFamily="34" charset="0"/>
                <a:ea typeface="Montserrat" pitchFamily="34" charset="-122"/>
                <a:cs typeface="Montserrat" pitchFamily="34" charset="-120"/>
              </a:rPr>
              <a:t>Name the team responsible for installing and maintaining each one.</a:t>
            </a:r>
            <a:endParaRPr lang="en-US" sz="1100" dirty="0"/>
          </a:p>
        </p:txBody>
      </p:sp>
      <p:sp>
        <p:nvSpPr>
          <p:cNvPr id="21" name="Text 18"/>
          <p:cNvSpPr txBox="1"/>
          <p:nvPr/>
        </p:nvSpPr>
        <p:spPr>
          <a:xfrm>
            <a:off x="7726451" y="3438144"/>
            <a:ext cx="402336" cy="548640"/>
          </a:xfrm>
          <a:prstGeom prst="rect">
            <a:avLst/>
          </a:prstGeom>
          <a:noFill/>
          <a:ln/>
        </p:spPr>
        <p:txBody>
          <a:bodyPr wrap="square" lIns="0" tIns="0" rIns="0" bIns="0" rtlCol="0" anchor="ctr"/>
          <a:lstStyle/>
          <a:p>
            <a:pPr algn="ctr" indent="0" marL="0">
              <a:buNone/>
            </a:pPr>
            <a:r>
              <a:rPr lang="en-US" sz="3000" b="1" dirty="0">
                <a:solidFill>
                  <a:srgbClr val="C9C6C4"/>
                </a:solidFill>
                <a:latin typeface="Montserrat" pitchFamily="34" charset="0"/>
                <a:ea typeface="Montserrat" pitchFamily="34" charset="-122"/>
                <a:cs typeface="Montserrat" pitchFamily="34" charset="-120"/>
              </a:rPr>
              <a:t>›</a:t>
            </a:r>
            <a:endParaRPr lang="en-US" sz="3000" dirty="0"/>
          </a:p>
        </p:txBody>
      </p:sp>
      <p:sp>
        <p:nvSpPr>
          <p:cNvPr id="22" name="Shape 19"/>
          <p:cNvSpPr/>
          <p:nvPr/>
        </p:nvSpPr>
        <p:spPr>
          <a:xfrm>
            <a:off x="8104327" y="2615184"/>
            <a:ext cx="3310128" cy="2212848"/>
          </a:xfrm>
          <a:prstGeom prst="roundRect">
            <a:avLst>
              <a:gd name="adj" fmla="val 2479"/>
            </a:avLst>
          </a:prstGeom>
          <a:solidFill>
            <a:srgbClr val="FFFFFF"/>
          </a:solidFill>
          <a:ln w="9525">
            <a:solidFill>
              <a:srgbClr val="E6E4E2"/>
            </a:solidFill>
            <a:prstDash val="solid"/>
          </a:ln>
          <a:effectLst>
            <a:outerShdw sx="100000" sy="100000" kx="0" ky="0" algn="bl" rotWithShape="0" blurRad="5.8742220805646e+25" dist="1.46855552014115e+25" dir="4.19904e+30">
              <a:srgbClr val="959092">
                <a:alpha val="2.2e+29"/>
              </a:srgbClr>
            </a:outerShdw>
          </a:effectLst>
        </p:spPr>
      </p:sp>
      <p:sp>
        <p:nvSpPr>
          <p:cNvPr id="23" name="Shape 20"/>
          <p:cNvSpPr/>
          <p:nvPr/>
        </p:nvSpPr>
        <p:spPr>
          <a:xfrm>
            <a:off x="8415223" y="2926080"/>
            <a:ext cx="658368" cy="658368"/>
          </a:xfrm>
          <a:prstGeom prst="roundRect">
            <a:avLst>
              <a:gd name="adj" fmla="val 8333"/>
            </a:avLst>
          </a:prstGeom>
          <a:solidFill>
            <a:srgbClr val="F6EEF0"/>
          </a:solidFill>
          <a:ln/>
        </p:spPr>
      </p:sp>
      <p:sp>
        <p:nvSpPr>
          <p:cNvPr id="24" name="Text 21"/>
          <p:cNvSpPr txBox="1"/>
          <p:nvPr/>
        </p:nvSpPr>
        <p:spPr>
          <a:xfrm>
            <a:off x="8415223" y="2926080"/>
            <a:ext cx="658368" cy="658368"/>
          </a:xfrm>
          <a:prstGeom prst="rect">
            <a:avLst/>
          </a:prstGeom>
          <a:noFill/>
          <a:ln/>
        </p:spPr>
        <p:txBody>
          <a:bodyPr wrap="square" lIns="0" tIns="0" rIns="0" bIns="0" rtlCol="0" anchor="ctr"/>
          <a:lstStyle/>
          <a:p>
            <a:pPr algn="ctr" indent="0" marL="0">
              <a:buNone/>
            </a:pPr>
            <a:r>
              <a:rPr lang="en-US" sz="2100" spc="-50" kern="0" dirty="0">
                <a:solidFill>
                  <a:srgbClr val="942838"/>
                </a:solidFill>
                <a:latin typeface="Montserrat ExtraBold" pitchFamily="34" charset="0"/>
                <a:ea typeface="Montserrat ExtraBold" pitchFamily="34" charset="-122"/>
                <a:cs typeface="Montserrat ExtraBold" pitchFamily="34" charset="-120"/>
              </a:rPr>
              <a:t>03</a:t>
            </a:r>
            <a:endParaRPr lang="en-US" sz="2100" dirty="0"/>
          </a:p>
        </p:txBody>
      </p:sp>
      <p:sp>
        <p:nvSpPr>
          <p:cNvPr id="25" name="Text 22"/>
          <p:cNvSpPr txBox="1"/>
          <p:nvPr/>
        </p:nvSpPr>
        <p:spPr>
          <a:xfrm>
            <a:off x="8415223" y="3749040"/>
            <a:ext cx="2688336" cy="329184"/>
          </a:xfrm>
          <a:prstGeom prst="rect">
            <a:avLst/>
          </a:prstGeom>
          <a:noFill/>
          <a:ln/>
        </p:spPr>
        <p:txBody>
          <a:bodyPr wrap="square" lIns="0" tIns="0" rIns="0" bIns="0" rtlCol="0" anchor="t"/>
          <a:lstStyle/>
          <a:p>
            <a:pPr indent="0" marL="0">
              <a:buNone/>
            </a:pPr>
            <a:r>
              <a:rPr lang="en-US" sz="1550" dirty="0">
                <a:solidFill>
                  <a:srgbClr val="2B2D30"/>
                </a:solidFill>
                <a:latin typeface="Montserrat SemiBold" pitchFamily="34" charset="0"/>
                <a:ea typeface="Montserrat SemiBold" pitchFamily="34" charset="-122"/>
                <a:cs typeface="Montserrat SemiBold" pitchFamily="34" charset="-120"/>
              </a:rPr>
              <a:t>Get It Adopted</a:t>
            </a:r>
            <a:endParaRPr lang="en-US" sz="1550" dirty="0"/>
          </a:p>
        </p:txBody>
      </p:sp>
      <p:sp>
        <p:nvSpPr>
          <p:cNvPr id="26" name="Text 23"/>
          <p:cNvSpPr txBox="1"/>
          <p:nvPr/>
        </p:nvSpPr>
        <p:spPr>
          <a:xfrm>
            <a:off x="8415223" y="4151376"/>
            <a:ext cx="2688336" cy="658368"/>
          </a:xfrm>
          <a:prstGeom prst="rect">
            <a:avLst/>
          </a:prstGeom>
          <a:noFill/>
          <a:ln/>
        </p:spPr>
        <p:txBody>
          <a:bodyPr wrap="square" lIns="0" tIns="0" rIns="0" bIns="0" rtlCol="0" anchor="t"/>
          <a:lstStyle/>
          <a:p>
            <a:pPr indent="0" marL="0">
              <a:lnSpc>
                <a:spcPct val="122000"/>
              </a:lnSpc>
              <a:buNone/>
            </a:pPr>
            <a:r>
              <a:rPr lang="en-US" sz="1100" dirty="0">
                <a:solidFill>
                  <a:srgbClr val="6E7175"/>
                </a:solidFill>
                <a:latin typeface="Montserrat" pitchFamily="34" charset="0"/>
                <a:ea typeface="Montserrat" pitchFamily="34" charset="-122"/>
                <a:cs typeface="Montserrat" pitchFamily="34" charset="-120"/>
              </a:rPr>
              <a:t>Turn that into a written framework the company formally signs off on.</a:t>
            </a:r>
            <a:endParaRPr lang="en-US" sz="1100" dirty="0"/>
          </a:p>
        </p:txBody>
      </p:sp>
      <p:sp>
        <p:nvSpPr>
          <p:cNvPr id="27" name="Shape 24"/>
          <p:cNvSpPr/>
          <p:nvPr/>
        </p:nvSpPr>
        <p:spPr>
          <a:xfrm>
            <a:off x="777240" y="5138928"/>
            <a:ext cx="10637215" cy="859536"/>
          </a:xfrm>
          <a:prstGeom prst="roundRect">
            <a:avLst>
              <a:gd name="adj" fmla="val 6383"/>
            </a:avLst>
          </a:prstGeom>
          <a:solidFill>
            <a:srgbClr val="2B2D30"/>
          </a:solidFill>
          <a:ln/>
          <a:effectLst>
            <a:outerShdw sx="100000" sy="100000" kx="0" ky="0" algn="bl" rotWithShape="0" blurRad="9.823804677660543e+41" dist="2.183067706146787e+41" dir="5.44195584e+49">
              <a:srgbClr val="959092">
                <a:alpha val="1.6e+49"/>
              </a:srgbClr>
            </a:outerShdw>
          </a:effectLst>
        </p:spPr>
      </p:sp>
      <p:sp>
        <p:nvSpPr>
          <p:cNvPr id="28" name="Text 25"/>
          <p:cNvSpPr txBox="1"/>
          <p:nvPr/>
        </p:nvSpPr>
        <p:spPr>
          <a:xfrm>
            <a:off x="1069848" y="5285232"/>
            <a:ext cx="1828800" cy="201168"/>
          </a:xfrm>
          <a:prstGeom prst="rect">
            <a:avLst/>
          </a:prstGeom>
          <a:noFill/>
          <a:ln/>
        </p:spPr>
        <p:txBody>
          <a:bodyPr wrap="square" lIns="0" tIns="0" rIns="0" bIns="0" rtlCol="0" anchor="t"/>
          <a:lstStyle/>
          <a:p>
            <a:pPr indent="0" marL="0">
              <a:buNone/>
            </a:pPr>
            <a:r>
              <a:rPr lang="en-US" sz="850" spc="140" kern="0" dirty="0">
                <a:solidFill>
                  <a:srgbClr val="D9A3AE"/>
                </a:solidFill>
                <a:latin typeface="Montserrat SemiBold" pitchFamily="34" charset="0"/>
                <a:ea typeface="Montserrat SemiBold" pitchFamily="34" charset="-122"/>
                <a:cs typeface="Montserrat SemiBold" pitchFamily="34" charset="-120"/>
              </a:rPr>
              <a:t>DELIVERED</a:t>
            </a:r>
            <a:endParaRPr lang="en-US" sz="850" dirty="0"/>
          </a:p>
        </p:txBody>
      </p:sp>
      <p:sp>
        <p:nvSpPr>
          <p:cNvPr id="29" name="Text 26"/>
          <p:cNvSpPr txBox="1"/>
          <p:nvPr/>
        </p:nvSpPr>
        <p:spPr>
          <a:xfrm>
            <a:off x="1069848" y="5522976"/>
            <a:ext cx="10051999" cy="36576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Montserrat" pitchFamily="34" charset="0"/>
                <a:ea typeface="Montserrat" pitchFamily="34" charset="-122"/>
                <a:cs typeface="Montserrat" pitchFamily="34" charset="-120"/>
              </a:rPr>
              <a:t>A written Roles &amp; Responsibilities framework — drafted, staged for review, and set for formal adoption once the policy manager returns in Q4.</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ome/user/ai/assets/gen/logo-red.png">    </p:cNvPr>
          <p:cNvPicPr>
            <a:picLocks noChangeAspect="1"/>
          </p:cNvPicPr>
          <p:nvPr/>
        </p:nvPicPr>
        <p:blipFill>
          <a:blip r:embed="rId1"/>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indent="0" marL="0">
              <a:buNone/>
            </a:pPr>
            <a:r>
              <a:rPr lang="en-US" sz="1000" spc="220" kern="0" dirty="0">
                <a:solidFill>
                  <a:srgbClr val="942838"/>
                </a:solidFill>
                <a:latin typeface="Montserrat SemiBold" pitchFamily="34" charset="0"/>
                <a:ea typeface="Montserrat SemiBold" pitchFamily="34" charset="-122"/>
                <a:cs typeface="Montserrat SemiBold" pitchFamily="34" charset="-120"/>
              </a:rPr>
              <a:t>PROJECT 01  ·  WHAT COMES NEXT</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indent="0" marL="0">
              <a:lnSpc>
                <a:spcPct val="98000"/>
              </a:lnSpc>
              <a:buNone/>
            </a:pPr>
            <a:r>
              <a:rPr lang="en-US" sz="2900" spc="-50" kern="0" dirty="0">
                <a:solidFill>
                  <a:srgbClr val="2B2D30"/>
                </a:solidFill>
                <a:latin typeface="Montserrat ExtraBold" pitchFamily="34" charset="0"/>
                <a:ea typeface="Montserrat ExtraBold" pitchFamily="34" charset="-122"/>
                <a:cs typeface="Montserrat ExtraBold" pitchFamily="34" charset="-120"/>
              </a:rPr>
              <a:t>From a drafted framework to a standing process</a:t>
            </a:r>
            <a:endParaRPr lang="en-US" sz="2900" dirty="0"/>
          </a:p>
        </p:txBody>
      </p:sp>
      <p:sp>
        <p:nvSpPr>
          <p:cNvPr id="5" name="Shape 2"/>
          <p:cNvSpPr/>
          <p:nvPr/>
        </p:nvSpPr>
        <p:spPr>
          <a:xfrm>
            <a:off x="777240" y="1700784"/>
            <a:ext cx="566928" cy="50292"/>
          </a:xfrm>
          <a:prstGeom prst="rect">
            <a:avLst/>
          </a:prstGeom>
          <a:solidFill>
            <a:srgbClr val="942838"/>
          </a:solidFill>
          <a:ln/>
        </p:spPr>
      </p:sp>
      <p:sp>
        <p:nvSpPr>
          <p:cNvPr id="6" name="Shape 3"/>
          <p:cNvSpPr/>
          <p:nvPr/>
        </p:nvSpPr>
        <p:spPr>
          <a:xfrm>
            <a:off x="777240" y="6181344"/>
            <a:ext cx="10637215" cy="10973"/>
          </a:xfrm>
          <a:prstGeom prst="rect">
            <a:avLst/>
          </a:prstGeom>
          <a:solidFill>
            <a:srgbClr val="E6E4E2"/>
          </a:solidFill>
          <a:ln/>
        </p:spPr>
      </p:sp>
      <p:sp>
        <p:nvSpPr>
          <p:cNvPr id="7" name="Text 4"/>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IMAGE MANAGEMENT PROGRAM</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09</a:t>
            </a:r>
            <a:endParaRPr lang="en-US" sz="850" dirty="0"/>
          </a:p>
        </p:txBody>
      </p:sp>
      <p:sp>
        <p:nvSpPr>
          <p:cNvPr id="9" name="Text 6"/>
          <p:cNvSpPr txBox="1"/>
          <p:nvPr/>
        </p:nvSpPr>
        <p:spPr>
          <a:xfrm>
            <a:off x="777240" y="1975104"/>
            <a:ext cx="10241280" cy="329184"/>
          </a:xfrm>
          <a:prstGeom prst="rect">
            <a:avLst/>
          </a:prstGeom>
          <a:noFill/>
          <a:ln/>
        </p:spPr>
        <p:txBody>
          <a:bodyPr wrap="square" lIns="0" tIns="0" rIns="0" bIns="0" rtlCol="0" anchor="t"/>
          <a:lstStyle/>
          <a:p>
            <a:pPr indent="0" marL="0">
              <a:buNone/>
            </a:pPr>
            <a:r>
              <a:rPr lang="en-US" sz="1400" dirty="0">
                <a:solidFill>
                  <a:srgbClr val="6E7175"/>
                </a:solidFill>
                <a:latin typeface="Montserrat Medium" pitchFamily="34" charset="0"/>
                <a:ea typeface="Montserrat Medium" pitchFamily="34" charset="-122"/>
                <a:cs typeface="Montserrat Medium" pitchFamily="34" charset="-120"/>
              </a:rPr>
              <a:t>The framework exists on paper. Turning it into something the company runs without me is the next stretch.</a:t>
            </a:r>
            <a:endParaRPr lang="en-US" sz="1400" dirty="0"/>
          </a:p>
        </p:txBody>
      </p:sp>
      <p:sp>
        <p:nvSpPr>
          <p:cNvPr id="10" name="Shape 7"/>
          <p:cNvSpPr/>
          <p:nvPr/>
        </p:nvSpPr>
        <p:spPr>
          <a:xfrm>
            <a:off x="777240" y="2615184"/>
            <a:ext cx="3356762" cy="2304288"/>
          </a:xfrm>
          <a:prstGeom prst="roundRect">
            <a:avLst>
              <a:gd name="adj" fmla="val 2381"/>
            </a:avLst>
          </a:prstGeom>
          <a:solidFill>
            <a:srgbClr val="FFFFFF"/>
          </a:solidFill>
          <a:ln w="9525">
            <a:solidFill>
              <a:srgbClr val="E6E4E2"/>
            </a:solidFill>
            <a:prstDash val="solid"/>
          </a:ln>
          <a:effectLst>
            <a:outerShdw sx="100000" sy="100000" kx="0" ky="0" algn="bl" rotWithShape="0" blurRad="7.460262042317042e+29" dist="1.8650655105792604e+29" dir="2.519424e+35">
              <a:srgbClr val="959092">
                <a:alpha val="2.2e+34"/>
              </a:srgbClr>
            </a:outerShdw>
          </a:effectLst>
        </p:spPr>
      </p:sp>
      <p:sp>
        <p:nvSpPr>
          <p:cNvPr id="11" name="Shape 8"/>
          <p:cNvSpPr/>
          <p:nvPr/>
        </p:nvSpPr>
        <p:spPr>
          <a:xfrm>
            <a:off x="777240" y="2615184"/>
            <a:ext cx="3356762" cy="45720"/>
          </a:xfrm>
          <a:prstGeom prst="rect">
            <a:avLst/>
          </a:prstGeom>
          <a:solidFill>
            <a:srgbClr val="942838"/>
          </a:solidFill>
          <a:ln/>
        </p:spPr>
      </p:sp>
      <p:sp>
        <p:nvSpPr>
          <p:cNvPr id="12" name="Text 9"/>
          <p:cNvSpPr txBox="1"/>
          <p:nvPr/>
        </p:nvSpPr>
        <p:spPr>
          <a:xfrm>
            <a:off x="1088136" y="2889504"/>
            <a:ext cx="914400" cy="310896"/>
          </a:xfrm>
          <a:prstGeom prst="rect">
            <a:avLst/>
          </a:prstGeom>
          <a:noFill/>
          <a:ln/>
        </p:spPr>
        <p:txBody>
          <a:bodyPr wrap="square" lIns="0" tIns="0" rIns="0" bIns="0" rtlCol="0" anchor="t"/>
          <a:lstStyle/>
          <a:p>
            <a:pPr indent="0" marL="0">
              <a:buNone/>
            </a:pPr>
            <a:r>
              <a:rPr lang="en-US" sz="2000" spc="-30" kern="0" dirty="0">
                <a:solidFill>
                  <a:srgbClr val="DFBEC4"/>
                </a:solidFill>
                <a:latin typeface="Montserrat ExtraBold" pitchFamily="34" charset="0"/>
                <a:ea typeface="Montserrat ExtraBold" pitchFamily="34" charset="-122"/>
                <a:cs typeface="Montserrat ExtraBold" pitchFamily="34" charset="-120"/>
              </a:rPr>
              <a:t>01</a:t>
            </a:r>
            <a:endParaRPr lang="en-US" sz="2000" dirty="0"/>
          </a:p>
        </p:txBody>
      </p:sp>
      <p:sp>
        <p:nvSpPr>
          <p:cNvPr id="13" name="Text 10"/>
          <p:cNvSpPr txBox="1"/>
          <p:nvPr/>
        </p:nvSpPr>
        <p:spPr>
          <a:xfrm>
            <a:off x="1088136" y="3291840"/>
            <a:ext cx="2734970" cy="365760"/>
          </a:xfrm>
          <a:prstGeom prst="rect">
            <a:avLst/>
          </a:prstGeom>
          <a:noFill/>
          <a:ln/>
        </p:spPr>
        <p:txBody>
          <a:bodyPr wrap="square" lIns="0" tIns="0" rIns="0" bIns="0" rtlCol="0" anchor="t"/>
          <a:lstStyle/>
          <a:p>
            <a:pPr indent="0" marL="0">
              <a:buNone/>
            </a:pPr>
            <a:r>
              <a:rPr lang="en-US" sz="1500" dirty="0">
                <a:solidFill>
                  <a:srgbClr val="2B2D30"/>
                </a:solidFill>
                <a:latin typeface="Montserrat SemiBold" pitchFamily="34" charset="0"/>
                <a:ea typeface="Montserrat SemiBold" pitchFamily="34" charset="-122"/>
                <a:cs typeface="Montserrat SemiBold" pitchFamily="34" charset="-120"/>
              </a:rPr>
              <a:t>Formal adoption</a:t>
            </a:r>
            <a:endParaRPr lang="en-US" sz="1500" dirty="0"/>
          </a:p>
        </p:txBody>
      </p:sp>
      <p:sp>
        <p:nvSpPr>
          <p:cNvPr id="14" name="Text 11"/>
          <p:cNvSpPr txBox="1"/>
          <p:nvPr/>
        </p:nvSpPr>
        <p:spPr>
          <a:xfrm>
            <a:off x="1088136" y="3730752"/>
            <a:ext cx="2734970" cy="1463040"/>
          </a:xfrm>
          <a:prstGeom prst="rect">
            <a:avLst/>
          </a:prstGeom>
          <a:noFill/>
          <a:ln/>
        </p:spPr>
        <p:txBody>
          <a:bodyPr wrap="square" lIns="0" tIns="0" rIns="0" bIns="0" rtlCol="0" anchor="t"/>
          <a:lstStyle/>
          <a:p>
            <a:pPr indent="0" marL="0">
              <a:lnSpc>
                <a:spcPct val="126000"/>
              </a:lnSpc>
              <a:buNone/>
            </a:pPr>
            <a:r>
              <a:rPr lang="en-US" sz="1100" dirty="0">
                <a:solidFill>
                  <a:srgbClr val="6E7175"/>
                </a:solidFill>
                <a:latin typeface="Montserrat" pitchFamily="34" charset="0"/>
                <a:ea typeface="Montserrat" pitchFamily="34" charset="-122"/>
                <a:cs typeface="Montserrat" pitchFamily="34" charset="-120"/>
              </a:rPr>
              <a:t>The framework is drafted and staged for review. It goes for sign-off once the policy manager returns in Q4.</a:t>
            </a:r>
            <a:endParaRPr lang="en-US" sz="1100" dirty="0"/>
          </a:p>
        </p:txBody>
      </p:sp>
      <p:sp>
        <p:nvSpPr>
          <p:cNvPr id="15" name="Shape 12"/>
          <p:cNvSpPr/>
          <p:nvPr/>
        </p:nvSpPr>
        <p:spPr>
          <a:xfrm>
            <a:off x="4417466" y="2615184"/>
            <a:ext cx="3356762" cy="2304288"/>
          </a:xfrm>
          <a:prstGeom prst="roundRect">
            <a:avLst>
              <a:gd name="adj" fmla="val 2381"/>
            </a:avLst>
          </a:prstGeom>
          <a:solidFill>
            <a:srgbClr val="FFFFFF"/>
          </a:solidFill>
          <a:ln w="9525">
            <a:solidFill>
              <a:srgbClr val="E6E4E2"/>
            </a:solidFill>
            <a:prstDash val="solid"/>
          </a:ln>
          <a:effectLst>
            <a:outerShdw sx="100000" sy="100000" kx="0" ky="0" algn="bl" rotWithShape="0" blurRad="9.474532793742643e+33" dist="2.3686331984356606e+33" dir="1.5116544e+40">
              <a:srgbClr val="959092">
                <a:alpha val="2.2e+39"/>
              </a:srgbClr>
            </a:outerShdw>
          </a:effectLst>
        </p:spPr>
      </p:sp>
      <p:sp>
        <p:nvSpPr>
          <p:cNvPr id="16" name="Shape 13"/>
          <p:cNvSpPr/>
          <p:nvPr/>
        </p:nvSpPr>
        <p:spPr>
          <a:xfrm>
            <a:off x="4417466" y="2615184"/>
            <a:ext cx="3356762" cy="45720"/>
          </a:xfrm>
          <a:prstGeom prst="rect">
            <a:avLst/>
          </a:prstGeom>
          <a:solidFill>
            <a:srgbClr val="942838"/>
          </a:solidFill>
          <a:ln/>
        </p:spPr>
      </p:sp>
      <p:sp>
        <p:nvSpPr>
          <p:cNvPr id="17" name="Text 14"/>
          <p:cNvSpPr txBox="1"/>
          <p:nvPr/>
        </p:nvSpPr>
        <p:spPr>
          <a:xfrm>
            <a:off x="4728362" y="2889504"/>
            <a:ext cx="914400" cy="310896"/>
          </a:xfrm>
          <a:prstGeom prst="rect">
            <a:avLst/>
          </a:prstGeom>
          <a:noFill/>
          <a:ln/>
        </p:spPr>
        <p:txBody>
          <a:bodyPr wrap="square" lIns="0" tIns="0" rIns="0" bIns="0" rtlCol="0" anchor="t"/>
          <a:lstStyle/>
          <a:p>
            <a:pPr indent="0" marL="0">
              <a:buNone/>
            </a:pPr>
            <a:r>
              <a:rPr lang="en-US" sz="2000" spc="-30" kern="0" dirty="0">
                <a:solidFill>
                  <a:srgbClr val="DFBEC4"/>
                </a:solidFill>
                <a:latin typeface="Montserrat ExtraBold" pitchFamily="34" charset="0"/>
                <a:ea typeface="Montserrat ExtraBold" pitchFamily="34" charset="-122"/>
                <a:cs typeface="Montserrat ExtraBold" pitchFamily="34" charset="-120"/>
              </a:rPr>
              <a:t>02</a:t>
            </a:r>
            <a:endParaRPr lang="en-US" sz="2000" dirty="0"/>
          </a:p>
        </p:txBody>
      </p:sp>
      <p:sp>
        <p:nvSpPr>
          <p:cNvPr id="18" name="Text 15"/>
          <p:cNvSpPr txBox="1"/>
          <p:nvPr/>
        </p:nvSpPr>
        <p:spPr>
          <a:xfrm>
            <a:off x="4728362" y="3291840"/>
            <a:ext cx="2734970" cy="365760"/>
          </a:xfrm>
          <a:prstGeom prst="rect">
            <a:avLst/>
          </a:prstGeom>
          <a:noFill/>
          <a:ln/>
        </p:spPr>
        <p:txBody>
          <a:bodyPr wrap="square" lIns="0" tIns="0" rIns="0" bIns="0" rtlCol="0" anchor="t"/>
          <a:lstStyle/>
          <a:p>
            <a:pPr indent="0" marL="0">
              <a:buNone/>
            </a:pPr>
            <a:r>
              <a:rPr lang="en-US" sz="1500" dirty="0">
                <a:solidFill>
                  <a:srgbClr val="2B2D30"/>
                </a:solidFill>
                <a:latin typeface="Montserrat SemiBold" pitchFamily="34" charset="0"/>
                <a:ea typeface="Montserrat SemiBold" pitchFamily="34" charset="-122"/>
                <a:cs typeface="Montserrat SemiBold" pitchFamily="34" charset="-120"/>
              </a:rPr>
              <a:t>Owners take it from here</a:t>
            </a:r>
            <a:endParaRPr lang="en-US" sz="1500" dirty="0"/>
          </a:p>
        </p:txBody>
      </p:sp>
      <p:sp>
        <p:nvSpPr>
          <p:cNvPr id="19" name="Text 16"/>
          <p:cNvSpPr txBox="1"/>
          <p:nvPr/>
        </p:nvSpPr>
        <p:spPr>
          <a:xfrm>
            <a:off x="4728362" y="3730752"/>
            <a:ext cx="2734970" cy="1463040"/>
          </a:xfrm>
          <a:prstGeom prst="rect">
            <a:avLst/>
          </a:prstGeom>
          <a:noFill/>
          <a:ln/>
        </p:spPr>
        <p:txBody>
          <a:bodyPr wrap="square" lIns="0" tIns="0" rIns="0" bIns="0" rtlCol="0" anchor="t"/>
          <a:lstStyle/>
          <a:p>
            <a:pPr indent="0" marL="0">
              <a:lnSpc>
                <a:spcPct val="126000"/>
              </a:lnSpc>
              <a:buNone/>
            </a:pPr>
            <a:r>
              <a:rPr lang="en-US" sz="1100" dirty="0">
                <a:solidFill>
                  <a:srgbClr val="6E7175"/>
                </a:solidFill>
                <a:latin typeface="Montserrat" pitchFamily="34" charset="0"/>
                <a:ea typeface="Montserrat" pitchFamily="34" charset="-122"/>
                <a:cs typeface="Montserrat" pitchFamily="34" charset="-120"/>
              </a:rPr>
              <a:t>Each named team picks up the tool it owns, so responsibility sits with the people who can act on it.</a:t>
            </a:r>
            <a:endParaRPr lang="en-US" sz="1100" dirty="0"/>
          </a:p>
        </p:txBody>
      </p:sp>
      <p:sp>
        <p:nvSpPr>
          <p:cNvPr id="20" name="Shape 17"/>
          <p:cNvSpPr/>
          <p:nvPr/>
        </p:nvSpPr>
        <p:spPr>
          <a:xfrm>
            <a:off x="8057693" y="2615184"/>
            <a:ext cx="3356762" cy="2304288"/>
          </a:xfrm>
          <a:prstGeom prst="roundRect">
            <a:avLst>
              <a:gd name="adj" fmla="val 2381"/>
            </a:avLst>
          </a:prstGeom>
          <a:solidFill>
            <a:srgbClr val="FFFFFF"/>
          </a:solidFill>
          <a:ln w="9525">
            <a:solidFill>
              <a:srgbClr val="E6E4E2"/>
            </a:solidFill>
            <a:prstDash val="solid"/>
          </a:ln>
          <a:effectLst>
            <a:outerShdw sx="100000" sy="100000" kx="0" ky="0" algn="bl" rotWithShape="0" blurRad="1.2032656648053156e+38" dist="3.008164162013289e+37" dir="9.069926400000001e+44">
              <a:srgbClr val="959092">
                <a:alpha val="2.2e+44"/>
              </a:srgbClr>
            </a:outerShdw>
          </a:effectLst>
        </p:spPr>
      </p:sp>
      <p:sp>
        <p:nvSpPr>
          <p:cNvPr id="21" name="Shape 18"/>
          <p:cNvSpPr/>
          <p:nvPr/>
        </p:nvSpPr>
        <p:spPr>
          <a:xfrm>
            <a:off x="8057693" y="2615184"/>
            <a:ext cx="3356762" cy="45720"/>
          </a:xfrm>
          <a:prstGeom prst="rect">
            <a:avLst/>
          </a:prstGeom>
          <a:solidFill>
            <a:srgbClr val="942838"/>
          </a:solidFill>
          <a:ln/>
        </p:spPr>
      </p:sp>
      <p:sp>
        <p:nvSpPr>
          <p:cNvPr id="22" name="Text 19"/>
          <p:cNvSpPr txBox="1"/>
          <p:nvPr/>
        </p:nvSpPr>
        <p:spPr>
          <a:xfrm>
            <a:off x="8368589" y="2889504"/>
            <a:ext cx="914400" cy="310896"/>
          </a:xfrm>
          <a:prstGeom prst="rect">
            <a:avLst/>
          </a:prstGeom>
          <a:noFill/>
          <a:ln/>
        </p:spPr>
        <p:txBody>
          <a:bodyPr wrap="square" lIns="0" tIns="0" rIns="0" bIns="0" rtlCol="0" anchor="t"/>
          <a:lstStyle/>
          <a:p>
            <a:pPr indent="0" marL="0">
              <a:buNone/>
            </a:pPr>
            <a:r>
              <a:rPr lang="en-US" sz="2000" spc="-30" kern="0" dirty="0">
                <a:solidFill>
                  <a:srgbClr val="DFBEC4"/>
                </a:solidFill>
                <a:latin typeface="Montserrat ExtraBold" pitchFamily="34" charset="0"/>
                <a:ea typeface="Montserrat ExtraBold" pitchFamily="34" charset="-122"/>
                <a:cs typeface="Montserrat ExtraBold" pitchFamily="34" charset="-120"/>
              </a:rPr>
              <a:t>03</a:t>
            </a:r>
            <a:endParaRPr lang="en-US" sz="2000" dirty="0"/>
          </a:p>
        </p:txBody>
      </p:sp>
      <p:sp>
        <p:nvSpPr>
          <p:cNvPr id="23" name="Text 20"/>
          <p:cNvSpPr txBox="1"/>
          <p:nvPr/>
        </p:nvSpPr>
        <p:spPr>
          <a:xfrm>
            <a:off x="8368589" y="3291840"/>
            <a:ext cx="2734970" cy="365760"/>
          </a:xfrm>
          <a:prstGeom prst="rect">
            <a:avLst/>
          </a:prstGeom>
          <a:noFill/>
          <a:ln/>
        </p:spPr>
        <p:txBody>
          <a:bodyPr wrap="square" lIns="0" tIns="0" rIns="0" bIns="0" rtlCol="0" anchor="t"/>
          <a:lstStyle/>
          <a:p>
            <a:pPr indent="0" marL="0">
              <a:buNone/>
            </a:pPr>
            <a:r>
              <a:rPr lang="en-US" sz="1500" dirty="0">
                <a:solidFill>
                  <a:srgbClr val="2B2D30"/>
                </a:solidFill>
                <a:latin typeface="Montserrat SemiBold" pitchFamily="34" charset="0"/>
                <a:ea typeface="Montserrat SemiBold" pitchFamily="34" charset="-122"/>
                <a:cs typeface="Montserrat SemiBold" pitchFamily="34" charset="-120"/>
              </a:rPr>
              <a:t>Check before deploy</a:t>
            </a:r>
            <a:endParaRPr lang="en-US" sz="1500" dirty="0"/>
          </a:p>
        </p:txBody>
      </p:sp>
      <p:sp>
        <p:nvSpPr>
          <p:cNvPr id="24" name="Text 21"/>
          <p:cNvSpPr txBox="1"/>
          <p:nvPr/>
        </p:nvSpPr>
        <p:spPr>
          <a:xfrm>
            <a:off x="8368589" y="3730752"/>
            <a:ext cx="2734970" cy="1463040"/>
          </a:xfrm>
          <a:prstGeom prst="rect">
            <a:avLst/>
          </a:prstGeom>
          <a:noFill/>
          <a:ln/>
        </p:spPr>
        <p:txBody>
          <a:bodyPr wrap="square" lIns="0" tIns="0" rIns="0" bIns="0" rtlCol="0" anchor="t"/>
          <a:lstStyle/>
          <a:p>
            <a:pPr indent="0" marL="0">
              <a:lnSpc>
                <a:spcPct val="126000"/>
              </a:lnSpc>
              <a:buNone/>
            </a:pPr>
            <a:r>
              <a:rPr lang="en-US" sz="1100" dirty="0">
                <a:solidFill>
                  <a:srgbClr val="6E7175"/>
                </a:solidFill>
                <a:latin typeface="Montserrat" pitchFamily="34" charset="0"/>
                <a:ea typeface="Montserrat" pitchFamily="34" charset="-122"/>
                <a:cs typeface="Montserrat" pitchFamily="34" charset="-120"/>
              </a:rPr>
              <a:t>The natural next step is a check that a newly built image actually carries all nine tools before it goes live.</a:t>
            </a:r>
            <a:endParaRPr lang="en-US" sz="1100" dirty="0"/>
          </a:p>
        </p:txBody>
      </p:sp>
      <p:sp>
        <p:nvSpPr>
          <p:cNvPr id="25" name="Text 22"/>
          <p:cNvSpPr txBox="1"/>
          <p:nvPr/>
        </p:nvSpPr>
        <p:spPr>
          <a:xfrm>
            <a:off x="777240" y="5230368"/>
            <a:ext cx="10637215" cy="274320"/>
          </a:xfrm>
          <a:prstGeom prst="rect">
            <a:avLst/>
          </a:prstGeom>
          <a:noFill/>
          <a:ln/>
        </p:spPr>
        <p:txBody>
          <a:bodyPr wrap="square" lIns="0" tIns="0" rIns="0" bIns="0" rtlCol="0" anchor="t"/>
          <a:lstStyle/>
          <a:p>
            <a:pPr indent="0" marL="0">
              <a:buNone/>
            </a:pPr>
            <a:r>
              <a:rPr lang="en-US" sz="1150" dirty="0">
                <a:solidFill>
                  <a:srgbClr val="2B2D30"/>
                </a:solidFill>
                <a:latin typeface="Montserrat SemiBold" pitchFamily="34" charset="0"/>
                <a:ea typeface="Montserrat SemiBold" pitchFamily="34" charset="-122"/>
                <a:cs typeface="Montserrat SemiBold" pitchFamily="34" charset="-120"/>
              </a:rPr>
              <a:t>The honest status:</a:t>
            </a:r>
            <a:pPr indent="0" marL="0">
              <a:buNone/>
            </a:pPr>
            <a:r>
              <a:rPr lang="en-US" sz="1150" dirty="0">
                <a:solidFill>
                  <a:srgbClr val="6E7175"/>
                </a:solidFill>
                <a:latin typeface="Montserrat" pitchFamily="34" charset="0"/>
                <a:ea typeface="Montserrat" pitchFamily="34" charset="-122"/>
                <a:cs typeface="Montserrat" pitchFamily="34" charset="-120"/>
              </a:rPr>
              <a:t>  drafted and staged for review, not yet formally adopted. The decision sits with the policy manager in Q4.</a:t>
            </a:r>
            <a:endParaRPr lang="en-US" sz="1150" dirty="0"/>
          </a:p>
        </p:txBody>
      </p:sp>
      <p:sp>
        <p:nvSpPr>
          <p:cNvPr id="26" name="Text 23"/>
          <p:cNvSpPr txBox="1"/>
          <p:nvPr/>
        </p:nvSpPr>
        <p:spPr>
          <a:xfrm>
            <a:off x="777240" y="5577840"/>
            <a:ext cx="10637215" cy="274320"/>
          </a:xfrm>
          <a:prstGeom prst="rect">
            <a:avLst/>
          </a:prstGeom>
          <a:noFill/>
          <a:ln/>
        </p:spPr>
        <p:txBody>
          <a:bodyPr wrap="square" lIns="0" tIns="0" rIns="0" bIns="0" rtlCol="0" anchor="t"/>
          <a:lstStyle/>
          <a:p>
            <a:pPr indent="0" marL="0">
              <a:buNone/>
            </a:pPr>
            <a:r>
              <a:rPr lang="en-US" sz="1100" dirty="0">
                <a:solidFill>
                  <a:srgbClr val="942838"/>
                </a:solidFill>
                <a:latin typeface="Montserrat" pitchFamily="34" charset="0"/>
                <a:ea typeface="Montserrat" pitchFamily="34" charset="-122"/>
                <a:cs typeface="Montserrat" pitchFamily="34" charset="-120"/>
              </a:rPr>
              <a:t>It also closes an audit gap: once adopted, we can show that every new machine met a defined security baseline before it was deployed.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ome/user/ai/assets/gen/panel-r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ai/assets/gen/mark-slash-faint.png">    </p:cNvPr>
          <p:cNvPicPr>
            <a:picLocks noChangeAspect="1"/>
          </p:cNvPicPr>
          <p:nvPr/>
        </p:nvPicPr>
        <p:blipFill>
          <a:blip r:embed="rId2"/>
          <a:stretch>
            <a:fillRect/>
          </a:stretch>
        </p:blipFill>
        <p:spPr>
          <a:xfrm>
            <a:off x="8229600" y="365760"/>
            <a:ext cx="5120640" cy="5120640"/>
          </a:xfrm>
          <a:prstGeom prst="rect">
            <a:avLst/>
          </a:prstGeom>
        </p:spPr>
      </p:pic>
      <p:sp>
        <p:nvSpPr>
          <p:cNvPr id="4" name="Text 0"/>
          <p:cNvSpPr txBox="1"/>
          <p:nvPr/>
        </p:nvSpPr>
        <p:spPr>
          <a:xfrm>
            <a:off x="6766560" y="566928"/>
            <a:ext cx="4754880" cy="4206240"/>
          </a:xfrm>
          <a:prstGeom prst="rect">
            <a:avLst/>
          </a:prstGeom>
          <a:noFill/>
          <a:ln/>
        </p:spPr>
        <p:txBody>
          <a:bodyPr wrap="square" lIns="0" tIns="0" rIns="0" bIns="0" rtlCol="0" anchor="t"/>
          <a:lstStyle/>
          <a:p>
            <a:pPr algn="r" indent="0" marL="0">
              <a:buNone/>
            </a:pPr>
            <a:r>
              <a:rPr lang="en-US" sz="21000" spc="-800" kern="0" dirty="0">
                <a:solidFill>
                  <a:srgbClr val="B9737E">
                    <a:alpha val="38000"/>
                  </a:srgbClr>
                </a:solidFill>
                <a:latin typeface="Montserrat ExtraBold" pitchFamily="34" charset="0"/>
                <a:ea typeface="Montserrat ExtraBold" pitchFamily="34" charset="-122"/>
                <a:cs typeface="Montserrat ExtraBold" pitchFamily="34" charset="-120"/>
              </a:rPr>
              <a:t>02</a:t>
            </a:r>
            <a:endParaRPr lang="en-US" sz="21000" dirty="0"/>
          </a:p>
        </p:txBody>
      </p:sp>
      <p:sp>
        <p:nvSpPr>
          <p:cNvPr id="5" name="Text 1"/>
          <p:cNvSpPr txBox="1"/>
          <p:nvPr/>
        </p:nvSpPr>
        <p:spPr>
          <a:xfrm>
            <a:off x="777240" y="2395728"/>
            <a:ext cx="6400800" cy="256032"/>
          </a:xfrm>
          <a:prstGeom prst="rect">
            <a:avLst/>
          </a:prstGeom>
          <a:noFill/>
          <a:ln/>
        </p:spPr>
        <p:txBody>
          <a:bodyPr wrap="square" lIns="0" tIns="0" rIns="0" bIns="0" rtlCol="0" anchor="t"/>
          <a:lstStyle/>
          <a:p>
            <a:pPr indent="0" marL="0">
              <a:buNone/>
            </a:pPr>
            <a:r>
              <a:rPr lang="en-US" sz="1000" spc="220" kern="0" dirty="0">
                <a:solidFill>
                  <a:srgbClr val="E4C9CE"/>
                </a:solidFill>
                <a:latin typeface="Montserrat SemiBold" pitchFamily="34" charset="0"/>
                <a:ea typeface="Montserrat SemiBold" pitchFamily="34" charset="-122"/>
                <a:cs typeface="Montserrat SemiBold" pitchFamily="34" charset="-120"/>
              </a:rPr>
              <a:t>PROJECT 02</a:t>
            </a:r>
            <a:endParaRPr lang="en-US" sz="1000" dirty="0"/>
          </a:p>
        </p:txBody>
      </p:sp>
      <p:sp>
        <p:nvSpPr>
          <p:cNvPr id="6" name="Text 2"/>
          <p:cNvSpPr txBox="1"/>
          <p:nvPr/>
        </p:nvSpPr>
        <p:spPr>
          <a:xfrm>
            <a:off x="777240" y="2743200"/>
            <a:ext cx="6766560" cy="1280160"/>
          </a:xfrm>
          <a:prstGeom prst="rect">
            <a:avLst/>
          </a:prstGeom>
          <a:noFill/>
          <a:ln/>
        </p:spPr>
        <p:txBody>
          <a:bodyPr wrap="square" lIns="0" tIns="0" rIns="0" bIns="0" rtlCol="0" anchor="t"/>
          <a:lstStyle/>
          <a:p>
            <a:pPr indent="0" marL="0">
              <a:lnSpc>
                <a:spcPct val="98000"/>
              </a:lnSpc>
              <a:buNone/>
            </a:pPr>
            <a:r>
              <a:rPr lang="en-US" sz="4100" spc="-90" kern="0" dirty="0">
                <a:solidFill>
                  <a:srgbClr val="FFFFFF"/>
                </a:solidFill>
                <a:latin typeface="Montserrat ExtraBold" pitchFamily="34" charset="0"/>
                <a:ea typeface="Montserrat ExtraBold" pitchFamily="34" charset="-122"/>
                <a:cs typeface="Montserrat ExtraBold" pitchFamily="34" charset="-120"/>
              </a:rPr>
              <a:t>AEGIS — Supply-Chain Defense</a:t>
            </a:r>
            <a:endParaRPr lang="en-US" sz="4100" dirty="0"/>
          </a:p>
        </p:txBody>
      </p:sp>
      <p:sp>
        <p:nvSpPr>
          <p:cNvPr id="7" name="Shape 3"/>
          <p:cNvSpPr/>
          <p:nvPr/>
        </p:nvSpPr>
        <p:spPr>
          <a:xfrm>
            <a:off x="777240" y="4114800"/>
            <a:ext cx="640080" cy="50292"/>
          </a:xfrm>
          <a:prstGeom prst="rect">
            <a:avLst/>
          </a:prstGeom>
          <a:solidFill>
            <a:srgbClr val="FFFFFF"/>
          </a:solidFill>
          <a:ln/>
        </p:spPr>
      </p:sp>
      <p:sp>
        <p:nvSpPr>
          <p:cNvPr id="8" name="Text 4"/>
          <p:cNvSpPr txBox="1"/>
          <p:nvPr/>
        </p:nvSpPr>
        <p:spPr>
          <a:xfrm>
            <a:off x="777240" y="4389120"/>
            <a:ext cx="6309360" cy="731520"/>
          </a:xfrm>
          <a:prstGeom prst="rect">
            <a:avLst/>
          </a:prstGeom>
          <a:noFill/>
          <a:ln/>
        </p:spPr>
        <p:txBody>
          <a:bodyPr wrap="square" lIns="0" tIns="0" rIns="0" bIns="0" rtlCol="0" anchor="t"/>
          <a:lstStyle/>
          <a:p>
            <a:pPr indent="0" marL="0">
              <a:lnSpc>
                <a:spcPct val="125000"/>
              </a:lnSpc>
              <a:buNone/>
            </a:pPr>
            <a:r>
              <a:rPr lang="en-US" sz="1400" dirty="0">
                <a:solidFill>
                  <a:srgbClr val="DAB4BA"/>
                </a:solidFill>
                <a:latin typeface="Montserrat Medium" pitchFamily="34" charset="0"/>
                <a:ea typeface="Montserrat Medium" pitchFamily="34" charset="-122"/>
                <a:cs typeface="Montserrat Medium" pitchFamily="34" charset="-120"/>
              </a:rPr>
              <a:t>Catching risky code hidden inside the open-source packages our software depends on.</a:t>
            </a:r>
            <a:endParaRPr lang="en-US" sz="1400" dirty="0"/>
          </a:p>
        </p:txBody>
      </p:sp>
      <p:pic>
        <p:nvPicPr>
          <p:cNvPr id="9" name="Image 2" descr="/home/user/ai/assets/gen/logo-white.png">    </p:cNvPr>
          <p:cNvPicPr>
            <a:picLocks noChangeAspect="1"/>
          </p:cNvPicPr>
          <p:nvPr/>
        </p:nvPicPr>
        <p:blipFill>
          <a:blip r:embed="rId3"/>
          <a:stretch>
            <a:fillRect/>
          </a:stretch>
        </p:blipFill>
        <p:spPr>
          <a:xfrm>
            <a:off x="9768535" y="457200"/>
            <a:ext cx="1645920" cy="166053"/>
          </a:xfrm>
          <a:prstGeom prst="rect">
            <a:avLst/>
          </a:prstGeom>
        </p:spPr>
      </p:pic>
      <p:sp>
        <p:nvSpPr>
          <p:cNvPr id="10" name="Text 5"/>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E4C9CE"/>
                </a:solidFill>
                <a:latin typeface="Montserrat SemiBold" pitchFamily="34" charset="0"/>
                <a:ea typeface="Montserrat SemiBold" pitchFamily="34" charset="-122"/>
                <a:cs typeface="Montserrat SemiBold" pitchFamily="34" charset="-120"/>
              </a:rPr>
              <a:t>PROJECT 02</a:t>
            </a:r>
            <a:endParaRPr lang="en-US" sz="850" dirty="0"/>
          </a:p>
        </p:txBody>
      </p:sp>
      <p:sp>
        <p:nvSpPr>
          <p:cNvPr id="11" name="Text 6"/>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E4C9CE"/>
                </a:solidFill>
                <a:latin typeface="Montserrat SemiBold" pitchFamily="34" charset="0"/>
                <a:ea typeface="Montserrat SemiBold" pitchFamily="34" charset="-122"/>
                <a:cs typeface="Montserrat SemiBold"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home/user/ai/assets/gen/logo-red.png">    </p:cNvPr>
          <p:cNvPicPr>
            <a:picLocks noChangeAspect="1"/>
          </p:cNvPicPr>
          <p:nvPr/>
        </p:nvPicPr>
        <p:blipFill>
          <a:blip r:embed="rId1"/>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indent="0" marL="0">
              <a:buNone/>
            </a:pPr>
            <a:r>
              <a:rPr lang="en-US" sz="1000" spc="220" kern="0" dirty="0">
                <a:solidFill>
                  <a:srgbClr val="942838"/>
                </a:solidFill>
                <a:latin typeface="Montserrat SemiBold" pitchFamily="34" charset="0"/>
                <a:ea typeface="Montserrat SemiBold" pitchFamily="34" charset="-122"/>
                <a:cs typeface="Montserrat SemiBold" pitchFamily="34" charset="-120"/>
              </a:rPr>
              <a:t>PROJECT 02  ·  THE PROBLEM</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indent="0" marL="0">
              <a:lnSpc>
                <a:spcPct val="98000"/>
              </a:lnSpc>
              <a:buNone/>
            </a:pPr>
            <a:r>
              <a:rPr lang="en-US" sz="2900" spc="-50" kern="0" dirty="0">
                <a:solidFill>
                  <a:srgbClr val="2B2D30"/>
                </a:solidFill>
                <a:latin typeface="Montserrat ExtraBold" pitchFamily="34" charset="0"/>
                <a:ea typeface="Montserrat ExtraBold" pitchFamily="34" charset="-122"/>
                <a:cs typeface="Montserrat ExtraBold" pitchFamily="34" charset="-120"/>
              </a:rPr>
              <a:t>One poisoned package reaches everyone</a:t>
            </a:r>
            <a:endParaRPr lang="en-US" sz="2900" dirty="0"/>
          </a:p>
        </p:txBody>
      </p:sp>
      <p:sp>
        <p:nvSpPr>
          <p:cNvPr id="5" name="Shape 2"/>
          <p:cNvSpPr/>
          <p:nvPr/>
        </p:nvSpPr>
        <p:spPr>
          <a:xfrm>
            <a:off x="777240" y="1700784"/>
            <a:ext cx="566928" cy="50292"/>
          </a:xfrm>
          <a:prstGeom prst="rect">
            <a:avLst/>
          </a:prstGeom>
          <a:solidFill>
            <a:srgbClr val="942838"/>
          </a:solidFill>
          <a:ln/>
        </p:spPr>
      </p:sp>
      <p:sp>
        <p:nvSpPr>
          <p:cNvPr id="6" name="Shape 3"/>
          <p:cNvSpPr/>
          <p:nvPr/>
        </p:nvSpPr>
        <p:spPr>
          <a:xfrm>
            <a:off x="777240" y="6181344"/>
            <a:ext cx="10637215" cy="10973"/>
          </a:xfrm>
          <a:prstGeom prst="rect">
            <a:avLst/>
          </a:prstGeom>
          <a:solidFill>
            <a:srgbClr val="E6E4E2"/>
          </a:solidFill>
          <a:ln/>
        </p:spPr>
      </p:sp>
      <p:sp>
        <p:nvSpPr>
          <p:cNvPr id="7" name="Text 4"/>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AEGIS</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11</a:t>
            </a:r>
            <a:endParaRPr lang="en-US" sz="850" dirty="0"/>
          </a:p>
        </p:txBody>
      </p:sp>
      <p:sp>
        <p:nvSpPr>
          <p:cNvPr id="9" name="Text 6"/>
          <p:cNvSpPr txBox="1"/>
          <p:nvPr/>
        </p:nvSpPr>
        <p:spPr>
          <a:xfrm>
            <a:off x="777240" y="1975104"/>
            <a:ext cx="10424160" cy="566928"/>
          </a:xfrm>
          <a:prstGeom prst="rect">
            <a:avLst/>
          </a:prstGeom>
          <a:noFill/>
          <a:ln/>
        </p:spPr>
        <p:txBody>
          <a:bodyPr wrap="square" lIns="0" tIns="0" rIns="0" bIns="0" rtlCol="0" anchor="t"/>
          <a:lstStyle/>
          <a:p>
            <a:pPr indent="0" marL="0">
              <a:lnSpc>
                <a:spcPct val="122000"/>
              </a:lnSpc>
              <a:buNone/>
            </a:pPr>
            <a:r>
              <a:rPr lang="en-US" sz="1400" dirty="0">
                <a:solidFill>
                  <a:srgbClr val="6E7175"/>
                </a:solidFill>
                <a:latin typeface="Montserrat Medium" pitchFamily="34" charset="0"/>
                <a:ea typeface="Montserrat Medium" pitchFamily="34" charset="-122"/>
                <a:cs typeface="Montserrat Medium" pitchFamily="34" charset="-120"/>
              </a:rPr>
              <a:t>In a supply-chain attack, an attacker hides malicious code inside a legitimate, widely-used open-source package. Everyone who installs it inherits the compromise — including us. Real campaigns in 2025 and 2026 worked exactly this way, including a self-spreading family that reused each victim to infect the next.</a:t>
            </a:r>
            <a:endParaRPr lang="en-US" sz="1400" dirty="0"/>
          </a:p>
        </p:txBody>
      </p:sp>
      <p:pic>
        <p:nvPicPr>
          <p:cNvPr id="10" name="Image 1" descr="/home/user/ai/assets/gen/supply-chain.png">    </p:cNvPr>
          <p:cNvPicPr>
            <a:picLocks noChangeAspect="1"/>
          </p:cNvPicPr>
          <p:nvPr/>
        </p:nvPicPr>
        <p:blipFill>
          <a:blip r:embed="rId2"/>
          <a:stretch>
            <a:fillRect/>
          </a:stretch>
        </p:blipFill>
        <p:spPr>
          <a:xfrm>
            <a:off x="1170432" y="2798064"/>
            <a:ext cx="9875520" cy="2880360"/>
          </a:xfrm>
          <a:prstGeom prst="rect">
            <a:avLst/>
          </a:prstGeom>
        </p:spPr>
      </p:pic>
      <p:sp>
        <p:nvSpPr>
          <p:cNvPr id="11" name="Text 7"/>
          <p:cNvSpPr txBox="1"/>
          <p:nvPr/>
        </p:nvSpPr>
        <p:spPr>
          <a:xfrm>
            <a:off x="528523" y="5769864"/>
            <a:ext cx="2468880" cy="292608"/>
          </a:xfrm>
          <a:prstGeom prst="rect">
            <a:avLst/>
          </a:prstGeom>
          <a:noFill/>
          <a:ln/>
        </p:spPr>
        <p:txBody>
          <a:bodyPr wrap="square" lIns="0" tIns="0" rIns="0" bIns="0" rtlCol="0" anchor="t"/>
          <a:lstStyle/>
          <a:p>
            <a:pPr algn="ctr" indent="0" marL="0">
              <a:lnSpc>
                <a:spcPct val="115000"/>
              </a:lnSpc>
              <a:buNone/>
            </a:pPr>
            <a:r>
              <a:rPr lang="en-US" sz="950" spc="30" kern="0" dirty="0">
                <a:solidFill>
                  <a:srgbClr val="43464A"/>
                </a:solidFill>
                <a:latin typeface="Montserrat Medium" pitchFamily="34" charset="0"/>
                <a:ea typeface="Montserrat Medium" pitchFamily="34" charset="-122"/>
                <a:cs typeface="Montserrat Medium" pitchFamily="34" charset="-120"/>
              </a:rPr>
              <a:t>Attacker</a:t>
            </a:r>
            <a:endParaRPr lang="en-US" sz="950" dirty="0"/>
          </a:p>
        </p:txBody>
      </p:sp>
      <p:sp>
        <p:nvSpPr>
          <p:cNvPr id="12" name="Text 8"/>
          <p:cNvSpPr txBox="1"/>
          <p:nvPr/>
        </p:nvSpPr>
        <p:spPr>
          <a:xfrm>
            <a:off x="2365370" y="5769864"/>
            <a:ext cx="2468880" cy="292608"/>
          </a:xfrm>
          <a:prstGeom prst="rect">
            <a:avLst/>
          </a:prstGeom>
          <a:noFill/>
          <a:ln/>
        </p:spPr>
        <p:txBody>
          <a:bodyPr wrap="square" lIns="0" tIns="0" rIns="0" bIns="0" rtlCol="0" anchor="t"/>
          <a:lstStyle/>
          <a:p>
            <a:pPr algn="ctr" indent="0" marL="0">
              <a:lnSpc>
                <a:spcPct val="115000"/>
              </a:lnSpc>
              <a:buNone/>
            </a:pPr>
            <a:r>
              <a:rPr lang="en-US" sz="950" spc="30" kern="0" dirty="0">
                <a:solidFill>
                  <a:srgbClr val="43464A"/>
                </a:solidFill>
                <a:latin typeface="Montserrat Medium" pitchFamily="34" charset="0"/>
                <a:ea typeface="Montserrat Medium" pitchFamily="34" charset="-122"/>
                <a:cs typeface="Montserrat Medium" pitchFamily="34" charset="-120"/>
              </a:rPr>
              <a:t>Poisoned package</a:t>
            </a:r>
            <a:endParaRPr lang="en-US" sz="950" dirty="0"/>
          </a:p>
        </p:txBody>
      </p:sp>
      <p:sp>
        <p:nvSpPr>
          <p:cNvPr id="13" name="Text 9"/>
          <p:cNvSpPr txBox="1"/>
          <p:nvPr/>
        </p:nvSpPr>
        <p:spPr>
          <a:xfrm>
            <a:off x="4587362" y="5769864"/>
            <a:ext cx="2468880" cy="292608"/>
          </a:xfrm>
          <a:prstGeom prst="rect">
            <a:avLst/>
          </a:prstGeom>
          <a:noFill/>
          <a:ln/>
        </p:spPr>
        <p:txBody>
          <a:bodyPr wrap="square" lIns="0" tIns="0" rIns="0" bIns="0" rtlCol="0" anchor="t"/>
          <a:lstStyle/>
          <a:p>
            <a:pPr algn="ctr" indent="0" marL="0">
              <a:lnSpc>
                <a:spcPct val="115000"/>
              </a:lnSpc>
              <a:buNone/>
            </a:pPr>
            <a:r>
              <a:rPr lang="en-US" sz="950" spc="30" kern="0" dirty="0">
                <a:solidFill>
                  <a:srgbClr val="43464A"/>
                </a:solidFill>
                <a:latin typeface="Montserrat Medium" pitchFamily="34" charset="0"/>
                <a:ea typeface="Montserrat Medium" pitchFamily="34" charset="-122"/>
                <a:cs typeface="Montserrat Medium" pitchFamily="34" charset="-120"/>
              </a:rPr>
              <a:t>Public registry</a:t>
            </a:r>
            <a:endParaRPr lang="en-US" sz="950" dirty="0"/>
          </a:p>
        </p:txBody>
      </p:sp>
      <p:sp>
        <p:nvSpPr>
          <p:cNvPr id="14" name="Text 10"/>
          <p:cNvSpPr txBox="1"/>
          <p:nvPr/>
        </p:nvSpPr>
        <p:spPr>
          <a:xfrm>
            <a:off x="8024043" y="5769864"/>
            <a:ext cx="2468880" cy="292608"/>
          </a:xfrm>
          <a:prstGeom prst="rect">
            <a:avLst/>
          </a:prstGeom>
          <a:noFill/>
          <a:ln/>
        </p:spPr>
        <p:txBody>
          <a:bodyPr wrap="square" lIns="0" tIns="0" rIns="0" bIns="0" rtlCol="0" anchor="t"/>
          <a:lstStyle/>
          <a:p>
            <a:pPr algn="ctr" indent="0" marL="0">
              <a:lnSpc>
                <a:spcPct val="115000"/>
              </a:lnSpc>
              <a:buNone/>
            </a:pPr>
            <a:r>
              <a:rPr lang="en-US" sz="950" spc="30" kern="0" dirty="0">
                <a:solidFill>
                  <a:srgbClr val="43464A"/>
                </a:solidFill>
                <a:latin typeface="Montserrat Medium" pitchFamily="34" charset="0"/>
                <a:ea typeface="Montserrat Medium" pitchFamily="34" charset="-122"/>
                <a:cs typeface="Montserrat Medium" pitchFamily="34" charset="-120"/>
              </a:rPr>
              <a:t>Every project that installs it</a:t>
            </a:r>
            <a:endParaRPr lang="en-US" sz="950" dirty="0"/>
          </a:p>
        </p:txBody>
      </p:sp>
      <p:sp>
        <p:nvSpPr>
          <p:cNvPr id="15" name="Shape 11"/>
          <p:cNvSpPr/>
          <p:nvPr/>
        </p:nvSpPr>
        <p:spPr>
          <a:xfrm>
            <a:off x="777240" y="5138928"/>
            <a:ext cx="10637215" cy="859536"/>
          </a:xfrm>
          <a:prstGeom prst="roundRect">
            <a:avLst>
              <a:gd name="adj" fmla="val 6383"/>
            </a:avLst>
          </a:prstGeom>
          <a:solidFill>
            <a:srgbClr val="F6EEF0"/>
          </a:solidFill>
          <a:ln/>
        </p:spPr>
      </p:sp>
      <p:sp>
        <p:nvSpPr>
          <p:cNvPr id="16" name="Shape 12"/>
          <p:cNvSpPr/>
          <p:nvPr/>
        </p:nvSpPr>
        <p:spPr>
          <a:xfrm>
            <a:off x="777240" y="5138928"/>
            <a:ext cx="50292" cy="859536"/>
          </a:xfrm>
          <a:prstGeom prst="rect">
            <a:avLst/>
          </a:prstGeom>
          <a:solidFill>
            <a:srgbClr val="942838"/>
          </a:solidFill>
          <a:ln/>
        </p:spPr>
      </p:sp>
      <p:sp>
        <p:nvSpPr>
          <p:cNvPr id="17" name="Text 13"/>
          <p:cNvSpPr txBox="1"/>
          <p:nvPr/>
        </p:nvSpPr>
        <p:spPr>
          <a:xfrm>
            <a:off x="1014984" y="5276088"/>
            <a:ext cx="7315200" cy="201168"/>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WHY EXISTING TOOLS WERE NOT ENOUGH</a:t>
            </a:r>
            <a:endParaRPr lang="en-US" sz="850" dirty="0"/>
          </a:p>
        </p:txBody>
      </p:sp>
      <p:sp>
        <p:nvSpPr>
          <p:cNvPr id="18" name="Text 14"/>
          <p:cNvSpPr txBox="1"/>
          <p:nvPr/>
        </p:nvSpPr>
        <p:spPr>
          <a:xfrm>
            <a:off x="1014984" y="5513832"/>
            <a:ext cx="10134295" cy="384048"/>
          </a:xfrm>
          <a:prstGeom prst="rect">
            <a:avLst/>
          </a:prstGeom>
          <a:noFill/>
          <a:ln/>
        </p:spPr>
        <p:txBody>
          <a:bodyPr wrap="square" lIns="0" tIns="0" rIns="0" bIns="0" rtlCol="0" anchor="t"/>
          <a:lstStyle/>
          <a:p>
            <a:pPr indent="0" marL="0">
              <a:lnSpc>
                <a:spcPct val="118000"/>
              </a:lnSpc>
              <a:buNone/>
            </a:pPr>
            <a:r>
              <a:rPr lang="en-US" sz="1100" dirty="0">
                <a:solidFill>
                  <a:srgbClr val="43464A"/>
                </a:solidFill>
                <a:latin typeface="Montserrat" pitchFamily="34" charset="0"/>
                <a:ea typeface="Montserrat" pitchFamily="34" charset="-122"/>
                <a:cs typeface="Montserrat" pitchFamily="34" charset="-120"/>
              </a:rPr>
              <a:t>Most scanners cry wolf: "you have 500 flaws." But our code never touches most of them, so nobody can tell what is urgent. AEGIS separates signal from noise by checking whether our code actually calls the vulnerable part.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home/user/ai/assets/gen/logo-red.png">    </p:cNvPr>
          <p:cNvPicPr>
            <a:picLocks noChangeAspect="1"/>
          </p:cNvPicPr>
          <p:nvPr/>
        </p:nvPicPr>
        <p:blipFill>
          <a:blip r:embed="rId1"/>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indent="0" marL="0">
              <a:buNone/>
            </a:pPr>
            <a:r>
              <a:rPr lang="en-US" sz="1000" spc="220" kern="0" dirty="0">
                <a:solidFill>
                  <a:srgbClr val="942838"/>
                </a:solidFill>
                <a:latin typeface="Montserrat SemiBold" pitchFamily="34" charset="0"/>
                <a:ea typeface="Montserrat SemiBold" pitchFamily="34" charset="-122"/>
                <a:cs typeface="Montserrat SemiBold" pitchFamily="34" charset="-120"/>
              </a:rPr>
              <a:t>PROJECT 02  ·  WHAT I BUILT</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indent="0" marL="0">
              <a:lnSpc>
                <a:spcPct val="98000"/>
              </a:lnSpc>
              <a:buNone/>
            </a:pPr>
            <a:r>
              <a:rPr lang="en-US" sz="2900" spc="-50" kern="0" dirty="0">
                <a:solidFill>
                  <a:srgbClr val="2B2D30"/>
                </a:solidFill>
                <a:latin typeface="Montserrat ExtraBold" pitchFamily="34" charset="0"/>
                <a:ea typeface="Montserrat ExtraBold" pitchFamily="34" charset="-122"/>
                <a:cs typeface="Montserrat ExtraBold" pitchFamily="34" charset="-120"/>
              </a:rPr>
              <a:t>A scanner that checks if the flaw is reachable</a:t>
            </a:r>
            <a:endParaRPr lang="en-US" sz="2900" dirty="0"/>
          </a:p>
        </p:txBody>
      </p:sp>
      <p:sp>
        <p:nvSpPr>
          <p:cNvPr id="5" name="Shape 2"/>
          <p:cNvSpPr/>
          <p:nvPr/>
        </p:nvSpPr>
        <p:spPr>
          <a:xfrm>
            <a:off x="777240" y="1700784"/>
            <a:ext cx="566928" cy="50292"/>
          </a:xfrm>
          <a:prstGeom prst="rect">
            <a:avLst/>
          </a:prstGeom>
          <a:solidFill>
            <a:srgbClr val="942838"/>
          </a:solidFill>
          <a:ln/>
        </p:spPr>
      </p:sp>
      <p:sp>
        <p:nvSpPr>
          <p:cNvPr id="6" name="Shape 3"/>
          <p:cNvSpPr/>
          <p:nvPr/>
        </p:nvSpPr>
        <p:spPr>
          <a:xfrm>
            <a:off x="777240" y="6181344"/>
            <a:ext cx="10637215" cy="10973"/>
          </a:xfrm>
          <a:prstGeom prst="rect">
            <a:avLst/>
          </a:prstGeom>
          <a:solidFill>
            <a:srgbClr val="E6E4E2"/>
          </a:solidFill>
          <a:ln/>
        </p:spPr>
      </p:sp>
      <p:sp>
        <p:nvSpPr>
          <p:cNvPr id="7" name="Text 4"/>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AEGIS</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12</a:t>
            </a:r>
            <a:endParaRPr lang="en-US" sz="850" dirty="0"/>
          </a:p>
        </p:txBody>
      </p:sp>
      <p:sp>
        <p:nvSpPr>
          <p:cNvPr id="9" name="Text 6"/>
          <p:cNvSpPr txBox="1"/>
          <p:nvPr/>
        </p:nvSpPr>
        <p:spPr>
          <a:xfrm>
            <a:off x="777240" y="2011680"/>
            <a:ext cx="3931920" cy="1133856"/>
          </a:xfrm>
          <a:prstGeom prst="rect">
            <a:avLst/>
          </a:prstGeom>
          <a:noFill/>
          <a:ln/>
        </p:spPr>
        <p:txBody>
          <a:bodyPr wrap="square" lIns="0" tIns="0" rIns="0" bIns="0" rtlCol="0" anchor="t"/>
          <a:lstStyle/>
          <a:p>
            <a:pPr algn="l" indent="0" marL="0">
              <a:buNone/>
            </a:pPr>
            <a:r>
              <a:rPr lang="en-US" sz="7200" spc="-250" kern="0" dirty="0">
                <a:solidFill>
                  <a:srgbClr val="942838"/>
                </a:solidFill>
                <a:latin typeface="Montserrat ExtraBold" pitchFamily="34" charset="0"/>
                <a:ea typeface="Montserrat ExtraBold" pitchFamily="34" charset="-122"/>
                <a:cs typeface="Montserrat ExtraBold" pitchFamily="34" charset="-120"/>
              </a:rPr>
              <a:t>5,675</a:t>
            </a:r>
            <a:endParaRPr lang="en-US" sz="7200" dirty="0"/>
          </a:p>
        </p:txBody>
      </p:sp>
      <p:sp>
        <p:nvSpPr>
          <p:cNvPr id="10" name="Text 7"/>
          <p:cNvSpPr txBox="1"/>
          <p:nvPr/>
        </p:nvSpPr>
        <p:spPr>
          <a:xfrm>
            <a:off x="777240" y="3145536"/>
            <a:ext cx="3931920" cy="457200"/>
          </a:xfrm>
          <a:prstGeom prst="rect">
            <a:avLst/>
          </a:prstGeom>
          <a:noFill/>
          <a:ln/>
        </p:spPr>
        <p:txBody>
          <a:bodyPr wrap="square" lIns="0" tIns="0" rIns="0" bIns="0" rtlCol="0" anchor="t"/>
          <a:lstStyle/>
          <a:p>
            <a:pPr algn="l" indent="0" marL="0">
              <a:lnSpc>
                <a:spcPct val="115000"/>
              </a:lnSpc>
              <a:buNone/>
            </a:pPr>
            <a:r>
              <a:rPr lang="en-US" sz="950" spc="30" kern="0" dirty="0">
                <a:solidFill>
                  <a:srgbClr val="6E7175"/>
                </a:solidFill>
                <a:latin typeface="Montserrat Medium" pitchFamily="34" charset="0"/>
                <a:ea typeface="Montserrat Medium" pitchFamily="34" charset="-122"/>
                <a:cs typeface="Montserrat Medium" pitchFamily="34" charset="-120"/>
              </a:rPr>
              <a:t>packages scanned in production</a:t>
            </a:r>
            <a:endParaRPr lang="en-US" sz="950" dirty="0"/>
          </a:p>
          <a:p>
            <a:pPr algn="l" indent="0" marL="0">
              <a:lnSpc>
                <a:spcPct val="115000"/>
              </a:lnSpc>
              <a:buNone/>
            </a:pPr>
            <a:r>
              <a:rPr lang="en-US" sz="950" spc="30" kern="0" dirty="0">
                <a:solidFill>
                  <a:srgbClr val="6E7175"/>
                </a:solidFill>
                <a:latin typeface="Montserrat Medium" pitchFamily="34" charset="0"/>
                <a:ea typeface="Montserrat Medium" pitchFamily="34" charset="-122"/>
                <a:cs typeface="Montserrat Medium" pitchFamily="34" charset="-120"/>
              </a:rPr>
              <a:t>by an earlier version of the tool</a:t>
            </a:r>
            <a:endParaRPr lang="en-US" sz="950" dirty="0"/>
          </a:p>
        </p:txBody>
      </p:sp>
      <p:sp>
        <p:nvSpPr>
          <p:cNvPr id="11" name="Shape 8"/>
          <p:cNvSpPr/>
          <p:nvPr/>
        </p:nvSpPr>
        <p:spPr>
          <a:xfrm>
            <a:off x="795528" y="3602736"/>
            <a:ext cx="109728" cy="109728"/>
          </a:xfrm>
          <a:prstGeom prst="ellipse">
            <a:avLst/>
          </a:prstGeom>
          <a:solidFill>
            <a:srgbClr val="942838"/>
          </a:solidFill>
          <a:ln/>
        </p:spPr>
      </p:sp>
      <p:sp>
        <p:nvSpPr>
          <p:cNvPr id="12" name="Text 9"/>
          <p:cNvSpPr txBox="1"/>
          <p:nvPr/>
        </p:nvSpPr>
        <p:spPr>
          <a:xfrm>
            <a:off x="1033272" y="3529584"/>
            <a:ext cx="3749040" cy="256032"/>
          </a:xfrm>
          <a:prstGeom prst="rect">
            <a:avLst/>
          </a:prstGeom>
          <a:noFill/>
          <a:ln/>
        </p:spPr>
        <p:txBody>
          <a:bodyPr wrap="square" lIns="0" tIns="0" rIns="0" bIns="0" rtlCol="0" anchor="t"/>
          <a:lstStyle/>
          <a:p>
            <a:pPr indent="0" marL="0">
              <a:buNone/>
            </a:pPr>
            <a:r>
              <a:rPr lang="en-US" sz="1250" dirty="0">
                <a:solidFill>
                  <a:srgbClr val="2B2D30"/>
                </a:solidFill>
                <a:latin typeface="Montserrat SemiBold" pitchFamily="34" charset="0"/>
                <a:ea typeface="Montserrat SemiBold" pitchFamily="34" charset="-122"/>
                <a:cs typeface="Montserrat SemiBold" pitchFamily="34" charset="-120"/>
              </a:rPr>
              <a:t>Reachability, not just presence</a:t>
            </a:r>
            <a:endParaRPr lang="en-US" sz="1250" dirty="0"/>
          </a:p>
        </p:txBody>
      </p:sp>
      <p:sp>
        <p:nvSpPr>
          <p:cNvPr id="13" name="Text 10"/>
          <p:cNvSpPr txBox="1"/>
          <p:nvPr/>
        </p:nvSpPr>
        <p:spPr>
          <a:xfrm>
            <a:off x="1033272" y="3785616"/>
            <a:ext cx="3703320" cy="548640"/>
          </a:xfrm>
          <a:prstGeom prst="rect">
            <a:avLst/>
          </a:prstGeom>
          <a:noFill/>
          <a:ln/>
        </p:spPr>
        <p:txBody>
          <a:bodyPr wrap="square" lIns="0" tIns="0" rIns="0" bIns="0" rtlCol="0" anchor="t"/>
          <a:lstStyle/>
          <a:p>
            <a:pPr indent="0" marL="0">
              <a:lnSpc>
                <a:spcPct val="120000"/>
              </a:lnSpc>
              <a:buNone/>
            </a:pPr>
            <a:r>
              <a:rPr lang="en-US" sz="1100" dirty="0">
                <a:solidFill>
                  <a:srgbClr val="6E7175"/>
                </a:solidFill>
                <a:latin typeface="Montserrat" pitchFamily="34" charset="0"/>
                <a:ea typeface="Montserrat" pitchFamily="34" charset="-122"/>
                <a:cs typeface="Montserrat" pitchFamily="34" charset="-120"/>
              </a:rPr>
              <a:t>Not "you have a flawed package" but "your code actually calls the flawed part".</a:t>
            </a:r>
            <a:endParaRPr lang="en-US" sz="1100" dirty="0"/>
          </a:p>
        </p:txBody>
      </p:sp>
      <p:sp>
        <p:nvSpPr>
          <p:cNvPr id="14" name="Shape 11"/>
          <p:cNvSpPr/>
          <p:nvPr/>
        </p:nvSpPr>
        <p:spPr>
          <a:xfrm>
            <a:off x="795528" y="4370832"/>
            <a:ext cx="109728" cy="109728"/>
          </a:xfrm>
          <a:prstGeom prst="ellipse">
            <a:avLst/>
          </a:prstGeom>
          <a:solidFill>
            <a:srgbClr val="942838"/>
          </a:solidFill>
          <a:ln/>
        </p:spPr>
      </p:sp>
      <p:sp>
        <p:nvSpPr>
          <p:cNvPr id="15" name="Text 12"/>
          <p:cNvSpPr txBox="1"/>
          <p:nvPr/>
        </p:nvSpPr>
        <p:spPr>
          <a:xfrm>
            <a:off x="1033272" y="4297680"/>
            <a:ext cx="3749040" cy="256032"/>
          </a:xfrm>
          <a:prstGeom prst="rect">
            <a:avLst/>
          </a:prstGeom>
          <a:noFill/>
          <a:ln/>
        </p:spPr>
        <p:txBody>
          <a:bodyPr wrap="square" lIns="0" tIns="0" rIns="0" bIns="0" rtlCol="0" anchor="t"/>
          <a:lstStyle/>
          <a:p>
            <a:pPr indent="0" marL="0">
              <a:buNone/>
            </a:pPr>
            <a:r>
              <a:rPr lang="en-US" sz="1250" dirty="0">
                <a:solidFill>
                  <a:srgbClr val="2B2D30"/>
                </a:solidFill>
                <a:latin typeface="Montserrat SemiBold" pitchFamily="34" charset="0"/>
                <a:ea typeface="Montserrat SemiBold" pitchFamily="34" charset="-122"/>
                <a:cs typeface="Montserrat SemiBold" pitchFamily="34" charset="-120"/>
              </a:rPr>
              <a:t>Three honest answers</a:t>
            </a:r>
            <a:endParaRPr lang="en-US" sz="1250" dirty="0"/>
          </a:p>
        </p:txBody>
      </p:sp>
      <p:sp>
        <p:nvSpPr>
          <p:cNvPr id="16" name="Text 13"/>
          <p:cNvSpPr txBox="1"/>
          <p:nvPr/>
        </p:nvSpPr>
        <p:spPr>
          <a:xfrm>
            <a:off x="1033272" y="4553712"/>
            <a:ext cx="3703320" cy="548640"/>
          </a:xfrm>
          <a:prstGeom prst="rect">
            <a:avLst/>
          </a:prstGeom>
          <a:noFill/>
          <a:ln/>
        </p:spPr>
        <p:txBody>
          <a:bodyPr wrap="square" lIns="0" tIns="0" rIns="0" bIns="0" rtlCol="0" anchor="t"/>
          <a:lstStyle/>
          <a:p>
            <a:pPr indent="0" marL="0">
              <a:lnSpc>
                <a:spcPct val="120000"/>
              </a:lnSpc>
              <a:buNone/>
            </a:pPr>
            <a:r>
              <a:rPr lang="en-US" sz="1100" dirty="0">
                <a:solidFill>
                  <a:srgbClr val="6E7175"/>
                </a:solidFill>
                <a:latin typeface="Montserrat" pitchFamily="34" charset="0"/>
                <a:ea typeface="Montserrat" pitchFamily="34" charset="-122"/>
                <a:cs typeface="Montserrat" pitchFamily="34" charset="-120"/>
              </a:rPr>
              <a:t>Reachable, no call site found, or can't prove. They are never collapsed together into a single "safe".</a:t>
            </a:r>
            <a:endParaRPr lang="en-US" sz="1100" dirty="0"/>
          </a:p>
        </p:txBody>
      </p:sp>
      <p:sp>
        <p:nvSpPr>
          <p:cNvPr id="17" name="Shape 14"/>
          <p:cNvSpPr/>
          <p:nvPr/>
        </p:nvSpPr>
        <p:spPr>
          <a:xfrm>
            <a:off x="795528" y="5138928"/>
            <a:ext cx="109728" cy="109728"/>
          </a:xfrm>
          <a:prstGeom prst="ellipse">
            <a:avLst/>
          </a:prstGeom>
          <a:solidFill>
            <a:srgbClr val="942838"/>
          </a:solidFill>
          <a:ln/>
        </p:spPr>
      </p:sp>
      <p:sp>
        <p:nvSpPr>
          <p:cNvPr id="18" name="Text 15"/>
          <p:cNvSpPr txBox="1"/>
          <p:nvPr/>
        </p:nvSpPr>
        <p:spPr>
          <a:xfrm>
            <a:off x="1033272" y="5065776"/>
            <a:ext cx="3749040" cy="256032"/>
          </a:xfrm>
          <a:prstGeom prst="rect">
            <a:avLst/>
          </a:prstGeom>
          <a:noFill/>
          <a:ln/>
        </p:spPr>
        <p:txBody>
          <a:bodyPr wrap="square" lIns="0" tIns="0" rIns="0" bIns="0" rtlCol="0" anchor="t"/>
          <a:lstStyle/>
          <a:p>
            <a:pPr indent="0" marL="0">
              <a:buNone/>
            </a:pPr>
            <a:r>
              <a:rPr lang="en-US" sz="1250" dirty="0">
                <a:solidFill>
                  <a:srgbClr val="2B2D30"/>
                </a:solidFill>
                <a:latin typeface="Montserrat SemiBold" pitchFamily="34" charset="0"/>
                <a:ea typeface="Montserrat SemiBold" pitchFamily="34" charset="-122"/>
                <a:cs typeface="Montserrat SemiBold" pitchFamily="34" charset="-120"/>
              </a:rPr>
              <a:t>Unknown is never "safe"</a:t>
            </a:r>
            <a:endParaRPr lang="en-US" sz="1250" dirty="0"/>
          </a:p>
        </p:txBody>
      </p:sp>
      <p:sp>
        <p:nvSpPr>
          <p:cNvPr id="19" name="Text 16"/>
          <p:cNvSpPr txBox="1"/>
          <p:nvPr/>
        </p:nvSpPr>
        <p:spPr>
          <a:xfrm>
            <a:off x="1033272" y="5321808"/>
            <a:ext cx="3703320" cy="548640"/>
          </a:xfrm>
          <a:prstGeom prst="rect">
            <a:avLst/>
          </a:prstGeom>
          <a:noFill/>
          <a:ln/>
        </p:spPr>
        <p:txBody>
          <a:bodyPr wrap="square" lIns="0" tIns="0" rIns="0" bIns="0" rtlCol="0" anchor="t"/>
          <a:lstStyle/>
          <a:p>
            <a:pPr indent="0" marL="0">
              <a:lnSpc>
                <a:spcPct val="120000"/>
              </a:lnSpc>
              <a:buNone/>
            </a:pPr>
            <a:r>
              <a:rPr lang="en-US" sz="1100" dirty="0">
                <a:solidFill>
                  <a:srgbClr val="6E7175"/>
                </a:solidFill>
                <a:latin typeface="Montserrat" pitchFamily="34" charset="0"/>
                <a:ea typeface="Montserrat" pitchFamily="34" charset="-122"/>
                <a:cs typeface="Montserrat" pitchFamily="34" charset="-120"/>
              </a:rPr>
              <a:t>If the tool cannot tell, it says so. It never reports a clean result it has not earned.</a:t>
            </a:r>
            <a:endParaRPr lang="en-US" sz="1100" dirty="0"/>
          </a:p>
        </p:txBody>
      </p:sp>
      <p:sp>
        <p:nvSpPr>
          <p:cNvPr id="20" name="Shape 17"/>
          <p:cNvSpPr/>
          <p:nvPr/>
        </p:nvSpPr>
        <p:spPr>
          <a:xfrm>
            <a:off x="5175504" y="2066544"/>
            <a:ext cx="6238951" cy="3035808"/>
          </a:xfrm>
          <a:prstGeom prst="roundRect">
            <a:avLst>
              <a:gd name="adj" fmla="val 1807"/>
            </a:avLst>
          </a:prstGeom>
          <a:solidFill>
            <a:srgbClr val="FFFFFF"/>
          </a:solidFill>
          <a:ln w="9525">
            <a:solidFill>
              <a:srgbClr val="E6E4E2"/>
            </a:solidFill>
            <a:prstDash val="solid"/>
          </a:ln>
          <a:effectLst>
            <a:outerShdw sx="100000" sy="100000" kx="0" ky="0" algn="bl" rotWithShape="0" blurRad="1.528147394302751e+42" dist="3.8203684857568774e+41" dir="5.44195584e+49">
              <a:srgbClr val="959092">
                <a:alpha val="2.2e+49"/>
              </a:srgbClr>
            </a:outerShdw>
          </a:effectLst>
        </p:spPr>
      </p:sp>
      <p:sp>
        <p:nvSpPr>
          <p:cNvPr id="21" name="Text 18"/>
          <p:cNvSpPr txBox="1"/>
          <p:nvPr/>
        </p:nvSpPr>
        <p:spPr>
          <a:xfrm>
            <a:off x="5486400" y="2322576"/>
            <a:ext cx="5617159" cy="219456"/>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PACKAGES SCANNED PER RUN  ·  EARLIER VERSION</a:t>
            </a:r>
            <a:endParaRPr lang="en-US" sz="850" dirty="0"/>
          </a:p>
        </p:txBody>
      </p:sp>
      <p:pic>
        <p:nvPicPr>
          <p:cNvPr id="22" name="Image 1" descr="/home/user/ai/assets/gen/chart-packages.png">    </p:cNvPr>
          <p:cNvPicPr>
            <a:picLocks noChangeAspect="1"/>
          </p:cNvPicPr>
          <p:nvPr/>
        </p:nvPicPr>
        <p:blipFill>
          <a:blip r:embed="rId2"/>
          <a:stretch>
            <a:fillRect/>
          </a:stretch>
        </p:blipFill>
        <p:spPr>
          <a:xfrm>
            <a:off x="6164428" y="2578608"/>
            <a:ext cx="4261104" cy="2410888"/>
          </a:xfrm>
          <a:prstGeom prst="rect">
            <a:avLst/>
          </a:prstGeom>
        </p:spPr>
      </p:pic>
      <p:sp>
        <p:nvSpPr>
          <p:cNvPr id="23" name="Shape 19"/>
          <p:cNvSpPr/>
          <p:nvPr/>
        </p:nvSpPr>
        <p:spPr>
          <a:xfrm>
            <a:off x="5175504" y="5266944"/>
            <a:ext cx="6238951" cy="877824"/>
          </a:xfrm>
          <a:prstGeom prst="roundRect">
            <a:avLst>
              <a:gd name="adj" fmla="val 6250"/>
            </a:avLst>
          </a:prstGeom>
          <a:solidFill>
            <a:srgbClr val="F6EEF0"/>
          </a:solidFill>
          <a:ln/>
        </p:spPr>
      </p:sp>
      <p:sp>
        <p:nvSpPr>
          <p:cNvPr id="24" name="Shape 20"/>
          <p:cNvSpPr/>
          <p:nvPr/>
        </p:nvSpPr>
        <p:spPr>
          <a:xfrm>
            <a:off x="5175504" y="5266944"/>
            <a:ext cx="50292" cy="877824"/>
          </a:xfrm>
          <a:prstGeom prst="rect">
            <a:avLst/>
          </a:prstGeom>
          <a:solidFill>
            <a:srgbClr val="942838"/>
          </a:solidFill>
          <a:ln/>
        </p:spPr>
      </p:sp>
      <p:sp>
        <p:nvSpPr>
          <p:cNvPr id="25" name="Text 21"/>
          <p:cNvSpPr txBox="1"/>
          <p:nvPr/>
        </p:nvSpPr>
        <p:spPr>
          <a:xfrm>
            <a:off x="5413248" y="5394960"/>
            <a:ext cx="3657600" cy="201168"/>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IN PRACTICE</a:t>
            </a:r>
            <a:endParaRPr lang="en-US" sz="850" dirty="0"/>
          </a:p>
        </p:txBody>
      </p:sp>
      <p:sp>
        <p:nvSpPr>
          <p:cNvPr id="26" name="Text 22"/>
          <p:cNvSpPr txBox="1"/>
          <p:nvPr/>
        </p:nvSpPr>
        <p:spPr>
          <a:xfrm>
            <a:off x="5413248" y="5614416"/>
            <a:ext cx="5781751" cy="457200"/>
          </a:xfrm>
          <a:prstGeom prst="rect">
            <a:avLst/>
          </a:prstGeom>
          <a:noFill/>
          <a:ln/>
        </p:spPr>
        <p:txBody>
          <a:bodyPr wrap="square" lIns="0" tIns="0" rIns="0" bIns="0" rtlCol="0" anchor="t"/>
          <a:lstStyle/>
          <a:p>
            <a:pPr indent="0" marL="0">
              <a:lnSpc>
                <a:spcPct val="120000"/>
              </a:lnSpc>
              <a:buNone/>
            </a:pPr>
            <a:r>
              <a:rPr lang="en-US" sz="1000" dirty="0">
                <a:solidFill>
                  <a:srgbClr val="43464A"/>
                </a:solidFill>
                <a:latin typeface="Montserrat" pitchFamily="34" charset="0"/>
                <a:ea typeface="Montserrat" pitchFamily="34" charset="-122"/>
                <a:cs typeface="Montserrat" pitchFamily="34" charset="-120"/>
              </a:rPr>
              <a:t>A package we use has a known flaw. AEGIS answers three things: does our code actually call it, how much would be affected, and how risky is the fix. Then the team decides whether it is urgent — instead of guessing.</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home/user/ai/assets/gen/logo-red.png">    </p:cNvPr>
          <p:cNvPicPr>
            <a:picLocks noChangeAspect="1"/>
          </p:cNvPicPr>
          <p:nvPr/>
        </p:nvPicPr>
        <p:blipFill>
          <a:blip r:embed="rId1"/>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indent="0" marL="0">
              <a:buNone/>
            </a:pPr>
            <a:r>
              <a:rPr lang="en-US" sz="1000" spc="220" kern="0" dirty="0">
                <a:solidFill>
                  <a:srgbClr val="942838"/>
                </a:solidFill>
                <a:latin typeface="Montserrat SemiBold" pitchFamily="34" charset="0"/>
                <a:ea typeface="Montserrat SemiBold" pitchFamily="34" charset="-122"/>
                <a:cs typeface="Montserrat SemiBold" pitchFamily="34" charset="-120"/>
              </a:rPr>
              <a:t>PROJECT 02  ·  HOW IT WORKS</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indent="0" marL="0">
              <a:lnSpc>
                <a:spcPct val="98000"/>
              </a:lnSpc>
              <a:buNone/>
            </a:pPr>
            <a:r>
              <a:rPr lang="en-US" sz="2900" spc="-50" kern="0" dirty="0">
                <a:solidFill>
                  <a:srgbClr val="2B2D30"/>
                </a:solidFill>
                <a:latin typeface="Montserrat ExtraBold" pitchFamily="34" charset="0"/>
                <a:ea typeface="Montserrat ExtraBold" pitchFamily="34" charset="-122"/>
                <a:cs typeface="Montserrat ExtraBold" pitchFamily="34" charset="-120"/>
              </a:rPr>
              <a:t>Five stages. Only one can change anything</a:t>
            </a:r>
            <a:endParaRPr lang="en-US" sz="2900" dirty="0"/>
          </a:p>
        </p:txBody>
      </p:sp>
      <p:sp>
        <p:nvSpPr>
          <p:cNvPr id="5" name="Shape 2"/>
          <p:cNvSpPr/>
          <p:nvPr/>
        </p:nvSpPr>
        <p:spPr>
          <a:xfrm>
            <a:off x="777240" y="1700784"/>
            <a:ext cx="566928" cy="50292"/>
          </a:xfrm>
          <a:prstGeom prst="rect">
            <a:avLst/>
          </a:prstGeom>
          <a:solidFill>
            <a:srgbClr val="942838"/>
          </a:solidFill>
          <a:ln/>
        </p:spPr>
      </p:sp>
      <p:sp>
        <p:nvSpPr>
          <p:cNvPr id="6" name="Shape 3"/>
          <p:cNvSpPr/>
          <p:nvPr/>
        </p:nvSpPr>
        <p:spPr>
          <a:xfrm>
            <a:off x="777240" y="6181344"/>
            <a:ext cx="10637215" cy="10973"/>
          </a:xfrm>
          <a:prstGeom prst="rect">
            <a:avLst/>
          </a:prstGeom>
          <a:solidFill>
            <a:srgbClr val="E6E4E2"/>
          </a:solidFill>
          <a:ln/>
        </p:spPr>
      </p:sp>
      <p:sp>
        <p:nvSpPr>
          <p:cNvPr id="7" name="Text 4"/>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AEGIS</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13</a:t>
            </a:r>
            <a:endParaRPr lang="en-US" sz="850" dirty="0"/>
          </a:p>
        </p:txBody>
      </p:sp>
      <p:sp>
        <p:nvSpPr>
          <p:cNvPr id="9" name="Shape 6"/>
          <p:cNvSpPr/>
          <p:nvPr/>
        </p:nvSpPr>
        <p:spPr>
          <a:xfrm>
            <a:off x="777240" y="1865376"/>
            <a:ext cx="10637215" cy="530352"/>
          </a:xfrm>
          <a:prstGeom prst="roundRect">
            <a:avLst>
              <a:gd name="adj" fmla="val 10345"/>
            </a:avLst>
          </a:prstGeom>
          <a:solidFill>
            <a:srgbClr val="F6EEF0"/>
          </a:solidFill>
          <a:ln/>
        </p:spPr>
      </p:sp>
      <p:sp>
        <p:nvSpPr>
          <p:cNvPr id="10" name="Shape 7"/>
          <p:cNvSpPr/>
          <p:nvPr/>
        </p:nvSpPr>
        <p:spPr>
          <a:xfrm>
            <a:off x="777240" y="1865376"/>
            <a:ext cx="50292" cy="530352"/>
          </a:xfrm>
          <a:prstGeom prst="rect">
            <a:avLst/>
          </a:prstGeom>
          <a:solidFill>
            <a:srgbClr val="942838"/>
          </a:solidFill>
          <a:ln/>
        </p:spPr>
      </p:sp>
      <p:sp>
        <p:nvSpPr>
          <p:cNvPr id="11" name="Text 8"/>
          <p:cNvSpPr txBox="1"/>
          <p:nvPr/>
        </p:nvSpPr>
        <p:spPr>
          <a:xfrm>
            <a:off x="1014984" y="2039112"/>
            <a:ext cx="10180015" cy="274320"/>
          </a:xfrm>
          <a:prstGeom prst="rect">
            <a:avLst/>
          </a:prstGeom>
          <a:noFill/>
          <a:ln/>
        </p:spPr>
        <p:txBody>
          <a:bodyPr wrap="square" lIns="0" tIns="0" rIns="0" bIns="0" rtlCol="0" anchor="t"/>
          <a:lstStyle/>
          <a:p>
            <a:pPr indent="0" marL="0">
              <a:buNone/>
            </a:pPr>
            <a:r>
              <a:rPr lang="en-US" sz="900" spc="140" kern="0" dirty="0">
                <a:solidFill>
                  <a:srgbClr val="942838"/>
                </a:solidFill>
                <a:latin typeface="Montserrat SemiBold" pitchFamily="34" charset="0"/>
                <a:ea typeface="Montserrat SemiBold" pitchFamily="34" charset="-122"/>
                <a:cs typeface="Montserrat SemiBold" pitchFamily="34" charset="-120"/>
              </a:rPr>
              <a:t>THE CORE RULE   </a:t>
            </a:r>
            <a:pPr indent="0" marL="0">
              <a:buNone/>
            </a:pPr>
            <a:r>
              <a:rPr lang="en-US" sz="1250" dirty="0">
                <a:solidFill>
                  <a:srgbClr val="2B2D30"/>
                </a:solidFill>
                <a:latin typeface="Montserrat SemiBold" pitchFamily="34" charset="0"/>
                <a:ea typeface="Montserrat SemiBold" pitchFamily="34" charset="-122"/>
                <a:cs typeface="Montserrat SemiBold" pitchFamily="34" charset="-120"/>
              </a:rPr>
              <a:t>Unknown is never reported as safe. If AEGIS cannot tell, it says so.</a:t>
            </a:r>
            <a:endParaRPr lang="en-US" sz="900" dirty="0"/>
          </a:p>
        </p:txBody>
      </p:sp>
      <p:sp>
        <p:nvSpPr>
          <p:cNvPr id="12" name="Text 9"/>
          <p:cNvSpPr txBox="1"/>
          <p:nvPr/>
        </p:nvSpPr>
        <p:spPr>
          <a:xfrm>
            <a:off x="777240" y="2596896"/>
            <a:ext cx="82296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STAGES 00–03   ·   RUN AUTOMATICALLY, READ ONLY — NOTHING IS CHANGED</a:t>
            </a:r>
            <a:endParaRPr lang="en-US" sz="850" dirty="0"/>
          </a:p>
        </p:txBody>
      </p:sp>
      <p:sp>
        <p:nvSpPr>
          <p:cNvPr id="13" name="Shape 10"/>
          <p:cNvSpPr/>
          <p:nvPr/>
        </p:nvSpPr>
        <p:spPr>
          <a:xfrm>
            <a:off x="777240" y="2798064"/>
            <a:ext cx="2412416" cy="1737360"/>
          </a:xfrm>
          <a:prstGeom prst="roundRect">
            <a:avLst>
              <a:gd name="adj" fmla="val 3158"/>
            </a:avLst>
          </a:prstGeom>
          <a:solidFill>
            <a:srgbClr val="FFFFFF"/>
          </a:solidFill>
          <a:ln w="9525">
            <a:solidFill>
              <a:srgbClr val="E6E4E2"/>
            </a:solidFill>
            <a:prstDash val="solid"/>
          </a:ln>
          <a:effectLst>
            <a:outerShdw sx="100000" sy="100000" kx="0" ky="0" algn="bl" rotWithShape="0" blurRad="1.9407471907644937e+46" dist="4.851867976911234e+45" dir="3.2651735040000005e+54">
              <a:srgbClr val="959092">
                <a:alpha val="2.2e+54"/>
              </a:srgbClr>
            </a:outerShdw>
          </a:effectLst>
        </p:spPr>
      </p:sp>
      <p:sp>
        <p:nvSpPr>
          <p:cNvPr id="14" name="Shape 11"/>
          <p:cNvSpPr/>
          <p:nvPr/>
        </p:nvSpPr>
        <p:spPr>
          <a:xfrm>
            <a:off x="777240" y="2798064"/>
            <a:ext cx="2412416" cy="45720"/>
          </a:xfrm>
          <a:prstGeom prst="rect">
            <a:avLst/>
          </a:prstGeom>
          <a:solidFill>
            <a:srgbClr val="942838"/>
          </a:solidFill>
          <a:ln/>
        </p:spPr>
      </p:sp>
      <p:sp>
        <p:nvSpPr>
          <p:cNvPr id="15" name="Text 12"/>
          <p:cNvSpPr txBox="1"/>
          <p:nvPr/>
        </p:nvSpPr>
        <p:spPr>
          <a:xfrm>
            <a:off x="996696" y="2962656"/>
            <a:ext cx="914400" cy="219456"/>
          </a:xfrm>
          <a:prstGeom prst="rect">
            <a:avLst/>
          </a:prstGeom>
          <a:noFill/>
          <a:ln/>
        </p:spPr>
        <p:txBody>
          <a:bodyPr wrap="square" lIns="0" tIns="0" rIns="0" bIns="0" rtlCol="0" anchor="t"/>
          <a:lstStyle/>
          <a:p>
            <a:pPr indent="0" marL="0">
              <a:buNone/>
            </a:pPr>
            <a:r>
              <a:rPr lang="en-US" sz="1300" spc="40" kern="0" dirty="0">
                <a:solidFill>
                  <a:srgbClr val="DFBEC4"/>
                </a:solidFill>
                <a:latin typeface="Montserrat ExtraBold" pitchFamily="34" charset="0"/>
                <a:ea typeface="Montserrat ExtraBold" pitchFamily="34" charset="-122"/>
                <a:cs typeface="Montserrat ExtraBold" pitchFamily="34" charset="-120"/>
              </a:rPr>
              <a:t>00</a:t>
            </a:r>
            <a:endParaRPr lang="en-US" sz="1300" dirty="0"/>
          </a:p>
        </p:txBody>
      </p:sp>
      <p:sp>
        <p:nvSpPr>
          <p:cNvPr id="16" name="Text 13"/>
          <p:cNvSpPr txBox="1"/>
          <p:nvPr/>
        </p:nvSpPr>
        <p:spPr>
          <a:xfrm>
            <a:off x="996696" y="3200400"/>
            <a:ext cx="1973504" cy="274320"/>
          </a:xfrm>
          <a:prstGeom prst="rect">
            <a:avLst/>
          </a:prstGeom>
          <a:noFill/>
          <a:ln/>
        </p:spPr>
        <p:txBody>
          <a:bodyPr wrap="square" lIns="0" tIns="0" rIns="0" bIns="0" rtlCol="0" anchor="t"/>
          <a:lstStyle/>
          <a:p>
            <a:pPr indent="0" marL="0">
              <a:buNone/>
            </a:pPr>
            <a:r>
              <a:rPr lang="en-US" sz="1600" spc="30" kern="0" dirty="0">
                <a:solidFill>
                  <a:srgbClr val="2B2D30"/>
                </a:solidFill>
                <a:latin typeface="Montserrat ExtraBold" pitchFamily="34" charset="0"/>
                <a:ea typeface="Montserrat ExtraBold" pitchFamily="34" charset="-122"/>
                <a:cs typeface="Montserrat ExtraBold" pitchFamily="34" charset="-120"/>
              </a:rPr>
              <a:t>SCAN</a:t>
            </a:r>
            <a:endParaRPr lang="en-US" sz="1600" dirty="0"/>
          </a:p>
        </p:txBody>
      </p:sp>
      <p:sp>
        <p:nvSpPr>
          <p:cNvPr id="17" name="Text 14"/>
          <p:cNvSpPr txBox="1"/>
          <p:nvPr/>
        </p:nvSpPr>
        <p:spPr>
          <a:xfrm>
            <a:off x="996696" y="3529584"/>
            <a:ext cx="1973504" cy="713232"/>
          </a:xfrm>
          <a:prstGeom prst="rect">
            <a:avLst/>
          </a:prstGeom>
          <a:noFill/>
          <a:ln/>
        </p:spPr>
        <p:txBody>
          <a:bodyPr wrap="square" lIns="0" tIns="0" rIns="0" bIns="0" rtlCol="0" anchor="t"/>
          <a:lstStyle/>
          <a:p>
            <a:pPr indent="0" marL="0">
              <a:lnSpc>
                <a:spcPct val="118000"/>
              </a:lnSpc>
              <a:buNone/>
            </a:pPr>
            <a:r>
              <a:rPr lang="en-US" sz="950" dirty="0">
                <a:solidFill>
                  <a:srgbClr val="6E7175"/>
                </a:solidFill>
                <a:latin typeface="Montserrat" pitchFamily="34" charset="0"/>
                <a:ea typeface="Montserrat" pitchFamily="34" charset="-122"/>
                <a:cs typeface="Montserrat" pitchFamily="34" charset="-120"/>
              </a:rPr>
              <a:t>Checks every package version the project installs — its "lockfile" — against public records of known flaws.</a:t>
            </a:r>
            <a:endParaRPr lang="en-US" sz="950" dirty="0"/>
          </a:p>
        </p:txBody>
      </p:sp>
      <p:sp>
        <p:nvSpPr>
          <p:cNvPr id="18" name="Text 15"/>
          <p:cNvSpPr txBox="1"/>
          <p:nvPr/>
        </p:nvSpPr>
        <p:spPr>
          <a:xfrm>
            <a:off x="996696" y="4261104"/>
            <a:ext cx="1973504" cy="201168"/>
          </a:xfrm>
          <a:prstGeom prst="rect">
            <a:avLst/>
          </a:prstGeom>
          <a:noFill/>
          <a:ln/>
        </p:spPr>
        <p:txBody>
          <a:bodyPr wrap="square" lIns="0" tIns="0" rIns="0" bIns="0" rtlCol="0" anchor="t"/>
          <a:lstStyle/>
          <a:p>
            <a:pPr indent="0" marL="0">
              <a:buNone/>
            </a:pPr>
            <a:r>
              <a:rPr lang="en-US" sz="850" spc="60" kern="0" dirty="0">
                <a:solidFill>
                  <a:srgbClr val="942838"/>
                </a:solidFill>
                <a:latin typeface="Montserrat SemiBold" pitchFamily="34" charset="0"/>
                <a:ea typeface="Montserrat SemiBold" pitchFamily="34" charset="-122"/>
                <a:cs typeface="Montserrat SemiBold" pitchFamily="34" charset="-120"/>
              </a:rPr>
              <a:t>Checks public flaw records</a:t>
            </a:r>
            <a:endParaRPr lang="en-US" sz="850" dirty="0"/>
          </a:p>
        </p:txBody>
      </p:sp>
      <p:sp>
        <p:nvSpPr>
          <p:cNvPr id="19" name="Shape 16"/>
          <p:cNvSpPr/>
          <p:nvPr/>
        </p:nvSpPr>
        <p:spPr>
          <a:xfrm>
            <a:off x="3235376" y="3656686"/>
            <a:ext cx="146304" cy="20117"/>
          </a:xfrm>
          <a:prstGeom prst="rect">
            <a:avLst/>
          </a:prstGeom>
          <a:solidFill>
            <a:srgbClr val="43464A"/>
          </a:solidFill>
          <a:ln/>
        </p:spPr>
      </p:sp>
      <p:sp>
        <p:nvSpPr>
          <p:cNvPr id="20" name="Shape 17"/>
          <p:cNvSpPr/>
          <p:nvPr/>
        </p:nvSpPr>
        <p:spPr>
          <a:xfrm rot="5400000">
            <a:off x="3381680" y="3607308"/>
            <a:ext cx="91440" cy="118872"/>
          </a:xfrm>
          <a:prstGeom prst="triangle">
            <a:avLst/>
          </a:prstGeom>
          <a:solidFill>
            <a:srgbClr val="43464A"/>
          </a:solidFill>
          <a:ln/>
        </p:spPr>
      </p:sp>
      <p:sp>
        <p:nvSpPr>
          <p:cNvPr id="21" name="Shape 18"/>
          <p:cNvSpPr/>
          <p:nvPr/>
        </p:nvSpPr>
        <p:spPr>
          <a:xfrm>
            <a:off x="3518840" y="2798064"/>
            <a:ext cx="2412416" cy="1737360"/>
          </a:xfrm>
          <a:prstGeom prst="roundRect">
            <a:avLst>
              <a:gd name="adj" fmla="val 3158"/>
            </a:avLst>
          </a:prstGeom>
          <a:solidFill>
            <a:srgbClr val="FFFFFF"/>
          </a:solidFill>
          <a:ln w="9525">
            <a:solidFill>
              <a:srgbClr val="E6E4E2"/>
            </a:solidFill>
            <a:prstDash val="solid"/>
          </a:ln>
          <a:effectLst>
            <a:outerShdw sx="100000" sy="100000" kx="0" ky="0" algn="bl" rotWithShape="0" blurRad="2.464748932270907e+50" dist="6.161872330677268e+49" dir="1.9591041024000004e+59">
              <a:srgbClr val="959092">
                <a:alpha val="2.2e+59"/>
              </a:srgbClr>
            </a:outerShdw>
          </a:effectLst>
        </p:spPr>
      </p:sp>
      <p:sp>
        <p:nvSpPr>
          <p:cNvPr id="22" name="Shape 19"/>
          <p:cNvSpPr/>
          <p:nvPr/>
        </p:nvSpPr>
        <p:spPr>
          <a:xfrm>
            <a:off x="3518840" y="2798064"/>
            <a:ext cx="2412416" cy="45720"/>
          </a:xfrm>
          <a:prstGeom prst="rect">
            <a:avLst/>
          </a:prstGeom>
          <a:solidFill>
            <a:srgbClr val="942838"/>
          </a:solidFill>
          <a:ln/>
        </p:spPr>
      </p:sp>
      <p:sp>
        <p:nvSpPr>
          <p:cNvPr id="23" name="Text 20"/>
          <p:cNvSpPr txBox="1"/>
          <p:nvPr/>
        </p:nvSpPr>
        <p:spPr>
          <a:xfrm>
            <a:off x="3738296" y="2962656"/>
            <a:ext cx="914400" cy="219456"/>
          </a:xfrm>
          <a:prstGeom prst="rect">
            <a:avLst/>
          </a:prstGeom>
          <a:noFill/>
          <a:ln/>
        </p:spPr>
        <p:txBody>
          <a:bodyPr wrap="square" lIns="0" tIns="0" rIns="0" bIns="0" rtlCol="0" anchor="t"/>
          <a:lstStyle/>
          <a:p>
            <a:pPr indent="0" marL="0">
              <a:buNone/>
            </a:pPr>
            <a:r>
              <a:rPr lang="en-US" sz="1300" spc="40" kern="0" dirty="0">
                <a:solidFill>
                  <a:srgbClr val="DFBEC4"/>
                </a:solidFill>
                <a:latin typeface="Montserrat ExtraBold" pitchFamily="34" charset="0"/>
                <a:ea typeface="Montserrat ExtraBold" pitchFamily="34" charset="-122"/>
                <a:cs typeface="Montserrat ExtraBold" pitchFamily="34" charset="-120"/>
              </a:rPr>
              <a:t>01</a:t>
            </a:r>
            <a:endParaRPr lang="en-US" sz="1300" dirty="0"/>
          </a:p>
        </p:txBody>
      </p:sp>
      <p:sp>
        <p:nvSpPr>
          <p:cNvPr id="24" name="Text 21"/>
          <p:cNvSpPr txBox="1"/>
          <p:nvPr/>
        </p:nvSpPr>
        <p:spPr>
          <a:xfrm>
            <a:off x="3738296" y="3200400"/>
            <a:ext cx="1973504" cy="274320"/>
          </a:xfrm>
          <a:prstGeom prst="rect">
            <a:avLst/>
          </a:prstGeom>
          <a:noFill/>
          <a:ln/>
        </p:spPr>
        <p:txBody>
          <a:bodyPr wrap="square" lIns="0" tIns="0" rIns="0" bIns="0" rtlCol="0" anchor="t"/>
          <a:lstStyle/>
          <a:p>
            <a:pPr indent="0" marL="0">
              <a:buNone/>
            </a:pPr>
            <a:r>
              <a:rPr lang="en-US" sz="1600" spc="30" kern="0" dirty="0">
                <a:solidFill>
                  <a:srgbClr val="2B2D30"/>
                </a:solidFill>
                <a:latin typeface="Montserrat ExtraBold" pitchFamily="34" charset="0"/>
                <a:ea typeface="Montserrat ExtraBold" pitchFamily="34" charset="-122"/>
                <a:cs typeface="Montserrat ExtraBold" pitchFamily="34" charset="-120"/>
              </a:rPr>
              <a:t>REACH</a:t>
            </a:r>
            <a:endParaRPr lang="en-US" sz="1600" dirty="0"/>
          </a:p>
        </p:txBody>
      </p:sp>
      <p:sp>
        <p:nvSpPr>
          <p:cNvPr id="25" name="Text 22"/>
          <p:cNvSpPr txBox="1"/>
          <p:nvPr/>
        </p:nvSpPr>
        <p:spPr>
          <a:xfrm>
            <a:off x="3738296" y="3529584"/>
            <a:ext cx="1973504" cy="713232"/>
          </a:xfrm>
          <a:prstGeom prst="rect">
            <a:avLst/>
          </a:prstGeom>
          <a:noFill/>
          <a:ln/>
        </p:spPr>
        <p:txBody>
          <a:bodyPr wrap="square" lIns="0" tIns="0" rIns="0" bIns="0" rtlCol="0" anchor="t"/>
          <a:lstStyle/>
          <a:p>
            <a:pPr indent="0" marL="0">
              <a:lnSpc>
                <a:spcPct val="118000"/>
              </a:lnSpc>
              <a:buNone/>
            </a:pPr>
            <a:r>
              <a:rPr lang="en-US" sz="950" dirty="0">
                <a:solidFill>
                  <a:srgbClr val="6E7175"/>
                </a:solidFill>
                <a:latin typeface="Montserrat" pitchFamily="34" charset="0"/>
                <a:ea typeface="Montserrat" pitchFamily="34" charset="-122"/>
                <a:cs typeface="Montserrat" pitchFamily="34" charset="-120"/>
              </a:rPr>
              <a:t>Finds whether our own code actually calls the vulnerable part — and answers reachable, no call site, or can't prove.</a:t>
            </a:r>
            <a:endParaRPr lang="en-US" sz="950" dirty="0"/>
          </a:p>
        </p:txBody>
      </p:sp>
      <p:sp>
        <p:nvSpPr>
          <p:cNvPr id="26" name="Text 23"/>
          <p:cNvSpPr txBox="1"/>
          <p:nvPr/>
        </p:nvSpPr>
        <p:spPr>
          <a:xfrm>
            <a:off x="3738296" y="4261104"/>
            <a:ext cx="1973504" cy="201168"/>
          </a:xfrm>
          <a:prstGeom prst="rect">
            <a:avLst/>
          </a:prstGeom>
          <a:noFill/>
          <a:ln/>
        </p:spPr>
        <p:txBody>
          <a:bodyPr wrap="square" lIns="0" tIns="0" rIns="0" bIns="0" rtlCol="0" anchor="t"/>
          <a:lstStyle/>
          <a:p>
            <a:pPr indent="0" marL="0">
              <a:buNone/>
            </a:pPr>
            <a:r>
              <a:rPr lang="en-US" sz="850" spc="60" kern="0" dirty="0">
                <a:solidFill>
                  <a:srgbClr val="942838"/>
                </a:solidFill>
                <a:latin typeface="Montserrat SemiBold" pitchFamily="34" charset="0"/>
                <a:ea typeface="Montserrat SemiBold" pitchFamily="34" charset="-122"/>
                <a:cs typeface="Montserrat SemiBold" pitchFamily="34" charset="-120"/>
              </a:rPr>
              <a:t>Analyses local code only</a:t>
            </a:r>
            <a:endParaRPr lang="en-US" sz="850" dirty="0"/>
          </a:p>
        </p:txBody>
      </p:sp>
      <p:sp>
        <p:nvSpPr>
          <p:cNvPr id="27" name="Shape 24"/>
          <p:cNvSpPr/>
          <p:nvPr/>
        </p:nvSpPr>
        <p:spPr>
          <a:xfrm>
            <a:off x="5976976" y="3656686"/>
            <a:ext cx="146304" cy="20117"/>
          </a:xfrm>
          <a:prstGeom prst="rect">
            <a:avLst/>
          </a:prstGeom>
          <a:solidFill>
            <a:srgbClr val="43464A"/>
          </a:solidFill>
          <a:ln/>
        </p:spPr>
      </p:sp>
      <p:sp>
        <p:nvSpPr>
          <p:cNvPr id="28" name="Shape 25"/>
          <p:cNvSpPr/>
          <p:nvPr/>
        </p:nvSpPr>
        <p:spPr>
          <a:xfrm rot="5400000">
            <a:off x="6123280" y="3607308"/>
            <a:ext cx="91440" cy="118872"/>
          </a:xfrm>
          <a:prstGeom prst="triangle">
            <a:avLst/>
          </a:prstGeom>
          <a:solidFill>
            <a:srgbClr val="43464A"/>
          </a:solidFill>
          <a:ln/>
        </p:spPr>
      </p:sp>
      <p:sp>
        <p:nvSpPr>
          <p:cNvPr id="29" name="Shape 26"/>
          <p:cNvSpPr/>
          <p:nvPr/>
        </p:nvSpPr>
        <p:spPr>
          <a:xfrm>
            <a:off x="6260440" y="2798064"/>
            <a:ext cx="2412416" cy="1737360"/>
          </a:xfrm>
          <a:prstGeom prst="roundRect">
            <a:avLst>
              <a:gd name="adj" fmla="val 3158"/>
            </a:avLst>
          </a:prstGeom>
          <a:solidFill>
            <a:srgbClr val="FFFFFF"/>
          </a:solidFill>
          <a:ln w="9525">
            <a:solidFill>
              <a:srgbClr val="E6E4E2"/>
            </a:solidFill>
            <a:prstDash val="solid"/>
          </a:ln>
          <a:effectLst>
            <a:outerShdw sx="100000" sy="100000" kx="0" ky="0" algn="bl" rotWithShape="0" blurRad="3.1302311439840524e+54" dist="7.825577859960131e+53" dir="1.1754624614400003e+64">
              <a:srgbClr val="959092">
                <a:alpha val="2.2e+64"/>
              </a:srgbClr>
            </a:outerShdw>
          </a:effectLst>
        </p:spPr>
      </p:sp>
      <p:sp>
        <p:nvSpPr>
          <p:cNvPr id="30" name="Shape 27"/>
          <p:cNvSpPr/>
          <p:nvPr/>
        </p:nvSpPr>
        <p:spPr>
          <a:xfrm>
            <a:off x="6260440" y="2798064"/>
            <a:ext cx="2412416" cy="45720"/>
          </a:xfrm>
          <a:prstGeom prst="rect">
            <a:avLst/>
          </a:prstGeom>
          <a:solidFill>
            <a:srgbClr val="942838"/>
          </a:solidFill>
          <a:ln/>
        </p:spPr>
      </p:sp>
      <p:sp>
        <p:nvSpPr>
          <p:cNvPr id="31" name="Text 28"/>
          <p:cNvSpPr txBox="1"/>
          <p:nvPr/>
        </p:nvSpPr>
        <p:spPr>
          <a:xfrm>
            <a:off x="6479896" y="2962656"/>
            <a:ext cx="914400" cy="219456"/>
          </a:xfrm>
          <a:prstGeom prst="rect">
            <a:avLst/>
          </a:prstGeom>
          <a:noFill/>
          <a:ln/>
        </p:spPr>
        <p:txBody>
          <a:bodyPr wrap="square" lIns="0" tIns="0" rIns="0" bIns="0" rtlCol="0" anchor="t"/>
          <a:lstStyle/>
          <a:p>
            <a:pPr indent="0" marL="0">
              <a:buNone/>
            </a:pPr>
            <a:r>
              <a:rPr lang="en-US" sz="1300" spc="40" kern="0" dirty="0">
                <a:solidFill>
                  <a:srgbClr val="DFBEC4"/>
                </a:solidFill>
                <a:latin typeface="Montserrat ExtraBold" pitchFamily="34" charset="0"/>
                <a:ea typeface="Montserrat ExtraBold" pitchFamily="34" charset="-122"/>
                <a:cs typeface="Montserrat ExtraBold" pitchFamily="34" charset="-120"/>
              </a:rPr>
              <a:t>02</a:t>
            </a:r>
            <a:endParaRPr lang="en-US" sz="1300" dirty="0"/>
          </a:p>
        </p:txBody>
      </p:sp>
      <p:sp>
        <p:nvSpPr>
          <p:cNvPr id="32" name="Text 29"/>
          <p:cNvSpPr txBox="1"/>
          <p:nvPr/>
        </p:nvSpPr>
        <p:spPr>
          <a:xfrm>
            <a:off x="6479896" y="3200400"/>
            <a:ext cx="1973504" cy="274320"/>
          </a:xfrm>
          <a:prstGeom prst="rect">
            <a:avLst/>
          </a:prstGeom>
          <a:noFill/>
          <a:ln/>
        </p:spPr>
        <p:txBody>
          <a:bodyPr wrap="square" lIns="0" tIns="0" rIns="0" bIns="0" rtlCol="0" anchor="t"/>
          <a:lstStyle/>
          <a:p>
            <a:pPr indent="0" marL="0">
              <a:buNone/>
            </a:pPr>
            <a:r>
              <a:rPr lang="en-US" sz="1600" spc="30" kern="0" dirty="0">
                <a:solidFill>
                  <a:srgbClr val="2B2D30"/>
                </a:solidFill>
                <a:latin typeface="Montserrat ExtraBold" pitchFamily="34" charset="0"/>
                <a:ea typeface="Montserrat ExtraBold" pitchFamily="34" charset="-122"/>
                <a:cs typeface="Montserrat ExtraBold" pitchFamily="34" charset="-120"/>
              </a:rPr>
              <a:t>BLAST</a:t>
            </a:r>
            <a:endParaRPr lang="en-US" sz="1600" dirty="0"/>
          </a:p>
        </p:txBody>
      </p:sp>
      <p:sp>
        <p:nvSpPr>
          <p:cNvPr id="33" name="Text 30"/>
          <p:cNvSpPr txBox="1"/>
          <p:nvPr/>
        </p:nvSpPr>
        <p:spPr>
          <a:xfrm>
            <a:off x="6479896" y="3529584"/>
            <a:ext cx="1973504" cy="713232"/>
          </a:xfrm>
          <a:prstGeom prst="rect">
            <a:avLst/>
          </a:prstGeom>
          <a:noFill/>
          <a:ln/>
        </p:spPr>
        <p:txBody>
          <a:bodyPr wrap="square" lIns="0" tIns="0" rIns="0" bIns="0" rtlCol="0" anchor="t"/>
          <a:lstStyle/>
          <a:p>
            <a:pPr indent="0" marL="0">
              <a:lnSpc>
                <a:spcPct val="118000"/>
              </a:lnSpc>
              <a:buNone/>
            </a:pPr>
            <a:r>
              <a:rPr lang="en-US" sz="950" dirty="0">
                <a:solidFill>
                  <a:srgbClr val="6E7175"/>
                </a:solidFill>
                <a:latin typeface="Montserrat" pitchFamily="34" charset="0"/>
                <a:ea typeface="Montserrat" pitchFamily="34" charset="-122"/>
                <a:cs typeface="Montserrat" pitchFamily="34" charset="-120"/>
              </a:rPr>
              <a:t>Measures how much could be affected — how much of the codebase sits downstream, and whether it runs in production.</a:t>
            </a:r>
            <a:endParaRPr lang="en-US" sz="950" dirty="0"/>
          </a:p>
        </p:txBody>
      </p:sp>
      <p:sp>
        <p:nvSpPr>
          <p:cNvPr id="34" name="Text 31"/>
          <p:cNvSpPr txBox="1"/>
          <p:nvPr/>
        </p:nvSpPr>
        <p:spPr>
          <a:xfrm>
            <a:off x="6479896" y="4261104"/>
            <a:ext cx="1973504" cy="201168"/>
          </a:xfrm>
          <a:prstGeom prst="rect">
            <a:avLst/>
          </a:prstGeom>
          <a:noFill/>
          <a:ln/>
        </p:spPr>
        <p:txBody>
          <a:bodyPr wrap="square" lIns="0" tIns="0" rIns="0" bIns="0" rtlCol="0" anchor="t"/>
          <a:lstStyle/>
          <a:p>
            <a:pPr indent="0" marL="0">
              <a:buNone/>
            </a:pPr>
            <a:r>
              <a:rPr lang="en-US" sz="850" spc="60" kern="0" dirty="0">
                <a:solidFill>
                  <a:srgbClr val="942838"/>
                </a:solidFill>
                <a:latin typeface="Montserrat SemiBold" pitchFamily="34" charset="0"/>
                <a:ea typeface="Montserrat SemiBold" pitchFamily="34" charset="-122"/>
                <a:cs typeface="Montserrat SemiBold" pitchFamily="34" charset="-120"/>
              </a:rPr>
              <a:t>Analyses local code only</a:t>
            </a:r>
            <a:endParaRPr lang="en-US" sz="850" dirty="0"/>
          </a:p>
        </p:txBody>
      </p:sp>
      <p:sp>
        <p:nvSpPr>
          <p:cNvPr id="35" name="Shape 32"/>
          <p:cNvSpPr/>
          <p:nvPr/>
        </p:nvSpPr>
        <p:spPr>
          <a:xfrm>
            <a:off x="8718575" y="3656686"/>
            <a:ext cx="146304" cy="20117"/>
          </a:xfrm>
          <a:prstGeom prst="rect">
            <a:avLst/>
          </a:prstGeom>
          <a:solidFill>
            <a:srgbClr val="43464A"/>
          </a:solidFill>
          <a:ln/>
        </p:spPr>
      </p:sp>
      <p:sp>
        <p:nvSpPr>
          <p:cNvPr id="36" name="Shape 33"/>
          <p:cNvSpPr/>
          <p:nvPr/>
        </p:nvSpPr>
        <p:spPr>
          <a:xfrm rot="5400000">
            <a:off x="8864879" y="3607308"/>
            <a:ext cx="91440" cy="118872"/>
          </a:xfrm>
          <a:prstGeom prst="triangle">
            <a:avLst/>
          </a:prstGeom>
          <a:solidFill>
            <a:srgbClr val="43464A"/>
          </a:solidFill>
          <a:ln/>
        </p:spPr>
      </p:sp>
      <p:sp>
        <p:nvSpPr>
          <p:cNvPr id="37" name="Shape 34"/>
          <p:cNvSpPr/>
          <p:nvPr/>
        </p:nvSpPr>
        <p:spPr>
          <a:xfrm>
            <a:off x="9002039" y="2798064"/>
            <a:ext cx="2412416" cy="1737360"/>
          </a:xfrm>
          <a:prstGeom prst="roundRect">
            <a:avLst>
              <a:gd name="adj" fmla="val 3158"/>
            </a:avLst>
          </a:prstGeom>
          <a:solidFill>
            <a:srgbClr val="FFFFFF"/>
          </a:solidFill>
          <a:ln w="9525">
            <a:solidFill>
              <a:srgbClr val="E6E4E2"/>
            </a:solidFill>
            <a:prstDash val="solid"/>
          </a:ln>
          <a:effectLst>
            <a:outerShdw sx="100000" sy="100000" kx="0" ky="0" algn="bl" rotWithShape="0" blurRad="3.9753935528597466e+58" dist="9.938483882149366e+57" dir="7.052774768640002e+68">
              <a:srgbClr val="959092">
                <a:alpha val="2.2e+69"/>
              </a:srgbClr>
            </a:outerShdw>
          </a:effectLst>
        </p:spPr>
      </p:sp>
      <p:sp>
        <p:nvSpPr>
          <p:cNvPr id="38" name="Shape 35"/>
          <p:cNvSpPr/>
          <p:nvPr/>
        </p:nvSpPr>
        <p:spPr>
          <a:xfrm>
            <a:off x="9002039" y="2798064"/>
            <a:ext cx="2412416" cy="45720"/>
          </a:xfrm>
          <a:prstGeom prst="rect">
            <a:avLst/>
          </a:prstGeom>
          <a:solidFill>
            <a:srgbClr val="942838"/>
          </a:solidFill>
          <a:ln/>
        </p:spPr>
      </p:sp>
      <p:sp>
        <p:nvSpPr>
          <p:cNvPr id="39" name="Text 36"/>
          <p:cNvSpPr txBox="1"/>
          <p:nvPr/>
        </p:nvSpPr>
        <p:spPr>
          <a:xfrm>
            <a:off x="9221495" y="2962656"/>
            <a:ext cx="914400" cy="219456"/>
          </a:xfrm>
          <a:prstGeom prst="rect">
            <a:avLst/>
          </a:prstGeom>
          <a:noFill/>
          <a:ln/>
        </p:spPr>
        <p:txBody>
          <a:bodyPr wrap="square" lIns="0" tIns="0" rIns="0" bIns="0" rtlCol="0" anchor="t"/>
          <a:lstStyle/>
          <a:p>
            <a:pPr indent="0" marL="0">
              <a:buNone/>
            </a:pPr>
            <a:r>
              <a:rPr lang="en-US" sz="1300" spc="40" kern="0" dirty="0">
                <a:solidFill>
                  <a:srgbClr val="DFBEC4"/>
                </a:solidFill>
                <a:latin typeface="Montserrat ExtraBold" pitchFamily="34" charset="0"/>
                <a:ea typeface="Montserrat ExtraBold" pitchFamily="34" charset="-122"/>
                <a:cs typeface="Montserrat ExtraBold" pitchFamily="34" charset="-120"/>
              </a:rPr>
              <a:t>03</a:t>
            </a:r>
            <a:endParaRPr lang="en-US" sz="1300" dirty="0"/>
          </a:p>
        </p:txBody>
      </p:sp>
      <p:sp>
        <p:nvSpPr>
          <p:cNvPr id="40" name="Text 37"/>
          <p:cNvSpPr txBox="1"/>
          <p:nvPr/>
        </p:nvSpPr>
        <p:spPr>
          <a:xfrm>
            <a:off x="9221495" y="3200400"/>
            <a:ext cx="1973504" cy="274320"/>
          </a:xfrm>
          <a:prstGeom prst="rect">
            <a:avLst/>
          </a:prstGeom>
          <a:noFill/>
          <a:ln/>
        </p:spPr>
        <p:txBody>
          <a:bodyPr wrap="square" lIns="0" tIns="0" rIns="0" bIns="0" rtlCol="0" anchor="t"/>
          <a:lstStyle/>
          <a:p>
            <a:pPr indent="0" marL="0">
              <a:buNone/>
            </a:pPr>
            <a:r>
              <a:rPr lang="en-US" sz="1600" spc="30" kern="0" dirty="0">
                <a:solidFill>
                  <a:srgbClr val="2B2D30"/>
                </a:solidFill>
                <a:latin typeface="Montserrat ExtraBold" pitchFamily="34" charset="0"/>
                <a:ea typeface="Montserrat ExtraBold" pitchFamily="34" charset="-122"/>
                <a:cs typeface="Montserrat ExtraBold" pitchFamily="34" charset="-120"/>
              </a:rPr>
              <a:t>REGRESS</a:t>
            </a:r>
            <a:endParaRPr lang="en-US" sz="1600" dirty="0"/>
          </a:p>
        </p:txBody>
      </p:sp>
      <p:sp>
        <p:nvSpPr>
          <p:cNvPr id="41" name="Text 38"/>
          <p:cNvSpPr txBox="1"/>
          <p:nvPr/>
        </p:nvSpPr>
        <p:spPr>
          <a:xfrm>
            <a:off x="9221495" y="3529584"/>
            <a:ext cx="1973504" cy="713232"/>
          </a:xfrm>
          <a:prstGeom prst="rect">
            <a:avLst/>
          </a:prstGeom>
          <a:noFill/>
          <a:ln/>
        </p:spPr>
        <p:txBody>
          <a:bodyPr wrap="square" lIns="0" tIns="0" rIns="0" bIns="0" rtlCol="0" anchor="t"/>
          <a:lstStyle/>
          <a:p>
            <a:pPr indent="0" marL="0">
              <a:lnSpc>
                <a:spcPct val="118000"/>
              </a:lnSpc>
              <a:buNone/>
            </a:pPr>
            <a:r>
              <a:rPr lang="en-US" sz="950" dirty="0">
                <a:solidFill>
                  <a:srgbClr val="6E7175"/>
                </a:solidFill>
                <a:latin typeface="Montserrat" pitchFamily="34" charset="0"/>
                <a:ea typeface="Montserrat" pitchFamily="34" charset="-122"/>
                <a:cs typeface="Montserrat" pitchFamily="34" charset="-120"/>
              </a:rPr>
              <a:t>Checks whether the security fix could break something — test coverage and upgrade risk, kept separate.</a:t>
            </a:r>
            <a:endParaRPr lang="en-US" sz="950" dirty="0"/>
          </a:p>
        </p:txBody>
      </p:sp>
      <p:sp>
        <p:nvSpPr>
          <p:cNvPr id="42" name="Text 39"/>
          <p:cNvSpPr txBox="1"/>
          <p:nvPr/>
        </p:nvSpPr>
        <p:spPr>
          <a:xfrm>
            <a:off x="9221495" y="4261104"/>
            <a:ext cx="1973504" cy="201168"/>
          </a:xfrm>
          <a:prstGeom prst="rect">
            <a:avLst/>
          </a:prstGeom>
          <a:noFill/>
          <a:ln/>
        </p:spPr>
        <p:txBody>
          <a:bodyPr wrap="square" lIns="0" tIns="0" rIns="0" bIns="0" rtlCol="0" anchor="t"/>
          <a:lstStyle/>
          <a:p>
            <a:pPr indent="0" marL="0">
              <a:buNone/>
            </a:pPr>
            <a:r>
              <a:rPr lang="en-US" sz="850" spc="60" kern="0" dirty="0">
                <a:solidFill>
                  <a:srgbClr val="942838"/>
                </a:solidFill>
                <a:latin typeface="Montserrat SemiBold" pitchFamily="34" charset="0"/>
                <a:ea typeface="Montserrat SemiBold" pitchFamily="34" charset="-122"/>
                <a:cs typeface="Montserrat SemiBold" pitchFamily="34" charset="-120"/>
              </a:rPr>
              <a:t>Analyses local code only</a:t>
            </a:r>
            <a:endParaRPr lang="en-US" sz="850" dirty="0"/>
          </a:p>
        </p:txBody>
      </p:sp>
      <p:sp>
        <p:nvSpPr>
          <p:cNvPr id="43" name="Shape 40"/>
          <p:cNvSpPr/>
          <p:nvPr/>
        </p:nvSpPr>
        <p:spPr>
          <a:xfrm>
            <a:off x="10198189" y="4553712"/>
            <a:ext cx="20117" cy="82296"/>
          </a:xfrm>
          <a:prstGeom prst="rect">
            <a:avLst/>
          </a:prstGeom>
          <a:solidFill>
            <a:srgbClr val="942838"/>
          </a:solidFill>
          <a:ln/>
        </p:spPr>
      </p:sp>
      <p:sp>
        <p:nvSpPr>
          <p:cNvPr id="44" name="Shape 41"/>
          <p:cNvSpPr/>
          <p:nvPr/>
        </p:nvSpPr>
        <p:spPr>
          <a:xfrm rot="10800000">
            <a:off x="10162527" y="4636008"/>
            <a:ext cx="91440" cy="118872"/>
          </a:xfrm>
          <a:prstGeom prst="triangle">
            <a:avLst/>
          </a:prstGeom>
          <a:solidFill>
            <a:srgbClr val="942838"/>
          </a:solidFill>
          <a:ln/>
        </p:spPr>
      </p:sp>
      <p:sp>
        <p:nvSpPr>
          <p:cNvPr id="45" name="Text 42"/>
          <p:cNvSpPr txBox="1"/>
          <p:nvPr/>
        </p:nvSpPr>
        <p:spPr>
          <a:xfrm>
            <a:off x="7830807" y="4645152"/>
            <a:ext cx="2194560" cy="201168"/>
          </a:xfrm>
          <a:prstGeom prst="rect">
            <a:avLst/>
          </a:prstGeom>
          <a:noFill/>
          <a:ln/>
        </p:spPr>
        <p:txBody>
          <a:bodyPr wrap="square" lIns="0" tIns="0" rIns="0" bIns="0" rtlCol="0" anchor="t"/>
          <a:lstStyle/>
          <a:p>
            <a:pPr algn="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ONLY IF YOU ASK</a:t>
            </a:r>
            <a:endParaRPr lang="en-US" sz="850" dirty="0"/>
          </a:p>
        </p:txBody>
      </p:sp>
      <p:sp>
        <p:nvSpPr>
          <p:cNvPr id="46" name="Shape 43"/>
          <p:cNvSpPr/>
          <p:nvPr/>
        </p:nvSpPr>
        <p:spPr>
          <a:xfrm>
            <a:off x="777240" y="4773168"/>
            <a:ext cx="10637215" cy="1133856"/>
          </a:xfrm>
          <a:prstGeom prst="roundRect">
            <a:avLst>
              <a:gd name="adj" fmla="val 4839"/>
            </a:avLst>
          </a:prstGeom>
          <a:solidFill>
            <a:srgbClr val="2B2D30"/>
          </a:solidFill>
          <a:ln/>
          <a:effectLst>
            <a:outerShdw sx="100000" sy="100000" kx="0" ky="0" algn="bl" rotWithShape="0" blurRad="1.247623194062889e+46" dist="2.7724959868064195e+45" dir="3.2651735040000005e+54">
              <a:srgbClr val="959092">
                <a:alpha val="1.6e+54"/>
              </a:srgbClr>
            </a:outerShdw>
          </a:effectLst>
        </p:spPr>
      </p:sp>
      <p:sp>
        <p:nvSpPr>
          <p:cNvPr id="47" name="Text 44"/>
          <p:cNvSpPr txBox="1"/>
          <p:nvPr/>
        </p:nvSpPr>
        <p:spPr>
          <a:xfrm>
            <a:off x="1088136" y="4974336"/>
            <a:ext cx="1463040" cy="201168"/>
          </a:xfrm>
          <a:prstGeom prst="rect">
            <a:avLst/>
          </a:prstGeom>
          <a:noFill/>
          <a:ln/>
        </p:spPr>
        <p:txBody>
          <a:bodyPr wrap="square" lIns="0" tIns="0" rIns="0" bIns="0" rtlCol="0" anchor="t"/>
          <a:lstStyle/>
          <a:p>
            <a:pPr indent="0" marL="0">
              <a:buNone/>
            </a:pPr>
            <a:r>
              <a:rPr lang="en-US" sz="850" spc="140" kern="0" dirty="0">
                <a:solidFill>
                  <a:srgbClr val="D9A3AE"/>
                </a:solidFill>
                <a:latin typeface="Montserrat SemiBold" pitchFamily="34" charset="0"/>
                <a:ea typeface="Montserrat SemiBold" pitchFamily="34" charset="-122"/>
                <a:cs typeface="Montserrat SemiBold" pitchFamily="34" charset="-120"/>
              </a:rPr>
              <a:t>STAGE 04</a:t>
            </a:r>
            <a:endParaRPr lang="en-US" sz="850" dirty="0"/>
          </a:p>
        </p:txBody>
      </p:sp>
      <p:sp>
        <p:nvSpPr>
          <p:cNvPr id="48" name="Text 45"/>
          <p:cNvSpPr txBox="1"/>
          <p:nvPr/>
        </p:nvSpPr>
        <p:spPr>
          <a:xfrm>
            <a:off x="1088136" y="5212080"/>
            <a:ext cx="1828800" cy="365760"/>
          </a:xfrm>
          <a:prstGeom prst="rect">
            <a:avLst/>
          </a:prstGeom>
          <a:noFill/>
          <a:ln/>
        </p:spPr>
        <p:txBody>
          <a:bodyPr wrap="square" lIns="0" tIns="0" rIns="0" bIns="0" rtlCol="0" anchor="t"/>
          <a:lstStyle/>
          <a:p>
            <a:pPr indent="0" marL="0">
              <a:buNone/>
            </a:pPr>
            <a:r>
              <a:rPr lang="en-US" sz="2200" spc="30" kern="0" dirty="0">
                <a:solidFill>
                  <a:srgbClr val="FFFFFF"/>
                </a:solidFill>
                <a:latin typeface="Montserrat ExtraBold" pitchFamily="34" charset="0"/>
                <a:ea typeface="Montserrat ExtraBold" pitchFamily="34" charset="-122"/>
                <a:cs typeface="Montserrat ExtraBold" pitchFamily="34" charset="-120"/>
              </a:rPr>
              <a:t>FIX</a:t>
            </a:r>
            <a:endParaRPr lang="en-US" sz="2200" dirty="0"/>
          </a:p>
        </p:txBody>
      </p:sp>
      <p:sp>
        <p:nvSpPr>
          <p:cNvPr id="49" name="Text 46"/>
          <p:cNvSpPr txBox="1"/>
          <p:nvPr/>
        </p:nvSpPr>
        <p:spPr>
          <a:xfrm>
            <a:off x="2880360" y="4992624"/>
            <a:ext cx="3200400" cy="731520"/>
          </a:xfrm>
          <a:prstGeom prst="rect">
            <a:avLst/>
          </a:prstGeom>
          <a:noFill/>
          <a:ln/>
        </p:spPr>
        <p:txBody>
          <a:bodyPr wrap="square" lIns="0" tIns="0" rIns="0" bIns="0" rtlCol="0" anchor="t"/>
          <a:lstStyle/>
          <a:p>
            <a:pPr indent="0" marL="0">
              <a:lnSpc>
                <a:spcPct val="120000"/>
              </a:lnSpc>
              <a:buNone/>
            </a:pPr>
            <a:r>
              <a:rPr lang="en-US" sz="1000" dirty="0">
                <a:solidFill>
                  <a:srgbClr val="DED9DA"/>
                </a:solidFill>
                <a:latin typeface="Montserrat" pitchFamily="34" charset="0"/>
                <a:ea typeface="Montserrat" pitchFamily="34" charset="-122"/>
                <a:cs typeface="Montserrat" pitchFamily="34" charset="-120"/>
              </a:rPr>
              <a:t>Builds and tests the fix — only when you ask, and one approved step at a time.</a:t>
            </a:r>
            <a:endParaRPr lang="en-US" sz="1000" dirty="0"/>
          </a:p>
        </p:txBody>
      </p:sp>
      <p:sp>
        <p:nvSpPr>
          <p:cNvPr id="50" name="Text 47"/>
          <p:cNvSpPr txBox="1"/>
          <p:nvPr/>
        </p:nvSpPr>
        <p:spPr>
          <a:xfrm>
            <a:off x="6355080" y="4956048"/>
            <a:ext cx="182880" cy="219456"/>
          </a:xfrm>
          <a:prstGeom prst="rect">
            <a:avLst/>
          </a:prstGeom>
          <a:noFill/>
          <a:ln/>
        </p:spPr>
        <p:txBody>
          <a:bodyPr wrap="square" lIns="0" tIns="0" rIns="0" bIns="0" rtlCol="0" anchor="t"/>
          <a:lstStyle/>
          <a:p>
            <a:pPr indent="0" marL="0">
              <a:buNone/>
            </a:pPr>
            <a:r>
              <a:rPr lang="en-US" sz="1000" dirty="0">
                <a:solidFill>
                  <a:srgbClr val="D9A3AE"/>
                </a:solidFill>
                <a:latin typeface="Montserrat SemiBold" pitchFamily="34" charset="0"/>
                <a:ea typeface="Montserrat SemiBold" pitchFamily="34" charset="-122"/>
                <a:cs typeface="Montserrat SemiBold" pitchFamily="34" charset="-120"/>
              </a:rPr>
              <a:t>—</a:t>
            </a:r>
            <a:endParaRPr lang="en-US" sz="1000" dirty="0"/>
          </a:p>
        </p:txBody>
      </p:sp>
      <p:sp>
        <p:nvSpPr>
          <p:cNvPr id="51" name="Text 48"/>
          <p:cNvSpPr txBox="1"/>
          <p:nvPr/>
        </p:nvSpPr>
        <p:spPr>
          <a:xfrm>
            <a:off x="6574536" y="4956048"/>
            <a:ext cx="4663440" cy="237744"/>
          </a:xfrm>
          <a:prstGeom prst="rect">
            <a:avLst/>
          </a:prstGeom>
          <a:noFill/>
          <a:ln/>
        </p:spPr>
        <p:txBody>
          <a:bodyPr wrap="square" lIns="0" tIns="0" rIns="0" bIns="0" rtlCol="0" anchor="t"/>
          <a:lstStyle/>
          <a:p>
            <a:pPr indent="0" marL="0">
              <a:buNone/>
            </a:pPr>
            <a:r>
              <a:rPr lang="en-US" sz="1050" dirty="0">
                <a:solidFill>
                  <a:srgbClr val="FFFFFF"/>
                </a:solidFill>
                <a:latin typeface="Montserrat SemiBold" pitchFamily="34" charset="0"/>
                <a:ea typeface="Montserrat SemiBold" pitchFamily="34" charset="-122"/>
                <a:cs typeface="Montserrat SemiBold" pitchFamily="34" charset="-120"/>
              </a:rPr>
              <a:t>Every step needs explicit human approval</a:t>
            </a:r>
            <a:endParaRPr lang="en-US" sz="1050" dirty="0"/>
          </a:p>
        </p:txBody>
      </p:sp>
      <p:sp>
        <p:nvSpPr>
          <p:cNvPr id="52" name="Text 49"/>
          <p:cNvSpPr txBox="1"/>
          <p:nvPr/>
        </p:nvSpPr>
        <p:spPr>
          <a:xfrm>
            <a:off x="6355080" y="5221224"/>
            <a:ext cx="182880" cy="219456"/>
          </a:xfrm>
          <a:prstGeom prst="rect">
            <a:avLst/>
          </a:prstGeom>
          <a:noFill/>
          <a:ln/>
        </p:spPr>
        <p:txBody>
          <a:bodyPr wrap="square" lIns="0" tIns="0" rIns="0" bIns="0" rtlCol="0" anchor="t"/>
          <a:lstStyle/>
          <a:p>
            <a:pPr indent="0" marL="0">
              <a:buNone/>
            </a:pPr>
            <a:r>
              <a:rPr lang="en-US" sz="1000" dirty="0">
                <a:solidFill>
                  <a:srgbClr val="D9A3AE"/>
                </a:solidFill>
                <a:latin typeface="Montserrat SemiBold" pitchFamily="34" charset="0"/>
                <a:ea typeface="Montserrat SemiBold" pitchFamily="34" charset="-122"/>
                <a:cs typeface="Montserrat SemiBold" pitchFamily="34" charset="-120"/>
              </a:rPr>
              <a:t>—</a:t>
            </a:r>
            <a:endParaRPr lang="en-US" sz="1000" dirty="0"/>
          </a:p>
        </p:txBody>
      </p:sp>
      <p:sp>
        <p:nvSpPr>
          <p:cNvPr id="53" name="Text 50"/>
          <p:cNvSpPr txBox="1"/>
          <p:nvPr/>
        </p:nvSpPr>
        <p:spPr>
          <a:xfrm>
            <a:off x="6574536" y="5221224"/>
            <a:ext cx="4663440" cy="237744"/>
          </a:xfrm>
          <a:prstGeom prst="rect">
            <a:avLst/>
          </a:prstGeom>
          <a:noFill/>
          <a:ln/>
        </p:spPr>
        <p:txBody>
          <a:bodyPr wrap="square" lIns="0" tIns="0" rIns="0" bIns="0" rtlCol="0" anchor="t"/>
          <a:lstStyle/>
          <a:p>
            <a:pPr indent="0" marL="0">
              <a:buNone/>
            </a:pPr>
            <a:r>
              <a:rPr lang="en-US" sz="1050" dirty="0">
                <a:solidFill>
                  <a:srgbClr val="FFFFFF"/>
                </a:solidFill>
                <a:latin typeface="Montserrat SemiBold" pitchFamily="34" charset="0"/>
                <a:ea typeface="Montserrat SemiBold" pitchFamily="34" charset="-122"/>
                <a:cs typeface="Montserrat SemiBold" pitchFamily="34" charset="-120"/>
              </a:rPr>
              <a:t>Refuses to touch a protected branch</a:t>
            </a:r>
            <a:endParaRPr lang="en-US" sz="1050" dirty="0"/>
          </a:p>
        </p:txBody>
      </p:sp>
      <p:sp>
        <p:nvSpPr>
          <p:cNvPr id="54" name="Text 51"/>
          <p:cNvSpPr txBox="1"/>
          <p:nvPr/>
        </p:nvSpPr>
        <p:spPr>
          <a:xfrm>
            <a:off x="6355080" y="5486400"/>
            <a:ext cx="182880" cy="219456"/>
          </a:xfrm>
          <a:prstGeom prst="rect">
            <a:avLst/>
          </a:prstGeom>
          <a:noFill/>
          <a:ln/>
        </p:spPr>
        <p:txBody>
          <a:bodyPr wrap="square" lIns="0" tIns="0" rIns="0" bIns="0" rtlCol="0" anchor="t"/>
          <a:lstStyle/>
          <a:p>
            <a:pPr indent="0" marL="0">
              <a:buNone/>
            </a:pPr>
            <a:r>
              <a:rPr lang="en-US" sz="1000" dirty="0">
                <a:solidFill>
                  <a:srgbClr val="D9A3AE"/>
                </a:solidFill>
                <a:latin typeface="Montserrat SemiBold" pitchFamily="34" charset="0"/>
                <a:ea typeface="Montserrat SemiBold" pitchFamily="34" charset="-122"/>
                <a:cs typeface="Montserrat SemiBold" pitchFamily="34" charset="-120"/>
              </a:rPr>
              <a:t>—</a:t>
            </a:r>
            <a:endParaRPr lang="en-US" sz="1000" dirty="0"/>
          </a:p>
        </p:txBody>
      </p:sp>
      <p:sp>
        <p:nvSpPr>
          <p:cNvPr id="55" name="Text 52"/>
          <p:cNvSpPr txBox="1"/>
          <p:nvPr/>
        </p:nvSpPr>
        <p:spPr>
          <a:xfrm>
            <a:off x="6574536" y="5486400"/>
            <a:ext cx="4663440" cy="237744"/>
          </a:xfrm>
          <a:prstGeom prst="rect">
            <a:avLst/>
          </a:prstGeom>
          <a:noFill/>
          <a:ln/>
        </p:spPr>
        <p:txBody>
          <a:bodyPr wrap="square" lIns="0" tIns="0" rIns="0" bIns="0" rtlCol="0" anchor="t"/>
          <a:lstStyle/>
          <a:p>
            <a:pPr indent="0" marL="0">
              <a:buNone/>
            </a:pPr>
            <a:r>
              <a:rPr lang="en-US" sz="1050" dirty="0">
                <a:solidFill>
                  <a:srgbClr val="FFFFFF"/>
                </a:solidFill>
                <a:latin typeface="Montserrat SemiBold" pitchFamily="34" charset="0"/>
                <a:ea typeface="Montserrat SemiBold" pitchFamily="34" charset="-122"/>
                <a:cs typeface="Montserrat SemiBold" pitchFamily="34" charset="-120"/>
              </a:rPr>
              <a:t>Never merges, and never marks its own work resolved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home/user/ai/assets/gen/logo-red.png">    </p:cNvPr>
          <p:cNvPicPr>
            <a:picLocks noChangeAspect="1"/>
          </p:cNvPicPr>
          <p:nvPr/>
        </p:nvPicPr>
        <p:blipFill>
          <a:blip r:embed="rId1"/>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indent="0" marL="0">
              <a:buNone/>
            </a:pPr>
            <a:r>
              <a:rPr lang="en-US" sz="1000" spc="220" kern="0" dirty="0">
                <a:solidFill>
                  <a:srgbClr val="942838"/>
                </a:solidFill>
                <a:latin typeface="Montserrat SemiBold" pitchFamily="34" charset="0"/>
                <a:ea typeface="Montserrat SemiBold" pitchFamily="34" charset="-122"/>
                <a:cs typeface="Montserrat SemiBold" pitchFamily="34" charset="-120"/>
              </a:rPr>
              <a:t>PROJECT 02  ·  PROVING IT WORKS</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indent="0" marL="0">
              <a:lnSpc>
                <a:spcPct val="98000"/>
              </a:lnSpc>
              <a:buNone/>
            </a:pPr>
            <a:r>
              <a:rPr lang="en-US" sz="2900" spc="-50" kern="0" dirty="0">
                <a:solidFill>
                  <a:srgbClr val="2B2D30"/>
                </a:solidFill>
                <a:latin typeface="Montserrat ExtraBold" pitchFamily="34" charset="0"/>
                <a:ea typeface="Montserrat ExtraBold" pitchFamily="34" charset="-122"/>
                <a:cs typeface="Montserrat ExtraBold" pitchFamily="34" charset="-120"/>
              </a:rPr>
              <a:t>I tried to catch it lying, and it held</a:t>
            </a:r>
            <a:endParaRPr lang="en-US" sz="2900" dirty="0"/>
          </a:p>
        </p:txBody>
      </p:sp>
      <p:sp>
        <p:nvSpPr>
          <p:cNvPr id="5" name="Shape 2"/>
          <p:cNvSpPr/>
          <p:nvPr/>
        </p:nvSpPr>
        <p:spPr>
          <a:xfrm>
            <a:off x="777240" y="1700784"/>
            <a:ext cx="566928" cy="50292"/>
          </a:xfrm>
          <a:prstGeom prst="rect">
            <a:avLst/>
          </a:prstGeom>
          <a:solidFill>
            <a:srgbClr val="942838"/>
          </a:solidFill>
          <a:ln/>
        </p:spPr>
      </p:sp>
      <p:sp>
        <p:nvSpPr>
          <p:cNvPr id="6" name="Shape 3"/>
          <p:cNvSpPr/>
          <p:nvPr/>
        </p:nvSpPr>
        <p:spPr>
          <a:xfrm>
            <a:off x="777240" y="6181344"/>
            <a:ext cx="10637215" cy="10973"/>
          </a:xfrm>
          <a:prstGeom prst="rect">
            <a:avLst/>
          </a:prstGeom>
          <a:solidFill>
            <a:srgbClr val="E6E4E2"/>
          </a:solidFill>
          <a:ln/>
        </p:spPr>
      </p:sp>
      <p:sp>
        <p:nvSpPr>
          <p:cNvPr id="7" name="Text 4"/>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AEGIS</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14</a:t>
            </a:r>
            <a:endParaRPr lang="en-US" sz="850" dirty="0"/>
          </a:p>
        </p:txBody>
      </p:sp>
      <p:sp>
        <p:nvSpPr>
          <p:cNvPr id="9" name="Text 6"/>
          <p:cNvSpPr txBox="1"/>
          <p:nvPr/>
        </p:nvSpPr>
        <p:spPr>
          <a:xfrm>
            <a:off x="777240" y="1956816"/>
            <a:ext cx="10241280" cy="329184"/>
          </a:xfrm>
          <a:prstGeom prst="rect">
            <a:avLst/>
          </a:prstGeom>
          <a:noFill/>
          <a:ln/>
        </p:spPr>
        <p:txBody>
          <a:bodyPr wrap="square" lIns="0" tIns="0" rIns="0" bIns="0" rtlCol="0" anchor="t"/>
          <a:lstStyle/>
          <a:p>
            <a:pPr indent="0" marL="0">
              <a:buNone/>
            </a:pPr>
            <a:r>
              <a:rPr lang="en-US" sz="1400" dirty="0">
                <a:solidFill>
                  <a:srgbClr val="6E7175"/>
                </a:solidFill>
                <a:latin typeface="Montserrat Medium" pitchFamily="34" charset="0"/>
                <a:ea typeface="Montserrat Medium" pitchFamily="34" charset="-122"/>
                <a:cs typeface="Montserrat Medium" pitchFamily="34" charset="-120"/>
              </a:rPr>
              <a:t>A security tool that quietly reports "clean" when it actually failed is worse than no tool at all. So I tested the failure paths, not just the happy path.</a:t>
            </a:r>
            <a:endParaRPr lang="en-US" sz="1400" dirty="0"/>
          </a:p>
        </p:txBody>
      </p:sp>
      <p:sp>
        <p:nvSpPr>
          <p:cNvPr id="10" name="Text 7"/>
          <p:cNvSpPr txBox="1"/>
          <p:nvPr/>
        </p:nvSpPr>
        <p:spPr>
          <a:xfrm>
            <a:off x="777240" y="2487168"/>
            <a:ext cx="2103120" cy="603504"/>
          </a:xfrm>
          <a:prstGeom prst="rect">
            <a:avLst/>
          </a:prstGeom>
          <a:noFill/>
          <a:ln/>
        </p:spPr>
        <p:txBody>
          <a:bodyPr wrap="square" lIns="0" tIns="0" rIns="0" bIns="0" rtlCol="0" anchor="t"/>
          <a:lstStyle/>
          <a:p>
            <a:pPr indent="0" marL="0">
              <a:buNone/>
            </a:pPr>
            <a:r>
              <a:rPr lang="en-US" sz="4000" spc="-140" kern="0" dirty="0">
                <a:solidFill>
                  <a:srgbClr val="942838"/>
                </a:solidFill>
                <a:latin typeface="Montserrat ExtraBold" pitchFamily="34" charset="0"/>
                <a:ea typeface="Montserrat ExtraBold" pitchFamily="34" charset="-122"/>
                <a:cs typeface="Montserrat ExtraBold" pitchFamily="34" charset="-120"/>
              </a:rPr>
              <a:t>733</a:t>
            </a:r>
            <a:endParaRPr lang="en-US" sz="4000" dirty="0"/>
          </a:p>
        </p:txBody>
      </p:sp>
      <p:sp>
        <p:nvSpPr>
          <p:cNvPr id="11" name="Text 8"/>
          <p:cNvSpPr txBox="1"/>
          <p:nvPr/>
        </p:nvSpPr>
        <p:spPr>
          <a:xfrm>
            <a:off x="777240" y="3127248"/>
            <a:ext cx="2103120" cy="512064"/>
          </a:xfrm>
          <a:prstGeom prst="rect">
            <a:avLst/>
          </a:prstGeom>
          <a:noFill/>
          <a:ln/>
        </p:spPr>
        <p:txBody>
          <a:bodyPr wrap="square" lIns="0" tIns="0" rIns="0" bIns="0" rtlCol="0" anchor="t"/>
          <a:lstStyle/>
          <a:p>
            <a:pPr indent="0" marL="0">
              <a:lnSpc>
                <a:spcPct val="120000"/>
              </a:lnSpc>
              <a:buNone/>
            </a:pPr>
            <a:r>
              <a:rPr lang="en-US" sz="950" spc="30" kern="0" dirty="0">
                <a:solidFill>
                  <a:srgbClr val="6E7175"/>
                </a:solidFill>
                <a:latin typeface="Montserrat Medium" pitchFamily="34" charset="0"/>
                <a:ea typeface="Montserrat Medium" pitchFamily="34" charset="-122"/>
                <a:cs typeface="Montserrat Medium" pitchFamily="34" charset="-120"/>
              </a:rPr>
              <a:t>packages read from a real</a:t>
            </a:r>
            <a:endParaRPr lang="en-US" sz="950" dirty="0"/>
          </a:p>
          <a:p>
            <a:pPr indent="0" marL="0">
              <a:lnSpc>
                <a:spcPct val="120000"/>
              </a:lnSpc>
              <a:buNone/>
            </a:pPr>
            <a:r>
              <a:rPr lang="en-US" sz="950" spc="30" kern="0" dirty="0">
                <a:solidFill>
                  <a:srgbClr val="6E7175"/>
                </a:solidFill>
                <a:latin typeface="Montserrat Medium" pitchFamily="34" charset="0"/>
                <a:ea typeface="Montserrat Medium" pitchFamily="34" charset="-122"/>
                <a:cs typeface="Montserrat Medium" pitchFamily="34" charset="-120"/>
              </a:rPr>
              <a:t>project's lockfile</a:t>
            </a:r>
            <a:endParaRPr lang="en-US" sz="950" dirty="0"/>
          </a:p>
        </p:txBody>
      </p:sp>
      <p:sp>
        <p:nvSpPr>
          <p:cNvPr id="12" name="Text 9"/>
          <p:cNvSpPr txBox="1"/>
          <p:nvPr/>
        </p:nvSpPr>
        <p:spPr>
          <a:xfrm>
            <a:off x="3063240" y="2487168"/>
            <a:ext cx="2103120" cy="603504"/>
          </a:xfrm>
          <a:prstGeom prst="rect">
            <a:avLst/>
          </a:prstGeom>
          <a:noFill/>
          <a:ln/>
        </p:spPr>
        <p:txBody>
          <a:bodyPr wrap="square" lIns="0" tIns="0" rIns="0" bIns="0" rtlCol="0" anchor="t"/>
          <a:lstStyle/>
          <a:p>
            <a:pPr indent="0" marL="0">
              <a:buNone/>
            </a:pPr>
            <a:r>
              <a:rPr lang="en-US" sz="4000" spc="-140" kern="0" dirty="0">
                <a:solidFill>
                  <a:srgbClr val="942838"/>
                </a:solidFill>
                <a:latin typeface="Montserrat ExtraBold" pitchFamily="34" charset="0"/>
                <a:ea typeface="Montserrat ExtraBold" pitchFamily="34" charset="-122"/>
                <a:cs typeface="Montserrat ExtraBold" pitchFamily="34" charset="-120"/>
              </a:rPr>
              <a:t>2</a:t>
            </a:r>
            <a:endParaRPr lang="en-US" sz="4000" dirty="0"/>
          </a:p>
        </p:txBody>
      </p:sp>
      <p:sp>
        <p:nvSpPr>
          <p:cNvPr id="13" name="Text 10"/>
          <p:cNvSpPr txBox="1"/>
          <p:nvPr/>
        </p:nvSpPr>
        <p:spPr>
          <a:xfrm>
            <a:off x="3063240" y="3127248"/>
            <a:ext cx="2103120" cy="512064"/>
          </a:xfrm>
          <a:prstGeom prst="rect">
            <a:avLst/>
          </a:prstGeom>
          <a:noFill/>
          <a:ln/>
        </p:spPr>
        <p:txBody>
          <a:bodyPr wrap="square" lIns="0" tIns="0" rIns="0" bIns="0" rtlCol="0" anchor="t"/>
          <a:lstStyle/>
          <a:p>
            <a:pPr indent="0" marL="0">
              <a:lnSpc>
                <a:spcPct val="120000"/>
              </a:lnSpc>
              <a:buNone/>
            </a:pPr>
            <a:r>
              <a:rPr lang="en-US" sz="950" spc="30" kern="0" dirty="0">
                <a:solidFill>
                  <a:srgbClr val="6E7175"/>
                </a:solidFill>
                <a:latin typeface="Montserrat Medium" pitchFamily="34" charset="0"/>
                <a:ea typeface="Montserrat Medium" pitchFamily="34" charset="-122"/>
                <a:cs typeface="Montserrat Medium" pitchFamily="34" charset="-120"/>
              </a:rPr>
              <a:t>real bugs found in my own</a:t>
            </a:r>
            <a:endParaRPr lang="en-US" sz="950" dirty="0"/>
          </a:p>
          <a:p>
            <a:pPr indent="0" marL="0">
              <a:lnSpc>
                <a:spcPct val="120000"/>
              </a:lnSpc>
              <a:buNone/>
            </a:pPr>
            <a:r>
              <a:rPr lang="en-US" sz="950" spc="30" kern="0" dirty="0">
                <a:solidFill>
                  <a:srgbClr val="6E7175"/>
                </a:solidFill>
                <a:latin typeface="Montserrat Medium" pitchFamily="34" charset="0"/>
                <a:ea typeface="Montserrat Medium" pitchFamily="34" charset="-122"/>
                <a:cs typeface="Montserrat Medium" pitchFamily="34" charset="-120"/>
              </a:rPr>
              <a:t>code, and fixed</a:t>
            </a:r>
            <a:endParaRPr lang="en-US" sz="950" dirty="0"/>
          </a:p>
        </p:txBody>
      </p:sp>
      <p:sp>
        <p:nvSpPr>
          <p:cNvPr id="14" name="Shape 11"/>
          <p:cNvSpPr/>
          <p:nvPr/>
        </p:nvSpPr>
        <p:spPr>
          <a:xfrm>
            <a:off x="777240" y="3858768"/>
            <a:ext cx="4114800" cy="10973"/>
          </a:xfrm>
          <a:prstGeom prst="rect">
            <a:avLst/>
          </a:prstGeom>
          <a:solidFill>
            <a:srgbClr val="E6E4E2"/>
          </a:solidFill>
          <a:ln/>
        </p:spPr>
      </p:sp>
      <p:sp>
        <p:nvSpPr>
          <p:cNvPr id="15" name="Text 12"/>
          <p:cNvSpPr txBox="1"/>
          <p:nvPr/>
        </p:nvSpPr>
        <p:spPr>
          <a:xfrm>
            <a:off x="777240" y="4041648"/>
            <a:ext cx="4023360" cy="1005840"/>
          </a:xfrm>
          <a:prstGeom prst="rect">
            <a:avLst/>
          </a:prstGeom>
          <a:noFill/>
          <a:ln/>
        </p:spPr>
        <p:txBody>
          <a:bodyPr wrap="square" lIns="0" tIns="0" rIns="0" bIns="0" rtlCol="0" anchor="t"/>
          <a:lstStyle/>
          <a:p>
            <a:pPr indent="0" marL="0">
              <a:lnSpc>
                <a:spcPct val="126000"/>
              </a:lnSpc>
              <a:buNone/>
            </a:pPr>
            <a:r>
              <a:rPr lang="en-US" sz="1100" dirty="0">
                <a:solidFill>
                  <a:srgbClr val="43464A"/>
                </a:solidFill>
                <a:latin typeface="Montserrat" pitchFamily="34" charset="0"/>
                <a:ea typeface="Montserrat" pitchFamily="34" charset="-122"/>
                <a:cs typeface="Montserrat" pitchFamily="34" charset="-120"/>
              </a:rPr>
              <a:t>The bugs are the interesting part: one was an honesty bug — a "can't prove" result was being described as if the flaw had been confirmed absent. Exactly the failure the tool exists to prevent.</a:t>
            </a:r>
            <a:endParaRPr lang="en-US" sz="1100" dirty="0"/>
          </a:p>
        </p:txBody>
      </p:sp>
      <p:sp>
        <p:nvSpPr>
          <p:cNvPr id="16" name="Text 13"/>
          <p:cNvSpPr txBox="1"/>
          <p:nvPr/>
        </p:nvSpPr>
        <p:spPr>
          <a:xfrm>
            <a:off x="5358384" y="2432304"/>
            <a:ext cx="6056071" cy="201168"/>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WHAT I ACTUALLY TESTED</a:t>
            </a:r>
            <a:endParaRPr lang="en-US" sz="850" dirty="0"/>
          </a:p>
        </p:txBody>
      </p:sp>
      <p:sp>
        <p:nvSpPr>
          <p:cNvPr id="17" name="Shape 14"/>
          <p:cNvSpPr/>
          <p:nvPr/>
        </p:nvSpPr>
        <p:spPr>
          <a:xfrm>
            <a:off x="5358384" y="2779776"/>
            <a:ext cx="45720" cy="182880"/>
          </a:xfrm>
          <a:prstGeom prst="rect">
            <a:avLst/>
          </a:prstGeom>
          <a:solidFill>
            <a:srgbClr val="942838"/>
          </a:solidFill>
          <a:ln/>
        </p:spPr>
      </p:sp>
      <p:sp>
        <p:nvSpPr>
          <p:cNvPr id="18" name="Text 15"/>
          <p:cNvSpPr txBox="1"/>
          <p:nvPr/>
        </p:nvSpPr>
        <p:spPr>
          <a:xfrm>
            <a:off x="5541264" y="2724912"/>
            <a:ext cx="5873191" cy="237744"/>
          </a:xfrm>
          <a:prstGeom prst="rect">
            <a:avLst/>
          </a:prstGeom>
          <a:noFill/>
          <a:ln/>
        </p:spPr>
        <p:txBody>
          <a:bodyPr wrap="square" lIns="0" tIns="0" rIns="0" bIns="0" rtlCol="0" anchor="t"/>
          <a:lstStyle/>
          <a:p>
            <a:pPr indent="0" marL="0">
              <a:buNone/>
            </a:pPr>
            <a:r>
              <a:rPr lang="en-US" sz="1200" dirty="0">
                <a:solidFill>
                  <a:srgbClr val="2B2D30"/>
                </a:solidFill>
                <a:latin typeface="Montserrat SemiBold" pitchFamily="34" charset="0"/>
                <a:ea typeface="Montserrat SemiBold" pitchFamily="34" charset="-122"/>
                <a:cs typeface="Montserrat SemiBold" pitchFamily="34" charset="-120"/>
              </a:rPr>
              <a:t>Tested end to end, not just reviewed</a:t>
            </a:r>
            <a:endParaRPr lang="en-US" sz="1200" dirty="0"/>
          </a:p>
        </p:txBody>
      </p:sp>
      <p:sp>
        <p:nvSpPr>
          <p:cNvPr id="19" name="Text 16"/>
          <p:cNvSpPr txBox="1"/>
          <p:nvPr/>
        </p:nvSpPr>
        <p:spPr>
          <a:xfrm>
            <a:off x="5541264" y="2980944"/>
            <a:ext cx="5836615" cy="548640"/>
          </a:xfrm>
          <a:prstGeom prst="rect">
            <a:avLst/>
          </a:prstGeom>
          <a:noFill/>
          <a:ln/>
        </p:spPr>
        <p:txBody>
          <a:bodyPr wrap="square" lIns="0" tIns="0" rIns="0" bIns="0" rtlCol="0" anchor="t"/>
          <a:lstStyle/>
          <a:p>
            <a:pPr indent="0" marL="0">
              <a:lnSpc>
                <a:spcPct val="120000"/>
              </a:lnSpc>
              <a:buNone/>
            </a:pPr>
            <a:r>
              <a:rPr lang="en-US" sz="1100" dirty="0">
                <a:solidFill>
                  <a:srgbClr val="6E7175"/>
                </a:solidFill>
                <a:latin typeface="Montserrat" pitchFamily="34" charset="0"/>
                <a:ea typeface="Montserrat" pitchFamily="34" charset="-122"/>
                <a:cs typeface="Montserrat" pitchFamily="34" charset="-120"/>
              </a:rPr>
              <a:t>Ran the whole pipeline against a real open-source project and read all 733 packages out of its lockfile.</a:t>
            </a:r>
            <a:endParaRPr lang="en-US" sz="1100" dirty="0"/>
          </a:p>
        </p:txBody>
      </p:sp>
      <p:sp>
        <p:nvSpPr>
          <p:cNvPr id="20" name="Shape 17"/>
          <p:cNvSpPr/>
          <p:nvPr/>
        </p:nvSpPr>
        <p:spPr>
          <a:xfrm>
            <a:off x="5358384" y="3648456"/>
            <a:ext cx="45720" cy="182880"/>
          </a:xfrm>
          <a:prstGeom prst="rect">
            <a:avLst/>
          </a:prstGeom>
          <a:solidFill>
            <a:srgbClr val="942838"/>
          </a:solidFill>
          <a:ln/>
        </p:spPr>
      </p:sp>
      <p:sp>
        <p:nvSpPr>
          <p:cNvPr id="21" name="Text 18"/>
          <p:cNvSpPr txBox="1"/>
          <p:nvPr/>
        </p:nvSpPr>
        <p:spPr>
          <a:xfrm>
            <a:off x="5541264" y="3593592"/>
            <a:ext cx="5873191" cy="237744"/>
          </a:xfrm>
          <a:prstGeom prst="rect">
            <a:avLst/>
          </a:prstGeom>
          <a:noFill/>
          <a:ln/>
        </p:spPr>
        <p:txBody>
          <a:bodyPr wrap="square" lIns="0" tIns="0" rIns="0" bIns="0" rtlCol="0" anchor="t"/>
          <a:lstStyle/>
          <a:p>
            <a:pPr indent="0" marL="0">
              <a:buNone/>
            </a:pPr>
            <a:r>
              <a:rPr lang="en-US" sz="1200" dirty="0">
                <a:solidFill>
                  <a:srgbClr val="2B2D30"/>
                </a:solidFill>
                <a:latin typeface="Montserrat SemiBold" pitchFamily="34" charset="0"/>
                <a:ea typeface="Montserrat SemiBold" pitchFamily="34" charset="-122"/>
                <a:cs typeface="Montserrat SemiBold" pitchFamily="34" charset="-120"/>
              </a:rPr>
              <a:t>It failed loudly, which is the point</a:t>
            </a:r>
            <a:endParaRPr lang="en-US" sz="1200" dirty="0"/>
          </a:p>
        </p:txBody>
      </p:sp>
      <p:sp>
        <p:nvSpPr>
          <p:cNvPr id="22" name="Text 19"/>
          <p:cNvSpPr txBox="1"/>
          <p:nvPr/>
        </p:nvSpPr>
        <p:spPr>
          <a:xfrm>
            <a:off x="5541264" y="3849624"/>
            <a:ext cx="5836615" cy="548640"/>
          </a:xfrm>
          <a:prstGeom prst="rect">
            <a:avLst/>
          </a:prstGeom>
          <a:noFill/>
          <a:ln/>
        </p:spPr>
        <p:txBody>
          <a:bodyPr wrap="square" lIns="0" tIns="0" rIns="0" bIns="0" rtlCol="0" anchor="t"/>
          <a:lstStyle/>
          <a:p>
            <a:pPr indent="0" marL="0">
              <a:lnSpc>
                <a:spcPct val="120000"/>
              </a:lnSpc>
              <a:buNone/>
            </a:pPr>
            <a:r>
              <a:rPr lang="en-US" sz="1100" dirty="0">
                <a:solidFill>
                  <a:srgbClr val="6E7175"/>
                </a:solidFill>
                <a:latin typeface="Montserrat" pitchFamily="34" charset="0"/>
                <a:ea typeface="Montserrat" pitchFamily="34" charset="-122"/>
                <a:cs typeface="Montserrat" pitchFamily="34" charset="-120"/>
              </a:rPr>
              <a:t>When the company network blocked the flaw-database lookup, SCAN reported an error instead of reporting "clean."</a:t>
            </a:r>
            <a:endParaRPr lang="en-US" sz="1100" dirty="0"/>
          </a:p>
        </p:txBody>
      </p:sp>
      <p:sp>
        <p:nvSpPr>
          <p:cNvPr id="23" name="Shape 20"/>
          <p:cNvSpPr/>
          <p:nvPr/>
        </p:nvSpPr>
        <p:spPr>
          <a:xfrm>
            <a:off x="5358384" y="4517136"/>
            <a:ext cx="45720" cy="182880"/>
          </a:xfrm>
          <a:prstGeom prst="rect">
            <a:avLst/>
          </a:prstGeom>
          <a:solidFill>
            <a:srgbClr val="942838"/>
          </a:solidFill>
          <a:ln/>
        </p:spPr>
      </p:sp>
      <p:sp>
        <p:nvSpPr>
          <p:cNvPr id="24" name="Text 21"/>
          <p:cNvSpPr txBox="1"/>
          <p:nvPr/>
        </p:nvSpPr>
        <p:spPr>
          <a:xfrm>
            <a:off x="5541264" y="4462272"/>
            <a:ext cx="5873191" cy="237744"/>
          </a:xfrm>
          <a:prstGeom prst="rect">
            <a:avLst/>
          </a:prstGeom>
          <a:noFill/>
          <a:ln/>
        </p:spPr>
        <p:txBody>
          <a:bodyPr wrap="square" lIns="0" tIns="0" rIns="0" bIns="0" rtlCol="0" anchor="t"/>
          <a:lstStyle/>
          <a:p>
            <a:pPr indent="0" marL="0">
              <a:buNone/>
            </a:pPr>
            <a:r>
              <a:rPr lang="en-US" sz="1200" dirty="0">
                <a:solidFill>
                  <a:srgbClr val="2B2D30"/>
                </a:solidFill>
                <a:latin typeface="Montserrat SemiBold" pitchFamily="34" charset="0"/>
                <a:ea typeface="Montserrat SemiBold" pitchFamily="34" charset="-122"/>
                <a:cs typeface="Montserrat SemiBold" pitchFamily="34" charset="-120"/>
              </a:rPr>
              <a:t>It refused to guess</a:t>
            </a:r>
            <a:endParaRPr lang="en-US" sz="1200" dirty="0"/>
          </a:p>
        </p:txBody>
      </p:sp>
      <p:sp>
        <p:nvSpPr>
          <p:cNvPr id="25" name="Text 22"/>
          <p:cNvSpPr txBox="1"/>
          <p:nvPr/>
        </p:nvSpPr>
        <p:spPr>
          <a:xfrm>
            <a:off x="5541264" y="4718304"/>
            <a:ext cx="5836615" cy="548640"/>
          </a:xfrm>
          <a:prstGeom prst="rect">
            <a:avLst/>
          </a:prstGeom>
          <a:noFill/>
          <a:ln/>
        </p:spPr>
        <p:txBody>
          <a:bodyPr wrap="square" lIns="0" tIns="0" rIns="0" bIns="0" rtlCol="0" anchor="t"/>
          <a:lstStyle/>
          <a:p>
            <a:pPr indent="0" marL="0">
              <a:lnSpc>
                <a:spcPct val="120000"/>
              </a:lnSpc>
              <a:buNone/>
            </a:pPr>
            <a:r>
              <a:rPr lang="en-US" sz="1100" dirty="0">
                <a:solidFill>
                  <a:srgbClr val="6E7175"/>
                </a:solidFill>
                <a:latin typeface="Montserrat" pitchFamily="34" charset="0"/>
                <a:ea typeface="Montserrat" pitchFamily="34" charset="-122"/>
                <a:cs typeface="Montserrat" pitchFamily="34" charset="-120"/>
              </a:rPr>
              <a:t>Forced onto its weakest analysis method, REACH answered "can't prove" rather than calling anything safe.</a:t>
            </a:r>
            <a:endParaRPr lang="en-US" sz="1100" dirty="0"/>
          </a:p>
        </p:txBody>
      </p:sp>
      <p:sp>
        <p:nvSpPr>
          <p:cNvPr id="26" name="Shape 23"/>
          <p:cNvSpPr/>
          <p:nvPr/>
        </p:nvSpPr>
        <p:spPr>
          <a:xfrm>
            <a:off x="5358384" y="5385816"/>
            <a:ext cx="45720" cy="182880"/>
          </a:xfrm>
          <a:prstGeom prst="rect">
            <a:avLst/>
          </a:prstGeom>
          <a:solidFill>
            <a:srgbClr val="942838"/>
          </a:solidFill>
          <a:ln/>
        </p:spPr>
      </p:sp>
      <p:sp>
        <p:nvSpPr>
          <p:cNvPr id="27" name="Text 24"/>
          <p:cNvSpPr txBox="1"/>
          <p:nvPr/>
        </p:nvSpPr>
        <p:spPr>
          <a:xfrm>
            <a:off x="5541264" y="5330952"/>
            <a:ext cx="5873191" cy="237744"/>
          </a:xfrm>
          <a:prstGeom prst="rect">
            <a:avLst/>
          </a:prstGeom>
          <a:noFill/>
          <a:ln/>
        </p:spPr>
        <p:txBody>
          <a:bodyPr wrap="square" lIns="0" tIns="0" rIns="0" bIns="0" rtlCol="0" anchor="t"/>
          <a:lstStyle/>
          <a:p>
            <a:pPr indent="0" marL="0">
              <a:buNone/>
            </a:pPr>
            <a:r>
              <a:rPr lang="en-US" sz="1200" dirty="0">
                <a:solidFill>
                  <a:srgbClr val="2B2D30"/>
                </a:solidFill>
                <a:latin typeface="Montserrat SemiBold" pitchFamily="34" charset="0"/>
                <a:ea typeface="Montserrat SemiBold" pitchFamily="34" charset="-122"/>
                <a:cs typeface="Montserrat SemiBold" pitchFamily="34" charset="-120"/>
              </a:rPr>
              <a:t>The safety rails hold</a:t>
            </a:r>
            <a:endParaRPr lang="en-US" sz="1200" dirty="0"/>
          </a:p>
        </p:txBody>
      </p:sp>
      <p:sp>
        <p:nvSpPr>
          <p:cNvPr id="28" name="Text 25"/>
          <p:cNvSpPr txBox="1"/>
          <p:nvPr/>
        </p:nvSpPr>
        <p:spPr>
          <a:xfrm>
            <a:off x="5541264" y="5586984"/>
            <a:ext cx="5836615" cy="548640"/>
          </a:xfrm>
          <a:prstGeom prst="rect">
            <a:avLst/>
          </a:prstGeom>
          <a:noFill/>
          <a:ln/>
        </p:spPr>
        <p:txBody>
          <a:bodyPr wrap="square" lIns="0" tIns="0" rIns="0" bIns="0" rtlCol="0" anchor="t"/>
          <a:lstStyle/>
          <a:p>
            <a:pPr indent="0" marL="0">
              <a:lnSpc>
                <a:spcPct val="120000"/>
              </a:lnSpc>
              <a:buNone/>
            </a:pPr>
            <a:r>
              <a:rPr lang="en-US" sz="1100" dirty="0">
                <a:solidFill>
                  <a:srgbClr val="6E7175"/>
                </a:solidFill>
                <a:latin typeface="Montserrat" pitchFamily="34" charset="0"/>
                <a:ea typeface="Montserrat" pitchFamily="34" charset="-122"/>
                <a:cs typeface="Montserrat" pitchFamily="34" charset="-120"/>
              </a:rPr>
              <a:t>FIX refused to run without explicit approval, and refused to touch a protected branch even once approved.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home/user/ai/assets/gen/logo-red.png">    </p:cNvPr>
          <p:cNvPicPr>
            <a:picLocks noChangeAspect="1"/>
          </p:cNvPicPr>
          <p:nvPr/>
        </p:nvPicPr>
        <p:blipFill>
          <a:blip r:embed="rId1"/>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indent="0" marL="0">
              <a:buNone/>
            </a:pPr>
            <a:r>
              <a:rPr lang="en-US" sz="1000" spc="220" kern="0" dirty="0">
                <a:solidFill>
                  <a:srgbClr val="942838"/>
                </a:solidFill>
                <a:latin typeface="Montserrat SemiBold" pitchFamily="34" charset="0"/>
                <a:ea typeface="Montserrat SemiBold" pitchFamily="34" charset="-122"/>
                <a:cs typeface="Montserrat SemiBold" pitchFamily="34" charset="-120"/>
              </a:rPr>
              <a:t>PROJECT 02  ·  WHAT COMES NEXT</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indent="0" marL="0">
              <a:lnSpc>
                <a:spcPct val="98000"/>
              </a:lnSpc>
              <a:buNone/>
            </a:pPr>
            <a:r>
              <a:rPr lang="en-US" sz="2900" spc="-50" kern="0" dirty="0">
                <a:solidFill>
                  <a:srgbClr val="2B2D30"/>
                </a:solidFill>
                <a:latin typeface="Montserrat ExtraBold" pitchFamily="34" charset="0"/>
                <a:ea typeface="Montserrat ExtraBold" pitchFamily="34" charset="-122"/>
                <a:cs typeface="Montserrat ExtraBold" pitchFamily="34" charset="-120"/>
              </a:rPr>
              <a:t>What is still open, and how I would close it</a:t>
            </a:r>
            <a:endParaRPr lang="en-US" sz="2900" dirty="0"/>
          </a:p>
        </p:txBody>
      </p:sp>
      <p:sp>
        <p:nvSpPr>
          <p:cNvPr id="5" name="Shape 2"/>
          <p:cNvSpPr/>
          <p:nvPr/>
        </p:nvSpPr>
        <p:spPr>
          <a:xfrm>
            <a:off x="777240" y="1700784"/>
            <a:ext cx="566928" cy="50292"/>
          </a:xfrm>
          <a:prstGeom prst="rect">
            <a:avLst/>
          </a:prstGeom>
          <a:solidFill>
            <a:srgbClr val="942838"/>
          </a:solidFill>
          <a:ln/>
        </p:spPr>
      </p:sp>
      <p:sp>
        <p:nvSpPr>
          <p:cNvPr id="6" name="Shape 3"/>
          <p:cNvSpPr/>
          <p:nvPr/>
        </p:nvSpPr>
        <p:spPr>
          <a:xfrm>
            <a:off x="777240" y="6181344"/>
            <a:ext cx="10637215" cy="10973"/>
          </a:xfrm>
          <a:prstGeom prst="rect">
            <a:avLst/>
          </a:prstGeom>
          <a:solidFill>
            <a:srgbClr val="E6E4E2"/>
          </a:solidFill>
          <a:ln/>
        </p:spPr>
      </p:sp>
      <p:sp>
        <p:nvSpPr>
          <p:cNvPr id="7" name="Text 4"/>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AEGIS</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15</a:t>
            </a:r>
            <a:endParaRPr lang="en-US" sz="850" dirty="0"/>
          </a:p>
        </p:txBody>
      </p:sp>
      <p:sp>
        <p:nvSpPr>
          <p:cNvPr id="9" name="Text 6"/>
          <p:cNvSpPr txBox="1"/>
          <p:nvPr/>
        </p:nvSpPr>
        <p:spPr>
          <a:xfrm>
            <a:off x="777240" y="1975104"/>
            <a:ext cx="10241280" cy="329184"/>
          </a:xfrm>
          <a:prstGeom prst="rect">
            <a:avLst/>
          </a:prstGeom>
          <a:noFill/>
          <a:ln/>
        </p:spPr>
        <p:txBody>
          <a:bodyPr wrap="square" lIns="0" tIns="0" rIns="0" bIns="0" rtlCol="0" anchor="t"/>
          <a:lstStyle/>
          <a:p>
            <a:pPr indent="0" marL="0">
              <a:buNone/>
            </a:pPr>
            <a:r>
              <a:rPr lang="en-US" sz="1400" dirty="0">
                <a:solidFill>
                  <a:srgbClr val="6E7175"/>
                </a:solidFill>
                <a:latin typeface="Montserrat Medium" pitchFamily="34" charset="0"/>
                <a:ea typeface="Montserrat Medium" pitchFamily="34" charset="-122"/>
                <a:cs typeface="Montserrat Medium" pitchFamily="34" charset="-120"/>
              </a:rPr>
              <a:t>The pipeline is built and its safety rails are tested. Three things still need a real run before I would call it finished.</a:t>
            </a:r>
            <a:endParaRPr lang="en-US" sz="1400" dirty="0"/>
          </a:p>
        </p:txBody>
      </p:sp>
      <p:sp>
        <p:nvSpPr>
          <p:cNvPr id="10" name="Shape 7"/>
          <p:cNvSpPr/>
          <p:nvPr/>
        </p:nvSpPr>
        <p:spPr>
          <a:xfrm>
            <a:off x="777240" y="2523744"/>
            <a:ext cx="3356762" cy="3145536"/>
          </a:xfrm>
          <a:prstGeom prst="roundRect">
            <a:avLst>
              <a:gd name="adj" fmla="val 1744"/>
            </a:avLst>
          </a:prstGeom>
          <a:solidFill>
            <a:srgbClr val="FFFFFF"/>
          </a:solidFill>
          <a:ln w="9525">
            <a:solidFill>
              <a:srgbClr val="E6E4E2"/>
            </a:solidFill>
            <a:prstDash val="solid"/>
          </a:ln>
          <a:effectLst>
            <a:outerShdw sx="100000" sy="100000" kx="0" ky="0" algn="bl" rotWithShape="0" blurRad="5.048749812131878e+62" dist="1.2621874530329695e+62" dir="4.2316648611840007e+73">
              <a:srgbClr val="959092">
                <a:alpha val="2.2e+74"/>
              </a:srgbClr>
            </a:outerShdw>
          </a:effectLst>
        </p:spPr>
      </p:sp>
      <p:sp>
        <p:nvSpPr>
          <p:cNvPr id="11" name="Shape 8"/>
          <p:cNvSpPr/>
          <p:nvPr/>
        </p:nvSpPr>
        <p:spPr>
          <a:xfrm>
            <a:off x="777240" y="2523744"/>
            <a:ext cx="3356762" cy="45720"/>
          </a:xfrm>
          <a:prstGeom prst="rect">
            <a:avLst/>
          </a:prstGeom>
          <a:solidFill>
            <a:srgbClr val="942838"/>
          </a:solidFill>
          <a:ln/>
        </p:spPr>
      </p:sp>
      <p:sp>
        <p:nvSpPr>
          <p:cNvPr id="12" name="Text 9"/>
          <p:cNvSpPr txBox="1"/>
          <p:nvPr/>
        </p:nvSpPr>
        <p:spPr>
          <a:xfrm>
            <a:off x="1088136" y="2798064"/>
            <a:ext cx="914400" cy="310896"/>
          </a:xfrm>
          <a:prstGeom prst="rect">
            <a:avLst/>
          </a:prstGeom>
          <a:noFill/>
          <a:ln/>
        </p:spPr>
        <p:txBody>
          <a:bodyPr wrap="square" lIns="0" tIns="0" rIns="0" bIns="0" rtlCol="0" anchor="t"/>
          <a:lstStyle/>
          <a:p>
            <a:pPr indent="0" marL="0">
              <a:buNone/>
            </a:pPr>
            <a:r>
              <a:rPr lang="en-US" sz="2000" spc="-30" kern="0" dirty="0">
                <a:solidFill>
                  <a:srgbClr val="DFBEC4"/>
                </a:solidFill>
                <a:latin typeface="Montserrat ExtraBold" pitchFamily="34" charset="0"/>
                <a:ea typeface="Montserrat ExtraBold" pitchFamily="34" charset="-122"/>
                <a:cs typeface="Montserrat ExtraBold" pitchFamily="34" charset="-120"/>
              </a:rPr>
              <a:t>01</a:t>
            </a:r>
            <a:endParaRPr lang="en-US" sz="2000" dirty="0"/>
          </a:p>
        </p:txBody>
      </p:sp>
      <p:sp>
        <p:nvSpPr>
          <p:cNvPr id="13" name="Text 10"/>
          <p:cNvSpPr txBox="1"/>
          <p:nvPr/>
        </p:nvSpPr>
        <p:spPr>
          <a:xfrm>
            <a:off x="1088136" y="3182112"/>
            <a:ext cx="2734970" cy="566928"/>
          </a:xfrm>
          <a:prstGeom prst="rect">
            <a:avLst/>
          </a:prstGeom>
          <a:noFill/>
          <a:ln/>
        </p:spPr>
        <p:txBody>
          <a:bodyPr wrap="square" lIns="0" tIns="0" rIns="0" bIns="0" rtlCol="0" anchor="t"/>
          <a:lstStyle/>
          <a:p>
            <a:pPr indent="0" marL="0">
              <a:lnSpc>
                <a:spcPct val="108000"/>
              </a:lnSpc>
              <a:buNone/>
            </a:pPr>
            <a:r>
              <a:rPr lang="en-US" sz="1450" dirty="0">
                <a:solidFill>
                  <a:srgbClr val="2B2D30"/>
                </a:solidFill>
                <a:latin typeface="Montserrat SemiBold" pitchFamily="34" charset="0"/>
                <a:ea typeface="Montserrat SemiBold" pitchFamily="34" charset="-122"/>
                <a:cs typeface="Montserrat SemiBold" pitchFamily="34" charset="-120"/>
              </a:rPr>
              <a:t>Unblock the live lookups</a:t>
            </a:r>
            <a:endParaRPr lang="en-US" sz="1450" dirty="0"/>
          </a:p>
        </p:txBody>
      </p:sp>
      <p:sp>
        <p:nvSpPr>
          <p:cNvPr id="14" name="Text 11"/>
          <p:cNvSpPr txBox="1"/>
          <p:nvPr/>
        </p:nvSpPr>
        <p:spPr>
          <a:xfrm>
            <a:off x="1088136" y="3822192"/>
            <a:ext cx="2734970" cy="1737360"/>
          </a:xfrm>
          <a:prstGeom prst="rect">
            <a:avLst/>
          </a:prstGeom>
          <a:noFill/>
          <a:ln/>
        </p:spPr>
        <p:txBody>
          <a:bodyPr wrap="square" lIns="0" tIns="0" rIns="0" bIns="0" rtlCol="0" anchor="t"/>
          <a:lstStyle/>
          <a:p>
            <a:pPr indent="0" marL="0">
              <a:lnSpc>
                <a:spcPct val="126000"/>
              </a:lnSpc>
              <a:buNone/>
            </a:pPr>
            <a:r>
              <a:rPr lang="en-US" sz="1100" dirty="0">
                <a:solidFill>
                  <a:srgbClr val="6E7175"/>
                </a:solidFill>
                <a:latin typeface="Montserrat" pitchFamily="34" charset="0"/>
                <a:ea typeface="Montserrat" pitchFamily="34" charset="-122"/>
                <a:cs typeface="Montserrat" pitchFamily="34" charset="-120"/>
              </a:rPr>
              <a:t>The company security proxy presents a malformed certificate that modern security libraries correctly reject, so the lookups fail. The real fix is an inspection bypass. Meanwhile I built the workaround: the scan splits in two, so the lookup can run from an unblocked network.</a:t>
            </a:r>
            <a:endParaRPr lang="en-US" sz="1100" dirty="0"/>
          </a:p>
        </p:txBody>
      </p:sp>
      <p:sp>
        <p:nvSpPr>
          <p:cNvPr id="15" name="Shape 12"/>
          <p:cNvSpPr/>
          <p:nvPr/>
        </p:nvSpPr>
        <p:spPr>
          <a:xfrm>
            <a:off x="4417466" y="2523744"/>
            <a:ext cx="3356762" cy="3145536"/>
          </a:xfrm>
          <a:prstGeom prst="roundRect">
            <a:avLst>
              <a:gd name="adj" fmla="val 1744"/>
            </a:avLst>
          </a:prstGeom>
          <a:solidFill>
            <a:srgbClr val="FFFFFF"/>
          </a:solidFill>
          <a:ln w="9525">
            <a:solidFill>
              <a:srgbClr val="E6E4E2"/>
            </a:solidFill>
            <a:prstDash val="solid"/>
          </a:ln>
          <a:effectLst>
            <a:outerShdw sx="100000" sy="100000" kx="0" ky="0" algn="bl" rotWithShape="0" blurRad="6.411912261407485e+66" dist="1.6029780653518713e+66" dir="2.5389989167104004e+78">
              <a:srgbClr val="959092">
                <a:alpha val="2.2000000000000002e+79"/>
              </a:srgbClr>
            </a:outerShdw>
          </a:effectLst>
        </p:spPr>
      </p:sp>
      <p:sp>
        <p:nvSpPr>
          <p:cNvPr id="16" name="Shape 13"/>
          <p:cNvSpPr/>
          <p:nvPr/>
        </p:nvSpPr>
        <p:spPr>
          <a:xfrm>
            <a:off x="4417466" y="2523744"/>
            <a:ext cx="3356762" cy="45720"/>
          </a:xfrm>
          <a:prstGeom prst="rect">
            <a:avLst/>
          </a:prstGeom>
          <a:solidFill>
            <a:srgbClr val="942838"/>
          </a:solidFill>
          <a:ln/>
        </p:spPr>
      </p:sp>
      <p:sp>
        <p:nvSpPr>
          <p:cNvPr id="17" name="Text 14"/>
          <p:cNvSpPr txBox="1"/>
          <p:nvPr/>
        </p:nvSpPr>
        <p:spPr>
          <a:xfrm>
            <a:off x="4728362" y="2798064"/>
            <a:ext cx="914400" cy="310896"/>
          </a:xfrm>
          <a:prstGeom prst="rect">
            <a:avLst/>
          </a:prstGeom>
          <a:noFill/>
          <a:ln/>
        </p:spPr>
        <p:txBody>
          <a:bodyPr wrap="square" lIns="0" tIns="0" rIns="0" bIns="0" rtlCol="0" anchor="t"/>
          <a:lstStyle/>
          <a:p>
            <a:pPr indent="0" marL="0">
              <a:buNone/>
            </a:pPr>
            <a:r>
              <a:rPr lang="en-US" sz="2000" spc="-30" kern="0" dirty="0">
                <a:solidFill>
                  <a:srgbClr val="DFBEC4"/>
                </a:solidFill>
                <a:latin typeface="Montserrat ExtraBold" pitchFamily="34" charset="0"/>
                <a:ea typeface="Montserrat ExtraBold" pitchFamily="34" charset="-122"/>
                <a:cs typeface="Montserrat ExtraBold" pitchFamily="34" charset="-120"/>
              </a:rPr>
              <a:t>02</a:t>
            </a:r>
            <a:endParaRPr lang="en-US" sz="2000" dirty="0"/>
          </a:p>
        </p:txBody>
      </p:sp>
      <p:sp>
        <p:nvSpPr>
          <p:cNvPr id="18" name="Text 15"/>
          <p:cNvSpPr txBox="1"/>
          <p:nvPr/>
        </p:nvSpPr>
        <p:spPr>
          <a:xfrm>
            <a:off x="4728362" y="3182112"/>
            <a:ext cx="2734970" cy="566928"/>
          </a:xfrm>
          <a:prstGeom prst="rect">
            <a:avLst/>
          </a:prstGeom>
          <a:noFill/>
          <a:ln/>
        </p:spPr>
        <p:txBody>
          <a:bodyPr wrap="square" lIns="0" tIns="0" rIns="0" bIns="0" rtlCol="0" anchor="t"/>
          <a:lstStyle/>
          <a:p>
            <a:pPr indent="0" marL="0">
              <a:lnSpc>
                <a:spcPct val="108000"/>
              </a:lnSpc>
              <a:buNone/>
            </a:pPr>
            <a:r>
              <a:rPr lang="en-US" sz="1450" dirty="0">
                <a:solidFill>
                  <a:srgbClr val="2B2D30"/>
                </a:solidFill>
                <a:latin typeface="Montserrat SemiBold" pitchFamily="34" charset="0"/>
                <a:ea typeface="Montserrat SemiBold" pitchFamily="34" charset="-122"/>
                <a:cs typeface="Montserrat SemiBold" pitchFamily="34" charset="-120"/>
              </a:rPr>
              <a:t>Read code structure, not just text</a:t>
            </a:r>
            <a:endParaRPr lang="en-US" sz="1450" dirty="0"/>
          </a:p>
        </p:txBody>
      </p:sp>
      <p:sp>
        <p:nvSpPr>
          <p:cNvPr id="19" name="Text 16"/>
          <p:cNvSpPr txBox="1"/>
          <p:nvPr/>
        </p:nvSpPr>
        <p:spPr>
          <a:xfrm>
            <a:off x="4728362" y="3822192"/>
            <a:ext cx="2734970" cy="1737360"/>
          </a:xfrm>
          <a:prstGeom prst="rect">
            <a:avLst/>
          </a:prstGeom>
          <a:noFill/>
          <a:ln/>
        </p:spPr>
        <p:txBody>
          <a:bodyPr wrap="square" lIns="0" tIns="0" rIns="0" bIns="0" rtlCol="0" anchor="t"/>
          <a:lstStyle/>
          <a:p>
            <a:pPr indent="0" marL="0">
              <a:lnSpc>
                <a:spcPct val="126000"/>
              </a:lnSpc>
              <a:buNone/>
            </a:pPr>
            <a:r>
              <a:rPr lang="en-US" sz="1100" dirty="0">
                <a:solidFill>
                  <a:srgbClr val="6E7175"/>
                </a:solidFill>
                <a:latin typeface="Montserrat" pitchFamily="34" charset="0"/>
                <a:ea typeface="Montserrat" pitchFamily="34" charset="-122"/>
                <a:cs typeface="Montserrat" pitchFamily="34" charset="-120"/>
              </a:rPr>
              <a:t>Reachability currently falls back to searching text. With the right tooling present it reads the code's actual structure, which is far more accurate. That still needs a real run.</a:t>
            </a:r>
            <a:endParaRPr lang="en-US" sz="1100" dirty="0"/>
          </a:p>
        </p:txBody>
      </p:sp>
      <p:sp>
        <p:nvSpPr>
          <p:cNvPr id="20" name="Shape 17"/>
          <p:cNvSpPr/>
          <p:nvPr/>
        </p:nvSpPr>
        <p:spPr>
          <a:xfrm>
            <a:off x="8057693" y="2523744"/>
            <a:ext cx="3356762" cy="3145536"/>
          </a:xfrm>
          <a:prstGeom prst="roundRect">
            <a:avLst>
              <a:gd name="adj" fmla="val 1744"/>
            </a:avLst>
          </a:prstGeom>
          <a:solidFill>
            <a:srgbClr val="FFFFFF"/>
          </a:solidFill>
          <a:ln w="9525">
            <a:solidFill>
              <a:srgbClr val="E6E4E2"/>
            </a:solidFill>
            <a:prstDash val="solid"/>
          </a:ln>
          <a:effectLst>
            <a:outerShdw sx="100000" sy="100000" kx="0" ky="0" algn="bl" rotWithShape="0" blurRad="8.143128571987506e+70" dist="2.0357821429968766e+70" dir="1.5233993500262402e+83">
              <a:srgbClr val="959092">
                <a:alpha val="2.2000000000000003e+84"/>
              </a:srgbClr>
            </a:outerShdw>
          </a:effectLst>
        </p:spPr>
      </p:sp>
      <p:sp>
        <p:nvSpPr>
          <p:cNvPr id="21" name="Shape 18"/>
          <p:cNvSpPr/>
          <p:nvPr/>
        </p:nvSpPr>
        <p:spPr>
          <a:xfrm>
            <a:off x="8057693" y="2523744"/>
            <a:ext cx="3356762" cy="45720"/>
          </a:xfrm>
          <a:prstGeom prst="rect">
            <a:avLst/>
          </a:prstGeom>
          <a:solidFill>
            <a:srgbClr val="942838"/>
          </a:solidFill>
          <a:ln/>
        </p:spPr>
      </p:sp>
      <p:sp>
        <p:nvSpPr>
          <p:cNvPr id="22" name="Text 19"/>
          <p:cNvSpPr txBox="1"/>
          <p:nvPr/>
        </p:nvSpPr>
        <p:spPr>
          <a:xfrm>
            <a:off x="8368589" y="2798064"/>
            <a:ext cx="914400" cy="310896"/>
          </a:xfrm>
          <a:prstGeom prst="rect">
            <a:avLst/>
          </a:prstGeom>
          <a:noFill/>
          <a:ln/>
        </p:spPr>
        <p:txBody>
          <a:bodyPr wrap="square" lIns="0" tIns="0" rIns="0" bIns="0" rtlCol="0" anchor="t"/>
          <a:lstStyle/>
          <a:p>
            <a:pPr indent="0" marL="0">
              <a:buNone/>
            </a:pPr>
            <a:r>
              <a:rPr lang="en-US" sz="2000" spc="-30" kern="0" dirty="0">
                <a:solidFill>
                  <a:srgbClr val="DFBEC4"/>
                </a:solidFill>
                <a:latin typeface="Montserrat ExtraBold" pitchFamily="34" charset="0"/>
                <a:ea typeface="Montserrat ExtraBold" pitchFamily="34" charset="-122"/>
                <a:cs typeface="Montserrat ExtraBold" pitchFamily="34" charset="-120"/>
              </a:rPr>
              <a:t>03</a:t>
            </a:r>
            <a:endParaRPr lang="en-US" sz="2000" dirty="0"/>
          </a:p>
        </p:txBody>
      </p:sp>
      <p:sp>
        <p:nvSpPr>
          <p:cNvPr id="23" name="Text 20"/>
          <p:cNvSpPr txBox="1"/>
          <p:nvPr/>
        </p:nvSpPr>
        <p:spPr>
          <a:xfrm>
            <a:off x="8368589" y="3182112"/>
            <a:ext cx="2734970" cy="566928"/>
          </a:xfrm>
          <a:prstGeom prst="rect">
            <a:avLst/>
          </a:prstGeom>
          <a:noFill/>
          <a:ln/>
        </p:spPr>
        <p:txBody>
          <a:bodyPr wrap="square" lIns="0" tIns="0" rIns="0" bIns="0" rtlCol="0" anchor="t"/>
          <a:lstStyle/>
          <a:p>
            <a:pPr indent="0" marL="0">
              <a:lnSpc>
                <a:spcPct val="108000"/>
              </a:lnSpc>
              <a:buNone/>
            </a:pPr>
            <a:r>
              <a:rPr lang="en-US" sz="1450" dirty="0">
                <a:solidFill>
                  <a:srgbClr val="2B2D30"/>
                </a:solidFill>
                <a:latin typeface="Montserrat SemiBold" pitchFamily="34" charset="0"/>
                <a:ea typeface="Montserrat SemiBold" pitchFamily="34" charset="-122"/>
                <a:cs typeface="Montserrat SemiBold" pitchFamily="34" charset="-120"/>
              </a:rPr>
              <a:t>Get it into other people's hands</a:t>
            </a:r>
            <a:endParaRPr lang="en-US" sz="1450" dirty="0"/>
          </a:p>
        </p:txBody>
      </p:sp>
      <p:sp>
        <p:nvSpPr>
          <p:cNvPr id="24" name="Text 21"/>
          <p:cNvSpPr txBox="1"/>
          <p:nvPr/>
        </p:nvSpPr>
        <p:spPr>
          <a:xfrm>
            <a:off x="8368589" y="3822192"/>
            <a:ext cx="2734970" cy="1737360"/>
          </a:xfrm>
          <a:prstGeom prst="rect">
            <a:avLst/>
          </a:prstGeom>
          <a:noFill/>
          <a:ln/>
        </p:spPr>
        <p:txBody>
          <a:bodyPr wrap="square" lIns="0" tIns="0" rIns="0" bIns="0" rtlCol="0" anchor="t"/>
          <a:lstStyle/>
          <a:p>
            <a:pPr indent="0" marL="0">
              <a:lnSpc>
                <a:spcPct val="126000"/>
              </a:lnSpc>
              <a:buNone/>
            </a:pPr>
            <a:r>
              <a:rPr lang="en-US" sz="1100" dirty="0">
                <a:solidFill>
                  <a:srgbClr val="6E7175"/>
                </a:solidFill>
                <a:latin typeface="Montserrat" pitchFamily="34" charset="0"/>
                <a:ea typeface="Montserrat" pitchFamily="34" charset="-122"/>
                <a:cs typeface="Montserrat" pitchFamily="34" charset="-120"/>
              </a:rPr>
              <a:t>Packaged as a plugin so a developer can install it with one command. The install flow itself has not been run start to finish yet.</a:t>
            </a:r>
            <a:endParaRPr lang="en-US" sz="1100" dirty="0"/>
          </a:p>
        </p:txBody>
      </p:sp>
      <p:sp>
        <p:nvSpPr>
          <p:cNvPr id="25" name="Text 22"/>
          <p:cNvSpPr txBox="1"/>
          <p:nvPr/>
        </p:nvSpPr>
        <p:spPr>
          <a:xfrm>
            <a:off x="777240" y="5833872"/>
            <a:ext cx="10637215" cy="274320"/>
          </a:xfrm>
          <a:prstGeom prst="rect">
            <a:avLst/>
          </a:prstGeom>
          <a:noFill/>
          <a:ln/>
        </p:spPr>
        <p:txBody>
          <a:bodyPr wrap="square" lIns="0" tIns="0" rIns="0" bIns="0" rtlCol="0" anchor="t"/>
          <a:lstStyle/>
          <a:p>
            <a:pPr indent="0" marL="0">
              <a:buNone/>
            </a:pPr>
            <a:r>
              <a:rPr lang="en-US" sz="1150" dirty="0">
                <a:solidFill>
                  <a:srgbClr val="2B2D30"/>
                </a:solidFill>
                <a:latin typeface="Montserrat SemiBold" pitchFamily="34" charset="0"/>
                <a:ea typeface="Montserrat SemiBold" pitchFamily="34" charset="-122"/>
                <a:cs typeface="Montserrat SemiBold" pitchFamily="34" charset="-120"/>
              </a:rPr>
              <a:t>Said plainly:</a:t>
            </a:r>
            <a:pPr indent="0" marL="0">
              <a:buNone/>
            </a:pPr>
            <a:r>
              <a:rPr lang="en-US" sz="1150" dirty="0">
                <a:solidFill>
                  <a:srgbClr val="6E7175"/>
                </a:solidFill>
                <a:latin typeface="Montserrat" pitchFamily="34" charset="0"/>
                <a:ea typeface="Montserrat" pitchFamily="34" charset="-122"/>
                <a:cs typeface="Montserrat" pitchFamily="34" charset="-120"/>
              </a:rPr>
              <a:t>  the parts that judge risk are built and tested. The parts that depend on the corporate network are not proven yet.</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home/user/ai/assets/gen/panel-r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ai/assets/gen/mark-slash-faint.png">    </p:cNvPr>
          <p:cNvPicPr>
            <a:picLocks noChangeAspect="1"/>
          </p:cNvPicPr>
          <p:nvPr/>
        </p:nvPicPr>
        <p:blipFill>
          <a:blip r:embed="rId2"/>
          <a:stretch>
            <a:fillRect/>
          </a:stretch>
        </p:blipFill>
        <p:spPr>
          <a:xfrm>
            <a:off x="8229600" y="365760"/>
            <a:ext cx="5120640" cy="5120640"/>
          </a:xfrm>
          <a:prstGeom prst="rect">
            <a:avLst/>
          </a:prstGeom>
        </p:spPr>
      </p:pic>
      <p:sp>
        <p:nvSpPr>
          <p:cNvPr id="4" name="Text 0"/>
          <p:cNvSpPr txBox="1"/>
          <p:nvPr/>
        </p:nvSpPr>
        <p:spPr>
          <a:xfrm>
            <a:off x="6766560" y="566928"/>
            <a:ext cx="4754880" cy="4206240"/>
          </a:xfrm>
          <a:prstGeom prst="rect">
            <a:avLst/>
          </a:prstGeom>
          <a:noFill/>
          <a:ln/>
        </p:spPr>
        <p:txBody>
          <a:bodyPr wrap="square" lIns="0" tIns="0" rIns="0" bIns="0" rtlCol="0" anchor="t"/>
          <a:lstStyle/>
          <a:p>
            <a:pPr algn="r" indent="0" marL="0">
              <a:buNone/>
            </a:pPr>
            <a:r>
              <a:rPr lang="en-US" sz="21000" spc="-800" kern="0" dirty="0">
                <a:solidFill>
                  <a:srgbClr val="B9737E">
                    <a:alpha val="38000"/>
                  </a:srgbClr>
                </a:solidFill>
                <a:latin typeface="Montserrat ExtraBold" pitchFamily="34" charset="0"/>
                <a:ea typeface="Montserrat ExtraBold" pitchFamily="34" charset="-122"/>
                <a:cs typeface="Montserrat ExtraBold" pitchFamily="34" charset="-120"/>
              </a:rPr>
              <a:t>03</a:t>
            </a:r>
            <a:endParaRPr lang="en-US" sz="21000" dirty="0"/>
          </a:p>
        </p:txBody>
      </p:sp>
      <p:sp>
        <p:nvSpPr>
          <p:cNvPr id="5" name="Text 1"/>
          <p:cNvSpPr txBox="1"/>
          <p:nvPr/>
        </p:nvSpPr>
        <p:spPr>
          <a:xfrm>
            <a:off x="777240" y="2395728"/>
            <a:ext cx="6400800" cy="256032"/>
          </a:xfrm>
          <a:prstGeom prst="rect">
            <a:avLst/>
          </a:prstGeom>
          <a:noFill/>
          <a:ln/>
        </p:spPr>
        <p:txBody>
          <a:bodyPr wrap="square" lIns="0" tIns="0" rIns="0" bIns="0" rtlCol="0" anchor="t"/>
          <a:lstStyle/>
          <a:p>
            <a:pPr indent="0" marL="0">
              <a:buNone/>
            </a:pPr>
            <a:r>
              <a:rPr lang="en-US" sz="1000" spc="220" kern="0" dirty="0">
                <a:solidFill>
                  <a:srgbClr val="E4C9CE"/>
                </a:solidFill>
                <a:latin typeface="Montserrat SemiBold" pitchFamily="34" charset="0"/>
                <a:ea typeface="Montserrat SemiBold" pitchFamily="34" charset="-122"/>
                <a:cs typeface="Montserrat SemiBold" pitchFamily="34" charset="-120"/>
              </a:rPr>
              <a:t>PROJECT 03</a:t>
            </a:r>
            <a:endParaRPr lang="en-US" sz="1000" dirty="0"/>
          </a:p>
        </p:txBody>
      </p:sp>
      <p:sp>
        <p:nvSpPr>
          <p:cNvPr id="6" name="Text 2"/>
          <p:cNvSpPr txBox="1"/>
          <p:nvPr/>
        </p:nvSpPr>
        <p:spPr>
          <a:xfrm>
            <a:off x="777240" y="2743200"/>
            <a:ext cx="6766560" cy="1280160"/>
          </a:xfrm>
          <a:prstGeom prst="rect">
            <a:avLst/>
          </a:prstGeom>
          <a:noFill/>
          <a:ln/>
        </p:spPr>
        <p:txBody>
          <a:bodyPr wrap="square" lIns="0" tIns="0" rIns="0" bIns="0" rtlCol="0" anchor="t"/>
          <a:lstStyle/>
          <a:p>
            <a:pPr indent="0" marL="0">
              <a:lnSpc>
                <a:spcPct val="98000"/>
              </a:lnSpc>
              <a:buNone/>
            </a:pPr>
            <a:r>
              <a:rPr lang="en-US" sz="4100" spc="-90" kern="0" dirty="0">
                <a:solidFill>
                  <a:srgbClr val="FFFFFF"/>
                </a:solidFill>
                <a:latin typeface="Montserrat ExtraBold" pitchFamily="34" charset="0"/>
                <a:ea typeface="Montserrat ExtraBold" pitchFamily="34" charset="-122"/>
                <a:cs typeface="Montserrat ExtraBold" pitchFamily="34" charset="-120"/>
              </a:rPr>
              <a:t>CVE-to-Patch Automation</a:t>
            </a:r>
            <a:endParaRPr lang="en-US" sz="4100" dirty="0"/>
          </a:p>
        </p:txBody>
      </p:sp>
      <p:sp>
        <p:nvSpPr>
          <p:cNvPr id="7" name="Shape 3"/>
          <p:cNvSpPr/>
          <p:nvPr/>
        </p:nvSpPr>
        <p:spPr>
          <a:xfrm>
            <a:off x="777240" y="4114800"/>
            <a:ext cx="640080" cy="50292"/>
          </a:xfrm>
          <a:prstGeom prst="rect">
            <a:avLst/>
          </a:prstGeom>
          <a:solidFill>
            <a:srgbClr val="FFFFFF"/>
          </a:solidFill>
          <a:ln/>
        </p:spPr>
      </p:sp>
      <p:sp>
        <p:nvSpPr>
          <p:cNvPr id="8" name="Text 4"/>
          <p:cNvSpPr txBox="1"/>
          <p:nvPr/>
        </p:nvSpPr>
        <p:spPr>
          <a:xfrm>
            <a:off x="777240" y="4389120"/>
            <a:ext cx="6309360" cy="731520"/>
          </a:xfrm>
          <a:prstGeom prst="rect">
            <a:avLst/>
          </a:prstGeom>
          <a:noFill/>
          <a:ln/>
        </p:spPr>
        <p:txBody>
          <a:bodyPr wrap="square" lIns="0" tIns="0" rIns="0" bIns="0" rtlCol="0" anchor="t"/>
          <a:lstStyle/>
          <a:p>
            <a:pPr indent="0" marL="0">
              <a:lnSpc>
                <a:spcPct val="125000"/>
              </a:lnSpc>
              <a:buNone/>
            </a:pPr>
            <a:r>
              <a:rPr lang="en-US" sz="1400" dirty="0">
                <a:solidFill>
                  <a:srgbClr val="DAB4BA"/>
                </a:solidFill>
                <a:latin typeface="Montserrat Medium" pitchFamily="34" charset="0"/>
                <a:ea typeface="Montserrat Medium" pitchFamily="34" charset="-122"/>
                <a:cs typeface="Montserrat Medium" pitchFamily="34" charset="-120"/>
              </a:rPr>
              <a:t>Turning a manual, one-at-a-time patch lookup into a job that finishes in seconds.</a:t>
            </a:r>
            <a:endParaRPr lang="en-US" sz="1400" dirty="0"/>
          </a:p>
        </p:txBody>
      </p:sp>
      <p:pic>
        <p:nvPicPr>
          <p:cNvPr id="9" name="Image 2" descr="/home/user/ai/assets/gen/logo-white.png">    </p:cNvPr>
          <p:cNvPicPr>
            <a:picLocks noChangeAspect="1"/>
          </p:cNvPicPr>
          <p:nvPr/>
        </p:nvPicPr>
        <p:blipFill>
          <a:blip r:embed="rId3"/>
          <a:stretch>
            <a:fillRect/>
          </a:stretch>
        </p:blipFill>
        <p:spPr>
          <a:xfrm>
            <a:off x="9768535" y="457200"/>
            <a:ext cx="1645920" cy="166053"/>
          </a:xfrm>
          <a:prstGeom prst="rect">
            <a:avLst/>
          </a:prstGeom>
        </p:spPr>
      </p:pic>
      <p:sp>
        <p:nvSpPr>
          <p:cNvPr id="10" name="Text 5"/>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E4C9CE"/>
                </a:solidFill>
                <a:latin typeface="Montserrat SemiBold" pitchFamily="34" charset="0"/>
                <a:ea typeface="Montserrat SemiBold" pitchFamily="34" charset="-122"/>
                <a:cs typeface="Montserrat SemiBold" pitchFamily="34" charset="-120"/>
              </a:rPr>
              <a:t>PROJECT 03</a:t>
            </a:r>
            <a:endParaRPr lang="en-US" sz="850" dirty="0"/>
          </a:p>
        </p:txBody>
      </p:sp>
      <p:sp>
        <p:nvSpPr>
          <p:cNvPr id="11" name="Text 6"/>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E4C9CE"/>
                </a:solidFill>
                <a:latin typeface="Montserrat SemiBold" pitchFamily="34" charset="0"/>
                <a:ea typeface="Montserrat SemiBold" pitchFamily="34" charset="-122"/>
                <a:cs typeface="Montserrat SemiBold" pitchFamily="34" charset="-120"/>
              </a:rPr>
              <a:t>16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home/user/ai/assets/gen/logo-red.png">    </p:cNvPr>
          <p:cNvPicPr>
            <a:picLocks noChangeAspect="1"/>
          </p:cNvPicPr>
          <p:nvPr/>
        </p:nvPicPr>
        <p:blipFill>
          <a:blip r:embed="rId1"/>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indent="0" marL="0">
              <a:buNone/>
            </a:pPr>
            <a:r>
              <a:rPr lang="en-US" sz="1000" spc="220" kern="0" dirty="0">
                <a:solidFill>
                  <a:srgbClr val="942838"/>
                </a:solidFill>
                <a:latin typeface="Montserrat SemiBold" pitchFamily="34" charset="0"/>
                <a:ea typeface="Montserrat SemiBold" pitchFamily="34" charset="-122"/>
                <a:cs typeface="Montserrat SemiBold" pitchFamily="34" charset="-120"/>
              </a:rPr>
              <a:t>PROJECT 03  ·  THE PROBLEM</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indent="0" marL="0">
              <a:lnSpc>
                <a:spcPct val="98000"/>
              </a:lnSpc>
              <a:buNone/>
            </a:pPr>
            <a:r>
              <a:rPr lang="en-US" sz="2900" spc="-50" kern="0" dirty="0">
                <a:solidFill>
                  <a:srgbClr val="2B2D30"/>
                </a:solidFill>
                <a:latin typeface="Montserrat ExtraBold" pitchFamily="34" charset="0"/>
                <a:ea typeface="Montserrat ExtraBold" pitchFamily="34" charset="-122"/>
                <a:cs typeface="Montserrat ExtraBold" pitchFamily="34" charset="-120"/>
              </a:rPr>
              <a:t>Every flaw needed its own patch, found by hand</a:t>
            </a:r>
            <a:endParaRPr lang="en-US" sz="2900" dirty="0"/>
          </a:p>
        </p:txBody>
      </p:sp>
      <p:sp>
        <p:nvSpPr>
          <p:cNvPr id="5" name="Shape 2"/>
          <p:cNvSpPr/>
          <p:nvPr/>
        </p:nvSpPr>
        <p:spPr>
          <a:xfrm>
            <a:off x="777240" y="1700784"/>
            <a:ext cx="566928" cy="50292"/>
          </a:xfrm>
          <a:prstGeom prst="rect">
            <a:avLst/>
          </a:prstGeom>
          <a:solidFill>
            <a:srgbClr val="942838"/>
          </a:solidFill>
          <a:ln/>
        </p:spPr>
      </p:sp>
      <p:sp>
        <p:nvSpPr>
          <p:cNvPr id="6" name="Shape 3"/>
          <p:cNvSpPr/>
          <p:nvPr/>
        </p:nvSpPr>
        <p:spPr>
          <a:xfrm>
            <a:off x="777240" y="6181344"/>
            <a:ext cx="10637215" cy="10973"/>
          </a:xfrm>
          <a:prstGeom prst="rect">
            <a:avLst/>
          </a:prstGeom>
          <a:solidFill>
            <a:srgbClr val="E6E4E2"/>
          </a:solidFill>
          <a:ln/>
        </p:spPr>
      </p:sp>
      <p:sp>
        <p:nvSpPr>
          <p:cNvPr id="7" name="Text 4"/>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CVE-TO-PATCH AUTOMATION</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17</a:t>
            </a:r>
            <a:endParaRPr lang="en-US" sz="850" dirty="0"/>
          </a:p>
        </p:txBody>
      </p:sp>
      <p:sp>
        <p:nvSpPr>
          <p:cNvPr id="9" name="Text 6"/>
          <p:cNvSpPr txBox="1"/>
          <p:nvPr/>
        </p:nvSpPr>
        <p:spPr>
          <a:xfrm>
            <a:off x="777240" y="2103120"/>
            <a:ext cx="3840480" cy="1133856"/>
          </a:xfrm>
          <a:prstGeom prst="rect">
            <a:avLst/>
          </a:prstGeom>
          <a:noFill/>
          <a:ln/>
        </p:spPr>
        <p:txBody>
          <a:bodyPr wrap="square" lIns="0" tIns="0" rIns="0" bIns="0" rtlCol="0" anchor="t"/>
          <a:lstStyle/>
          <a:p>
            <a:pPr algn="l" indent="0" marL="0">
              <a:buNone/>
            </a:pPr>
            <a:r>
              <a:rPr lang="en-US" sz="7200" spc="-250" kern="0" dirty="0">
                <a:solidFill>
                  <a:srgbClr val="942838"/>
                </a:solidFill>
                <a:latin typeface="Montserrat ExtraBold" pitchFamily="34" charset="0"/>
                <a:ea typeface="Montserrat ExtraBold" pitchFamily="34" charset="-122"/>
                <a:cs typeface="Montserrat ExtraBold" pitchFamily="34" charset="-120"/>
              </a:rPr>
              <a:t>117</a:t>
            </a:r>
            <a:endParaRPr lang="en-US" sz="7200" dirty="0"/>
          </a:p>
        </p:txBody>
      </p:sp>
      <p:sp>
        <p:nvSpPr>
          <p:cNvPr id="10" name="Text 7"/>
          <p:cNvSpPr txBox="1"/>
          <p:nvPr/>
        </p:nvSpPr>
        <p:spPr>
          <a:xfrm>
            <a:off x="777240" y="3236976"/>
            <a:ext cx="3840480" cy="457200"/>
          </a:xfrm>
          <a:prstGeom prst="rect">
            <a:avLst/>
          </a:prstGeom>
          <a:noFill/>
          <a:ln/>
        </p:spPr>
        <p:txBody>
          <a:bodyPr wrap="square" lIns="0" tIns="0" rIns="0" bIns="0" rtlCol="0" anchor="t"/>
          <a:lstStyle/>
          <a:p>
            <a:pPr algn="l" indent="0" marL="0">
              <a:lnSpc>
                <a:spcPct val="115000"/>
              </a:lnSpc>
              <a:buNone/>
            </a:pPr>
            <a:r>
              <a:rPr lang="en-US" sz="950" spc="30" kern="0" dirty="0">
                <a:solidFill>
                  <a:srgbClr val="6E7175"/>
                </a:solidFill>
                <a:latin typeface="Montserrat Medium" pitchFamily="34" charset="0"/>
                <a:ea typeface="Montserrat Medium" pitchFamily="34" charset="-122"/>
                <a:cs typeface="Montserrat Medium" pitchFamily="34" charset="-120"/>
              </a:rPr>
              <a:t>high and critical flaws tracked</a:t>
            </a:r>
            <a:endParaRPr lang="en-US" sz="950" dirty="0"/>
          </a:p>
          <a:p>
            <a:pPr algn="l" indent="0" marL="0">
              <a:lnSpc>
                <a:spcPct val="115000"/>
              </a:lnSpc>
              <a:buNone/>
            </a:pPr>
            <a:r>
              <a:rPr lang="en-US" sz="950" spc="30" kern="0" dirty="0">
                <a:solidFill>
                  <a:srgbClr val="6E7175"/>
                </a:solidFill>
                <a:latin typeface="Montserrat Medium" pitchFamily="34" charset="0"/>
                <a:ea typeface="Montserrat Medium" pitchFamily="34" charset="-122"/>
                <a:cs typeface="Montserrat Medium" pitchFamily="34" charset="-120"/>
              </a:rPr>
              <a:t>this cycle, every one of them</a:t>
            </a:r>
            <a:endParaRPr lang="en-US" sz="950" dirty="0"/>
          </a:p>
          <a:p>
            <a:pPr algn="l" indent="0" marL="0">
              <a:lnSpc>
                <a:spcPct val="115000"/>
              </a:lnSpc>
              <a:buNone/>
            </a:pPr>
            <a:r>
              <a:rPr lang="en-US" sz="950" spc="30" kern="0" dirty="0">
                <a:solidFill>
                  <a:srgbClr val="6E7175"/>
                </a:solidFill>
                <a:latin typeface="Montserrat Medium" pitchFamily="34" charset="0"/>
                <a:ea typeface="Montserrat Medium" pitchFamily="34" charset="-122"/>
                <a:cs typeface="Montserrat Medium" pitchFamily="34" charset="-120"/>
              </a:rPr>
              <a:t>directly affecting the business</a:t>
            </a:r>
            <a:endParaRPr lang="en-US" sz="950" dirty="0"/>
          </a:p>
        </p:txBody>
      </p:sp>
      <p:sp>
        <p:nvSpPr>
          <p:cNvPr id="11" name="Shape 8"/>
          <p:cNvSpPr/>
          <p:nvPr/>
        </p:nvSpPr>
        <p:spPr>
          <a:xfrm>
            <a:off x="777240" y="4041648"/>
            <a:ext cx="566928" cy="45720"/>
          </a:xfrm>
          <a:prstGeom prst="rect">
            <a:avLst/>
          </a:prstGeom>
          <a:solidFill>
            <a:srgbClr val="942838"/>
          </a:solidFill>
          <a:ln/>
        </p:spPr>
      </p:sp>
      <p:sp>
        <p:nvSpPr>
          <p:cNvPr id="12" name="Text 9"/>
          <p:cNvSpPr txBox="1"/>
          <p:nvPr/>
        </p:nvSpPr>
        <p:spPr>
          <a:xfrm>
            <a:off x="777240" y="4242816"/>
            <a:ext cx="3703320" cy="1005840"/>
          </a:xfrm>
          <a:prstGeom prst="rect">
            <a:avLst/>
          </a:prstGeom>
          <a:noFill/>
          <a:ln/>
        </p:spPr>
        <p:txBody>
          <a:bodyPr wrap="square" lIns="0" tIns="0" rIns="0" bIns="0" rtlCol="0" anchor="t"/>
          <a:lstStyle/>
          <a:p>
            <a:pPr indent="0" marL="0">
              <a:lnSpc>
                <a:spcPct val="125000"/>
              </a:lnSpc>
              <a:buNone/>
            </a:pPr>
            <a:r>
              <a:rPr lang="en-US" sz="1100" dirty="0">
                <a:solidFill>
                  <a:srgbClr val="6E7175"/>
                </a:solidFill>
                <a:latin typeface="Montserrat" pitchFamily="34" charset="0"/>
                <a:ea typeface="Montserrat" pitchFamily="34" charset="-122"/>
                <a:cs typeface="Montserrat" pitchFamily="34" charset="-120"/>
              </a:rPr>
              <a:t>This is not a sample. Kevlar — the team's vulnerability tracker — flagged these because they met both bars: high or critical severity, and a direct effect on business operations.</a:t>
            </a:r>
            <a:endParaRPr lang="en-US" sz="1100" dirty="0"/>
          </a:p>
        </p:txBody>
      </p:sp>
      <p:sp>
        <p:nvSpPr>
          <p:cNvPr id="13" name="Text 10"/>
          <p:cNvSpPr txBox="1"/>
          <p:nvPr/>
        </p:nvSpPr>
        <p:spPr>
          <a:xfrm>
            <a:off x="5029200" y="2084832"/>
            <a:ext cx="6385255" cy="219456"/>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WHAT A "KNOWN FLAW" IS</a:t>
            </a:r>
            <a:endParaRPr lang="en-US" sz="850" dirty="0"/>
          </a:p>
        </p:txBody>
      </p:sp>
      <p:sp>
        <p:nvSpPr>
          <p:cNvPr id="14" name="Text 11"/>
          <p:cNvSpPr txBox="1"/>
          <p:nvPr/>
        </p:nvSpPr>
        <p:spPr>
          <a:xfrm>
            <a:off x="5029200" y="2340864"/>
            <a:ext cx="6385255" cy="786384"/>
          </a:xfrm>
          <a:prstGeom prst="rect">
            <a:avLst/>
          </a:prstGeom>
          <a:noFill/>
          <a:ln/>
        </p:spPr>
        <p:txBody>
          <a:bodyPr wrap="square" lIns="0" tIns="0" rIns="0" bIns="0" rtlCol="0" anchor="t"/>
          <a:lstStyle/>
          <a:p>
            <a:pPr indent="0" marL="0">
              <a:lnSpc>
                <a:spcPct val="124000"/>
              </a:lnSpc>
              <a:buNone/>
            </a:pPr>
            <a:r>
              <a:rPr lang="en-US" sz="1250" dirty="0">
                <a:solidFill>
                  <a:srgbClr val="43464A"/>
                </a:solidFill>
                <a:latin typeface="Montserrat" pitchFamily="34" charset="0"/>
                <a:ea typeface="Montserrat" pitchFamily="34" charset="-122"/>
                <a:cs typeface="Montserrat" pitchFamily="34" charset="-120"/>
              </a:rPr>
              <a:t>A publicly published weakness in software that attackers already know about. Each one has a matching fix released by the vendor.</a:t>
            </a:r>
            <a:endParaRPr lang="en-US" sz="1250" dirty="0"/>
          </a:p>
        </p:txBody>
      </p:sp>
      <p:sp>
        <p:nvSpPr>
          <p:cNvPr id="15" name="Shape 12"/>
          <p:cNvSpPr/>
          <p:nvPr/>
        </p:nvSpPr>
        <p:spPr>
          <a:xfrm>
            <a:off x="5029200" y="3182112"/>
            <a:ext cx="6385255" cy="10973"/>
          </a:xfrm>
          <a:prstGeom prst="rect">
            <a:avLst/>
          </a:prstGeom>
          <a:solidFill>
            <a:srgbClr val="E6E4E2"/>
          </a:solidFill>
          <a:ln/>
        </p:spPr>
      </p:sp>
      <p:sp>
        <p:nvSpPr>
          <p:cNvPr id="16" name="Text 13"/>
          <p:cNvSpPr txBox="1"/>
          <p:nvPr/>
        </p:nvSpPr>
        <p:spPr>
          <a:xfrm>
            <a:off x="5029200" y="3419856"/>
            <a:ext cx="6385255" cy="219456"/>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THE BOTTLENECK</a:t>
            </a:r>
            <a:endParaRPr lang="en-US" sz="850" dirty="0"/>
          </a:p>
        </p:txBody>
      </p:sp>
      <p:sp>
        <p:nvSpPr>
          <p:cNvPr id="17" name="Text 14"/>
          <p:cNvSpPr txBox="1"/>
          <p:nvPr/>
        </p:nvSpPr>
        <p:spPr>
          <a:xfrm>
            <a:off x="5029200" y="3675888"/>
            <a:ext cx="6385255" cy="786384"/>
          </a:xfrm>
          <a:prstGeom prst="rect">
            <a:avLst/>
          </a:prstGeom>
          <a:noFill/>
          <a:ln/>
        </p:spPr>
        <p:txBody>
          <a:bodyPr wrap="square" lIns="0" tIns="0" rIns="0" bIns="0" rtlCol="0" anchor="t"/>
          <a:lstStyle/>
          <a:p>
            <a:pPr indent="0" marL="0">
              <a:lnSpc>
                <a:spcPct val="124000"/>
              </a:lnSpc>
              <a:buNone/>
            </a:pPr>
            <a:r>
              <a:rPr lang="en-US" sz="1250" dirty="0">
                <a:solidFill>
                  <a:srgbClr val="43464A"/>
                </a:solidFill>
                <a:latin typeface="Montserrat" pitchFamily="34" charset="0"/>
                <a:ea typeface="Montserrat" pitchFamily="34" charset="-122"/>
                <a:cs typeface="Montserrat" pitchFamily="34" charset="-120"/>
              </a:rPr>
              <a:t>Microsoft publishes the flaw and the fix in separate documents. Someone has to cross-reference them by hand, once per flaw, then check it against the real machine list. Do that 117 times and it is two days of work.</a:t>
            </a:r>
            <a:endParaRPr lang="en-US" sz="1250" dirty="0"/>
          </a:p>
        </p:txBody>
      </p:sp>
      <p:sp>
        <p:nvSpPr>
          <p:cNvPr id="18" name="Shape 15"/>
          <p:cNvSpPr/>
          <p:nvPr/>
        </p:nvSpPr>
        <p:spPr>
          <a:xfrm>
            <a:off x="5029200" y="4517136"/>
            <a:ext cx="6385255" cy="10973"/>
          </a:xfrm>
          <a:prstGeom prst="rect">
            <a:avLst/>
          </a:prstGeom>
          <a:solidFill>
            <a:srgbClr val="E6E4E2"/>
          </a:solidFill>
          <a:ln/>
        </p:spPr>
      </p:sp>
      <p:sp>
        <p:nvSpPr>
          <p:cNvPr id="19" name="Shape 16"/>
          <p:cNvSpPr/>
          <p:nvPr/>
        </p:nvSpPr>
        <p:spPr>
          <a:xfrm>
            <a:off x="5029200" y="4700016"/>
            <a:ext cx="6385255" cy="1335024"/>
          </a:xfrm>
          <a:prstGeom prst="roundRect">
            <a:avLst>
              <a:gd name="adj" fmla="val 4110"/>
            </a:avLst>
          </a:prstGeom>
          <a:solidFill>
            <a:srgbClr val="2B2D30"/>
          </a:solidFill>
          <a:ln/>
          <a:effectLst>
            <a:outerShdw sx="100000" sy="100000" kx="0" ky="0" algn="bl" rotWithShape="0" blurRad="1.5844814564598688e+50" dist="3.5210699032441527e+49" dir="1.9591041024000004e+59">
              <a:srgbClr val="959092">
                <a:alpha val="1.6e+59"/>
              </a:srgbClr>
            </a:outerShdw>
          </a:effectLst>
        </p:spPr>
      </p:sp>
      <p:sp>
        <p:nvSpPr>
          <p:cNvPr id="20" name="Text 17"/>
          <p:cNvSpPr txBox="1"/>
          <p:nvPr/>
        </p:nvSpPr>
        <p:spPr>
          <a:xfrm>
            <a:off x="5303520" y="4846320"/>
            <a:ext cx="3657600" cy="201168"/>
          </a:xfrm>
          <a:prstGeom prst="rect">
            <a:avLst/>
          </a:prstGeom>
          <a:noFill/>
          <a:ln/>
        </p:spPr>
        <p:txBody>
          <a:bodyPr wrap="square" lIns="0" tIns="0" rIns="0" bIns="0" rtlCol="0" anchor="t"/>
          <a:lstStyle/>
          <a:p>
            <a:pPr indent="0" marL="0">
              <a:buNone/>
            </a:pPr>
            <a:r>
              <a:rPr lang="en-US" sz="850" spc="140" kern="0" dirty="0">
                <a:solidFill>
                  <a:srgbClr val="D9A3AE"/>
                </a:solidFill>
                <a:latin typeface="Montserrat SemiBold" pitchFamily="34" charset="0"/>
                <a:ea typeface="Montserrat SemiBold" pitchFamily="34" charset="-122"/>
                <a:cs typeface="Montserrat SemiBold" pitchFamily="34" charset="-120"/>
              </a:rPr>
              <a:t>BEFORE  ·  DOING IT BY HAND</a:t>
            </a:r>
            <a:endParaRPr lang="en-US" sz="850" dirty="0"/>
          </a:p>
        </p:txBody>
      </p:sp>
      <p:sp>
        <p:nvSpPr>
          <p:cNvPr id="21" name="Text 18"/>
          <p:cNvSpPr txBox="1"/>
          <p:nvPr/>
        </p:nvSpPr>
        <p:spPr>
          <a:xfrm>
            <a:off x="5303520" y="5120640"/>
            <a:ext cx="5836615" cy="402336"/>
          </a:xfrm>
          <a:prstGeom prst="rect">
            <a:avLst/>
          </a:prstGeom>
          <a:noFill/>
          <a:ln/>
        </p:spPr>
        <p:txBody>
          <a:bodyPr wrap="square" lIns="0" tIns="0" rIns="0" bIns="0" rtlCol="0" anchor="t"/>
          <a:lstStyle/>
          <a:p>
            <a:pPr indent="0" marL="0">
              <a:buNone/>
            </a:pPr>
            <a:r>
              <a:rPr lang="en-US" sz="2600" spc="-80" kern="0" dirty="0">
                <a:solidFill>
                  <a:srgbClr val="FFFFFF"/>
                </a:solidFill>
                <a:latin typeface="Montserrat ExtraBold" pitchFamily="34" charset="0"/>
                <a:ea typeface="Montserrat ExtraBold" pitchFamily="34" charset="-122"/>
                <a:cs typeface="Montserrat ExtraBold" pitchFamily="34" charset="-120"/>
              </a:rPr>
              <a:t>~17.5 hours</a:t>
            </a:r>
            <a:pPr indent="0" marL="0">
              <a:buNone/>
            </a:pPr>
            <a:r>
              <a:rPr lang="en-US" sz="1250" dirty="0">
                <a:solidFill>
                  <a:srgbClr val="DED9DA"/>
                </a:solidFill>
                <a:latin typeface="Montserrat Medium" pitchFamily="34" charset="0"/>
                <a:ea typeface="Montserrat Medium" pitchFamily="34" charset="-122"/>
                <a:cs typeface="Montserrat Medium" pitchFamily="34" charset="-120"/>
              </a:rPr>
              <a:t>   about 2 to 2.5 business days</a:t>
            </a:r>
            <a:endParaRPr lang="en-US" sz="2600" dirty="0"/>
          </a:p>
        </p:txBody>
      </p:sp>
      <p:sp>
        <p:nvSpPr>
          <p:cNvPr id="22" name="Text 19"/>
          <p:cNvSpPr txBox="1"/>
          <p:nvPr/>
        </p:nvSpPr>
        <p:spPr>
          <a:xfrm>
            <a:off x="5303520" y="5559552"/>
            <a:ext cx="5836615" cy="402336"/>
          </a:xfrm>
          <a:prstGeom prst="rect">
            <a:avLst/>
          </a:prstGeom>
          <a:noFill/>
          <a:ln/>
        </p:spPr>
        <p:txBody>
          <a:bodyPr wrap="square" lIns="0" tIns="0" rIns="0" bIns="0" rtlCol="0" anchor="t"/>
          <a:lstStyle/>
          <a:p>
            <a:pPr indent="0" marL="0">
              <a:lnSpc>
                <a:spcPct val="120000"/>
              </a:lnSpc>
              <a:buNone/>
            </a:pPr>
            <a:r>
              <a:rPr lang="en-US" sz="1000" dirty="0">
                <a:solidFill>
                  <a:srgbClr val="C4BBBD"/>
                </a:solidFill>
                <a:latin typeface="Montserrat Medium" pitchFamily="34" charset="0"/>
                <a:ea typeface="Montserrat Medium" pitchFamily="34" charset="-122"/>
                <a:cs typeface="Montserrat Medium" pitchFamily="34" charset="-120"/>
              </a:rPr>
              <a:t>Estimated at 8–10 min per flaw from the steps above — a reasoned estimate based on the work involved, not a stopwatch measurement.</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home/user/ai/assets/gen/logo-red.png">    </p:cNvPr>
          <p:cNvPicPr>
            <a:picLocks noChangeAspect="1"/>
          </p:cNvPicPr>
          <p:nvPr/>
        </p:nvPicPr>
        <p:blipFill>
          <a:blip r:embed="rId1"/>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indent="0" marL="0">
              <a:buNone/>
            </a:pPr>
            <a:r>
              <a:rPr lang="en-US" sz="1000" spc="220" kern="0" dirty="0">
                <a:solidFill>
                  <a:srgbClr val="942838"/>
                </a:solidFill>
                <a:latin typeface="Montserrat SemiBold" pitchFamily="34" charset="0"/>
                <a:ea typeface="Montserrat SemiBold" pitchFamily="34" charset="-122"/>
                <a:cs typeface="Montserrat SemiBold" pitchFamily="34" charset="-120"/>
              </a:rPr>
              <a:t>PROJECT 03  ·  THE RESULT</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indent="0" marL="0">
              <a:lnSpc>
                <a:spcPct val="98000"/>
              </a:lnSpc>
              <a:buNone/>
            </a:pPr>
            <a:r>
              <a:rPr lang="en-US" sz="2900" spc="-50" kern="0" dirty="0">
                <a:solidFill>
                  <a:srgbClr val="2B2D30"/>
                </a:solidFill>
                <a:latin typeface="Montserrat ExtraBold" pitchFamily="34" charset="0"/>
                <a:ea typeface="Montserrat ExtraBold" pitchFamily="34" charset="-122"/>
                <a:cs typeface="Montserrat ExtraBold" pitchFamily="34" charset="-120"/>
              </a:rPr>
              <a:t>From about two days of work to twelve seconds</a:t>
            </a:r>
            <a:endParaRPr lang="en-US" sz="2900" dirty="0"/>
          </a:p>
        </p:txBody>
      </p:sp>
      <p:sp>
        <p:nvSpPr>
          <p:cNvPr id="5" name="Shape 2"/>
          <p:cNvSpPr/>
          <p:nvPr/>
        </p:nvSpPr>
        <p:spPr>
          <a:xfrm>
            <a:off x="777240" y="1700784"/>
            <a:ext cx="566928" cy="50292"/>
          </a:xfrm>
          <a:prstGeom prst="rect">
            <a:avLst/>
          </a:prstGeom>
          <a:solidFill>
            <a:srgbClr val="942838"/>
          </a:solidFill>
          <a:ln/>
        </p:spPr>
      </p:sp>
      <p:sp>
        <p:nvSpPr>
          <p:cNvPr id="6" name="Shape 3"/>
          <p:cNvSpPr/>
          <p:nvPr/>
        </p:nvSpPr>
        <p:spPr>
          <a:xfrm>
            <a:off x="777240" y="6181344"/>
            <a:ext cx="10637215" cy="10973"/>
          </a:xfrm>
          <a:prstGeom prst="rect">
            <a:avLst/>
          </a:prstGeom>
          <a:solidFill>
            <a:srgbClr val="E6E4E2"/>
          </a:solidFill>
          <a:ln/>
        </p:spPr>
      </p:sp>
      <p:sp>
        <p:nvSpPr>
          <p:cNvPr id="7" name="Text 4"/>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CVE-TO-PATCH AUTOMATION</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18</a:t>
            </a:r>
            <a:endParaRPr lang="en-US" sz="850" dirty="0"/>
          </a:p>
        </p:txBody>
      </p:sp>
      <p:sp>
        <p:nvSpPr>
          <p:cNvPr id="9" name="Text 6"/>
          <p:cNvSpPr txBox="1"/>
          <p:nvPr/>
        </p:nvSpPr>
        <p:spPr>
          <a:xfrm>
            <a:off x="777240" y="1956816"/>
            <a:ext cx="10241280" cy="310896"/>
          </a:xfrm>
          <a:prstGeom prst="rect">
            <a:avLst/>
          </a:prstGeom>
          <a:noFill/>
          <a:ln/>
        </p:spPr>
        <p:txBody>
          <a:bodyPr wrap="square" lIns="0" tIns="0" rIns="0" bIns="0" rtlCol="0" anchor="t"/>
          <a:lstStyle/>
          <a:p>
            <a:pPr indent="0" marL="0">
              <a:buNone/>
            </a:pPr>
            <a:r>
              <a:rPr lang="en-US" sz="1400" dirty="0">
                <a:solidFill>
                  <a:srgbClr val="6E7175"/>
                </a:solidFill>
                <a:latin typeface="Montserrat Medium" pitchFamily="34" charset="0"/>
                <a:ea typeface="Montserrat Medium" pitchFamily="34" charset="-122"/>
                <a:cs typeface="Montserrat Medium" pitchFamily="34" charset="-120"/>
              </a:rPr>
              <a:t>I built a Python script that matches each flaw to its Microsoft patch automatically, using Microsoft's own public security feeds — no API key, no manual searching.</a:t>
            </a:r>
            <a:endParaRPr lang="en-US" sz="1400" dirty="0"/>
          </a:p>
        </p:txBody>
      </p:sp>
      <p:pic>
        <p:nvPicPr>
          <p:cNvPr id="10" name="Image 1" descr="/home/user/ai/assets/gen/chart-match.png">    </p:cNvPr>
          <p:cNvPicPr>
            <a:picLocks noChangeAspect="1"/>
          </p:cNvPicPr>
          <p:nvPr/>
        </p:nvPicPr>
        <p:blipFill>
          <a:blip r:embed="rId2"/>
          <a:stretch>
            <a:fillRect/>
          </a:stretch>
        </p:blipFill>
        <p:spPr>
          <a:xfrm>
            <a:off x="731520" y="2487168"/>
            <a:ext cx="5852160" cy="3251200"/>
          </a:xfrm>
          <a:prstGeom prst="rect">
            <a:avLst/>
          </a:prstGeom>
        </p:spPr>
      </p:pic>
      <p:sp>
        <p:nvSpPr>
          <p:cNvPr id="11" name="Text 7"/>
          <p:cNvSpPr txBox="1"/>
          <p:nvPr/>
        </p:nvSpPr>
        <p:spPr>
          <a:xfrm>
            <a:off x="777240" y="5811520"/>
            <a:ext cx="5669280" cy="274320"/>
          </a:xfrm>
          <a:prstGeom prst="rect">
            <a:avLst/>
          </a:prstGeom>
          <a:noFill/>
          <a:ln/>
        </p:spPr>
        <p:txBody>
          <a:bodyPr wrap="square" lIns="0" tIns="0" rIns="0" bIns="0" rtlCol="0" anchor="t"/>
          <a:lstStyle/>
          <a:p>
            <a:pPr algn="ctr" indent="0" marL="0">
              <a:buNone/>
            </a:pPr>
            <a:r>
              <a:rPr lang="en-US" sz="950" spc="30" kern="0" dirty="0">
                <a:solidFill>
                  <a:srgbClr val="6E7175"/>
                </a:solidFill>
                <a:latin typeface="Montserrat Medium" pitchFamily="34" charset="0"/>
                <a:ea typeface="Montserrat Medium" pitchFamily="34" charset="-122"/>
                <a:cs typeface="Montserrat Medium" pitchFamily="34" charset="-120"/>
              </a:rPr>
              <a:t>Share of the 117 flaws matched to their correct patch automatically</a:t>
            </a:r>
            <a:endParaRPr lang="en-US" sz="950" dirty="0"/>
          </a:p>
        </p:txBody>
      </p:sp>
      <p:sp>
        <p:nvSpPr>
          <p:cNvPr id="12" name="Shape 8"/>
          <p:cNvSpPr/>
          <p:nvPr/>
        </p:nvSpPr>
        <p:spPr>
          <a:xfrm>
            <a:off x="7315200" y="2432304"/>
            <a:ext cx="4099255" cy="1097280"/>
          </a:xfrm>
          <a:prstGeom prst="roundRect">
            <a:avLst>
              <a:gd name="adj" fmla="val 5000"/>
            </a:avLst>
          </a:prstGeom>
          <a:solidFill>
            <a:srgbClr val="FFFFFF"/>
          </a:solidFill>
          <a:ln w="9525">
            <a:solidFill>
              <a:srgbClr val="E6E4E2"/>
            </a:solidFill>
            <a:prstDash val="solid"/>
          </a:ln>
          <a:effectLst>
            <a:outerShdw sx="100000" sy="100000" kx="0" ky="0" algn="bl" rotWithShape="0" blurRad="1.0341773286424134e+75" dist="2.5854433216060334e+74" dir="9.14039610015744e+87">
              <a:srgbClr val="959092">
                <a:alpha val="2.2000000000000003e+89"/>
              </a:srgbClr>
            </a:outerShdw>
          </a:effectLst>
        </p:spPr>
      </p:sp>
      <p:sp>
        <p:nvSpPr>
          <p:cNvPr id="13" name="Text 9"/>
          <p:cNvSpPr txBox="1"/>
          <p:nvPr/>
        </p:nvSpPr>
        <p:spPr>
          <a:xfrm>
            <a:off x="7589520" y="2606040"/>
            <a:ext cx="3550615" cy="438912"/>
          </a:xfrm>
          <a:prstGeom prst="rect">
            <a:avLst/>
          </a:prstGeom>
          <a:noFill/>
          <a:ln/>
        </p:spPr>
        <p:txBody>
          <a:bodyPr wrap="square" lIns="0" tIns="0" rIns="0" bIns="0" rtlCol="0" anchor="t"/>
          <a:lstStyle/>
          <a:p>
            <a:pPr indent="0" marL="0">
              <a:buNone/>
            </a:pPr>
            <a:r>
              <a:rPr lang="en-US" sz="2700" spc="-90" kern="0" dirty="0">
                <a:solidFill>
                  <a:srgbClr val="942838"/>
                </a:solidFill>
                <a:latin typeface="Montserrat ExtraBold" pitchFamily="34" charset="0"/>
                <a:ea typeface="Montserrat ExtraBold" pitchFamily="34" charset="-122"/>
                <a:cs typeface="Montserrat ExtraBold" pitchFamily="34" charset="-120"/>
              </a:rPr>
              <a:t>117/117</a:t>
            </a:r>
            <a:endParaRPr lang="en-US" sz="2700" dirty="0"/>
          </a:p>
        </p:txBody>
      </p:sp>
      <p:sp>
        <p:nvSpPr>
          <p:cNvPr id="14" name="Text 10"/>
          <p:cNvSpPr txBox="1"/>
          <p:nvPr/>
        </p:nvSpPr>
        <p:spPr>
          <a:xfrm>
            <a:off x="7589520" y="3081528"/>
            <a:ext cx="3550615" cy="384048"/>
          </a:xfrm>
          <a:prstGeom prst="rect">
            <a:avLst/>
          </a:prstGeom>
          <a:noFill/>
          <a:ln/>
        </p:spPr>
        <p:txBody>
          <a:bodyPr wrap="square" lIns="0" tIns="0" rIns="0" bIns="0" rtlCol="0" anchor="t"/>
          <a:lstStyle/>
          <a:p>
            <a:pPr indent="0" marL="0">
              <a:lnSpc>
                <a:spcPct val="118000"/>
              </a:lnSpc>
              <a:buNone/>
            </a:pPr>
            <a:r>
              <a:rPr lang="en-US" sz="1100" dirty="0">
                <a:solidFill>
                  <a:srgbClr val="6E7175"/>
                </a:solidFill>
                <a:latin typeface="Montserrat" pitchFamily="34" charset="0"/>
                <a:ea typeface="Montserrat" pitchFamily="34" charset="-122"/>
                <a:cs typeface="Montserrat" pitchFamily="34" charset="-120"/>
              </a:rPr>
              <a:t>flaws matched to the correct patch</a:t>
            </a:r>
            <a:endParaRPr lang="en-US" sz="1100" dirty="0"/>
          </a:p>
        </p:txBody>
      </p:sp>
      <p:sp>
        <p:nvSpPr>
          <p:cNvPr id="15" name="Shape 11"/>
          <p:cNvSpPr/>
          <p:nvPr/>
        </p:nvSpPr>
        <p:spPr>
          <a:xfrm>
            <a:off x="7315200" y="3675888"/>
            <a:ext cx="4099255" cy="1097280"/>
          </a:xfrm>
          <a:prstGeom prst="roundRect">
            <a:avLst>
              <a:gd name="adj" fmla="val 5000"/>
            </a:avLst>
          </a:prstGeom>
          <a:solidFill>
            <a:srgbClr val="FFFFFF"/>
          </a:solidFill>
          <a:ln w="9525">
            <a:solidFill>
              <a:srgbClr val="E6E4E2"/>
            </a:solidFill>
            <a:prstDash val="solid"/>
          </a:ln>
          <a:effectLst>
            <a:outerShdw sx="100000" sy="100000" kx="0" ky="0" algn="bl" rotWithShape="0" blurRad="1.313405207375865e+79" dist="3.2835130184396625e+78" dir="5.484237660094465e+92">
              <a:srgbClr val="959092">
                <a:alpha val="2.2e+94"/>
              </a:srgbClr>
            </a:outerShdw>
          </a:effectLst>
        </p:spPr>
      </p:sp>
      <p:sp>
        <p:nvSpPr>
          <p:cNvPr id="16" name="Text 12"/>
          <p:cNvSpPr txBox="1"/>
          <p:nvPr/>
        </p:nvSpPr>
        <p:spPr>
          <a:xfrm>
            <a:off x="7589520" y="3849624"/>
            <a:ext cx="3550615" cy="438912"/>
          </a:xfrm>
          <a:prstGeom prst="rect">
            <a:avLst/>
          </a:prstGeom>
          <a:noFill/>
          <a:ln/>
        </p:spPr>
        <p:txBody>
          <a:bodyPr wrap="square" lIns="0" tIns="0" rIns="0" bIns="0" rtlCol="0" anchor="t"/>
          <a:lstStyle/>
          <a:p>
            <a:pPr indent="0" marL="0">
              <a:buNone/>
            </a:pPr>
            <a:r>
              <a:rPr lang="en-US" sz="2700" spc="-90" kern="0" dirty="0">
                <a:solidFill>
                  <a:srgbClr val="942838"/>
                </a:solidFill>
                <a:latin typeface="Montserrat ExtraBold" pitchFamily="34" charset="0"/>
                <a:ea typeface="Montserrat ExtraBold" pitchFamily="34" charset="-122"/>
                <a:cs typeface="Montserrat ExtraBold" pitchFamily="34" charset="-120"/>
              </a:rPr>
              <a:t>~12 sec</a:t>
            </a:r>
            <a:endParaRPr lang="en-US" sz="2700" dirty="0"/>
          </a:p>
        </p:txBody>
      </p:sp>
      <p:sp>
        <p:nvSpPr>
          <p:cNvPr id="17" name="Text 13"/>
          <p:cNvSpPr txBox="1"/>
          <p:nvPr/>
        </p:nvSpPr>
        <p:spPr>
          <a:xfrm>
            <a:off x="7589520" y="4325112"/>
            <a:ext cx="3550615" cy="384048"/>
          </a:xfrm>
          <a:prstGeom prst="rect">
            <a:avLst/>
          </a:prstGeom>
          <a:noFill/>
          <a:ln/>
        </p:spPr>
        <p:txBody>
          <a:bodyPr wrap="square" lIns="0" tIns="0" rIns="0" bIns="0" rtlCol="0" anchor="t"/>
          <a:lstStyle/>
          <a:p>
            <a:pPr indent="0" marL="0">
              <a:lnSpc>
                <a:spcPct val="118000"/>
              </a:lnSpc>
              <a:buNone/>
            </a:pPr>
            <a:r>
              <a:rPr lang="en-US" sz="1100" dirty="0">
                <a:solidFill>
                  <a:srgbClr val="6E7175"/>
                </a:solidFill>
                <a:latin typeface="Montserrat" pitchFamily="34" charset="0"/>
                <a:ea typeface="Montserrat" pitchFamily="34" charset="-122"/>
                <a:cs typeface="Montserrat" pitchFamily="34" charset="-120"/>
              </a:rPr>
              <a:t>total runtime, start to finish</a:t>
            </a:r>
            <a:endParaRPr lang="en-US" sz="1100" dirty="0"/>
          </a:p>
        </p:txBody>
      </p:sp>
      <p:sp>
        <p:nvSpPr>
          <p:cNvPr id="18" name="Shape 14"/>
          <p:cNvSpPr/>
          <p:nvPr/>
        </p:nvSpPr>
        <p:spPr>
          <a:xfrm>
            <a:off x="7315200" y="4919472"/>
            <a:ext cx="4099255" cy="1097280"/>
          </a:xfrm>
          <a:prstGeom prst="roundRect">
            <a:avLst>
              <a:gd name="adj" fmla="val 5000"/>
            </a:avLst>
          </a:prstGeom>
          <a:solidFill>
            <a:srgbClr val="F6EEF0"/>
          </a:solidFill>
          <a:ln w="9525">
            <a:solidFill>
              <a:srgbClr val="942838"/>
            </a:solidFill>
            <a:prstDash val="solid"/>
          </a:ln>
          <a:effectLst>
            <a:outerShdw sx="100000" sy="100000" kx="0" ky="0" algn="bl" rotWithShape="0" blurRad="1.6680246133673485e+83" dist="4.170061533418371e+82" dir="3.2905425960566786e+97">
              <a:srgbClr val="959092">
                <a:alpha val="2.2000000000000003e+99"/>
              </a:srgbClr>
            </a:outerShdw>
          </a:effectLst>
        </p:spPr>
      </p:sp>
      <p:sp>
        <p:nvSpPr>
          <p:cNvPr id="19" name="Text 15"/>
          <p:cNvSpPr txBox="1"/>
          <p:nvPr/>
        </p:nvSpPr>
        <p:spPr>
          <a:xfrm>
            <a:off x="7589520" y="5093208"/>
            <a:ext cx="3550615" cy="438912"/>
          </a:xfrm>
          <a:prstGeom prst="rect">
            <a:avLst/>
          </a:prstGeom>
          <a:noFill/>
          <a:ln/>
        </p:spPr>
        <p:txBody>
          <a:bodyPr wrap="square" lIns="0" tIns="0" rIns="0" bIns="0" rtlCol="0" anchor="t"/>
          <a:lstStyle/>
          <a:p>
            <a:pPr indent="0" marL="0">
              <a:buNone/>
            </a:pPr>
            <a:r>
              <a:rPr lang="en-US" sz="2700" spc="-90" kern="0" dirty="0">
                <a:solidFill>
                  <a:srgbClr val="942838"/>
                </a:solidFill>
                <a:latin typeface="Montserrat ExtraBold" pitchFamily="34" charset="0"/>
                <a:ea typeface="Montserrat ExtraBold" pitchFamily="34" charset="-122"/>
                <a:cs typeface="Montserrat ExtraBold" pitchFamily="34" charset="-120"/>
              </a:rPr>
              <a:t>29/29</a:t>
            </a:r>
            <a:endParaRPr lang="en-US" sz="2700" dirty="0"/>
          </a:p>
        </p:txBody>
      </p:sp>
      <p:sp>
        <p:nvSpPr>
          <p:cNvPr id="20" name="Text 16"/>
          <p:cNvSpPr txBox="1"/>
          <p:nvPr/>
        </p:nvSpPr>
        <p:spPr>
          <a:xfrm>
            <a:off x="7589520" y="5568696"/>
            <a:ext cx="3550615" cy="384048"/>
          </a:xfrm>
          <a:prstGeom prst="rect">
            <a:avLst/>
          </a:prstGeom>
          <a:noFill/>
          <a:ln/>
        </p:spPr>
        <p:txBody>
          <a:bodyPr wrap="square" lIns="0" tIns="0" rIns="0" bIns="0" rtlCol="0" anchor="t"/>
          <a:lstStyle/>
          <a:p>
            <a:pPr indent="0" marL="0">
              <a:lnSpc>
                <a:spcPct val="118000"/>
              </a:lnSpc>
              <a:buNone/>
            </a:pPr>
            <a:r>
              <a:rPr lang="en-US" sz="1100" dirty="0">
                <a:solidFill>
                  <a:srgbClr val="6E7175"/>
                </a:solidFill>
                <a:latin typeface="Montserrat" pitchFamily="34" charset="0"/>
                <a:ea typeface="Montserrat" pitchFamily="34" charset="-122"/>
                <a:cs typeface="Montserrat" pitchFamily="34" charset="-120"/>
              </a:rPr>
              <a:t>spot-checked against Tenable, Rapid7 and public advisories — all confirmed correct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home/user/ai/assets/gen/logo-red.png">    </p:cNvPr>
          <p:cNvPicPr>
            <a:picLocks noChangeAspect="1"/>
          </p:cNvPicPr>
          <p:nvPr/>
        </p:nvPicPr>
        <p:blipFill>
          <a:blip r:embed="rId1"/>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indent="0" marL="0">
              <a:buNone/>
            </a:pPr>
            <a:r>
              <a:rPr lang="en-US" sz="1000" spc="220" kern="0" dirty="0">
                <a:solidFill>
                  <a:srgbClr val="942838"/>
                </a:solidFill>
                <a:latin typeface="Montserrat SemiBold" pitchFamily="34" charset="0"/>
                <a:ea typeface="Montserrat SemiBold" pitchFamily="34" charset="-122"/>
                <a:cs typeface="Montserrat SemiBold" pitchFamily="34" charset="-120"/>
              </a:rPr>
              <a:t>PROJECT 03  ·  THE FINDING</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indent="0" marL="0">
              <a:lnSpc>
                <a:spcPct val="98000"/>
              </a:lnSpc>
              <a:buNone/>
            </a:pPr>
            <a:r>
              <a:rPr lang="en-US" sz="2900" spc="-50" kern="0" dirty="0">
                <a:solidFill>
                  <a:srgbClr val="2B2D30"/>
                </a:solidFill>
                <a:latin typeface="Montserrat ExtraBold" pitchFamily="34" charset="0"/>
                <a:ea typeface="Montserrat ExtraBold" pitchFamily="34" charset="-122"/>
                <a:cs typeface="Montserrat ExtraBold" pitchFamily="34" charset="-120"/>
              </a:rPr>
              <a:t>52 of the 117 were already fixed</a:t>
            </a:r>
            <a:endParaRPr lang="en-US" sz="2900" dirty="0"/>
          </a:p>
        </p:txBody>
      </p:sp>
      <p:sp>
        <p:nvSpPr>
          <p:cNvPr id="5" name="Shape 2"/>
          <p:cNvSpPr/>
          <p:nvPr/>
        </p:nvSpPr>
        <p:spPr>
          <a:xfrm>
            <a:off x="777240" y="1700784"/>
            <a:ext cx="566928" cy="50292"/>
          </a:xfrm>
          <a:prstGeom prst="rect">
            <a:avLst/>
          </a:prstGeom>
          <a:solidFill>
            <a:srgbClr val="942838"/>
          </a:solidFill>
          <a:ln/>
        </p:spPr>
      </p:sp>
      <p:sp>
        <p:nvSpPr>
          <p:cNvPr id="6" name="Shape 3"/>
          <p:cNvSpPr/>
          <p:nvPr/>
        </p:nvSpPr>
        <p:spPr>
          <a:xfrm>
            <a:off x="777240" y="6181344"/>
            <a:ext cx="10637215" cy="10973"/>
          </a:xfrm>
          <a:prstGeom prst="rect">
            <a:avLst/>
          </a:prstGeom>
          <a:solidFill>
            <a:srgbClr val="E6E4E2"/>
          </a:solidFill>
          <a:ln/>
        </p:spPr>
      </p:sp>
      <p:sp>
        <p:nvSpPr>
          <p:cNvPr id="7" name="Text 4"/>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CVE-TO-PATCH AUTOMATION</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19</a:t>
            </a:r>
            <a:endParaRPr lang="en-US" sz="850" dirty="0"/>
          </a:p>
        </p:txBody>
      </p:sp>
      <p:sp>
        <p:nvSpPr>
          <p:cNvPr id="9" name="Shape 6"/>
          <p:cNvSpPr/>
          <p:nvPr/>
        </p:nvSpPr>
        <p:spPr>
          <a:xfrm>
            <a:off x="777240" y="1847088"/>
            <a:ext cx="10637215" cy="603504"/>
          </a:xfrm>
          <a:prstGeom prst="roundRect">
            <a:avLst>
              <a:gd name="adj" fmla="val 9091"/>
            </a:avLst>
          </a:prstGeom>
          <a:solidFill>
            <a:srgbClr val="F6EEF0"/>
          </a:solidFill>
          <a:ln/>
        </p:spPr>
      </p:sp>
      <p:sp>
        <p:nvSpPr>
          <p:cNvPr id="10" name="Shape 7"/>
          <p:cNvSpPr/>
          <p:nvPr/>
        </p:nvSpPr>
        <p:spPr>
          <a:xfrm>
            <a:off x="777240" y="1847088"/>
            <a:ext cx="50292" cy="603504"/>
          </a:xfrm>
          <a:prstGeom prst="rect">
            <a:avLst/>
          </a:prstGeom>
          <a:solidFill>
            <a:srgbClr val="942838"/>
          </a:solidFill>
          <a:ln/>
        </p:spPr>
      </p:sp>
      <p:sp>
        <p:nvSpPr>
          <p:cNvPr id="11" name="Text 8"/>
          <p:cNvSpPr txBox="1"/>
          <p:nvPr/>
        </p:nvSpPr>
        <p:spPr>
          <a:xfrm>
            <a:off x="1014984" y="2048256"/>
            <a:ext cx="10180015" cy="310896"/>
          </a:xfrm>
          <a:prstGeom prst="rect">
            <a:avLst/>
          </a:prstGeom>
          <a:noFill/>
          <a:ln/>
        </p:spPr>
        <p:txBody>
          <a:bodyPr wrap="square" lIns="0" tIns="0" rIns="0" bIns="0" rtlCol="0" anchor="t"/>
          <a:lstStyle/>
          <a:p>
            <a:pPr indent="0" marL="0">
              <a:buNone/>
            </a:pPr>
            <a:r>
              <a:rPr lang="en-US" sz="900" spc="140" kern="0" dirty="0">
                <a:solidFill>
                  <a:srgbClr val="942838"/>
                </a:solidFill>
                <a:latin typeface="Montserrat SemiBold" pitchFamily="34" charset="0"/>
                <a:ea typeface="Montserrat SemiBold" pitchFamily="34" charset="-122"/>
                <a:cs typeface="Montserrat SemiBold" pitchFamily="34" charset="-120"/>
              </a:rPr>
              <a:t>THE ONE FACT   </a:t>
            </a:r>
            <a:pPr indent="0" marL="0">
              <a:buNone/>
            </a:pPr>
            <a:r>
              <a:rPr lang="en-US" sz="1250" dirty="0">
                <a:solidFill>
                  <a:srgbClr val="2B2D30"/>
                </a:solidFill>
                <a:latin typeface="Montserrat SemiBold" pitchFamily="34" charset="0"/>
                <a:ea typeface="Montserrat SemiBold" pitchFamily="34" charset="-122"/>
                <a:cs typeface="Montserrat SemiBold" pitchFamily="34" charset="-120"/>
              </a:rPr>
              <a:t>Windows updates are cumulative. Installing the newest one automatically includes every older fix — exactly like a phone update.</a:t>
            </a:r>
            <a:endParaRPr lang="en-US" sz="900" dirty="0"/>
          </a:p>
        </p:txBody>
      </p:sp>
      <p:pic>
        <p:nvPicPr>
          <p:cNvPr id="12" name="Image 1" descr="/home/user/ai/assets/gen/cumulative-patch.png">    </p:cNvPr>
          <p:cNvPicPr>
            <a:picLocks noChangeAspect="1"/>
          </p:cNvPicPr>
          <p:nvPr/>
        </p:nvPicPr>
        <p:blipFill>
          <a:blip r:embed="rId2"/>
          <a:stretch>
            <a:fillRect/>
          </a:stretch>
        </p:blipFill>
        <p:spPr>
          <a:xfrm>
            <a:off x="777240" y="2670048"/>
            <a:ext cx="6537960" cy="1641445"/>
          </a:xfrm>
          <a:prstGeom prst="rect">
            <a:avLst/>
          </a:prstGeom>
        </p:spPr>
      </p:pic>
      <p:sp>
        <p:nvSpPr>
          <p:cNvPr id="13" name="Text 9"/>
          <p:cNvSpPr txBox="1"/>
          <p:nvPr/>
        </p:nvSpPr>
        <p:spPr>
          <a:xfrm>
            <a:off x="7680960" y="2706624"/>
            <a:ext cx="3733495" cy="201168"/>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SO WHEN WE CHECKED ALL 117</a:t>
            </a:r>
            <a:endParaRPr lang="en-US" sz="850" dirty="0"/>
          </a:p>
        </p:txBody>
      </p:sp>
      <p:sp>
        <p:nvSpPr>
          <p:cNvPr id="14" name="Shape 10"/>
          <p:cNvSpPr/>
          <p:nvPr/>
        </p:nvSpPr>
        <p:spPr>
          <a:xfrm>
            <a:off x="7680960" y="3035808"/>
            <a:ext cx="3733495" cy="859536"/>
          </a:xfrm>
          <a:prstGeom prst="roundRect">
            <a:avLst>
              <a:gd name="adj" fmla="val 6383"/>
            </a:avLst>
          </a:prstGeom>
          <a:solidFill>
            <a:srgbClr val="F5F4F3"/>
          </a:solidFill>
          <a:ln w="9525">
            <a:solidFill>
              <a:srgbClr val="E6E4E2"/>
            </a:solidFill>
            <a:prstDash val="solid"/>
          </a:ln>
          <a:effectLst>
            <a:outerShdw sx="100000" sy="100000" kx="0" ky="0" algn="bl" rotWithShape="0" blurRad="2.1183912589765324e+87" dist="5.295978147441331e+86" dir="1.9743255576340073e+102">
              <a:srgbClr val="959092">
                <a:alpha val="2.2000000000000003e+104"/>
              </a:srgbClr>
            </a:outerShdw>
          </a:effectLst>
        </p:spPr>
      </p:sp>
      <p:sp>
        <p:nvSpPr>
          <p:cNvPr id="15" name="Text 11"/>
          <p:cNvSpPr txBox="1"/>
          <p:nvPr/>
        </p:nvSpPr>
        <p:spPr>
          <a:xfrm>
            <a:off x="7882128" y="3182112"/>
            <a:ext cx="1097280" cy="566928"/>
          </a:xfrm>
          <a:prstGeom prst="rect">
            <a:avLst/>
          </a:prstGeom>
          <a:noFill/>
          <a:ln/>
        </p:spPr>
        <p:txBody>
          <a:bodyPr wrap="square" lIns="0" tIns="0" rIns="0" bIns="0" rtlCol="0" anchor="t"/>
          <a:lstStyle/>
          <a:p>
            <a:pPr indent="0" marL="0">
              <a:buNone/>
            </a:pPr>
            <a:r>
              <a:rPr lang="en-US" sz="3600" spc="-140" kern="0" dirty="0">
                <a:solidFill>
                  <a:srgbClr val="2B2D30"/>
                </a:solidFill>
                <a:latin typeface="Montserrat ExtraBold" pitchFamily="34" charset="0"/>
                <a:ea typeface="Montserrat ExtraBold" pitchFamily="34" charset="-122"/>
                <a:cs typeface="Montserrat ExtraBold" pitchFamily="34" charset="-120"/>
              </a:rPr>
              <a:t>52</a:t>
            </a:r>
            <a:endParaRPr lang="en-US" sz="3600" dirty="0"/>
          </a:p>
        </p:txBody>
      </p:sp>
      <p:sp>
        <p:nvSpPr>
          <p:cNvPr id="16" name="Text 12"/>
          <p:cNvSpPr txBox="1"/>
          <p:nvPr/>
        </p:nvSpPr>
        <p:spPr>
          <a:xfrm>
            <a:off x="9052560" y="3218688"/>
            <a:ext cx="2160727" cy="530352"/>
          </a:xfrm>
          <a:prstGeom prst="rect">
            <a:avLst/>
          </a:prstGeom>
          <a:noFill/>
          <a:ln/>
        </p:spPr>
        <p:txBody>
          <a:bodyPr wrap="square" lIns="0" tIns="0" rIns="0" bIns="0" rtlCol="0" anchor="t"/>
          <a:lstStyle/>
          <a:p>
            <a:pPr indent="0" marL="0">
              <a:lnSpc>
                <a:spcPct val="120000"/>
              </a:lnSpc>
              <a:buNone/>
            </a:pPr>
            <a:r>
              <a:rPr lang="en-US" sz="950" spc="30" kern="0" dirty="0">
                <a:solidFill>
                  <a:srgbClr val="6E7175"/>
                </a:solidFill>
                <a:latin typeface="Montserrat Medium" pitchFamily="34" charset="0"/>
                <a:ea typeface="Montserrat Medium" pitchFamily="34" charset="-122"/>
                <a:cs typeface="Montserrat Medium" pitchFamily="34" charset="-120"/>
              </a:rPr>
              <a:t>were already fixed on every</a:t>
            </a:r>
            <a:endParaRPr lang="en-US" sz="950" dirty="0"/>
          </a:p>
          <a:p>
            <a:pPr indent="0" marL="0">
              <a:lnSpc>
                <a:spcPct val="120000"/>
              </a:lnSpc>
              <a:buNone/>
            </a:pPr>
            <a:r>
              <a:rPr lang="en-US" sz="950" spc="30" kern="0" dirty="0">
                <a:solidFill>
                  <a:srgbClr val="6E7175"/>
                </a:solidFill>
                <a:latin typeface="Montserrat Medium" pitchFamily="34" charset="0"/>
                <a:ea typeface="Montserrat Medium" pitchFamily="34" charset="-122"/>
                <a:cs typeface="Montserrat Medium" pitchFamily="34" charset="-120"/>
              </a:rPr>
              <a:t>machine — nothing to do</a:t>
            </a:r>
            <a:endParaRPr lang="en-US" sz="950" dirty="0"/>
          </a:p>
        </p:txBody>
      </p:sp>
      <p:sp>
        <p:nvSpPr>
          <p:cNvPr id="17" name="Shape 13"/>
          <p:cNvSpPr/>
          <p:nvPr/>
        </p:nvSpPr>
        <p:spPr>
          <a:xfrm>
            <a:off x="7680960" y="4005072"/>
            <a:ext cx="3733495" cy="859536"/>
          </a:xfrm>
          <a:prstGeom prst="roundRect">
            <a:avLst>
              <a:gd name="adj" fmla="val 6383"/>
            </a:avLst>
          </a:prstGeom>
          <a:solidFill>
            <a:srgbClr val="F6EEF0"/>
          </a:solidFill>
          <a:ln w="9525">
            <a:solidFill>
              <a:srgbClr val="942838"/>
            </a:solidFill>
            <a:prstDash val="solid"/>
          </a:ln>
          <a:effectLst>
            <a:outerShdw sx="100000" sy="100000" kx="0" ky="0" algn="bl" rotWithShape="0" blurRad="2.6903568989001962e+91" dist="6.7258922472504905e+90" dir="1.1845953345804043e+107">
              <a:srgbClr val="959092">
                <a:alpha val="2.2000000000000003e+109"/>
              </a:srgbClr>
            </a:outerShdw>
          </a:effectLst>
        </p:spPr>
      </p:sp>
      <p:sp>
        <p:nvSpPr>
          <p:cNvPr id="18" name="Text 14"/>
          <p:cNvSpPr txBox="1"/>
          <p:nvPr/>
        </p:nvSpPr>
        <p:spPr>
          <a:xfrm>
            <a:off x="7882128" y="4151376"/>
            <a:ext cx="1097280" cy="566928"/>
          </a:xfrm>
          <a:prstGeom prst="rect">
            <a:avLst/>
          </a:prstGeom>
          <a:noFill/>
          <a:ln/>
        </p:spPr>
        <p:txBody>
          <a:bodyPr wrap="square" lIns="0" tIns="0" rIns="0" bIns="0" rtlCol="0" anchor="t"/>
          <a:lstStyle/>
          <a:p>
            <a:pPr indent="0" marL="0">
              <a:buNone/>
            </a:pPr>
            <a:r>
              <a:rPr lang="en-US" sz="3600" spc="-140" kern="0" dirty="0">
                <a:solidFill>
                  <a:srgbClr val="942838"/>
                </a:solidFill>
                <a:latin typeface="Montserrat ExtraBold" pitchFamily="34" charset="0"/>
                <a:ea typeface="Montserrat ExtraBold" pitchFamily="34" charset="-122"/>
                <a:cs typeface="Montserrat ExtraBold" pitchFamily="34" charset="-120"/>
              </a:rPr>
              <a:t>65</a:t>
            </a:r>
            <a:endParaRPr lang="en-US" sz="3600" dirty="0"/>
          </a:p>
        </p:txBody>
      </p:sp>
      <p:sp>
        <p:nvSpPr>
          <p:cNvPr id="19" name="Text 15"/>
          <p:cNvSpPr txBox="1"/>
          <p:nvPr/>
        </p:nvSpPr>
        <p:spPr>
          <a:xfrm>
            <a:off x="9052560" y="4187952"/>
            <a:ext cx="2160727" cy="530352"/>
          </a:xfrm>
          <a:prstGeom prst="rect">
            <a:avLst/>
          </a:prstGeom>
          <a:noFill/>
          <a:ln/>
        </p:spPr>
        <p:txBody>
          <a:bodyPr wrap="square" lIns="0" tIns="0" rIns="0" bIns="0" rtlCol="0" anchor="t"/>
          <a:lstStyle/>
          <a:p>
            <a:pPr indent="0" marL="0">
              <a:lnSpc>
                <a:spcPct val="120000"/>
              </a:lnSpc>
              <a:buNone/>
            </a:pPr>
            <a:r>
              <a:rPr lang="en-US" sz="950" spc="30" kern="0" dirty="0">
                <a:solidFill>
                  <a:srgbClr val="6E7175"/>
                </a:solidFill>
                <a:latin typeface="Montserrat Medium" pitchFamily="34" charset="0"/>
                <a:ea typeface="Montserrat Medium" pitchFamily="34" charset="-122"/>
                <a:cs typeface="Montserrat Medium" pitchFamily="34" charset="-120"/>
              </a:rPr>
              <a:t>were genuinely still open</a:t>
            </a:r>
            <a:endParaRPr lang="en-US" sz="950" dirty="0"/>
          </a:p>
          <a:p>
            <a:pPr indent="0" marL="0">
              <a:lnSpc>
                <a:spcPct val="120000"/>
              </a:lnSpc>
              <a:buNone/>
            </a:pPr>
            <a:r>
              <a:rPr lang="en-US" sz="950" spc="30" kern="0" dirty="0">
                <a:solidFill>
                  <a:srgbClr val="6E7175"/>
                </a:solidFill>
                <a:latin typeface="Montserrat Medium" pitchFamily="34" charset="0"/>
                <a:ea typeface="Montserrat Medium" pitchFamily="34" charset="-122"/>
                <a:cs typeface="Montserrat Medium" pitchFamily="34" charset="-120"/>
              </a:rPr>
              <a:t>somewhere</a:t>
            </a:r>
            <a:endParaRPr lang="en-US" sz="950" dirty="0"/>
          </a:p>
        </p:txBody>
      </p:sp>
      <p:pic>
        <p:nvPicPr>
          <p:cNvPr id="20" name="Image 2" descr="/home/user/ai/assets/gen/chart-no-action.png">    </p:cNvPr>
          <p:cNvPicPr>
            <a:picLocks noChangeAspect="1"/>
          </p:cNvPicPr>
          <p:nvPr/>
        </p:nvPicPr>
        <p:blipFill>
          <a:blip r:embed="rId3"/>
          <a:stretch>
            <a:fillRect/>
          </a:stretch>
        </p:blipFill>
        <p:spPr>
          <a:xfrm>
            <a:off x="777240" y="5029200"/>
            <a:ext cx="10637215" cy="767634"/>
          </a:xfrm>
          <a:prstGeom prst="rect">
            <a:avLst/>
          </a:prstGeom>
        </p:spPr>
      </p:pic>
      <p:sp>
        <p:nvSpPr>
          <p:cNvPr id="21" name="Text 16"/>
          <p:cNvSpPr txBox="1"/>
          <p:nvPr/>
        </p:nvSpPr>
        <p:spPr>
          <a:xfrm>
            <a:off x="777240" y="5869986"/>
            <a:ext cx="4572000" cy="256032"/>
          </a:xfrm>
          <a:prstGeom prst="rect">
            <a:avLst/>
          </a:prstGeom>
          <a:noFill/>
          <a:ln/>
        </p:spPr>
        <p:txBody>
          <a:bodyPr wrap="square" lIns="0" tIns="0" rIns="0" bIns="0" rtlCol="0" anchor="t"/>
          <a:lstStyle/>
          <a:p>
            <a:pPr indent="0" marL="0">
              <a:buNone/>
            </a:pPr>
            <a:r>
              <a:rPr lang="en-US" sz="1150" dirty="0">
                <a:solidFill>
                  <a:srgbClr val="942838"/>
                </a:solidFill>
                <a:latin typeface="Montserrat SemiBold" pitchFamily="34" charset="0"/>
                <a:ea typeface="Montserrat SemiBold" pitchFamily="34" charset="-122"/>
                <a:cs typeface="Montserrat SemiBold" pitchFamily="34" charset="-120"/>
              </a:rPr>
              <a:t>65 still needed patching</a:t>
            </a:r>
            <a:endParaRPr lang="en-US" sz="1150" dirty="0"/>
          </a:p>
        </p:txBody>
      </p:sp>
      <p:sp>
        <p:nvSpPr>
          <p:cNvPr id="22" name="Text 17"/>
          <p:cNvSpPr txBox="1"/>
          <p:nvPr/>
        </p:nvSpPr>
        <p:spPr>
          <a:xfrm>
            <a:off x="5013655" y="5869986"/>
            <a:ext cx="6400800" cy="256032"/>
          </a:xfrm>
          <a:prstGeom prst="rect">
            <a:avLst/>
          </a:prstGeom>
          <a:noFill/>
          <a:ln/>
        </p:spPr>
        <p:txBody>
          <a:bodyPr wrap="square" lIns="0" tIns="0" rIns="0" bIns="0" rtlCol="0" anchor="t"/>
          <a:lstStyle/>
          <a:p>
            <a:pPr algn="r" indent="0" marL="0">
              <a:buNone/>
            </a:pPr>
            <a:r>
              <a:rPr lang="en-US" sz="1150" dirty="0">
                <a:solidFill>
                  <a:srgbClr val="6E7175"/>
                </a:solidFill>
                <a:latin typeface="Montserrat SemiBold" pitchFamily="34" charset="0"/>
                <a:ea typeface="Montserrat SemiBold" pitchFamily="34" charset="-122"/>
                <a:cs typeface="Montserrat SemiBold" pitchFamily="34" charset="-120"/>
              </a:rPr>
              <a:t>52 already covered — nobody had to do anything for these</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home/user/ai/assets/gen/logo-red.png">    </p:cNvPr>
          <p:cNvPicPr>
            <a:picLocks noChangeAspect="1"/>
          </p:cNvPicPr>
          <p:nvPr/>
        </p:nvPicPr>
        <p:blipFill>
          <a:blip r:embed="rId1"/>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indent="0" marL="0">
              <a:buNone/>
            </a:pPr>
            <a:r>
              <a:rPr lang="en-US" sz="1000" spc="220" kern="0" dirty="0">
                <a:solidFill>
                  <a:srgbClr val="942838"/>
                </a:solidFill>
                <a:latin typeface="Montserrat SemiBold" pitchFamily="34" charset="0"/>
                <a:ea typeface="Montserrat SemiBold" pitchFamily="34" charset="-122"/>
                <a:cs typeface="Montserrat SemiBold" pitchFamily="34" charset="-120"/>
              </a:rPr>
              <a:t>PROJECT 03  ·  GOING DEEPER</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indent="0" marL="0">
              <a:lnSpc>
                <a:spcPct val="98000"/>
              </a:lnSpc>
              <a:buNone/>
            </a:pPr>
            <a:r>
              <a:rPr lang="en-US" sz="2900" spc="-50" kern="0" dirty="0">
                <a:solidFill>
                  <a:srgbClr val="2B2D30"/>
                </a:solidFill>
                <a:latin typeface="Montserrat ExtraBold" pitchFamily="34" charset="0"/>
                <a:ea typeface="Montserrat ExtraBold" pitchFamily="34" charset="-122"/>
                <a:cs typeface="Montserrat ExtraBold" pitchFamily="34" charset="-120"/>
              </a:rPr>
              <a:t>Why 65 flaws turn into 209 rows</a:t>
            </a:r>
            <a:endParaRPr lang="en-US" sz="2900" dirty="0"/>
          </a:p>
        </p:txBody>
      </p:sp>
      <p:sp>
        <p:nvSpPr>
          <p:cNvPr id="5" name="Shape 2"/>
          <p:cNvSpPr/>
          <p:nvPr/>
        </p:nvSpPr>
        <p:spPr>
          <a:xfrm>
            <a:off x="777240" y="1700784"/>
            <a:ext cx="566928" cy="50292"/>
          </a:xfrm>
          <a:prstGeom prst="rect">
            <a:avLst/>
          </a:prstGeom>
          <a:solidFill>
            <a:srgbClr val="942838"/>
          </a:solidFill>
          <a:ln/>
        </p:spPr>
      </p:sp>
      <p:sp>
        <p:nvSpPr>
          <p:cNvPr id="6" name="Shape 3"/>
          <p:cNvSpPr/>
          <p:nvPr/>
        </p:nvSpPr>
        <p:spPr>
          <a:xfrm>
            <a:off x="777240" y="6181344"/>
            <a:ext cx="10637215" cy="10973"/>
          </a:xfrm>
          <a:prstGeom prst="rect">
            <a:avLst/>
          </a:prstGeom>
          <a:solidFill>
            <a:srgbClr val="E6E4E2"/>
          </a:solidFill>
          <a:ln/>
        </p:spPr>
      </p:sp>
      <p:sp>
        <p:nvSpPr>
          <p:cNvPr id="7" name="Text 4"/>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CVE-TO-PATCH AUTOMATION</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20</a:t>
            </a:r>
            <a:endParaRPr lang="en-US" sz="850" dirty="0"/>
          </a:p>
        </p:txBody>
      </p:sp>
      <p:sp>
        <p:nvSpPr>
          <p:cNvPr id="9" name="Text 6"/>
          <p:cNvSpPr txBox="1"/>
          <p:nvPr/>
        </p:nvSpPr>
        <p:spPr>
          <a:xfrm>
            <a:off x="777240" y="1956816"/>
            <a:ext cx="10241280" cy="310896"/>
          </a:xfrm>
          <a:prstGeom prst="rect">
            <a:avLst/>
          </a:prstGeom>
          <a:noFill/>
          <a:ln/>
        </p:spPr>
        <p:txBody>
          <a:bodyPr wrap="square" lIns="0" tIns="0" rIns="0" bIns="0" rtlCol="0" anchor="t"/>
          <a:lstStyle/>
          <a:p>
            <a:pPr indent="0" marL="0">
              <a:buNone/>
            </a:pPr>
            <a:r>
              <a:rPr lang="en-US" sz="1400" dirty="0">
                <a:solidFill>
                  <a:srgbClr val="6E7175"/>
                </a:solidFill>
                <a:latin typeface="Montserrat Medium" pitchFamily="34" charset="0"/>
                <a:ea typeface="Montserrat Medium" pitchFamily="34" charset="-122"/>
                <a:cs typeface="Montserrat Medium" pitchFamily="34" charset="-120"/>
              </a:rPr>
              <a:t>One flaw does not mean one patch. The same flaw needs a differently numbered patch on each version of Windows we run — so one flaw becomes several rows on the list.</a:t>
            </a:r>
            <a:endParaRPr lang="en-US" sz="1400" dirty="0"/>
          </a:p>
        </p:txBody>
      </p:sp>
      <p:pic>
        <p:nvPicPr>
          <p:cNvPr id="10" name="Image 1" descr="/home/user/ai/assets/gen/one-flaw-many-patches.png">    </p:cNvPr>
          <p:cNvPicPr>
            <a:picLocks noChangeAspect="1"/>
          </p:cNvPicPr>
          <p:nvPr/>
        </p:nvPicPr>
        <p:blipFill>
          <a:blip r:embed="rId2"/>
          <a:stretch>
            <a:fillRect/>
          </a:stretch>
        </p:blipFill>
        <p:spPr>
          <a:xfrm>
            <a:off x="685800" y="2450592"/>
            <a:ext cx="5943600" cy="2286000"/>
          </a:xfrm>
          <a:prstGeom prst="rect">
            <a:avLst/>
          </a:prstGeom>
        </p:spPr>
      </p:pic>
      <p:sp>
        <p:nvSpPr>
          <p:cNvPr id="11" name="Shape 7"/>
          <p:cNvSpPr/>
          <p:nvPr/>
        </p:nvSpPr>
        <p:spPr>
          <a:xfrm>
            <a:off x="6949440" y="2450592"/>
            <a:ext cx="4465015" cy="2212848"/>
          </a:xfrm>
          <a:prstGeom prst="roundRect">
            <a:avLst>
              <a:gd name="adj" fmla="val 2479"/>
            </a:avLst>
          </a:prstGeom>
          <a:solidFill>
            <a:srgbClr val="FFFFFF"/>
          </a:solidFill>
          <a:ln w="9525">
            <a:solidFill>
              <a:srgbClr val="E6E4E2"/>
            </a:solidFill>
            <a:prstDash val="solid"/>
          </a:ln>
          <a:effectLst>
            <a:outerShdw sx="100000" sy="100000" kx="0" ky="0" algn="bl" rotWithShape="0" blurRad="3.416753261603249e+95" dist="8.541883154008123e+94" dir="7.107572007482426e+111">
              <a:srgbClr val="959092">
                <a:alpha val="2.2000000000000003e+114"/>
              </a:srgbClr>
            </a:outerShdw>
          </a:effectLst>
        </p:spPr>
      </p:sp>
      <p:sp>
        <p:nvSpPr>
          <p:cNvPr id="12" name="Text 8"/>
          <p:cNvSpPr txBox="1"/>
          <p:nvPr/>
        </p:nvSpPr>
        <p:spPr>
          <a:xfrm>
            <a:off x="7242048" y="2688336"/>
            <a:ext cx="3879799" cy="201168"/>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WHERE 209 COMES FROM</a:t>
            </a:r>
            <a:endParaRPr lang="en-US" sz="850" dirty="0"/>
          </a:p>
        </p:txBody>
      </p:sp>
      <p:sp>
        <p:nvSpPr>
          <p:cNvPr id="13" name="Text 9"/>
          <p:cNvSpPr txBox="1"/>
          <p:nvPr/>
        </p:nvSpPr>
        <p:spPr>
          <a:xfrm>
            <a:off x="7242048" y="2944368"/>
            <a:ext cx="3879799" cy="384048"/>
          </a:xfrm>
          <a:prstGeom prst="rect">
            <a:avLst/>
          </a:prstGeom>
          <a:noFill/>
          <a:ln/>
        </p:spPr>
        <p:txBody>
          <a:bodyPr wrap="square" lIns="0" tIns="0" rIns="0" bIns="0" rtlCol="0" anchor="t"/>
          <a:lstStyle/>
          <a:p>
            <a:pPr indent="0" marL="0">
              <a:buNone/>
            </a:pPr>
            <a:r>
              <a:rPr lang="en-US" sz="2200" spc="-70" kern="0" dirty="0">
                <a:solidFill>
                  <a:srgbClr val="2B2D30"/>
                </a:solidFill>
                <a:latin typeface="Montserrat ExtraBold" pitchFamily="34" charset="0"/>
                <a:ea typeface="Montserrat ExtraBold" pitchFamily="34" charset="-122"/>
                <a:cs typeface="Montserrat ExtraBold" pitchFamily="34" charset="-120"/>
              </a:rPr>
              <a:t>Kevlar’s own report</a:t>
            </a:r>
            <a:endParaRPr lang="en-US" sz="2200" dirty="0"/>
          </a:p>
        </p:txBody>
      </p:sp>
      <p:sp>
        <p:nvSpPr>
          <p:cNvPr id="14" name="Text 10"/>
          <p:cNvSpPr txBox="1"/>
          <p:nvPr/>
        </p:nvSpPr>
        <p:spPr>
          <a:xfrm>
            <a:off x="7242048" y="3438144"/>
            <a:ext cx="3879799" cy="1005840"/>
          </a:xfrm>
          <a:prstGeom prst="rect">
            <a:avLst/>
          </a:prstGeom>
          <a:noFill/>
          <a:ln/>
        </p:spPr>
        <p:txBody>
          <a:bodyPr wrap="square" lIns="0" tIns="0" rIns="0" bIns="0" rtlCol="0" anchor="t"/>
          <a:lstStyle/>
          <a:p>
            <a:pPr indent="0" marL="0">
              <a:lnSpc>
                <a:spcPct val="126000"/>
              </a:lnSpc>
              <a:buNone/>
            </a:pPr>
            <a:r>
              <a:rPr lang="en-US" sz="1100" dirty="0">
                <a:solidFill>
                  <a:srgbClr val="43464A"/>
                </a:solidFill>
                <a:latin typeface="Montserrat" pitchFamily="34" charset="0"/>
                <a:ea typeface="Montserrat" pitchFamily="34" charset="-122"/>
                <a:cs typeface="Montserrat" pitchFamily="34" charset="-120"/>
              </a:rPr>
              <a:t>Do that fan-out for all 65 open flaws, across every Windows version in the fleet, and it adds up to 209 rows. Kevlar already publishes that list — I opened it and counted, I did not calculate it.</a:t>
            </a:r>
            <a:endParaRPr lang="en-US" sz="1100" dirty="0"/>
          </a:p>
        </p:txBody>
      </p:sp>
      <p:sp>
        <p:nvSpPr>
          <p:cNvPr id="15" name="Text 11"/>
          <p:cNvSpPr txBox="1"/>
          <p:nvPr/>
        </p:nvSpPr>
        <p:spPr>
          <a:xfrm>
            <a:off x="777240" y="4846320"/>
            <a:ext cx="5486400" cy="201168"/>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THE WHOLE CHAIN</a:t>
            </a:r>
            <a:endParaRPr lang="en-US" sz="850" dirty="0"/>
          </a:p>
        </p:txBody>
      </p:sp>
      <p:sp>
        <p:nvSpPr>
          <p:cNvPr id="16" name="Shape 12"/>
          <p:cNvSpPr/>
          <p:nvPr/>
        </p:nvSpPr>
        <p:spPr>
          <a:xfrm>
            <a:off x="777240" y="5138928"/>
            <a:ext cx="2487168" cy="932688"/>
          </a:xfrm>
          <a:prstGeom prst="roundRect">
            <a:avLst>
              <a:gd name="adj" fmla="val 5882"/>
            </a:avLst>
          </a:prstGeom>
          <a:solidFill>
            <a:srgbClr val="F5F4F3"/>
          </a:solidFill>
          <a:ln w="9525">
            <a:solidFill>
              <a:srgbClr val="E6E4E2"/>
            </a:solidFill>
            <a:prstDash val="solid"/>
          </a:ln>
          <a:effectLst>
            <a:outerShdw sx="100000" sy="100000" kx="0" ky="0" algn="bl" rotWithShape="0" blurRad="101600" dist="50800" dir="5400000">
              <a:srgbClr val="FFFFFF">
                <a:alpha val="75000"/>
              </a:srgbClr>
            </a:outerShdw>
          </a:effectLst>
        </p:spPr>
      </p:sp>
      <p:sp>
        <p:nvSpPr>
          <p:cNvPr id="17" name="Text 13"/>
          <p:cNvSpPr txBox="1"/>
          <p:nvPr/>
        </p:nvSpPr>
        <p:spPr>
          <a:xfrm>
            <a:off x="960120" y="5248656"/>
            <a:ext cx="2121408" cy="402336"/>
          </a:xfrm>
          <a:prstGeom prst="rect">
            <a:avLst/>
          </a:prstGeom>
          <a:noFill/>
          <a:ln/>
        </p:spPr>
        <p:txBody>
          <a:bodyPr wrap="square" lIns="0" tIns="0" rIns="0" bIns="0" rtlCol="0" anchor="ctr"/>
          <a:lstStyle/>
          <a:p>
            <a:pPr algn="ctr" indent="0" marL="0">
              <a:buNone/>
            </a:pPr>
            <a:r>
              <a:rPr lang="en-US" sz="2500" spc="-90" kern="0" dirty="0">
                <a:solidFill>
                  <a:srgbClr val="2B2D30"/>
                </a:solidFill>
                <a:latin typeface="Montserrat ExtraBold" pitchFamily="34" charset="0"/>
                <a:ea typeface="Montserrat ExtraBold" pitchFamily="34" charset="-122"/>
                <a:cs typeface="Montserrat ExtraBold" pitchFamily="34" charset="-120"/>
              </a:rPr>
              <a:t>117</a:t>
            </a:r>
            <a:endParaRPr lang="en-US" sz="2500" dirty="0"/>
          </a:p>
        </p:txBody>
      </p:sp>
      <p:sp>
        <p:nvSpPr>
          <p:cNvPr id="18" name="Text 14"/>
          <p:cNvSpPr txBox="1"/>
          <p:nvPr/>
        </p:nvSpPr>
        <p:spPr>
          <a:xfrm>
            <a:off x="923544" y="5669280"/>
            <a:ext cx="2194560" cy="365760"/>
          </a:xfrm>
          <a:prstGeom prst="rect">
            <a:avLst/>
          </a:prstGeom>
          <a:noFill/>
          <a:ln/>
        </p:spPr>
        <p:txBody>
          <a:bodyPr wrap="square" lIns="0" tIns="0" rIns="0" bIns="0" rtlCol="0" anchor="t"/>
          <a:lstStyle/>
          <a:p>
            <a:pPr algn="ctr" indent="0" marL="0">
              <a:lnSpc>
                <a:spcPct val="115000"/>
              </a:lnSpc>
              <a:buNone/>
            </a:pPr>
            <a:r>
              <a:rPr lang="en-US" sz="950" spc="30" kern="0" dirty="0">
                <a:solidFill>
                  <a:srgbClr val="6E7175"/>
                </a:solidFill>
                <a:latin typeface="Montserrat Medium" pitchFamily="34" charset="0"/>
                <a:ea typeface="Montserrat Medium" pitchFamily="34" charset="-122"/>
                <a:cs typeface="Montserrat Medium" pitchFamily="34" charset="-120"/>
              </a:rPr>
              <a:t>flaws tracked</a:t>
            </a:r>
            <a:endParaRPr lang="en-US" sz="950" dirty="0"/>
          </a:p>
        </p:txBody>
      </p:sp>
      <p:sp>
        <p:nvSpPr>
          <p:cNvPr id="19" name="Text 15"/>
          <p:cNvSpPr txBox="1"/>
          <p:nvPr/>
        </p:nvSpPr>
        <p:spPr>
          <a:xfrm>
            <a:off x="3196285" y="5394960"/>
            <a:ext cx="365760" cy="420624"/>
          </a:xfrm>
          <a:prstGeom prst="rect">
            <a:avLst/>
          </a:prstGeom>
          <a:noFill/>
          <a:ln/>
        </p:spPr>
        <p:txBody>
          <a:bodyPr wrap="square" lIns="0" tIns="0" rIns="0" bIns="0" rtlCol="0" anchor="ctr"/>
          <a:lstStyle/>
          <a:p>
            <a:pPr algn="ctr" indent="0" marL="0">
              <a:buNone/>
            </a:pPr>
            <a:r>
              <a:rPr lang="en-US" sz="2600" b="1" dirty="0">
                <a:solidFill>
                  <a:srgbClr val="C9C6C4"/>
                </a:solidFill>
                <a:latin typeface="Montserrat" pitchFamily="34" charset="0"/>
                <a:ea typeface="Montserrat" pitchFamily="34" charset="-122"/>
                <a:cs typeface="Montserrat" pitchFamily="34" charset="-120"/>
              </a:rPr>
              <a:t>›</a:t>
            </a:r>
            <a:endParaRPr lang="en-US" sz="2600" dirty="0"/>
          </a:p>
        </p:txBody>
      </p:sp>
      <p:sp>
        <p:nvSpPr>
          <p:cNvPr id="20" name="Shape 16"/>
          <p:cNvSpPr/>
          <p:nvPr/>
        </p:nvSpPr>
        <p:spPr>
          <a:xfrm>
            <a:off x="3493922" y="5138928"/>
            <a:ext cx="2487168" cy="932688"/>
          </a:xfrm>
          <a:prstGeom prst="roundRect">
            <a:avLst>
              <a:gd name="adj" fmla="val 5882"/>
            </a:avLst>
          </a:prstGeom>
          <a:solidFill>
            <a:srgbClr val="F5F4F3"/>
          </a:solidFill>
          <a:ln w="9525">
            <a:solidFill>
              <a:srgbClr val="E6E4E2"/>
            </a:solidFill>
            <a:prstDash val="solid"/>
          </a:ln>
          <a:effectLst>
            <a:outerShdw sx="100000" sy="100000" kx="0" ky="0" algn="bl" rotWithShape="0" blurRad="1290320000" dist="645160000" dir="324000000000">
              <a:srgbClr val="FFFFFF">
                <a:alpha val="7500000000"/>
              </a:srgbClr>
            </a:outerShdw>
          </a:effectLst>
        </p:spPr>
      </p:sp>
      <p:sp>
        <p:nvSpPr>
          <p:cNvPr id="21" name="Text 17"/>
          <p:cNvSpPr txBox="1"/>
          <p:nvPr/>
        </p:nvSpPr>
        <p:spPr>
          <a:xfrm>
            <a:off x="3676802" y="5248656"/>
            <a:ext cx="2121408" cy="402336"/>
          </a:xfrm>
          <a:prstGeom prst="rect">
            <a:avLst/>
          </a:prstGeom>
          <a:noFill/>
          <a:ln/>
        </p:spPr>
        <p:txBody>
          <a:bodyPr wrap="square" lIns="0" tIns="0" rIns="0" bIns="0" rtlCol="0" anchor="ctr"/>
          <a:lstStyle/>
          <a:p>
            <a:pPr algn="ctr" indent="0" marL="0">
              <a:buNone/>
            </a:pPr>
            <a:r>
              <a:rPr lang="en-US" sz="2500" spc="-90" kern="0" dirty="0">
                <a:solidFill>
                  <a:srgbClr val="2B2D30"/>
                </a:solidFill>
                <a:latin typeface="Montserrat ExtraBold" pitchFamily="34" charset="0"/>
                <a:ea typeface="Montserrat ExtraBold" pitchFamily="34" charset="-122"/>
                <a:cs typeface="Montserrat ExtraBold" pitchFamily="34" charset="-120"/>
              </a:rPr>
              <a:t>65</a:t>
            </a:r>
            <a:endParaRPr lang="en-US" sz="2500" dirty="0"/>
          </a:p>
        </p:txBody>
      </p:sp>
      <p:sp>
        <p:nvSpPr>
          <p:cNvPr id="22" name="Text 18"/>
          <p:cNvSpPr txBox="1"/>
          <p:nvPr/>
        </p:nvSpPr>
        <p:spPr>
          <a:xfrm>
            <a:off x="3640226" y="5669280"/>
            <a:ext cx="2194560" cy="365760"/>
          </a:xfrm>
          <a:prstGeom prst="rect">
            <a:avLst/>
          </a:prstGeom>
          <a:noFill/>
          <a:ln/>
        </p:spPr>
        <p:txBody>
          <a:bodyPr wrap="square" lIns="0" tIns="0" rIns="0" bIns="0" rtlCol="0" anchor="t"/>
          <a:lstStyle/>
          <a:p>
            <a:pPr algn="ctr" indent="0" marL="0">
              <a:lnSpc>
                <a:spcPct val="115000"/>
              </a:lnSpc>
              <a:buNone/>
            </a:pPr>
            <a:r>
              <a:rPr lang="en-US" sz="950" spc="30" kern="0" dirty="0">
                <a:solidFill>
                  <a:srgbClr val="6E7175"/>
                </a:solidFill>
                <a:latin typeface="Montserrat Medium" pitchFamily="34" charset="0"/>
                <a:ea typeface="Montserrat Medium" pitchFamily="34" charset="-122"/>
                <a:cs typeface="Montserrat Medium" pitchFamily="34" charset="-120"/>
              </a:rPr>
              <a:t>still open</a:t>
            </a:r>
            <a:endParaRPr lang="en-US" sz="950" dirty="0"/>
          </a:p>
        </p:txBody>
      </p:sp>
      <p:sp>
        <p:nvSpPr>
          <p:cNvPr id="23" name="Text 19"/>
          <p:cNvSpPr txBox="1"/>
          <p:nvPr/>
        </p:nvSpPr>
        <p:spPr>
          <a:xfrm>
            <a:off x="5912968" y="5394960"/>
            <a:ext cx="365760" cy="420624"/>
          </a:xfrm>
          <a:prstGeom prst="rect">
            <a:avLst/>
          </a:prstGeom>
          <a:noFill/>
          <a:ln/>
        </p:spPr>
        <p:txBody>
          <a:bodyPr wrap="square" lIns="0" tIns="0" rIns="0" bIns="0" rtlCol="0" anchor="ctr"/>
          <a:lstStyle/>
          <a:p>
            <a:pPr algn="ctr" indent="0" marL="0">
              <a:buNone/>
            </a:pPr>
            <a:r>
              <a:rPr lang="en-US" sz="2600" b="1" dirty="0">
                <a:solidFill>
                  <a:srgbClr val="C9C6C4"/>
                </a:solidFill>
                <a:latin typeface="Montserrat" pitchFamily="34" charset="0"/>
                <a:ea typeface="Montserrat" pitchFamily="34" charset="-122"/>
                <a:cs typeface="Montserrat" pitchFamily="34" charset="-120"/>
              </a:rPr>
              <a:t>›</a:t>
            </a:r>
            <a:endParaRPr lang="en-US" sz="2600" dirty="0"/>
          </a:p>
        </p:txBody>
      </p:sp>
      <p:sp>
        <p:nvSpPr>
          <p:cNvPr id="24" name="Shape 20"/>
          <p:cNvSpPr/>
          <p:nvPr/>
        </p:nvSpPr>
        <p:spPr>
          <a:xfrm>
            <a:off x="6210605" y="5138928"/>
            <a:ext cx="2487168" cy="932688"/>
          </a:xfrm>
          <a:prstGeom prst="roundRect">
            <a:avLst>
              <a:gd name="adj" fmla="val 5882"/>
            </a:avLst>
          </a:prstGeom>
          <a:solidFill>
            <a:srgbClr val="F5F4F3"/>
          </a:solidFill>
          <a:ln w="9525">
            <a:solidFill>
              <a:srgbClr val="E6E4E2"/>
            </a:solidFill>
            <a:prstDash val="solid"/>
          </a:ln>
          <a:effectLst>
            <a:outerShdw sx="100000" sy="100000" kx="0" ky="0" algn="bl" rotWithShape="0" blurRad="16387064000000" dist="8193532000000" dir="19440000000000000">
              <a:srgbClr val="FFFFFF">
                <a:alpha val="750000000000000"/>
              </a:srgbClr>
            </a:outerShdw>
          </a:effectLst>
        </p:spPr>
      </p:sp>
      <p:sp>
        <p:nvSpPr>
          <p:cNvPr id="25" name="Text 21"/>
          <p:cNvSpPr txBox="1"/>
          <p:nvPr/>
        </p:nvSpPr>
        <p:spPr>
          <a:xfrm>
            <a:off x="6393485" y="5248656"/>
            <a:ext cx="2121408" cy="402336"/>
          </a:xfrm>
          <a:prstGeom prst="rect">
            <a:avLst/>
          </a:prstGeom>
          <a:noFill/>
          <a:ln/>
        </p:spPr>
        <p:txBody>
          <a:bodyPr wrap="square" lIns="0" tIns="0" rIns="0" bIns="0" rtlCol="0" anchor="ctr"/>
          <a:lstStyle/>
          <a:p>
            <a:pPr algn="ctr" indent="0" marL="0">
              <a:buNone/>
            </a:pPr>
            <a:r>
              <a:rPr lang="en-US" sz="2500" spc="-90" kern="0" dirty="0">
                <a:solidFill>
                  <a:srgbClr val="2B2D30"/>
                </a:solidFill>
                <a:latin typeface="Montserrat ExtraBold" pitchFamily="34" charset="0"/>
                <a:ea typeface="Montserrat ExtraBold" pitchFamily="34" charset="-122"/>
                <a:cs typeface="Montserrat ExtraBold" pitchFamily="34" charset="-120"/>
              </a:rPr>
              <a:t>209</a:t>
            </a:r>
            <a:endParaRPr lang="en-US" sz="2500" dirty="0"/>
          </a:p>
        </p:txBody>
      </p:sp>
      <p:sp>
        <p:nvSpPr>
          <p:cNvPr id="26" name="Text 22"/>
          <p:cNvSpPr txBox="1"/>
          <p:nvPr/>
        </p:nvSpPr>
        <p:spPr>
          <a:xfrm>
            <a:off x="6356909" y="5669280"/>
            <a:ext cx="2194560" cy="365760"/>
          </a:xfrm>
          <a:prstGeom prst="rect">
            <a:avLst/>
          </a:prstGeom>
          <a:noFill/>
          <a:ln/>
        </p:spPr>
        <p:txBody>
          <a:bodyPr wrap="square" lIns="0" tIns="0" rIns="0" bIns="0" rtlCol="0" anchor="t"/>
          <a:lstStyle/>
          <a:p>
            <a:pPr algn="ctr" indent="0" marL="0">
              <a:lnSpc>
                <a:spcPct val="115000"/>
              </a:lnSpc>
              <a:buNone/>
            </a:pPr>
            <a:r>
              <a:rPr lang="en-US" sz="950" spc="30" kern="0" dirty="0">
                <a:solidFill>
                  <a:srgbClr val="6E7175"/>
                </a:solidFill>
                <a:latin typeface="Montserrat Medium" pitchFamily="34" charset="0"/>
                <a:ea typeface="Montserrat Medium" pitchFamily="34" charset="-122"/>
                <a:cs typeface="Montserrat Medium" pitchFamily="34" charset="-120"/>
              </a:rPr>
              <a:t>rows once split</a:t>
            </a:r>
            <a:endParaRPr lang="en-US" sz="950" dirty="0"/>
          </a:p>
          <a:p>
            <a:pPr algn="ctr" indent="0" marL="0">
              <a:lnSpc>
                <a:spcPct val="115000"/>
              </a:lnSpc>
              <a:buNone/>
            </a:pPr>
            <a:r>
              <a:rPr lang="en-US" sz="950" spc="30" kern="0" dirty="0">
                <a:solidFill>
                  <a:srgbClr val="6E7175"/>
                </a:solidFill>
                <a:latin typeface="Montserrat Medium" pitchFamily="34" charset="0"/>
                <a:ea typeface="Montserrat Medium" pitchFamily="34" charset="-122"/>
                <a:cs typeface="Montserrat Medium" pitchFamily="34" charset="-120"/>
              </a:rPr>
              <a:t>by Windows version</a:t>
            </a:r>
            <a:endParaRPr lang="en-US" sz="950" dirty="0"/>
          </a:p>
        </p:txBody>
      </p:sp>
      <p:sp>
        <p:nvSpPr>
          <p:cNvPr id="27" name="Text 23"/>
          <p:cNvSpPr txBox="1"/>
          <p:nvPr/>
        </p:nvSpPr>
        <p:spPr>
          <a:xfrm>
            <a:off x="8629650" y="5394960"/>
            <a:ext cx="365760" cy="420624"/>
          </a:xfrm>
          <a:prstGeom prst="rect">
            <a:avLst/>
          </a:prstGeom>
          <a:noFill/>
          <a:ln/>
        </p:spPr>
        <p:txBody>
          <a:bodyPr wrap="square" lIns="0" tIns="0" rIns="0" bIns="0" rtlCol="0" anchor="ctr"/>
          <a:lstStyle/>
          <a:p>
            <a:pPr algn="ctr" indent="0" marL="0">
              <a:buNone/>
            </a:pPr>
            <a:r>
              <a:rPr lang="en-US" sz="2600" b="1" dirty="0">
                <a:solidFill>
                  <a:srgbClr val="C9C6C4"/>
                </a:solidFill>
                <a:latin typeface="Montserrat" pitchFamily="34" charset="0"/>
                <a:ea typeface="Montserrat" pitchFamily="34" charset="-122"/>
                <a:cs typeface="Montserrat" pitchFamily="34" charset="-120"/>
              </a:rPr>
              <a:t>›</a:t>
            </a:r>
            <a:endParaRPr lang="en-US" sz="2600" dirty="0"/>
          </a:p>
        </p:txBody>
      </p:sp>
      <p:sp>
        <p:nvSpPr>
          <p:cNvPr id="28" name="Shape 24"/>
          <p:cNvSpPr/>
          <p:nvPr/>
        </p:nvSpPr>
        <p:spPr>
          <a:xfrm>
            <a:off x="8927287" y="5138928"/>
            <a:ext cx="2487168" cy="932688"/>
          </a:xfrm>
          <a:prstGeom prst="roundRect">
            <a:avLst>
              <a:gd name="adj" fmla="val 5882"/>
            </a:avLst>
          </a:prstGeom>
          <a:solidFill>
            <a:srgbClr val="942838"/>
          </a:solidFill>
          <a:ln w="9525">
            <a:solidFill>
              <a:srgbClr val="942838"/>
            </a:solidFill>
            <a:prstDash val="solid"/>
          </a:ln>
          <a:effectLst>
            <a:outerShdw sx="100000" sy="100000" kx="0" ky="0" algn="bl" rotWithShape="0" blurRad="203200" dist="50800" dir="5400000">
              <a:srgbClr val="5D1923">
                <a:alpha val="34000"/>
              </a:srgbClr>
            </a:outerShdw>
          </a:effectLst>
        </p:spPr>
      </p:sp>
      <p:sp>
        <p:nvSpPr>
          <p:cNvPr id="29" name="Text 25"/>
          <p:cNvSpPr txBox="1"/>
          <p:nvPr/>
        </p:nvSpPr>
        <p:spPr>
          <a:xfrm>
            <a:off x="9110167" y="5248656"/>
            <a:ext cx="2121408" cy="402336"/>
          </a:xfrm>
          <a:prstGeom prst="rect">
            <a:avLst/>
          </a:prstGeom>
          <a:noFill/>
          <a:ln/>
        </p:spPr>
        <p:txBody>
          <a:bodyPr wrap="square" lIns="0" tIns="0" rIns="0" bIns="0" rtlCol="0" anchor="ctr"/>
          <a:lstStyle/>
          <a:p>
            <a:pPr algn="ctr" indent="0" marL="0">
              <a:buNone/>
            </a:pPr>
            <a:r>
              <a:rPr lang="en-US" sz="2500" spc="-90" kern="0" dirty="0">
                <a:solidFill>
                  <a:srgbClr val="FFFFFF"/>
                </a:solidFill>
                <a:latin typeface="Montserrat ExtraBold" pitchFamily="34" charset="0"/>
                <a:ea typeface="Montserrat ExtraBold" pitchFamily="34" charset="-122"/>
                <a:cs typeface="Montserrat ExtraBold" pitchFamily="34" charset="-120"/>
              </a:rPr>
              <a:t>46</a:t>
            </a:r>
            <a:endParaRPr lang="en-US" sz="2500" dirty="0"/>
          </a:p>
        </p:txBody>
      </p:sp>
      <p:sp>
        <p:nvSpPr>
          <p:cNvPr id="30" name="Text 26"/>
          <p:cNvSpPr txBox="1"/>
          <p:nvPr/>
        </p:nvSpPr>
        <p:spPr>
          <a:xfrm>
            <a:off x="9073591" y="5669280"/>
            <a:ext cx="2194560" cy="365760"/>
          </a:xfrm>
          <a:prstGeom prst="rect">
            <a:avLst/>
          </a:prstGeom>
          <a:noFill/>
          <a:ln/>
        </p:spPr>
        <p:txBody>
          <a:bodyPr wrap="square" lIns="0" tIns="0" rIns="0" bIns="0" rtlCol="0" anchor="t"/>
          <a:lstStyle/>
          <a:p>
            <a:pPr algn="ctr" indent="0" marL="0">
              <a:lnSpc>
                <a:spcPct val="115000"/>
              </a:lnSpc>
              <a:buNone/>
            </a:pPr>
            <a:r>
              <a:rPr lang="en-US" sz="950" spc="30" kern="0" dirty="0">
                <a:solidFill>
                  <a:srgbClr val="E4C9CE"/>
                </a:solidFill>
                <a:latin typeface="Montserrat Medium" pitchFamily="34" charset="0"/>
                <a:ea typeface="Montserrat Medium" pitchFamily="34" charset="-122"/>
                <a:cs typeface="Montserrat Medium" pitchFamily="34" charset="-120"/>
              </a:rPr>
              <a:t>tickets, after the</a:t>
            </a:r>
            <a:endParaRPr lang="en-US" sz="950" dirty="0"/>
          </a:p>
          <a:p>
            <a:pPr algn="ctr" indent="0" marL="0">
              <a:lnSpc>
                <a:spcPct val="115000"/>
              </a:lnSpc>
              <a:buNone/>
            </a:pPr>
            <a:r>
              <a:rPr lang="en-US" sz="950" spc="30" kern="0" dirty="0">
                <a:solidFill>
                  <a:srgbClr val="E4C9CE"/>
                </a:solidFill>
                <a:latin typeface="Montserrat Medium" pitchFamily="34" charset="0"/>
                <a:ea typeface="Montserrat Medium" pitchFamily="34" charset="-122"/>
                <a:cs typeface="Montserrat Medium" pitchFamily="34" charset="-120"/>
              </a:rPr>
              <a:t>next slide’s rule</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home/user/ai/assets/gen/logo-red.png">    </p:cNvPr>
          <p:cNvPicPr>
            <a:picLocks noChangeAspect="1"/>
          </p:cNvPicPr>
          <p:nvPr/>
        </p:nvPicPr>
        <p:blipFill>
          <a:blip r:embed="rId1"/>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indent="0" marL="0">
              <a:buNone/>
            </a:pPr>
            <a:r>
              <a:rPr lang="en-US" sz="1000" spc="220" kern="0" dirty="0">
                <a:solidFill>
                  <a:srgbClr val="942838"/>
                </a:solidFill>
                <a:latin typeface="Montserrat SemiBold" pitchFamily="34" charset="0"/>
                <a:ea typeface="Montserrat SemiBold" pitchFamily="34" charset="-122"/>
                <a:cs typeface="Montserrat SemiBold" pitchFamily="34" charset="-120"/>
              </a:rPr>
              <a:t>PROJECT 03  ·  THE PAYOFF</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indent="0" marL="0">
              <a:lnSpc>
                <a:spcPct val="98000"/>
              </a:lnSpc>
              <a:buNone/>
            </a:pPr>
            <a:r>
              <a:rPr lang="en-US" sz="2900" spc="-50" kern="0" dirty="0">
                <a:solidFill>
                  <a:srgbClr val="2B2D30"/>
                </a:solidFill>
                <a:latin typeface="Montserrat ExtraBold" pitchFamily="34" charset="0"/>
                <a:ea typeface="Montserrat ExtraBold" pitchFamily="34" charset="-122"/>
                <a:cs typeface="Montserrat ExtraBold" pitchFamily="34" charset="-120"/>
              </a:rPr>
              <a:t>209 rows became 46 tickets</a:t>
            </a:r>
            <a:endParaRPr lang="en-US" sz="2900" dirty="0"/>
          </a:p>
        </p:txBody>
      </p:sp>
      <p:sp>
        <p:nvSpPr>
          <p:cNvPr id="5" name="Shape 2"/>
          <p:cNvSpPr/>
          <p:nvPr/>
        </p:nvSpPr>
        <p:spPr>
          <a:xfrm>
            <a:off x="777240" y="1700784"/>
            <a:ext cx="566928" cy="50292"/>
          </a:xfrm>
          <a:prstGeom prst="rect">
            <a:avLst/>
          </a:prstGeom>
          <a:solidFill>
            <a:srgbClr val="942838"/>
          </a:solidFill>
          <a:ln/>
        </p:spPr>
      </p:sp>
      <p:sp>
        <p:nvSpPr>
          <p:cNvPr id="6" name="Shape 3"/>
          <p:cNvSpPr/>
          <p:nvPr/>
        </p:nvSpPr>
        <p:spPr>
          <a:xfrm>
            <a:off x="777240" y="6181344"/>
            <a:ext cx="10637215" cy="10973"/>
          </a:xfrm>
          <a:prstGeom prst="rect">
            <a:avLst/>
          </a:prstGeom>
          <a:solidFill>
            <a:srgbClr val="E6E4E2"/>
          </a:solidFill>
          <a:ln/>
        </p:spPr>
      </p:sp>
      <p:sp>
        <p:nvSpPr>
          <p:cNvPr id="7" name="Text 4"/>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CVE-TO-PATCH AUTOMATION</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21</a:t>
            </a:r>
            <a:endParaRPr lang="en-US" sz="850" dirty="0"/>
          </a:p>
        </p:txBody>
      </p:sp>
      <p:sp>
        <p:nvSpPr>
          <p:cNvPr id="9" name="Shape 6"/>
          <p:cNvSpPr/>
          <p:nvPr/>
        </p:nvSpPr>
        <p:spPr>
          <a:xfrm>
            <a:off x="777240" y="1847088"/>
            <a:ext cx="10637215" cy="603504"/>
          </a:xfrm>
          <a:prstGeom prst="roundRect">
            <a:avLst>
              <a:gd name="adj" fmla="val 9091"/>
            </a:avLst>
          </a:prstGeom>
          <a:solidFill>
            <a:srgbClr val="F6EEF0"/>
          </a:solidFill>
          <a:ln/>
        </p:spPr>
      </p:sp>
      <p:sp>
        <p:nvSpPr>
          <p:cNvPr id="10" name="Shape 7"/>
          <p:cNvSpPr/>
          <p:nvPr/>
        </p:nvSpPr>
        <p:spPr>
          <a:xfrm>
            <a:off x="777240" y="1847088"/>
            <a:ext cx="50292" cy="603504"/>
          </a:xfrm>
          <a:prstGeom prst="rect">
            <a:avLst/>
          </a:prstGeom>
          <a:solidFill>
            <a:srgbClr val="942838"/>
          </a:solidFill>
          <a:ln/>
        </p:spPr>
      </p:sp>
      <p:sp>
        <p:nvSpPr>
          <p:cNvPr id="11" name="Text 8"/>
          <p:cNvSpPr txBox="1"/>
          <p:nvPr/>
        </p:nvSpPr>
        <p:spPr>
          <a:xfrm>
            <a:off x="1014984" y="2048256"/>
            <a:ext cx="10180015" cy="310896"/>
          </a:xfrm>
          <a:prstGeom prst="rect">
            <a:avLst/>
          </a:prstGeom>
          <a:noFill/>
          <a:ln/>
        </p:spPr>
        <p:txBody>
          <a:bodyPr wrap="square" lIns="0" tIns="0" rIns="0" bIns="0" rtlCol="0" anchor="t"/>
          <a:lstStyle/>
          <a:p>
            <a:pPr indent="0" marL="0">
              <a:buNone/>
            </a:pPr>
            <a:r>
              <a:rPr lang="en-US" sz="900" spc="140" kern="0" dirty="0">
                <a:solidFill>
                  <a:srgbClr val="942838"/>
                </a:solidFill>
                <a:latin typeface="Montserrat SemiBold" pitchFamily="34" charset="0"/>
                <a:ea typeface="Montserrat SemiBold" pitchFamily="34" charset="-122"/>
                <a:cs typeface="Montserrat SemiBold" pitchFamily="34" charset="-120"/>
              </a:rPr>
              <a:t>THE SAME FACT AGAIN   </a:t>
            </a:r>
            <a:pPr indent="0" marL="0">
              <a:buNone/>
            </a:pPr>
            <a:r>
              <a:rPr lang="en-US" sz="1250" dirty="0">
                <a:solidFill>
                  <a:srgbClr val="2B2D30"/>
                </a:solidFill>
                <a:latin typeface="Montserrat SemiBold" pitchFamily="34" charset="0"/>
                <a:ea typeface="Montserrat SemiBold" pitchFamily="34" charset="-122"/>
                <a:cs typeface="Montserrat SemiBold" pitchFamily="34" charset="-120"/>
              </a:rPr>
              <a:t>Only now applied to one machine at a time — because the newest patch already contains the older ones, most of those rows are the same job twice.</a:t>
            </a:r>
            <a:endParaRPr lang="en-US" sz="900" dirty="0"/>
          </a:p>
        </p:txBody>
      </p:sp>
      <p:sp>
        <p:nvSpPr>
          <p:cNvPr id="12" name="Shape 9"/>
          <p:cNvSpPr/>
          <p:nvPr/>
        </p:nvSpPr>
        <p:spPr>
          <a:xfrm>
            <a:off x="777240" y="2633472"/>
            <a:ext cx="5577840" cy="1627632"/>
          </a:xfrm>
          <a:prstGeom prst="roundRect">
            <a:avLst>
              <a:gd name="adj" fmla="val 3371"/>
            </a:avLst>
          </a:prstGeom>
          <a:solidFill>
            <a:srgbClr val="FFFFFF"/>
          </a:solidFill>
          <a:ln w="9525">
            <a:solidFill>
              <a:srgbClr val="E6E4E2"/>
            </a:solidFill>
            <a:prstDash val="solid"/>
          </a:ln>
          <a:effectLst>
            <a:outerShdw sx="100000" sy="100000" kx="0" ky="0" algn="bl" rotWithShape="0" blurRad="4.3392766422361264e+99" dist="1.0848191605590316e+99" dir="4.2645432044894554e+116">
              <a:srgbClr val="959092">
                <a:alpha val="2.2000000000000005e+119"/>
              </a:srgbClr>
            </a:outerShdw>
          </a:effectLst>
        </p:spPr>
      </p:sp>
      <p:sp>
        <p:nvSpPr>
          <p:cNvPr id="13" name="Text 10"/>
          <p:cNvSpPr txBox="1"/>
          <p:nvPr/>
        </p:nvSpPr>
        <p:spPr>
          <a:xfrm>
            <a:off x="1051560" y="2852928"/>
            <a:ext cx="5029200" cy="201168"/>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ONE SERVER, THREE ROWS ON THE LIST</a:t>
            </a:r>
            <a:endParaRPr lang="en-US" sz="850" dirty="0"/>
          </a:p>
        </p:txBody>
      </p:sp>
      <p:sp>
        <p:nvSpPr>
          <p:cNvPr id="14" name="Text 11"/>
          <p:cNvSpPr txBox="1"/>
          <p:nvPr/>
        </p:nvSpPr>
        <p:spPr>
          <a:xfrm>
            <a:off x="1051560" y="3145536"/>
            <a:ext cx="219456" cy="237744"/>
          </a:xfrm>
          <a:prstGeom prst="rect">
            <a:avLst/>
          </a:prstGeom>
          <a:noFill/>
          <a:ln/>
        </p:spPr>
        <p:txBody>
          <a:bodyPr wrap="square" lIns="0" tIns="0" rIns="0" bIns="0" rtlCol="0" anchor="t"/>
          <a:lstStyle/>
          <a:p>
            <a:pPr indent="0" marL="0">
              <a:buNone/>
            </a:pPr>
            <a:r>
              <a:rPr lang="en-US" sz="1200" dirty="0">
                <a:solidFill>
                  <a:srgbClr val="C9C6C4"/>
                </a:solidFill>
                <a:latin typeface="Montserrat SemiBold" pitchFamily="34" charset="0"/>
                <a:ea typeface="Montserrat SemiBold" pitchFamily="34" charset="-122"/>
                <a:cs typeface="Montserrat SemiBold" pitchFamily="34" charset="-120"/>
              </a:rPr>
              <a:t>—</a:t>
            </a:r>
            <a:endParaRPr lang="en-US" sz="1200" dirty="0"/>
          </a:p>
        </p:txBody>
      </p:sp>
      <p:sp>
        <p:nvSpPr>
          <p:cNvPr id="15" name="Text 12"/>
          <p:cNvSpPr txBox="1"/>
          <p:nvPr/>
        </p:nvSpPr>
        <p:spPr>
          <a:xfrm>
            <a:off x="1325880" y="3145536"/>
            <a:ext cx="4754880" cy="237744"/>
          </a:xfrm>
          <a:prstGeom prst="rect">
            <a:avLst/>
          </a:prstGeom>
          <a:noFill/>
          <a:ln/>
        </p:spPr>
        <p:txBody>
          <a:bodyPr wrap="square" lIns="0" tIns="0" rIns="0" bIns="0" rtlCol="0" anchor="t"/>
          <a:lstStyle/>
          <a:p>
            <a:pPr indent="0" marL="0">
              <a:buNone/>
            </a:pPr>
            <a:r>
              <a:rPr lang="en-US" sz="1200" dirty="0">
                <a:solidFill>
                  <a:srgbClr val="6E7175"/>
                </a:solidFill>
                <a:latin typeface="Montserrat" pitchFamily="34" charset="0"/>
                <a:ea typeface="Montserrat" pitchFamily="34" charset="-122"/>
                <a:cs typeface="Montserrat" pitchFamily="34" charset="-120"/>
              </a:rPr>
              <a:t>March patch</a:t>
            </a:r>
            <a:pPr indent="0" marL="0">
              <a:buNone/>
            </a:pPr>
            <a:r>
              <a:rPr lang="en-US" sz="1100" dirty="0">
                <a:solidFill>
                  <a:srgbClr val="6E7175"/>
                </a:solidFill>
                <a:latin typeface="Montserrat" pitchFamily="34" charset="0"/>
                <a:ea typeface="Montserrat" pitchFamily="34" charset="-122"/>
                <a:cs typeface="Montserrat" pitchFamily="34" charset="-120"/>
              </a:rPr>
              <a:t>   for flaw 1</a:t>
            </a:r>
            <a:endParaRPr lang="en-US" sz="1200" dirty="0"/>
          </a:p>
        </p:txBody>
      </p:sp>
      <p:sp>
        <p:nvSpPr>
          <p:cNvPr id="16" name="Text 13"/>
          <p:cNvSpPr txBox="1"/>
          <p:nvPr/>
        </p:nvSpPr>
        <p:spPr>
          <a:xfrm>
            <a:off x="1051560" y="3456432"/>
            <a:ext cx="219456" cy="237744"/>
          </a:xfrm>
          <a:prstGeom prst="rect">
            <a:avLst/>
          </a:prstGeom>
          <a:noFill/>
          <a:ln/>
        </p:spPr>
        <p:txBody>
          <a:bodyPr wrap="square" lIns="0" tIns="0" rIns="0" bIns="0" rtlCol="0" anchor="t"/>
          <a:lstStyle/>
          <a:p>
            <a:pPr indent="0" marL="0">
              <a:buNone/>
            </a:pPr>
            <a:r>
              <a:rPr lang="en-US" sz="1200" dirty="0">
                <a:solidFill>
                  <a:srgbClr val="C9C6C4"/>
                </a:solidFill>
                <a:latin typeface="Montserrat SemiBold" pitchFamily="34" charset="0"/>
                <a:ea typeface="Montserrat SemiBold" pitchFamily="34" charset="-122"/>
                <a:cs typeface="Montserrat SemiBold" pitchFamily="34" charset="-120"/>
              </a:rPr>
              <a:t>—</a:t>
            </a:r>
            <a:endParaRPr lang="en-US" sz="1200" dirty="0"/>
          </a:p>
        </p:txBody>
      </p:sp>
      <p:sp>
        <p:nvSpPr>
          <p:cNvPr id="17" name="Text 14"/>
          <p:cNvSpPr txBox="1"/>
          <p:nvPr/>
        </p:nvSpPr>
        <p:spPr>
          <a:xfrm>
            <a:off x="1325880" y="3456432"/>
            <a:ext cx="4754880" cy="237744"/>
          </a:xfrm>
          <a:prstGeom prst="rect">
            <a:avLst/>
          </a:prstGeom>
          <a:noFill/>
          <a:ln/>
        </p:spPr>
        <p:txBody>
          <a:bodyPr wrap="square" lIns="0" tIns="0" rIns="0" bIns="0" rtlCol="0" anchor="t"/>
          <a:lstStyle/>
          <a:p>
            <a:pPr indent="0" marL="0">
              <a:buNone/>
            </a:pPr>
            <a:r>
              <a:rPr lang="en-US" sz="1200" dirty="0">
                <a:solidFill>
                  <a:srgbClr val="6E7175"/>
                </a:solidFill>
                <a:latin typeface="Montserrat" pitchFamily="34" charset="0"/>
                <a:ea typeface="Montserrat" pitchFamily="34" charset="-122"/>
                <a:cs typeface="Montserrat" pitchFamily="34" charset="-120"/>
              </a:rPr>
              <a:t>June patch</a:t>
            </a:r>
            <a:pPr indent="0" marL="0">
              <a:buNone/>
            </a:pPr>
            <a:r>
              <a:rPr lang="en-US" sz="1100" dirty="0">
                <a:solidFill>
                  <a:srgbClr val="6E7175"/>
                </a:solidFill>
                <a:latin typeface="Montserrat" pitchFamily="34" charset="0"/>
                <a:ea typeface="Montserrat" pitchFamily="34" charset="-122"/>
                <a:cs typeface="Montserrat" pitchFamily="34" charset="-120"/>
              </a:rPr>
              <a:t>   for flaw 2</a:t>
            </a:r>
            <a:endParaRPr lang="en-US" sz="1200" dirty="0"/>
          </a:p>
        </p:txBody>
      </p:sp>
      <p:sp>
        <p:nvSpPr>
          <p:cNvPr id="18" name="Text 15"/>
          <p:cNvSpPr txBox="1"/>
          <p:nvPr/>
        </p:nvSpPr>
        <p:spPr>
          <a:xfrm>
            <a:off x="1051560" y="3767328"/>
            <a:ext cx="219456" cy="237744"/>
          </a:xfrm>
          <a:prstGeom prst="rect">
            <a:avLst/>
          </a:prstGeom>
          <a:noFill/>
          <a:ln/>
        </p:spPr>
        <p:txBody>
          <a:bodyPr wrap="square" lIns="0" tIns="0" rIns="0" bIns="0" rtlCol="0" anchor="t"/>
          <a:lstStyle/>
          <a:p>
            <a:pPr indent="0" marL="0">
              <a:buNone/>
            </a:pPr>
            <a:r>
              <a:rPr lang="en-US" sz="1200" dirty="0">
                <a:solidFill>
                  <a:srgbClr val="942838"/>
                </a:solidFill>
                <a:latin typeface="Montserrat SemiBold" pitchFamily="34" charset="0"/>
                <a:ea typeface="Montserrat SemiBold" pitchFamily="34" charset="-122"/>
                <a:cs typeface="Montserrat SemiBold" pitchFamily="34" charset="-120"/>
              </a:rPr>
              <a:t>✓</a:t>
            </a:r>
            <a:endParaRPr lang="en-US" sz="1200" dirty="0"/>
          </a:p>
        </p:txBody>
      </p:sp>
      <p:sp>
        <p:nvSpPr>
          <p:cNvPr id="19" name="Text 16"/>
          <p:cNvSpPr txBox="1"/>
          <p:nvPr/>
        </p:nvSpPr>
        <p:spPr>
          <a:xfrm>
            <a:off x="1325880" y="3767328"/>
            <a:ext cx="4754880" cy="237744"/>
          </a:xfrm>
          <a:prstGeom prst="rect">
            <a:avLst/>
          </a:prstGeom>
          <a:noFill/>
          <a:ln/>
        </p:spPr>
        <p:txBody>
          <a:bodyPr wrap="square" lIns="0" tIns="0" rIns="0" bIns="0" rtlCol="0" anchor="t"/>
          <a:lstStyle/>
          <a:p>
            <a:pPr indent="0" marL="0">
              <a:buNone/>
            </a:pPr>
            <a:r>
              <a:rPr lang="en-US" sz="1200" dirty="0">
                <a:solidFill>
                  <a:srgbClr val="2B2D30"/>
                </a:solidFill>
                <a:latin typeface="Montserrat SemiBold" pitchFamily="34" charset="0"/>
                <a:ea typeface="Montserrat SemiBold" pitchFamily="34" charset="-122"/>
                <a:cs typeface="Montserrat SemiBold" pitchFamily="34" charset="-120"/>
              </a:rPr>
              <a:t>September patch</a:t>
            </a:r>
            <a:pPr indent="0" marL="0">
              <a:buNone/>
            </a:pPr>
            <a:r>
              <a:rPr lang="en-US" sz="1100" dirty="0">
                <a:solidFill>
                  <a:srgbClr val="6E7175"/>
                </a:solidFill>
                <a:latin typeface="Montserrat" pitchFamily="34" charset="0"/>
                <a:ea typeface="Montserrat" pitchFamily="34" charset="-122"/>
                <a:cs typeface="Montserrat" pitchFamily="34" charset="-120"/>
              </a:rPr>
              <a:t>   for flaw 3</a:t>
            </a:r>
            <a:endParaRPr lang="en-US" sz="1200" dirty="0"/>
          </a:p>
        </p:txBody>
      </p:sp>
      <p:sp>
        <p:nvSpPr>
          <p:cNvPr id="20" name="Text 17"/>
          <p:cNvSpPr txBox="1"/>
          <p:nvPr/>
        </p:nvSpPr>
        <p:spPr>
          <a:xfrm>
            <a:off x="1051560" y="3950208"/>
            <a:ext cx="5029200" cy="237744"/>
          </a:xfrm>
          <a:prstGeom prst="rect">
            <a:avLst/>
          </a:prstGeom>
          <a:noFill/>
          <a:ln/>
        </p:spPr>
        <p:txBody>
          <a:bodyPr wrap="square" lIns="0" tIns="0" rIns="0" bIns="0" rtlCol="0" anchor="t"/>
          <a:lstStyle/>
          <a:p>
            <a:pPr indent="0" marL="0">
              <a:buNone/>
            </a:pPr>
            <a:r>
              <a:rPr lang="en-US" sz="1100" dirty="0">
                <a:solidFill>
                  <a:srgbClr val="942838"/>
                </a:solidFill>
                <a:latin typeface="Montserrat SemiBold" pitchFamily="34" charset="0"/>
                <a:ea typeface="Montserrat SemiBold" pitchFamily="34" charset="-122"/>
                <a:cs typeface="Montserrat SemiBold" pitchFamily="34" charset="-120"/>
              </a:rPr>
              <a:t>September already contains March and June — one action, not three.</a:t>
            </a:r>
            <a:endParaRPr lang="en-US" sz="1100" dirty="0"/>
          </a:p>
        </p:txBody>
      </p:sp>
      <p:sp>
        <p:nvSpPr>
          <p:cNvPr id="21" name="Shape 18"/>
          <p:cNvSpPr/>
          <p:nvPr/>
        </p:nvSpPr>
        <p:spPr>
          <a:xfrm>
            <a:off x="6766560" y="2633472"/>
            <a:ext cx="1402994" cy="1627632"/>
          </a:xfrm>
          <a:prstGeom prst="roundRect">
            <a:avLst>
              <a:gd name="adj" fmla="val 3910"/>
            </a:avLst>
          </a:prstGeom>
          <a:solidFill>
            <a:srgbClr val="F5F4F3"/>
          </a:solidFill>
          <a:ln w="9525">
            <a:solidFill>
              <a:srgbClr val="E6E4E2"/>
            </a:solidFill>
            <a:prstDash val="solid"/>
          </a:ln>
          <a:effectLst>
            <a:outerShdw sx="100000" sy="100000" kx="0" ky="0" algn="bl" rotWithShape="0" blurRad="5.510881335639881e+103" dist="1.3777203339099702e+103" dir="2.5587259226936733e+121">
              <a:srgbClr val="959092">
                <a:alpha val="2.2000000000000006e+124"/>
              </a:srgbClr>
            </a:outerShdw>
          </a:effectLst>
        </p:spPr>
      </p:sp>
      <p:sp>
        <p:nvSpPr>
          <p:cNvPr id="22" name="Text 19"/>
          <p:cNvSpPr txBox="1"/>
          <p:nvPr/>
        </p:nvSpPr>
        <p:spPr>
          <a:xfrm>
            <a:off x="6894576" y="3017520"/>
            <a:ext cx="1146962" cy="640080"/>
          </a:xfrm>
          <a:prstGeom prst="rect">
            <a:avLst/>
          </a:prstGeom>
          <a:noFill/>
          <a:ln/>
        </p:spPr>
        <p:txBody>
          <a:bodyPr wrap="square" lIns="0" tIns="0" rIns="0" bIns="0" rtlCol="0" anchor="t"/>
          <a:lstStyle/>
          <a:p>
            <a:pPr algn="ctr" indent="0" marL="0">
              <a:buNone/>
            </a:pPr>
            <a:r>
              <a:rPr lang="en-US" sz="4000" spc="-160" kern="0" dirty="0">
                <a:solidFill>
                  <a:srgbClr val="2B2D30"/>
                </a:solidFill>
                <a:latin typeface="Montserrat ExtraBold" pitchFamily="34" charset="0"/>
                <a:ea typeface="Montserrat ExtraBold" pitchFamily="34" charset="-122"/>
                <a:cs typeface="Montserrat ExtraBold" pitchFamily="34" charset="-120"/>
              </a:rPr>
              <a:t>209</a:t>
            </a:r>
            <a:endParaRPr lang="en-US" sz="4000" dirty="0"/>
          </a:p>
        </p:txBody>
      </p:sp>
      <p:sp>
        <p:nvSpPr>
          <p:cNvPr id="23" name="Text 20"/>
          <p:cNvSpPr txBox="1"/>
          <p:nvPr/>
        </p:nvSpPr>
        <p:spPr>
          <a:xfrm>
            <a:off x="6894576" y="3730752"/>
            <a:ext cx="1146962" cy="457200"/>
          </a:xfrm>
          <a:prstGeom prst="rect">
            <a:avLst/>
          </a:prstGeom>
          <a:noFill/>
          <a:ln/>
        </p:spPr>
        <p:txBody>
          <a:bodyPr wrap="square" lIns="0" tIns="0" rIns="0" bIns="0" rtlCol="0" anchor="t"/>
          <a:lstStyle/>
          <a:p>
            <a:pPr algn="ctr" indent="0" marL="0">
              <a:lnSpc>
                <a:spcPct val="120000"/>
              </a:lnSpc>
              <a:buNone/>
            </a:pPr>
            <a:r>
              <a:rPr lang="en-US" sz="950" spc="30" kern="0" dirty="0">
                <a:solidFill>
                  <a:srgbClr val="6E7175"/>
                </a:solidFill>
                <a:latin typeface="Montserrat Medium" pitchFamily="34" charset="0"/>
                <a:ea typeface="Montserrat Medium" pitchFamily="34" charset="-122"/>
                <a:cs typeface="Montserrat Medium" pitchFamily="34" charset="-120"/>
              </a:rPr>
              <a:t>rows on Kevlar’s list</a:t>
            </a:r>
            <a:endParaRPr lang="en-US" sz="950" dirty="0"/>
          </a:p>
        </p:txBody>
      </p:sp>
      <p:sp>
        <p:nvSpPr>
          <p:cNvPr id="24" name="Shape 21"/>
          <p:cNvSpPr/>
          <p:nvPr/>
        </p:nvSpPr>
        <p:spPr>
          <a:xfrm>
            <a:off x="8389010" y="2633472"/>
            <a:ext cx="1402994" cy="1627632"/>
          </a:xfrm>
          <a:prstGeom prst="roundRect">
            <a:avLst>
              <a:gd name="adj" fmla="val 3910"/>
            </a:avLst>
          </a:prstGeom>
          <a:solidFill>
            <a:srgbClr val="F6EEF0"/>
          </a:solidFill>
          <a:ln w="9525">
            <a:solidFill>
              <a:srgbClr val="942838"/>
            </a:solidFill>
            <a:prstDash val="solid"/>
          </a:ln>
          <a:effectLst>
            <a:outerShdw sx="100000" sy="100000" kx="0" ky="0" algn="bl" rotWithShape="0" blurRad="6.998819296262648e+107" dist="1.749704824065662e+107" dir="1.535235553616204e+126">
              <a:srgbClr val="959092">
                <a:alpha val="2.2000000000000006e+129"/>
              </a:srgbClr>
            </a:outerShdw>
          </a:effectLst>
        </p:spPr>
      </p:sp>
      <p:sp>
        <p:nvSpPr>
          <p:cNvPr id="25" name="Text 22"/>
          <p:cNvSpPr txBox="1"/>
          <p:nvPr/>
        </p:nvSpPr>
        <p:spPr>
          <a:xfrm>
            <a:off x="8517026" y="3017520"/>
            <a:ext cx="1146962" cy="640080"/>
          </a:xfrm>
          <a:prstGeom prst="rect">
            <a:avLst/>
          </a:prstGeom>
          <a:noFill/>
          <a:ln/>
        </p:spPr>
        <p:txBody>
          <a:bodyPr wrap="square" lIns="0" tIns="0" rIns="0" bIns="0" rtlCol="0" anchor="t"/>
          <a:lstStyle/>
          <a:p>
            <a:pPr algn="ctr" indent="0" marL="0">
              <a:buNone/>
            </a:pPr>
            <a:r>
              <a:rPr lang="en-US" sz="4000" spc="-160" kern="0" dirty="0">
                <a:solidFill>
                  <a:srgbClr val="942838"/>
                </a:solidFill>
                <a:latin typeface="Montserrat ExtraBold" pitchFamily="34" charset="0"/>
                <a:ea typeface="Montserrat ExtraBold" pitchFamily="34" charset="-122"/>
                <a:cs typeface="Montserrat ExtraBold" pitchFamily="34" charset="-120"/>
              </a:rPr>
              <a:t>46</a:t>
            </a:r>
            <a:endParaRPr lang="en-US" sz="4000" dirty="0"/>
          </a:p>
        </p:txBody>
      </p:sp>
      <p:sp>
        <p:nvSpPr>
          <p:cNvPr id="26" name="Text 23"/>
          <p:cNvSpPr txBox="1"/>
          <p:nvPr/>
        </p:nvSpPr>
        <p:spPr>
          <a:xfrm>
            <a:off x="8517026" y="3730752"/>
            <a:ext cx="1146962" cy="457200"/>
          </a:xfrm>
          <a:prstGeom prst="rect">
            <a:avLst/>
          </a:prstGeom>
          <a:noFill/>
          <a:ln/>
        </p:spPr>
        <p:txBody>
          <a:bodyPr wrap="square" lIns="0" tIns="0" rIns="0" bIns="0" rtlCol="0" anchor="t"/>
          <a:lstStyle/>
          <a:p>
            <a:pPr algn="ctr" indent="0" marL="0">
              <a:lnSpc>
                <a:spcPct val="120000"/>
              </a:lnSpc>
              <a:buNone/>
            </a:pPr>
            <a:r>
              <a:rPr lang="en-US" sz="950" spc="30" kern="0" dirty="0">
                <a:solidFill>
                  <a:srgbClr val="6E7175"/>
                </a:solidFill>
                <a:latin typeface="Montserrat Medium" pitchFamily="34" charset="0"/>
                <a:ea typeface="Montserrat Medium" pitchFamily="34" charset="-122"/>
                <a:cs typeface="Montserrat Medium" pitchFamily="34" charset="-120"/>
              </a:rPr>
              <a:t>tickets actually opened</a:t>
            </a:r>
            <a:endParaRPr lang="en-US" sz="950" dirty="0"/>
          </a:p>
        </p:txBody>
      </p:sp>
      <p:sp>
        <p:nvSpPr>
          <p:cNvPr id="27" name="Shape 24"/>
          <p:cNvSpPr/>
          <p:nvPr/>
        </p:nvSpPr>
        <p:spPr>
          <a:xfrm>
            <a:off x="10011461" y="2633472"/>
            <a:ext cx="1402994" cy="1627632"/>
          </a:xfrm>
          <a:prstGeom prst="roundRect">
            <a:avLst>
              <a:gd name="adj" fmla="val 3910"/>
            </a:avLst>
          </a:prstGeom>
          <a:solidFill>
            <a:srgbClr val="F6EEF0"/>
          </a:solidFill>
          <a:ln w="9525">
            <a:solidFill>
              <a:srgbClr val="942838"/>
            </a:solidFill>
            <a:prstDash val="solid"/>
          </a:ln>
          <a:effectLst>
            <a:outerShdw sx="100000" sy="100000" kx="0" ky="0" algn="bl" rotWithShape="0" blurRad="8.888500506253563e+111" dist="2.2221251265633907e+111" dir="9.211413321697224e+130">
              <a:srgbClr val="959092">
                <a:alpha val="2.2000000000000004e+134"/>
              </a:srgbClr>
            </a:outerShdw>
          </a:effectLst>
        </p:spPr>
      </p:sp>
      <p:sp>
        <p:nvSpPr>
          <p:cNvPr id="28" name="Text 25"/>
          <p:cNvSpPr txBox="1"/>
          <p:nvPr/>
        </p:nvSpPr>
        <p:spPr>
          <a:xfrm>
            <a:off x="10139477" y="3017520"/>
            <a:ext cx="1146962" cy="640080"/>
          </a:xfrm>
          <a:prstGeom prst="rect">
            <a:avLst/>
          </a:prstGeom>
          <a:noFill/>
          <a:ln/>
        </p:spPr>
        <p:txBody>
          <a:bodyPr wrap="square" lIns="0" tIns="0" rIns="0" bIns="0" rtlCol="0" anchor="t"/>
          <a:lstStyle/>
          <a:p>
            <a:pPr algn="ctr" indent="0" marL="0">
              <a:buNone/>
            </a:pPr>
            <a:r>
              <a:rPr lang="en-US" sz="4000" spc="-160" kern="0" dirty="0">
                <a:solidFill>
                  <a:srgbClr val="942838"/>
                </a:solidFill>
                <a:latin typeface="Montserrat ExtraBold" pitchFamily="34" charset="0"/>
                <a:ea typeface="Montserrat ExtraBold" pitchFamily="34" charset="-122"/>
                <a:cs typeface="Montserrat ExtraBold" pitchFamily="34" charset="-120"/>
              </a:rPr>
              <a:t>78%</a:t>
            </a:r>
            <a:endParaRPr lang="en-US" sz="4000" dirty="0"/>
          </a:p>
        </p:txBody>
      </p:sp>
      <p:sp>
        <p:nvSpPr>
          <p:cNvPr id="29" name="Text 26"/>
          <p:cNvSpPr txBox="1"/>
          <p:nvPr/>
        </p:nvSpPr>
        <p:spPr>
          <a:xfrm>
            <a:off x="10139477" y="3730752"/>
            <a:ext cx="1146962" cy="457200"/>
          </a:xfrm>
          <a:prstGeom prst="rect">
            <a:avLst/>
          </a:prstGeom>
          <a:noFill/>
          <a:ln/>
        </p:spPr>
        <p:txBody>
          <a:bodyPr wrap="square" lIns="0" tIns="0" rIns="0" bIns="0" rtlCol="0" anchor="t"/>
          <a:lstStyle/>
          <a:p>
            <a:pPr algn="ctr" indent="0" marL="0">
              <a:lnSpc>
                <a:spcPct val="120000"/>
              </a:lnSpc>
              <a:buNone/>
            </a:pPr>
            <a:r>
              <a:rPr lang="en-US" sz="950" spc="30" kern="0" dirty="0">
                <a:solidFill>
                  <a:srgbClr val="6E7175"/>
                </a:solidFill>
                <a:latin typeface="Montserrat Medium" pitchFamily="34" charset="0"/>
                <a:ea typeface="Montserrat Medium" pitchFamily="34" charset="-122"/>
                <a:cs typeface="Montserrat Medium" pitchFamily="34" charset="-120"/>
              </a:rPr>
              <a:t>fewer — 163 absorbed</a:t>
            </a:r>
            <a:endParaRPr lang="en-US" sz="950" dirty="0"/>
          </a:p>
        </p:txBody>
      </p:sp>
      <p:sp>
        <p:nvSpPr>
          <p:cNvPr id="30" name="Text 27"/>
          <p:cNvSpPr txBox="1"/>
          <p:nvPr/>
        </p:nvSpPr>
        <p:spPr>
          <a:xfrm>
            <a:off x="777240" y="4462272"/>
            <a:ext cx="7315200" cy="201168"/>
          </a:xfrm>
          <a:prstGeom prst="rect">
            <a:avLst/>
          </a:prstGeom>
          <a:noFill/>
          <a:ln/>
        </p:spPr>
        <p:txBody>
          <a:bodyPr wrap="square" lIns="0" tIns="0" rIns="0" bIns="0" rtlCol="0" anchor="t"/>
          <a:lstStyle/>
          <a:p>
            <a:pPr indent="0" marL="0">
              <a:buNone/>
            </a:pPr>
            <a:r>
              <a:rPr lang="en-US" sz="850" spc="140" kern="0" dirty="0">
                <a:solidFill>
                  <a:srgbClr val="942838"/>
                </a:solidFill>
                <a:latin typeface="Montserrat SemiBold" pitchFamily="34" charset="0"/>
                <a:ea typeface="Montserrat SemiBold" pitchFamily="34" charset="-122"/>
                <a:cs typeface="Montserrat SemiBold" pitchFamily="34" charset="-120"/>
              </a:rPr>
              <a:t>EVERY SQUARE IS ONE ROW ON KEVLAR’S LIST  ·  RED BECAME A TICKET</a:t>
            </a:r>
            <a:endParaRPr lang="en-US" sz="850" dirty="0"/>
          </a:p>
        </p:txBody>
      </p:sp>
      <p:pic>
        <p:nvPicPr>
          <p:cNvPr id="31" name="Image 1" descr="/home/user/ai/assets/gen/chart-consolidation.png">    </p:cNvPr>
          <p:cNvPicPr>
            <a:picLocks noChangeAspect="1"/>
          </p:cNvPicPr>
          <p:nvPr/>
        </p:nvPicPr>
        <p:blipFill>
          <a:blip r:embed="rId2"/>
          <a:stretch>
            <a:fillRect/>
          </a:stretch>
        </p:blipFill>
        <p:spPr>
          <a:xfrm>
            <a:off x="1340968" y="4736592"/>
            <a:ext cx="9509760" cy="1092030"/>
          </a:xfrm>
          <a:prstGeom prst="rect">
            <a:avLst/>
          </a:prstGeom>
        </p:spPr>
      </p:pic>
      <p:sp>
        <p:nvSpPr>
          <p:cNvPr id="32" name="Text 28"/>
          <p:cNvSpPr txBox="1"/>
          <p:nvPr/>
        </p:nvSpPr>
        <p:spPr>
          <a:xfrm>
            <a:off x="777240" y="5907024"/>
            <a:ext cx="10637215" cy="274320"/>
          </a:xfrm>
          <a:prstGeom prst="rect">
            <a:avLst/>
          </a:prstGeom>
          <a:noFill/>
          <a:ln/>
        </p:spPr>
        <p:txBody>
          <a:bodyPr wrap="square" lIns="0" tIns="0" rIns="0" bIns="0" rtlCol="0" anchor="t"/>
          <a:lstStyle/>
          <a:p>
            <a:pPr indent="0" marL="0">
              <a:buNone/>
            </a:pPr>
            <a:r>
              <a:rPr lang="en-US" sz="1150" dirty="0">
                <a:solidFill>
                  <a:srgbClr val="2B2D30"/>
                </a:solidFill>
                <a:latin typeface="Montserrat SemiBold" pitchFamily="34" charset="0"/>
                <a:ea typeface="Montserrat SemiBold" pitchFamily="34" charset="-122"/>
                <a:cs typeface="Montserrat SemiBold" pitchFamily="34" charset="-120"/>
              </a:rPr>
              <a:t>Nothing was skipped. </a:t>
            </a:r>
            <a:pPr indent="0" marL="0">
              <a:buNone/>
            </a:pPr>
            <a:r>
              <a:rPr lang="en-US" sz="1150" dirty="0">
                <a:solidFill>
                  <a:srgbClr val="6E7175"/>
                </a:solidFill>
                <a:latin typeface="Montserrat" pitchFamily="34" charset="0"/>
                <a:ea typeface="Montserrat" pitchFamily="34" charset="-122"/>
                <a:cs typeface="Montserrat" pitchFamily="34" charset="-120"/>
              </a:rPr>
              <a:t> Checked across all 2,658 machine-and-product combinations, not a sample.</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home/user/ai/assets/gen/logo-red.png">    </p:cNvPr>
          <p:cNvPicPr>
            <a:picLocks noChangeAspect="1"/>
          </p:cNvPicPr>
          <p:nvPr/>
        </p:nvPicPr>
        <p:blipFill>
          <a:blip r:embed="rId1"/>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indent="0" marL="0">
              <a:buNone/>
            </a:pPr>
            <a:r>
              <a:rPr lang="en-US" sz="1000" spc="220" kern="0" dirty="0">
                <a:solidFill>
                  <a:srgbClr val="942838"/>
                </a:solidFill>
                <a:latin typeface="Montserrat SemiBold" pitchFamily="34" charset="0"/>
                <a:ea typeface="Montserrat SemiBold" pitchFamily="34" charset="-122"/>
                <a:cs typeface="Montserrat SemiBold" pitchFamily="34" charset="-120"/>
              </a:rPr>
              <a:t>PROJECT 03  ·  WHAT COMES NEXT</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indent="0" marL="0">
              <a:lnSpc>
                <a:spcPct val="98000"/>
              </a:lnSpc>
              <a:buNone/>
            </a:pPr>
            <a:r>
              <a:rPr lang="en-US" sz="2900" spc="-50" kern="0" dirty="0">
                <a:solidFill>
                  <a:srgbClr val="2B2D30"/>
                </a:solidFill>
                <a:latin typeface="Montserrat ExtraBold" pitchFamily="34" charset="0"/>
                <a:ea typeface="Montserrat ExtraBold" pitchFamily="34" charset="-122"/>
                <a:cs typeface="Montserrat ExtraBold" pitchFamily="34" charset="-120"/>
              </a:rPr>
              <a:t>Four systems, one screen</a:t>
            </a:r>
            <a:endParaRPr lang="en-US" sz="2900" dirty="0"/>
          </a:p>
        </p:txBody>
      </p:sp>
      <p:sp>
        <p:nvSpPr>
          <p:cNvPr id="5" name="Shape 2"/>
          <p:cNvSpPr/>
          <p:nvPr/>
        </p:nvSpPr>
        <p:spPr>
          <a:xfrm>
            <a:off x="777240" y="1700784"/>
            <a:ext cx="566928" cy="50292"/>
          </a:xfrm>
          <a:prstGeom prst="rect">
            <a:avLst/>
          </a:prstGeom>
          <a:solidFill>
            <a:srgbClr val="942838"/>
          </a:solidFill>
          <a:ln/>
        </p:spPr>
      </p:sp>
      <p:sp>
        <p:nvSpPr>
          <p:cNvPr id="6" name="Shape 3"/>
          <p:cNvSpPr/>
          <p:nvPr/>
        </p:nvSpPr>
        <p:spPr>
          <a:xfrm>
            <a:off x="777240" y="6181344"/>
            <a:ext cx="10637215" cy="10973"/>
          </a:xfrm>
          <a:prstGeom prst="rect">
            <a:avLst/>
          </a:prstGeom>
          <a:solidFill>
            <a:srgbClr val="E6E4E2"/>
          </a:solidFill>
          <a:ln/>
        </p:spPr>
      </p:sp>
      <p:sp>
        <p:nvSpPr>
          <p:cNvPr id="7" name="Text 4"/>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CVE-TO-PATCH AUTOMATION</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6E7175"/>
                </a:solidFill>
                <a:latin typeface="Montserrat SemiBold" pitchFamily="34" charset="0"/>
                <a:ea typeface="Montserrat SemiBold" pitchFamily="34" charset="-122"/>
                <a:cs typeface="Montserrat SemiBold" pitchFamily="34" charset="-120"/>
              </a:rPr>
              <a:t>22</a:t>
            </a:r>
            <a:endParaRPr lang="en-US" sz="850" dirty="0"/>
          </a:p>
        </p:txBody>
      </p:sp>
      <p:sp>
        <p:nvSpPr>
          <p:cNvPr id="9" name="Text 6"/>
          <p:cNvSpPr txBox="1"/>
          <p:nvPr/>
        </p:nvSpPr>
        <p:spPr>
          <a:xfrm>
            <a:off x="777240" y="2011680"/>
            <a:ext cx="4160520" cy="822960"/>
          </a:xfrm>
          <a:prstGeom prst="rect">
            <a:avLst/>
          </a:prstGeom>
          <a:noFill/>
          <a:ln/>
        </p:spPr>
        <p:txBody>
          <a:bodyPr wrap="square" lIns="0" tIns="0" rIns="0" bIns="0" rtlCol="0" anchor="t"/>
          <a:lstStyle/>
          <a:p>
            <a:pPr indent="0" marL="0">
              <a:lnSpc>
                <a:spcPct val="128000"/>
              </a:lnSpc>
              <a:buNone/>
            </a:pPr>
            <a:r>
              <a:rPr lang="en-US" sz="1250" dirty="0">
                <a:solidFill>
                  <a:srgbClr val="6E7175"/>
                </a:solidFill>
                <a:latin typeface="Montserrat" pitchFamily="34" charset="0"/>
                <a:ea typeface="Montserrat" pitchFamily="34" charset="-122"/>
                <a:cs typeface="Montserrat" pitchFamily="34" charset="-120"/>
              </a:rPr>
              <a:t>Two views would close the gap: an SLA remediation dashboard showing whether flaws are fixed inside their deadline, and a patching dashboard showing how much of the fleet is current.</a:t>
            </a:r>
            <a:endParaRPr lang="en-US" sz="1250" dirty="0"/>
          </a:p>
        </p:txBody>
      </p:sp>
      <p:sp>
        <p:nvSpPr>
          <p:cNvPr id="10" name="Shape 7"/>
          <p:cNvSpPr/>
          <p:nvPr/>
        </p:nvSpPr>
        <p:spPr>
          <a:xfrm>
            <a:off x="795528" y="3044952"/>
            <a:ext cx="182880" cy="182880"/>
          </a:xfrm>
          <a:prstGeom prst="ellipse">
            <a:avLst/>
          </a:prstGeom>
          <a:solidFill>
            <a:srgbClr val="F6EEF0"/>
          </a:solidFill>
          <a:ln w="19050">
            <a:solidFill>
              <a:srgbClr val="942838"/>
            </a:solidFill>
            <a:prstDash val="solid"/>
          </a:ln>
        </p:spPr>
      </p:sp>
      <p:sp>
        <p:nvSpPr>
          <p:cNvPr id="11" name="Shape 8"/>
          <p:cNvSpPr/>
          <p:nvPr/>
        </p:nvSpPr>
        <p:spPr>
          <a:xfrm>
            <a:off x="850392" y="3099816"/>
            <a:ext cx="73152" cy="73152"/>
          </a:xfrm>
          <a:prstGeom prst="ellipse">
            <a:avLst/>
          </a:prstGeom>
          <a:solidFill>
            <a:srgbClr val="942838"/>
          </a:solidFill>
          <a:ln/>
        </p:spPr>
      </p:sp>
      <p:sp>
        <p:nvSpPr>
          <p:cNvPr id="12" name="Shape 9"/>
          <p:cNvSpPr/>
          <p:nvPr/>
        </p:nvSpPr>
        <p:spPr>
          <a:xfrm>
            <a:off x="882396" y="3246120"/>
            <a:ext cx="10973" cy="457200"/>
          </a:xfrm>
          <a:prstGeom prst="rect">
            <a:avLst/>
          </a:prstGeom>
          <a:solidFill>
            <a:srgbClr val="C9C6C4"/>
          </a:solidFill>
          <a:ln/>
        </p:spPr>
      </p:sp>
      <p:sp>
        <p:nvSpPr>
          <p:cNvPr id="13" name="Text 10"/>
          <p:cNvSpPr txBox="1"/>
          <p:nvPr/>
        </p:nvSpPr>
        <p:spPr>
          <a:xfrm>
            <a:off x="1143000" y="2980944"/>
            <a:ext cx="3794760" cy="256032"/>
          </a:xfrm>
          <a:prstGeom prst="rect">
            <a:avLst/>
          </a:prstGeom>
          <a:noFill/>
          <a:ln/>
        </p:spPr>
        <p:txBody>
          <a:bodyPr wrap="square" lIns="0" tIns="0" rIns="0" bIns="0" rtlCol="0" anchor="t"/>
          <a:lstStyle/>
          <a:p>
            <a:pPr indent="0" marL="0">
              <a:buNone/>
            </a:pPr>
            <a:r>
              <a:rPr lang="en-US" sz="1350" dirty="0">
                <a:solidFill>
                  <a:srgbClr val="2B2D30"/>
                </a:solidFill>
                <a:latin typeface="Montserrat SemiBold" pitchFamily="34" charset="0"/>
                <a:ea typeface="Montserrat SemiBold" pitchFamily="34" charset="-122"/>
                <a:cs typeface="Montserrat SemiBold" pitchFamily="34" charset="-120"/>
              </a:rPr>
              <a:t>Tenable</a:t>
            </a:r>
            <a:endParaRPr lang="en-US" sz="1350" dirty="0"/>
          </a:p>
        </p:txBody>
      </p:sp>
      <p:sp>
        <p:nvSpPr>
          <p:cNvPr id="14" name="Text 11"/>
          <p:cNvSpPr txBox="1"/>
          <p:nvPr/>
        </p:nvSpPr>
        <p:spPr>
          <a:xfrm>
            <a:off x="1143000" y="3236976"/>
            <a:ext cx="3749040" cy="274320"/>
          </a:xfrm>
          <a:prstGeom prst="rect">
            <a:avLst/>
          </a:prstGeom>
          <a:noFill/>
          <a:ln/>
        </p:spPr>
        <p:txBody>
          <a:bodyPr wrap="square" lIns="0" tIns="0" rIns="0" bIns="0" rtlCol="0" anchor="t"/>
          <a:lstStyle/>
          <a:p>
            <a:pPr indent="0" marL="0">
              <a:buNone/>
            </a:pPr>
            <a:r>
              <a:rPr lang="en-US" sz="1100" dirty="0">
                <a:solidFill>
                  <a:srgbClr val="6E7175"/>
                </a:solidFill>
                <a:latin typeface="Montserrat" pitchFamily="34" charset="0"/>
                <a:ea typeface="Montserrat" pitchFamily="34" charset="-122"/>
                <a:cs typeface="Montserrat" pitchFamily="34" charset="-120"/>
              </a:rPr>
              <a:t>finds the flaw</a:t>
            </a:r>
            <a:endParaRPr lang="en-US" sz="1100" dirty="0"/>
          </a:p>
        </p:txBody>
      </p:sp>
      <p:sp>
        <p:nvSpPr>
          <p:cNvPr id="15" name="Shape 12"/>
          <p:cNvSpPr/>
          <p:nvPr/>
        </p:nvSpPr>
        <p:spPr>
          <a:xfrm>
            <a:off x="795528" y="3630168"/>
            <a:ext cx="182880" cy="182880"/>
          </a:xfrm>
          <a:prstGeom prst="ellipse">
            <a:avLst/>
          </a:prstGeom>
          <a:solidFill>
            <a:srgbClr val="F6EEF0"/>
          </a:solidFill>
          <a:ln w="19050">
            <a:solidFill>
              <a:srgbClr val="942838"/>
            </a:solidFill>
            <a:prstDash val="solid"/>
          </a:ln>
        </p:spPr>
      </p:sp>
      <p:sp>
        <p:nvSpPr>
          <p:cNvPr id="16" name="Shape 13"/>
          <p:cNvSpPr/>
          <p:nvPr/>
        </p:nvSpPr>
        <p:spPr>
          <a:xfrm>
            <a:off x="850392" y="3685032"/>
            <a:ext cx="73152" cy="73152"/>
          </a:xfrm>
          <a:prstGeom prst="ellipse">
            <a:avLst/>
          </a:prstGeom>
          <a:solidFill>
            <a:srgbClr val="942838"/>
          </a:solidFill>
          <a:ln/>
        </p:spPr>
      </p:sp>
      <p:sp>
        <p:nvSpPr>
          <p:cNvPr id="17" name="Shape 14"/>
          <p:cNvSpPr/>
          <p:nvPr/>
        </p:nvSpPr>
        <p:spPr>
          <a:xfrm>
            <a:off x="882396" y="3831336"/>
            <a:ext cx="10973" cy="457200"/>
          </a:xfrm>
          <a:prstGeom prst="rect">
            <a:avLst/>
          </a:prstGeom>
          <a:solidFill>
            <a:srgbClr val="C9C6C4"/>
          </a:solidFill>
          <a:ln/>
        </p:spPr>
      </p:sp>
      <p:sp>
        <p:nvSpPr>
          <p:cNvPr id="18" name="Text 15"/>
          <p:cNvSpPr txBox="1"/>
          <p:nvPr/>
        </p:nvSpPr>
        <p:spPr>
          <a:xfrm>
            <a:off x="1143000" y="3566160"/>
            <a:ext cx="3794760" cy="256032"/>
          </a:xfrm>
          <a:prstGeom prst="rect">
            <a:avLst/>
          </a:prstGeom>
          <a:noFill/>
          <a:ln/>
        </p:spPr>
        <p:txBody>
          <a:bodyPr wrap="square" lIns="0" tIns="0" rIns="0" bIns="0" rtlCol="0" anchor="t"/>
          <a:lstStyle/>
          <a:p>
            <a:pPr indent="0" marL="0">
              <a:buNone/>
            </a:pPr>
            <a:r>
              <a:rPr lang="en-US" sz="1350" dirty="0">
                <a:solidFill>
                  <a:srgbClr val="2B2D30"/>
                </a:solidFill>
                <a:latin typeface="Montserrat SemiBold" pitchFamily="34" charset="0"/>
                <a:ea typeface="Montserrat SemiBold" pitchFamily="34" charset="-122"/>
                <a:cs typeface="Montserrat SemiBold" pitchFamily="34" charset="-120"/>
              </a:rPr>
              <a:t>Kevlar</a:t>
            </a:r>
            <a:endParaRPr lang="en-US" sz="1350" dirty="0"/>
          </a:p>
        </p:txBody>
      </p:sp>
      <p:sp>
        <p:nvSpPr>
          <p:cNvPr id="19" name="Text 16"/>
          <p:cNvSpPr txBox="1"/>
          <p:nvPr/>
        </p:nvSpPr>
        <p:spPr>
          <a:xfrm>
            <a:off x="1143000" y="3822192"/>
            <a:ext cx="3749040" cy="274320"/>
          </a:xfrm>
          <a:prstGeom prst="rect">
            <a:avLst/>
          </a:prstGeom>
          <a:noFill/>
          <a:ln/>
        </p:spPr>
        <p:txBody>
          <a:bodyPr wrap="square" lIns="0" tIns="0" rIns="0" bIns="0" rtlCol="0" anchor="t"/>
          <a:lstStyle/>
          <a:p>
            <a:pPr indent="0" marL="0">
              <a:buNone/>
            </a:pPr>
            <a:r>
              <a:rPr lang="en-US" sz="1100" dirty="0">
                <a:solidFill>
                  <a:srgbClr val="6E7175"/>
                </a:solidFill>
                <a:latin typeface="Montserrat" pitchFamily="34" charset="0"/>
                <a:ea typeface="Montserrat" pitchFamily="34" charset="-122"/>
                <a:cs typeface="Montserrat" pitchFamily="34" charset="-120"/>
              </a:rPr>
              <a:t>tracks which machines are exposed</a:t>
            </a:r>
            <a:endParaRPr lang="en-US" sz="1100" dirty="0"/>
          </a:p>
        </p:txBody>
      </p:sp>
      <p:sp>
        <p:nvSpPr>
          <p:cNvPr id="20" name="Shape 17"/>
          <p:cNvSpPr/>
          <p:nvPr/>
        </p:nvSpPr>
        <p:spPr>
          <a:xfrm>
            <a:off x="795528" y="4215384"/>
            <a:ext cx="182880" cy="182880"/>
          </a:xfrm>
          <a:prstGeom prst="ellipse">
            <a:avLst/>
          </a:prstGeom>
          <a:solidFill>
            <a:srgbClr val="F6EEF0"/>
          </a:solidFill>
          <a:ln w="19050">
            <a:solidFill>
              <a:srgbClr val="942838"/>
            </a:solidFill>
            <a:prstDash val="solid"/>
          </a:ln>
        </p:spPr>
      </p:sp>
      <p:sp>
        <p:nvSpPr>
          <p:cNvPr id="21" name="Shape 18"/>
          <p:cNvSpPr/>
          <p:nvPr/>
        </p:nvSpPr>
        <p:spPr>
          <a:xfrm>
            <a:off x="850392" y="4270248"/>
            <a:ext cx="73152" cy="73152"/>
          </a:xfrm>
          <a:prstGeom prst="ellipse">
            <a:avLst/>
          </a:prstGeom>
          <a:solidFill>
            <a:srgbClr val="942838"/>
          </a:solidFill>
          <a:ln/>
        </p:spPr>
      </p:sp>
      <p:sp>
        <p:nvSpPr>
          <p:cNvPr id="22" name="Shape 19"/>
          <p:cNvSpPr/>
          <p:nvPr/>
        </p:nvSpPr>
        <p:spPr>
          <a:xfrm>
            <a:off x="882396" y="4416552"/>
            <a:ext cx="10973" cy="457200"/>
          </a:xfrm>
          <a:prstGeom prst="rect">
            <a:avLst/>
          </a:prstGeom>
          <a:solidFill>
            <a:srgbClr val="C9C6C4"/>
          </a:solidFill>
          <a:ln/>
        </p:spPr>
      </p:sp>
      <p:sp>
        <p:nvSpPr>
          <p:cNvPr id="23" name="Text 20"/>
          <p:cNvSpPr txBox="1"/>
          <p:nvPr/>
        </p:nvSpPr>
        <p:spPr>
          <a:xfrm>
            <a:off x="1143000" y="4151376"/>
            <a:ext cx="3794760" cy="256032"/>
          </a:xfrm>
          <a:prstGeom prst="rect">
            <a:avLst/>
          </a:prstGeom>
          <a:noFill/>
          <a:ln/>
        </p:spPr>
        <p:txBody>
          <a:bodyPr wrap="square" lIns="0" tIns="0" rIns="0" bIns="0" rtlCol="0" anchor="t"/>
          <a:lstStyle/>
          <a:p>
            <a:pPr indent="0" marL="0">
              <a:buNone/>
            </a:pPr>
            <a:r>
              <a:rPr lang="en-US" sz="1350" dirty="0">
                <a:solidFill>
                  <a:srgbClr val="2B2D30"/>
                </a:solidFill>
                <a:latin typeface="Montserrat SemiBold" pitchFamily="34" charset="0"/>
                <a:ea typeface="Montserrat SemiBold" pitchFamily="34" charset="-122"/>
                <a:cs typeface="Montserrat SemiBold" pitchFamily="34" charset="-120"/>
              </a:rPr>
              <a:t>Jira</a:t>
            </a:r>
            <a:endParaRPr lang="en-US" sz="1350" dirty="0"/>
          </a:p>
        </p:txBody>
      </p:sp>
      <p:sp>
        <p:nvSpPr>
          <p:cNvPr id="24" name="Text 21"/>
          <p:cNvSpPr txBox="1"/>
          <p:nvPr/>
        </p:nvSpPr>
        <p:spPr>
          <a:xfrm>
            <a:off x="1143000" y="4407408"/>
            <a:ext cx="3749040" cy="274320"/>
          </a:xfrm>
          <a:prstGeom prst="rect">
            <a:avLst/>
          </a:prstGeom>
          <a:noFill/>
          <a:ln/>
        </p:spPr>
        <p:txBody>
          <a:bodyPr wrap="square" lIns="0" tIns="0" rIns="0" bIns="0" rtlCol="0" anchor="t"/>
          <a:lstStyle/>
          <a:p>
            <a:pPr indent="0" marL="0">
              <a:buNone/>
            </a:pPr>
            <a:r>
              <a:rPr lang="en-US" sz="1100" dirty="0">
                <a:solidFill>
                  <a:srgbClr val="6E7175"/>
                </a:solidFill>
                <a:latin typeface="Montserrat" pitchFamily="34" charset="0"/>
                <a:ea typeface="Montserrat" pitchFamily="34" charset="-122"/>
                <a:cs typeface="Montserrat" pitchFamily="34" charset="-120"/>
              </a:rPr>
              <a:t>opens the ticket</a:t>
            </a:r>
            <a:endParaRPr lang="en-US" sz="1100" dirty="0"/>
          </a:p>
        </p:txBody>
      </p:sp>
      <p:sp>
        <p:nvSpPr>
          <p:cNvPr id="25" name="Shape 22"/>
          <p:cNvSpPr/>
          <p:nvPr/>
        </p:nvSpPr>
        <p:spPr>
          <a:xfrm>
            <a:off x="795528" y="4800600"/>
            <a:ext cx="182880" cy="182880"/>
          </a:xfrm>
          <a:prstGeom prst="ellipse">
            <a:avLst/>
          </a:prstGeom>
          <a:solidFill>
            <a:srgbClr val="F6EEF0"/>
          </a:solidFill>
          <a:ln w="19050">
            <a:solidFill>
              <a:srgbClr val="942838"/>
            </a:solidFill>
            <a:prstDash val="solid"/>
          </a:ln>
        </p:spPr>
      </p:sp>
      <p:sp>
        <p:nvSpPr>
          <p:cNvPr id="26" name="Shape 23"/>
          <p:cNvSpPr/>
          <p:nvPr/>
        </p:nvSpPr>
        <p:spPr>
          <a:xfrm>
            <a:off x="850392" y="4855464"/>
            <a:ext cx="73152" cy="73152"/>
          </a:xfrm>
          <a:prstGeom prst="ellipse">
            <a:avLst/>
          </a:prstGeom>
          <a:solidFill>
            <a:srgbClr val="942838"/>
          </a:solidFill>
          <a:ln/>
        </p:spPr>
      </p:sp>
      <p:sp>
        <p:nvSpPr>
          <p:cNvPr id="27" name="Text 24"/>
          <p:cNvSpPr txBox="1"/>
          <p:nvPr/>
        </p:nvSpPr>
        <p:spPr>
          <a:xfrm>
            <a:off x="1143000" y="4736592"/>
            <a:ext cx="3794760" cy="256032"/>
          </a:xfrm>
          <a:prstGeom prst="rect">
            <a:avLst/>
          </a:prstGeom>
          <a:noFill/>
          <a:ln/>
        </p:spPr>
        <p:txBody>
          <a:bodyPr wrap="square" lIns="0" tIns="0" rIns="0" bIns="0" rtlCol="0" anchor="t"/>
          <a:lstStyle/>
          <a:p>
            <a:pPr indent="0" marL="0">
              <a:buNone/>
            </a:pPr>
            <a:r>
              <a:rPr lang="en-US" sz="1350" dirty="0">
                <a:solidFill>
                  <a:srgbClr val="2B2D30"/>
                </a:solidFill>
                <a:latin typeface="Montserrat SemiBold" pitchFamily="34" charset="0"/>
                <a:ea typeface="Montserrat SemiBold" pitchFamily="34" charset="-122"/>
                <a:cs typeface="Montserrat SemiBold" pitchFamily="34" charset="-120"/>
              </a:rPr>
              <a:t>Wiz</a:t>
            </a:r>
            <a:endParaRPr lang="en-US" sz="1350" dirty="0"/>
          </a:p>
        </p:txBody>
      </p:sp>
      <p:sp>
        <p:nvSpPr>
          <p:cNvPr id="28" name="Text 25"/>
          <p:cNvSpPr txBox="1"/>
          <p:nvPr/>
        </p:nvSpPr>
        <p:spPr>
          <a:xfrm>
            <a:off x="1143000" y="4992624"/>
            <a:ext cx="3749040" cy="274320"/>
          </a:xfrm>
          <a:prstGeom prst="rect">
            <a:avLst/>
          </a:prstGeom>
          <a:noFill/>
          <a:ln/>
        </p:spPr>
        <p:txBody>
          <a:bodyPr wrap="square" lIns="0" tIns="0" rIns="0" bIns="0" rtlCol="0" anchor="t"/>
          <a:lstStyle/>
          <a:p>
            <a:pPr indent="0" marL="0">
              <a:buNone/>
            </a:pPr>
            <a:r>
              <a:rPr lang="en-US" sz="1100" dirty="0">
                <a:solidFill>
                  <a:srgbClr val="6E7175"/>
                </a:solidFill>
                <a:latin typeface="Montserrat" pitchFamily="34" charset="0"/>
                <a:ea typeface="Montserrat" pitchFamily="34" charset="-122"/>
                <a:cs typeface="Montserrat" pitchFamily="34" charset="-120"/>
              </a:rPr>
              <a:t>confirms the machine is real and reachable</a:t>
            </a:r>
            <a:endParaRPr lang="en-US" sz="1100" dirty="0"/>
          </a:p>
        </p:txBody>
      </p:sp>
      <p:sp>
        <p:nvSpPr>
          <p:cNvPr id="29" name="Text 26"/>
          <p:cNvSpPr txBox="1"/>
          <p:nvPr/>
        </p:nvSpPr>
        <p:spPr>
          <a:xfrm>
            <a:off x="777240" y="5449824"/>
            <a:ext cx="4160520" cy="548640"/>
          </a:xfrm>
          <a:prstGeom prst="rect">
            <a:avLst/>
          </a:prstGeom>
          <a:noFill/>
          <a:ln/>
        </p:spPr>
        <p:txBody>
          <a:bodyPr wrap="square" lIns="0" tIns="0" rIns="0" bIns="0" rtlCol="0" anchor="t"/>
          <a:lstStyle/>
          <a:p>
            <a:pPr indent="0" marL="0">
              <a:lnSpc>
                <a:spcPct val="120000"/>
              </a:lnSpc>
              <a:buNone/>
            </a:pPr>
            <a:r>
              <a:rPr lang="en-US" sz="1100" dirty="0">
                <a:solidFill>
                  <a:srgbClr val="2B2D30"/>
                </a:solidFill>
                <a:latin typeface="Montserrat SemiBold" pitchFamily="34" charset="0"/>
                <a:ea typeface="Montserrat SemiBold" pitchFamily="34" charset="-122"/>
                <a:cs typeface="Montserrat SemiBold" pitchFamily="34" charset="-120"/>
              </a:rPr>
              <a:t>To be clear: </a:t>
            </a:r>
            <a:pPr indent="0" marL="0">
              <a:lnSpc>
                <a:spcPct val="120000"/>
              </a:lnSpc>
              <a:buNone/>
            </a:pPr>
            <a:r>
              <a:rPr lang="en-US" sz="1100" dirty="0">
                <a:solidFill>
                  <a:srgbClr val="6E7175"/>
                </a:solidFill>
                <a:latin typeface="Montserrat" pitchFamily="34" charset="0"/>
                <a:ea typeface="Montserrat" pitchFamily="34" charset="-122"/>
                <a:cs typeface="Montserrat" pitchFamily="34" charset="-120"/>
              </a:rPr>
              <a:t>the scripts are done and tested. The dashboard is optional follow-up work for whoever picks up the pipeline — not a dependency.</a:t>
            </a:r>
            <a:endParaRPr lang="en-US" sz="1100" dirty="0"/>
          </a:p>
        </p:txBody>
      </p:sp>
      <p:pic>
        <p:nvPicPr>
          <p:cNvPr id="30" name="Image 1" descr="/home/user/ai/assets/gen/dashboard-mock.png">    </p:cNvPr>
          <p:cNvPicPr>
            <a:picLocks noChangeAspect="1"/>
          </p:cNvPicPr>
          <p:nvPr/>
        </p:nvPicPr>
        <p:blipFill>
          <a:blip r:embed="rId2"/>
          <a:stretch>
            <a:fillRect/>
          </a:stretch>
        </p:blipFill>
        <p:spPr>
          <a:xfrm>
            <a:off x="5358384" y="2103120"/>
            <a:ext cx="6056071" cy="3633643"/>
          </a:xfrm>
          <a:prstGeom prst="rect">
            <a:avLst/>
          </a:prstGeom>
        </p:spPr>
      </p:pic>
      <p:sp>
        <p:nvSpPr>
          <p:cNvPr id="31" name="Text 27"/>
          <p:cNvSpPr txBox="1"/>
          <p:nvPr/>
        </p:nvSpPr>
        <p:spPr>
          <a:xfrm>
            <a:off x="5358384" y="5883067"/>
            <a:ext cx="6056071" cy="237744"/>
          </a:xfrm>
          <a:prstGeom prst="rect">
            <a:avLst/>
          </a:prstGeom>
          <a:noFill/>
          <a:ln/>
        </p:spPr>
        <p:txBody>
          <a:bodyPr wrap="square" lIns="0" tIns="0" rIns="0" bIns="0" rtlCol="0" anchor="t"/>
          <a:lstStyle/>
          <a:p>
            <a:pPr algn="ctr" indent="0" marL="0">
              <a:buNone/>
            </a:pPr>
            <a:r>
              <a:rPr lang="en-US" sz="950" spc="30" kern="0" dirty="0">
                <a:solidFill>
                  <a:srgbClr val="C9C6C4"/>
                </a:solidFill>
                <a:latin typeface="Montserrat Medium" pitchFamily="34" charset="0"/>
                <a:ea typeface="Montserrat Medium" pitchFamily="34" charset="-122"/>
                <a:cs typeface="Montserrat Medium" pitchFamily="34" charset="-120"/>
              </a:rPr>
              <a:t>Concept — not a live system</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home/user/ai/assets/gen/panel-r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ai/assets/gen/mark-slash-faint.png">    </p:cNvPr>
          <p:cNvPicPr>
            <a:picLocks noChangeAspect="1"/>
          </p:cNvPicPr>
          <p:nvPr/>
        </p:nvPicPr>
        <p:blipFill>
          <a:blip r:embed="rId2"/>
          <a:stretch>
            <a:fillRect/>
          </a:stretch>
        </p:blipFill>
        <p:spPr>
          <a:xfrm>
            <a:off x="8595360" y="2377440"/>
            <a:ext cx="5120640" cy="5120640"/>
          </a:xfrm>
          <a:prstGeom prst="rect">
            <a:avLst/>
          </a:prstGeom>
        </p:spPr>
      </p:pic>
      <p:pic>
        <p:nvPicPr>
          <p:cNvPr id="4" name="Image 2" descr="/home/user/ai/assets/gen/logo-white.png">    </p:cNvPr>
          <p:cNvPicPr>
            <a:picLocks noChangeAspect="1"/>
          </p:cNvPicPr>
          <p:nvPr/>
        </p:nvPicPr>
        <p:blipFill>
          <a:blip r:embed="rId3"/>
          <a:stretch>
            <a:fillRect/>
          </a:stretch>
        </p:blipFill>
        <p:spPr>
          <a:xfrm>
            <a:off x="9768535" y="457200"/>
            <a:ext cx="1645920" cy="166053"/>
          </a:xfrm>
          <a:prstGeom prst="rect">
            <a:avLst/>
          </a:prstGeom>
        </p:spPr>
      </p:pic>
      <p:sp>
        <p:nvSpPr>
          <p:cNvPr id="5" name="Text 0"/>
          <p:cNvSpPr txBox="1"/>
          <p:nvPr/>
        </p:nvSpPr>
        <p:spPr>
          <a:xfrm>
            <a:off x="777240" y="713232"/>
            <a:ext cx="5486400" cy="237744"/>
          </a:xfrm>
          <a:prstGeom prst="rect">
            <a:avLst/>
          </a:prstGeom>
          <a:noFill/>
          <a:ln/>
        </p:spPr>
        <p:txBody>
          <a:bodyPr wrap="square" lIns="0" tIns="0" rIns="0" bIns="0" rtlCol="0" anchor="t"/>
          <a:lstStyle/>
          <a:p>
            <a:pPr indent="0" marL="0">
              <a:buNone/>
            </a:pPr>
            <a:r>
              <a:rPr lang="en-US" sz="1000" spc="220" kern="0" dirty="0">
                <a:solidFill>
                  <a:srgbClr val="E4C9CE"/>
                </a:solidFill>
                <a:latin typeface="Montserrat SemiBold" pitchFamily="34" charset="0"/>
                <a:ea typeface="Montserrat SemiBold" pitchFamily="34" charset="-122"/>
                <a:cs typeface="Montserrat SemiBold" pitchFamily="34" charset="-120"/>
              </a:rPr>
              <a:t>IN CLOSING</a:t>
            </a:r>
            <a:endParaRPr lang="en-US" sz="1000" dirty="0"/>
          </a:p>
        </p:txBody>
      </p:sp>
      <p:sp>
        <p:nvSpPr>
          <p:cNvPr id="6" name="Text 1"/>
          <p:cNvSpPr txBox="1"/>
          <p:nvPr/>
        </p:nvSpPr>
        <p:spPr>
          <a:xfrm>
            <a:off x="777240" y="1042416"/>
            <a:ext cx="7315200" cy="896112"/>
          </a:xfrm>
          <a:prstGeom prst="rect">
            <a:avLst/>
          </a:prstGeom>
          <a:noFill/>
          <a:ln/>
        </p:spPr>
        <p:txBody>
          <a:bodyPr wrap="square" lIns="0" tIns="0" rIns="0" bIns="0" rtlCol="0" anchor="t"/>
          <a:lstStyle/>
          <a:p>
            <a:pPr indent="0" marL="0">
              <a:buNone/>
            </a:pPr>
            <a:r>
              <a:rPr lang="en-US" sz="4600" spc="-120" kern="0" dirty="0">
                <a:solidFill>
                  <a:srgbClr val="FFFFFF"/>
                </a:solidFill>
                <a:latin typeface="Montserrat ExtraBold" pitchFamily="34" charset="0"/>
                <a:ea typeface="Montserrat ExtraBold" pitchFamily="34" charset="-122"/>
                <a:cs typeface="Montserrat ExtraBold" pitchFamily="34" charset="-120"/>
              </a:rPr>
              <a:t>Thank you</a:t>
            </a:r>
            <a:endParaRPr lang="en-US" sz="4600" dirty="0"/>
          </a:p>
        </p:txBody>
      </p:sp>
      <p:sp>
        <p:nvSpPr>
          <p:cNvPr id="7" name="Shape 2"/>
          <p:cNvSpPr/>
          <p:nvPr/>
        </p:nvSpPr>
        <p:spPr>
          <a:xfrm>
            <a:off x="777240" y="2066544"/>
            <a:ext cx="640080" cy="50292"/>
          </a:xfrm>
          <a:prstGeom prst="rect">
            <a:avLst/>
          </a:prstGeom>
          <a:solidFill>
            <a:srgbClr val="FFFFFF"/>
          </a:solidFill>
          <a:ln/>
        </p:spPr>
      </p:sp>
      <p:sp>
        <p:nvSpPr>
          <p:cNvPr id="8" name="Text 3"/>
          <p:cNvSpPr txBox="1"/>
          <p:nvPr/>
        </p:nvSpPr>
        <p:spPr>
          <a:xfrm>
            <a:off x="777240" y="2340864"/>
            <a:ext cx="7863840" cy="566928"/>
          </a:xfrm>
          <a:prstGeom prst="rect">
            <a:avLst/>
          </a:prstGeom>
          <a:noFill/>
          <a:ln/>
        </p:spPr>
        <p:txBody>
          <a:bodyPr wrap="square" lIns="0" tIns="0" rIns="0" bIns="0" rtlCol="0" anchor="t"/>
          <a:lstStyle/>
          <a:p>
            <a:pPr indent="0" marL="0">
              <a:lnSpc>
                <a:spcPct val="130000"/>
              </a:lnSpc>
              <a:buNone/>
            </a:pPr>
            <a:r>
              <a:rPr lang="en-US" sz="1400" dirty="0">
                <a:solidFill>
                  <a:srgbClr val="DAB4BA"/>
                </a:solidFill>
                <a:latin typeface="Montserrat Medium" pitchFamily="34" charset="0"/>
                <a:ea typeface="Montserrat Medium" pitchFamily="34" charset="-122"/>
                <a:cs typeface="Montserrat Medium" pitchFamily="34" charset="-120"/>
              </a:rPr>
              <a:t>Everything in this deck exists because people here made room for an intern to do real work — and because plenty of them pushed back on it until it was right.</a:t>
            </a:r>
            <a:endParaRPr lang="en-US" sz="1400" dirty="0"/>
          </a:p>
        </p:txBody>
      </p:sp>
      <p:sp>
        <p:nvSpPr>
          <p:cNvPr id="9" name="Shape 4"/>
          <p:cNvSpPr/>
          <p:nvPr/>
        </p:nvSpPr>
        <p:spPr>
          <a:xfrm>
            <a:off x="777240" y="3182112"/>
            <a:ext cx="45720" cy="384048"/>
          </a:xfrm>
          <a:prstGeom prst="rect">
            <a:avLst/>
          </a:prstGeom>
          <a:solidFill>
            <a:srgbClr val="FFFFFF"/>
          </a:solidFill>
          <a:ln/>
        </p:spPr>
      </p:sp>
      <p:sp>
        <p:nvSpPr>
          <p:cNvPr id="10" name="Text 5"/>
          <p:cNvSpPr txBox="1"/>
          <p:nvPr/>
        </p:nvSpPr>
        <p:spPr>
          <a:xfrm>
            <a:off x="1014984" y="3127248"/>
            <a:ext cx="9692640" cy="274320"/>
          </a:xfrm>
          <a:prstGeom prst="rect">
            <a:avLst/>
          </a:prstGeom>
          <a:noFill/>
          <a:ln/>
        </p:spPr>
        <p:txBody>
          <a:bodyPr wrap="square" lIns="0" tIns="0" rIns="0" bIns="0" rtlCol="0" anchor="t"/>
          <a:lstStyle/>
          <a:p>
            <a:pPr indent="0" marL="0">
              <a:buNone/>
            </a:pPr>
            <a:r>
              <a:rPr lang="en-US" sz="1400" dirty="0">
                <a:solidFill>
                  <a:srgbClr val="FFFFFF"/>
                </a:solidFill>
                <a:latin typeface="Montserrat SemiBold" pitchFamily="34" charset="0"/>
                <a:ea typeface="Montserrat SemiBold" pitchFamily="34" charset="-122"/>
                <a:cs typeface="Montserrat SemiBold" pitchFamily="34" charset="-120"/>
              </a:rPr>
              <a:t>To the Information Security team</a:t>
            </a:r>
            <a:endParaRPr lang="en-US" sz="1400" dirty="0"/>
          </a:p>
        </p:txBody>
      </p:sp>
      <p:sp>
        <p:nvSpPr>
          <p:cNvPr id="11" name="Text 6"/>
          <p:cNvSpPr txBox="1"/>
          <p:nvPr/>
        </p:nvSpPr>
        <p:spPr>
          <a:xfrm>
            <a:off x="1014984" y="3419856"/>
            <a:ext cx="9326880" cy="310896"/>
          </a:xfrm>
          <a:prstGeom prst="rect">
            <a:avLst/>
          </a:prstGeom>
          <a:noFill/>
          <a:ln/>
        </p:spPr>
        <p:txBody>
          <a:bodyPr wrap="square" lIns="0" tIns="0" rIns="0" bIns="0" rtlCol="0" anchor="t"/>
          <a:lstStyle/>
          <a:p>
            <a:pPr indent="0" marL="0">
              <a:lnSpc>
                <a:spcPct val="120000"/>
              </a:lnSpc>
              <a:buNone/>
            </a:pPr>
            <a:r>
              <a:rPr lang="en-US" sz="1100" dirty="0">
                <a:solidFill>
                  <a:srgbClr val="DAB4BA"/>
                </a:solidFill>
                <a:latin typeface="Montserrat" pitchFamily="34" charset="0"/>
                <a:ea typeface="Montserrat" pitchFamily="34" charset="-122"/>
                <a:cs typeface="Montserrat" pitchFamily="34" charset="-120"/>
              </a:rPr>
              <a:t>For handing me problems that actually mattered, and trusting me to work on them properly.</a:t>
            </a:r>
            <a:endParaRPr lang="en-US" sz="1100" dirty="0"/>
          </a:p>
        </p:txBody>
      </p:sp>
      <p:sp>
        <p:nvSpPr>
          <p:cNvPr id="12" name="Shape 7"/>
          <p:cNvSpPr/>
          <p:nvPr/>
        </p:nvSpPr>
        <p:spPr>
          <a:xfrm>
            <a:off x="777240" y="3858768"/>
            <a:ext cx="10637215" cy="7315"/>
          </a:xfrm>
          <a:prstGeom prst="rect">
            <a:avLst/>
          </a:prstGeom>
          <a:solidFill>
            <a:srgbClr val="CA949C"/>
          </a:solidFill>
          <a:ln/>
        </p:spPr>
      </p:sp>
      <p:sp>
        <p:nvSpPr>
          <p:cNvPr id="13" name="Shape 8"/>
          <p:cNvSpPr/>
          <p:nvPr/>
        </p:nvSpPr>
        <p:spPr>
          <a:xfrm>
            <a:off x="777240" y="4041648"/>
            <a:ext cx="45720" cy="384048"/>
          </a:xfrm>
          <a:prstGeom prst="rect">
            <a:avLst/>
          </a:prstGeom>
          <a:solidFill>
            <a:srgbClr val="FFFFFF"/>
          </a:solidFill>
          <a:ln/>
        </p:spPr>
      </p:sp>
      <p:sp>
        <p:nvSpPr>
          <p:cNvPr id="14" name="Text 9"/>
          <p:cNvSpPr txBox="1"/>
          <p:nvPr/>
        </p:nvSpPr>
        <p:spPr>
          <a:xfrm>
            <a:off x="1014984" y="3986784"/>
            <a:ext cx="9692640" cy="274320"/>
          </a:xfrm>
          <a:prstGeom prst="rect">
            <a:avLst/>
          </a:prstGeom>
          <a:noFill/>
          <a:ln/>
        </p:spPr>
        <p:txBody>
          <a:bodyPr wrap="square" lIns="0" tIns="0" rIns="0" bIns="0" rtlCol="0" anchor="t"/>
          <a:lstStyle/>
          <a:p>
            <a:pPr indent="0" marL="0">
              <a:buNone/>
            </a:pPr>
            <a:r>
              <a:rPr lang="en-US" sz="1400" dirty="0">
                <a:solidFill>
                  <a:srgbClr val="FFFFFF"/>
                </a:solidFill>
                <a:latin typeface="Montserrat SemiBold" pitchFamily="34" charset="0"/>
                <a:ea typeface="Montserrat SemiBold" pitchFamily="34" charset="-122"/>
                <a:cs typeface="Montserrat SemiBold" pitchFamily="34" charset="-120"/>
              </a:rPr>
              <a:t>To Vulnerability Management, Application Security and Network Security</a:t>
            </a:r>
            <a:endParaRPr lang="en-US" sz="1400" dirty="0"/>
          </a:p>
        </p:txBody>
      </p:sp>
      <p:sp>
        <p:nvSpPr>
          <p:cNvPr id="15" name="Text 10"/>
          <p:cNvSpPr txBox="1"/>
          <p:nvPr/>
        </p:nvSpPr>
        <p:spPr>
          <a:xfrm>
            <a:off x="1014984" y="4279392"/>
            <a:ext cx="9326880" cy="310896"/>
          </a:xfrm>
          <a:prstGeom prst="rect">
            <a:avLst/>
          </a:prstGeom>
          <a:noFill/>
          <a:ln/>
        </p:spPr>
        <p:txBody>
          <a:bodyPr wrap="square" lIns="0" tIns="0" rIns="0" bIns="0" rtlCol="0" anchor="t"/>
          <a:lstStyle/>
          <a:p>
            <a:pPr indent="0" marL="0">
              <a:lnSpc>
                <a:spcPct val="120000"/>
              </a:lnSpc>
              <a:buNone/>
            </a:pPr>
            <a:r>
              <a:rPr lang="en-US" sz="1100" dirty="0">
                <a:solidFill>
                  <a:srgbClr val="DAB4BA"/>
                </a:solidFill>
                <a:latin typeface="Montserrat" pitchFamily="34" charset="0"/>
                <a:ea typeface="Montserrat" pitchFamily="34" charset="-122"/>
                <a:cs typeface="Montserrat" pitchFamily="34" charset="-120"/>
              </a:rPr>
              <a:t>Three rotations, three different ways of looking at the same job. I learned something distinct in each one.</a:t>
            </a:r>
            <a:endParaRPr lang="en-US" sz="1100" dirty="0"/>
          </a:p>
        </p:txBody>
      </p:sp>
      <p:sp>
        <p:nvSpPr>
          <p:cNvPr id="16" name="Shape 11"/>
          <p:cNvSpPr/>
          <p:nvPr/>
        </p:nvSpPr>
        <p:spPr>
          <a:xfrm>
            <a:off x="777240" y="4718304"/>
            <a:ext cx="10637215" cy="7315"/>
          </a:xfrm>
          <a:prstGeom prst="rect">
            <a:avLst/>
          </a:prstGeom>
          <a:solidFill>
            <a:srgbClr val="CA949C"/>
          </a:solidFill>
          <a:ln/>
        </p:spPr>
      </p:sp>
      <p:sp>
        <p:nvSpPr>
          <p:cNvPr id="17" name="Shape 12"/>
          <p:cNvSpPr/>
          <p:nvPr/>
        </p:nvSpPr>
        <p:spPr>
          <a:xfrm>
            <a:off x="777240" y="4901184"/>
            <a:ext cx="45720" cy="384048"/>
          </a:xfrm>
          <a:prstGeom prst="rect">
            <a:avLst/>
          </a:prstGeom>
          <a:solidFill>
            <a:srgbClr val="FFFFFF"/>
          </a:solidFill>
          <a:ln/>
        </p:spPr>
      </p:sp>
      <p:sp>
        <p:nvSpPr>
          <p:cNvPr id="18" name="Text 13"/>
          <p:cNvSpPr txBox="1"/>
          <p:nvPr/>
        </p:nvSpPr>
        <p:spPr>
          <a:xfrm>
            <a:off x="1014984" y="4846320"/>
            <a:ext cx="9692640" cy="274320"/>
          </a:xfrm>
          <a:prstGeom prst="rect">
            <a:avLst/>
          </a:prstGeom>
          <a:noFill/>
          <a:ln/>
        </p:spPr>
        <p:txBody>
          <a:bodyPr wrap="square" lIns="0" tIns="0" rIns="0" bIns="0" rtlCol="0" anchor="t"/>
          <a:lstStyle/>
          <a:p>
            <a:pPr indent="0" marL="0">
              <a:buNone/>
            </a:pPr>
            <a:r>
              <a:rPr lang="en-US" sz="1400" dirty="0">
                <a:solidFill>
                  <a:srgbClr val="FFFFFF"/>
                </a:solidFill>
                <a:latin typeface="Montserrat SemiBold" pitchFamily="34" charset="0"/>
                <a:ea typeface="Montserrat SemiBold" pitchFamily="34" charset="-122"/>
                <a:cs typeface="Montserrat SemiBold" pitchFamily="34" charset="-120"/>
              </a:rPr>
              <a:t>To Cloud Operations and Development</a:t>
            </a:r>
            <a:endParaRPr lang="en-US" sz="1400" dirty="0"/>
          </a:p>
        </p:txBody>
      </p:sp>
      <p:sp>
        <p:nvSpPr>
          <p:cNvPr id="19" name="Text 14"/>
          <p:cNvSpPr txBox="1"/>
          <p:nvPr/>
        </p:nvSpPr>
        <p:spPr>
          <a:xfrm>
            <a:off x="1014984" y="5138928"/>
            <a:ext cx="9326880" cy="310896"/>
          </a:xfrm>
          <a:prstGeom prst="rect">
            <a:avLst/>
          </a:prstGeom>
          <a:noFill/>
          <a:ln/>
        </p:spPr>
        <p:txBody>
          <a:bodyPr wrap="square" lIns="0" tIns="0" rIns="0" bIns="0" rtlCol="0" anchor="t"/>
          <a:lstStyle/>
          <a:p>
            <a:pPr indent="0" marL="0">
              <a:lnSpc>
                <a:spcPct val="120000"/>
              </a:lnSpc>
              <a:buNone/>
            </a:pPr>
            <a:r>
              <a:rPr lang="en-US" sz="1100" dirty="0">
                <a:solidFill>
                  <a:srgbClr val="DAB4BA"/>
                </a:solidFill>
                <a:latin typeface="Montserrat" pitchFamily="34" charset="0"/>
                <a:ea typeface="Montserrat" pitchFamily="34" charset="-122"/>
                <a:cs typeface="Montserrat" pitchFamily="34" charset="-120"/>
              </a:rPr>
              <a:t>For making time for someone from another team who kept turning up with questions.</a:t>
            </a:r>
            <a:endParaRPr lang="en-US" sz="1100" dirty="0"/>
          </a:p>
        </p:txBody>
      </p:sp>
      <p:sp>
        <p:nvSpPr>
          <p:cNvPr id="20" name="Text 15"/>
          <p:cNvSpPr txBox="1"/>
          <p:nvPr/>
        </p:nvSpPr>
        <p:spPr>
          <a:xfrm>
            <a:off x="777240" y="5669280"/>
            <a:ext cx="6949440" cy="310896"/>
          </a:xfrm>
          <a:prstGeom prst="rect">
            <a:avLst/>
          </a:prstGeom>
          <a:noFill/>
          <a:ln/>
        </p:spPr>
        <p:txBody>
          <a:bodyPr wrap="square" lIns="0" tIns="0" rIns="0" bIns="0" rtlCol="0" anchor="t"/>
          <a:lstStyle/>
          <a:p>
            <a:pPr indent="0" marL="0">
              <a:buNone/>
            </a:pPr>
            <a:r>
              <a:rPr lang="en-US" sz="1600" dirty="0">
                <a:solidFill>
                  <a:srgbClr val="FFFFFF"/>
                </a:solidFill>
                <a:latin typeface="Montserrat SemiBold" pitchFamily="34" charset="0"/>
                <a:ea typeface="Montserrat SemiBold" pitchFamily="34" charset="-122"/>
                <a:cs typeface="Montserrat SemiBold" pitchFamily="34" charset="-120"/>
              </a:rPr>
              <a:t>Happy to take any questions.</a:t>
            </a:r>
            <a:endParaRPr lang="en-US" sz="1600" dirty="0"/>
          </a:p>
        </p:txBody>
      </p:sp>
      <p:sp>
        <p:nvSpPr>
          <p:cNvPr id="21" name="Text 16"/>
          <p:cNvSpPr txBox="1"/>
          <p:nvPr/>
        </p:nvSpPr>
        <p:spPr>
          <a:xfrm>
            <a:off x="777240" y="6016752"/>
            <a:ext cx="7680960" cy="256032"/>
          </a:xfrm>
          <a:prstGeom prst="rect">
            <a:avLst/>
          </a:prstGeom>
          <a:noFill/>
          <a:ln/>
        </p:spPr>
        <p:txBody>
          <a:bodyPr wrap="square" lIns="0" tIns="0" rIns="0" bIns="0" rtlCol="0" anchor="t"/>
          <a:lstStyle/>
          <a:p>
            <a:pPr indent="0" marL="0">
              <a:buNone/>
            </a:pPr>
            <a:r>
              <a:rPr lang="en-US" sz="950" spc="30" kern="0" dirty="0">
                <a:solidFill>
                  <a:srgbClr val="DAB4BA"/>
                </a:solidFill>
                <a:latin typeface="Montserrat Medium" pitchFamily="34" charset="0"/>
                <a:ea typeface="Montserrat Medium" pitchFamily="34" charset="-122"/>
                <a:cs typeface="Montserrat Medium" pitchFamily="34" charset="-120"/>
              </a:rPr>
              <a:t>Next up: the PWPA and PJPT certifications, heading toward penetration testing.</a:t>
            </a:r>
            <a:endParaRPr lang="en-US" sz="950" dirty="0"/>
          </a:p>
        </p:txBody>
      </p:sp>
      <p:sp>
        <p:nvSpPr>
          <p:cNvPr id="22" name="Text 17"/>
          <p:cNvSpPr txBox="1"/>
          <p:nvPr/>
        </p:nvSpPr>
        <p:spPr>
          <a:xfrm>
            <a:off x="777240" y="6327648"/>
            <a:ext cx="7315200" cy="201168"/>
          </a:xfrm>
          <a:prstGeom prst="rect">
            <a:avLst/>
          </a:prstGeom>
          <a:noFill/>
          <a:ln/>
        </p:spPr>
        <p:txBody>
          <a:bodyPr wrap="square" lIns="0" tIns="0" rIns="0" bIns="0" rtlCol="0" anchor="t"/>
          <a:lstStyle/>
          <a:p>
            <a:pPr indent="0" marL="0">
              <a:buNone/>
            </a:pPr>
            <a:r>
              <a:rPr lang="en-US" sz="850" spc="140" kern="0" dirty="0">
                <a:solidFill>
                  <a:srgbClr val="E4C9CE"/>
                </a:solidFill>
                <a:latin typeface="Montserrat SemiBold" pitchFamily="34" charset="0"/>
                <a:ea typeface="Montserrat SemiBold" pitchFamily="34" charset="-122"/>
                <a:cs typeface="Montserrat SemiBold" pitchFamily="34" charset="-120"/>
              </a:rPr>
              <a:t>THANK YOU</a:t>
            </a:r>
            <a:endParaRPr lang="en-US" sz="850" dirty="0"/>
          </a:p>
        </p:txBody>
      </p:sp>
      <p:sp>
        <p:nvSpPr>
          <p:cNvPr id="23" name="Text 18"/>
          <p:cNvSpPr txBox="1"/>
          <p:nvPr/>
        </p:nvSpPr>
        <p:spPr>
          <a:xfrm>
            <a:off x="10317175" y="6327648"/>
            <a:ext cx="1097280" cy="201168"/>
          </a:xfrm>
          <a:prstGeom prst="rect">
            <a:avLst/>
          </a:prstGeom>
          <a:noFill/>
          <a:ln/>
        </p:spPr>
        <p:txBody>
          <a:bodyPr wrap="square" lIns="0" tIns="0" rIns="0" bIns="0" rtlCol="0" anchor="t"/>
          <a:lstStyle/>
          <a:p>
            <a:pPr algn="r" indent="0" marL="0">
              <a:buNone/>
            </a:pPr>
            <a:r>
              <a:rPr lang="en-US" sz="850" spc="140" kern="0" dirty="0">
                <a:solidFill>
                  <a:srgbClr val="E4C9CE"/>
                </a:solidFill>
                <a:latin typeface="Montserrat SemiBold" pitchFamily="34" charset="0"/>
                <a:ea typeface="Montserrat SemiBold" pitchFamily="34" charset="-122"/>
                <a:cs typeface="Montserrat SemiBold" pitchFamily="34" charset="-120"/>
              </a:rPr>
              <a:t>23</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Stewart Title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Analyst Internship — Exit Presentation</dc:title>
  <dc:subject>PptxGenJS Presentation</dc:subject>
  <dc:creator>Jair Maldonado</dc:creator>
  <cp:lastModifiedBy>Jair Maldonado</cp:lastModifiedBy>
  <cp:revision>1</cp:revision>
  <dcterms:created xsi:type="dcterms:W3CDTF">2026-07-28T14:42:05Z</dcterms:created>
  <dcterms:modified xsi:type="dcterms:W3CDTF">2026-07-28T14:42:05Z</dcterms:modified>
</cp:coreProperties>
</file>