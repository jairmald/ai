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-822960"/>
            <a:ext cx="6035040" cy="603504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2194560" cy="22140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23042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STEWART TITLE  ·  INFORMATION SECURITY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2633472"/>
            <a:ext cx="8595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Information Security</a:t>
            </a:r>
            <a:endParaRPr lang="en-US" sz="500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Analyst Internship</a:t>
            </a:r>
            <a:endParaRPr lang="en-US" sz="5000" dirty="0"/>
          </a:p>
        </p:txBody>
      </p:sp>
      <p:sp>
        <p:nvSpPr>
          <p:cNvPr id="7" name="Shape 2"/>
          <p:cNvSpPr/>
          <p:nvPr/>
        </p:nvSpPr>
        <p:spPr>
          <a:xfrm>
            <a:off x="777240" y="4370832"/>
            <a:ext cx="713232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77240" y="46451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Jair Maldonado</a:t>
            </a:r>
            <a:endParaRPr lang="en-US" sz="1900" dirty="0"/>
          </a:p>
        </p:txBody>
      </p:sp>
      <p:sp>
        <p:nvSpPr>
          <p:cNvPr id="9" name="Text 4"/>
          <p:cNvSpPr txBox="1"/>
          <p:nvPr/>
        </p:nvSpPr>
        <p:spPr>
          <a:xfrm>
            <a:off x="777240" y="5029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Exit Presentation  ·  Summer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CONTENTS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What I will walk through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TABLE OF CONTENTS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214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618488" y="21031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13969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I am and where I am headed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2596896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27934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1618488" y="277520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28117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rotations across the security team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" y="3268980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34655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1618488" y="3447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48386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Securing every machine before it ships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77240" y="394106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41376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1618488" y="411937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5989320" y="415594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Defending against supply-chain attacks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77240" y="4613148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77240" y="4809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05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1618488" y="47914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155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48280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hours of manual lookup to seconds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77240" y="5285232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77240" y="54818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06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1618488" y="54635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5989320" y="550011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this means for Stewart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-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0080" y="3931920"/>
            <a:ext cx="3840480" cy="3840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371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17373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spc="-7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Jair Maldonado</a:t>
            </a:r>
            <a:endParaRPr lang="en-US" sz="3300" dirty="0"/>
          </a:p>
        </p:txBody>
      </p:sp>
      <p:sp>
        <p:nvSpPr>
          <p:cNvPr id="6" name="Shape 2"/>
          <p:cNvSpPr/>
          <p:nvPr/>
        </p:nvSpPr>
        <p:spPr>
          <a:xfrm>
            <a:off x="777240" y="3127248"/>
            <a:ext cx="54864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33649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Information Security Analyst Intern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868680"/>
            <a:ext cx="62938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298448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POSITION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1545336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Information Security Analyst Intern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120640" y="2084832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120640" y="2240280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SCHOOL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2487168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Studying cybersecurity, with a focus on offensive security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120640" y="302666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120640" y="3182112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3429000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Hands-on security work across vulnerability management, application security, and network security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120640" y="3968496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120640" y="4123944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CERTIFICATIONS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5120640" y="4370832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Working toward the PWPA and PJPT practical certifications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120640" y="4910328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120640" y="5065776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CAREER DIRECTION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5120640" y="5312664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Penetration testing — finding weaknesses before an attacker does</a:t>
            </a:r>
            <a:endParaRPr lang="en-US" sz="1250" dirty="0"/>
          </a:p>
        </p:txBody>
      </p:sp>
      <p:pic>
        <p:nvPicPr>
          <p:cNvPr id="23" name="Image 2" descr="/home/user/ai/assets/gen/logo-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120640" y="618134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120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Three rotations across the security team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883664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moved through three different areas of Information Security. Each rotation produced one project.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852928"/>
            <a:ext cx="10637215" cy="10973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1" name="Shape 8"/>
          <p:cNvSpPr/>
          <p:nvPr/>
        </p:nvSpPr>
        <p:spPr>
          <a:xfrm>
            <a:off x="1033272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77800" dist="44450" dir="5400000">
              <a:srgbClr val="959092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77240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88136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088136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Vulnerability Management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88136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known weaknesses across company machines and making sure they actually get fixed.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696816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40784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258060000" dist="564515000" dir="324000000000">
              <a:srgbClr val="959092">
                <a:alpha val="220000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440784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1680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4751680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Application Security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751680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Checking the software we build and the outside code we rely on for weaknesses.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360359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04327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8677362000000" dist="7169340500000" dir="19440000000000000">
              <a:srgbClr val="959092">
                <a:alpha val="22000000000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04327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415223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415223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Network Security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415223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Protecting how machines talk to each other, and what is allowed in and out.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Image Management Program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Defining the security tools every new machine must carry — and who owns installing them.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Nine required tools. No process to install them.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06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2996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</a:t>
            </a:r>
            <a:pPr indent="0" marL="0">
              <a:buNone/>
            </a:pPr>
            <a:r>
              <a:rPr lang="en-US" sz="14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Golden Image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is the standard template every new virtual machine is built from — set it up once, and every machine created afterwards inherits it.</a:t>
            </a:r>
            <a:endParaRPr lang="en-US" sz="1400" dirty="0"/>
          </a:p>
        </p:txBody>
      </p:sp>
      <p:pic>
        <p:nvPicPr>
          <p:cNvPr id="10" name="Image 1" descr="/home/user/ai/assets/gen/iso-mach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05456"/>
            <a:ext cx="3108960" cy="3017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" y="5577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layer is security tooling the image should carry before it is ever deployed.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224528" y="2578608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NINE REQUIRED TOOLS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224528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14300" dist="25400" dir="5400000">
              <a:srgbClr val="959092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224528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398264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 Nessus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620256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451610000" dist="322580000" dir="324000000000">
              <a:srgbClr val="959092">
                <a:alpha val="160000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20256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793992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CrowdStrike Falcon Sensor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9015984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8435447000000" dist="4096766000000" dir="19440000000000000">
              <a:srgbClr val="959092">
                <a:alpha val="16000000000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015984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189720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Netskope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224528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34130176900000000" dist="52028928200000000" dir="1.1664e+21">
              <a:srgbClr val="959092">
                <a:alpha val="1600000000000000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224528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398264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Cribl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620256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97345324663e+21" dist="660767388140000000000" dir="6.9984e+25">
              <a:srgbClr val="959092">
                <a:alpha val="1.6e+24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620256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793992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Splunk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9015984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7762856232201e+25" dist="8.391745829378e+24" dir="4.19904e+30">
              <a:srgbClr val="959092">
                <a:alpha val="1.6e+29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9015984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189720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ThreatLocker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224528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795882741489527e+29" dist="1.0657517203310059e+29" dir="2.519424e+35">
              <a:srgbClr val="959092">
                <a:alpha val="1.6e+34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224528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398264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Proofpoint DLP Agent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620256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6.090771081691699e+33" dist="1.3535046848203775e+33" dir="1.5116544e+40">
              <a:srgbClr val="959092">
                <a:alpha val="1.6e+39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6620256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793992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SCCM Agent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9015984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735279273748459e+37" dist="1.7189509497218795e+37" dir="9.069926400000001e+44">
              <a:srgbClr val="959092">
                <a:alpha val="1.6e+44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015984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9189720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ControlUp Agent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224528" y="5029200"/>
            <a:ext cx="7187184" cy="841248"/>
          </a:xfrm>
          <a:prstGeom prst="roundRect">
            <a:avLst>
              <a:gd name="adj" fmla="val 5435"/>
            </a:avLst>
          </a:prstGeom>
          <a:solidFill>
            <a:srgbClr val="F6EEF0"/>
          </a:solidFill>
          <a:ln/>
        </p:spPr>
      </p:sp>
      <p:sp>
        <p:nvSpPr>
          <p:cNvPr id="41" name="Shape 37"/>
          <p:cNvSpPr/>
          <p:nvPr/>
        </p:nvSpPr>
        <p:spPr>
          <a:xfrm>
            <a:off x="4224528" y="5029200"/>
            <a:ext cx="50292" cy="841248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4443984" y="515721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ACTUAL GAP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4443984" y="53949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dedicated process exists yet for installing these tools onto cloud images before deployment. My job was to define it.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Building the process from scratch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My role was to coordinate and bridge teams — define what is required, name who owns it, and get it signed off. I did not build or provision the machines myself.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64202497400000000" dist="91050624350000000" dir="1.1664e+21">
              <a:srgbClr val="959092">
                <a:alpha val="220000000000000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88136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Tools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Agree on exactly which security tools belong on every image — nine of them.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62908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4440784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62537171698e+21" dist="1.156342929245e+21" dir="6.9984e+25">
              <a:srgbClr val="959092">
                <a:alpha val="2.2e+24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1680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516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Owners</a:t>
            </a:r>
            <a:endParaRPr lang="en-US" sz="155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 team responsible for installing and maintaining each one.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26451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8104327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5.8742220805646e+25" dist="1.46855552014115e+25" dir="4.19904e+30">
              <a:srgbClr val="959092">
                <a:alpha val="2.2e+29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415223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415223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415223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Get It Adopted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8415223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that into a written framework the company formally signs off on.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2B2D30"/>
          </a:solidFill>
          <a:ln/>
          <a:effectLst>
            <a:outerShdw sx="100000" sy="100000" kx="0" ky="0" algn="bl" rotWithShape="0" blurRad="9.823804677660543e+41" dist="2.183067706146787e+41" dir="5.44195584e+49">
              <a:srgbClr val="959092">
                <a:alpha val="1.6e+49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106984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DELIVERED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069848" y="5522976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written Roles &amp; Responsibilities framework — drafted, staged for review, and set for formal adoption once the policy manager returns in Q4.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From a drafted framework to a standing process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08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The framework exists on paper. Turning it into something the company runs without me is the next stretch.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615184"/>
            <a:ext cx="3356762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460262042317042e+29" dist="1.8650655105792604e+29" dir="2.519424e+35">
              <a:srgbClr val="959092">
                <a:alpha val="2.2e+3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261518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88950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291840"/>
            <a:ext cx="2734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Formal adoption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3730752"/>
            <a:ext cx="27349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framework is drafted and staged for review. It goes for sign-off once the policy manager returns in Q4.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17466" y="2615184"/>
            <a:ext cx="3356762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9.474532793742643e+33" dist="2.3686331984356606e+33" dir="1.5116544e+40">
              <a:srgbClr val="959092">
                <a:alpha val="2.2e+3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17466" y="261518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28362" y="288950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728362" y="3291840"/>
            <a:ext cx="2734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Owners take it from here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28362" y="3730752"/>
            <a:ext cx="27349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named team picks up the tool it owns, so responsibility sits with the people who can act on it.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57693" y="2615184"/>
            <a:ext cx="3356762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2032656648053156e+38" dist="3.008164162013289e+37" dir="9.069926400000001e+44">
              <a:srgbClr val="959092">
                <a:alpha val="2.2e+44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57693" y="261518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368589" y="288950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68589" y="3291840"/>
            <a:ext cx="2734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Check before deploy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368589" y="3730752"/>
            <a:ext cx="27349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natural next step is a check that a newly built image actually carries all nine tools before it goes live.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52303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honest status: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drafted and staged for review, not yet formally adopted. The decision sits with the policy manager in Q4.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AEGIS — Supply-Chain Defense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Catching risky code hidden inside the open-source packages our software depends on.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One poisoned package reaches everyone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10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 a supply-chain attack, an attacker hides malicious code inside a legitimate, widely-used open-source package. Everyone who installs it inherits the compromise — including us. Real campaigns in 2025 and 2026 worked exactly this way, including a self-spreading family that reused each victim to infect the next.</a:t>
            </a:r>
            <a:endParaRPr lang="en-US" sz="1400" dirty="0"/>
          </a:p>
        </p:txBody>
      </p:sp>
      <p:pic>
        <p:nvPicPr>
          <p:cNvPr id="10" name="Image 1" descr="/home/user/ai/assets/gen/supply-ch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98064"/>
            <a:ext cx="9875520" cy="2880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852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Attacker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365370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Poisoned package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587362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Public registry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02404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Every project that installs it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F6EEF0"/>
          </a:solidFill>
          <a:ln/>
        </p:spPr>
      </p:sp>
      <p:sp>
        <p:nvSpPr>
          <p:cNvPr id="16" name="Shape 12"/>
          <p:cNvSpPr/>
          <p:nvPr/>
        </p:nvSpPr>
        <p:spPr>
          <a:xfrm>
            <a:off x="777240" y="5138928"/>
            <a:ext cx="50292" cy="859536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014984" y="5276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EXISTING TOOLS WERE NOT ENOUGH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14984" y="5513832"/>
            <a:ext cx="10134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Most scanners only say "you have a known flaw." They do not say whether our own code actually uses the flawed part — so teams cannot tell what is urgent and what is noise.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 scanner that checks if the flaw is reachable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11680"/>
            <a:ext cx="3931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5,675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455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packages scanned in production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by an earlier version of the tool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5528" y="3749040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33272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Reachability, not just presence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33272" y="39319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 "you have a flawed package" but "your code actually calls the flawed part".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5528" y="4572000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3272" y="44988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Three honest answers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33272" y="475488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Reachable, no call site found, or can't prove. They are never collapsed together into a single "safe".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95528" y="5394960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5321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Unknown is never "safe"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57784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the tool cannot tell, it says so. It never reports a clean result it has not earned.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175504" y="2066544"/>
            <a:ext cx="6238951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528147394302751e+42" dist="3.8203684857568774e+41" dir="5.44195584e+49">
              <a:srgbClr val="959092">
                <a:alpha val="2.2e+49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486400" y="2322576"/>
            <a:ext cx="56171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PACKAGES SCANNED PER RUN  ·  EARLIER VERSION</a:t>
            </a:r>
            <a:endParaRPr lang="en-US" sz="850" dirty="0"/>
          </a:p>
        </p:txBody>
      </p:sp>
      <p:pic>
        <p:nvPicPr>
          <p:cNvPr id="22" name="Image 1" descr="/home/user/ai/assets/gen/chart-packa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633472"/>
            <a:ext cx="5763463" cy="32609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HOW IT WORKS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Five stages. Only one can change anything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12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1865376"/>
            <a:ext cx="10637215" cy="530352"/>
          </a:xfrm>
          <a:prstGeom prst="roundRect">
            <a:avLst>
              <a:gd name="adj" fmla="val 10345"/>
            </a:avLst>
          </a:prstGeom>
          <a:solidFill>
            <a:srgbClr val="F6EEF0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1865376"/>
            <a:ext cx="50292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14984" y="2039112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CORE RULE   </a:t>
            </a:r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Unknown is never reported as safe. If AEGIS cannot tell, it says so.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96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STAGES 00–03   ·   RUN AUTOMATICALLY, READ ONLY — NOTHING IS CHANGED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77240" y="2798064"/>
            <a:ext cx="241241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9407471907644937e+46" dist="4.851867976911234e+45" dir="3.2651735040000005e+54">
              <a:srgbClr val="959092">
                <a:alpha val="2.2e+5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77240" y="2798064"/>
            <a:ext cx="2412416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6696" y="29626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00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96696" y="320040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SCAN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96696" y="3529584"/>
            <a:ext cx="1973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Checks every package version the project installs — its "lockfile" — against public records of known flaws.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6696" y="4261104"/>
            <a:ext cx="197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Checks public databases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235376" y="3656686"/>
            <a:ext cx="146304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20" name="Shape 17"/>
          <p:cNvSpPr/>
          <p:nvPr/>
        </p:nvSpPr>
        <p:spPr>
          <a:xfrm rot="5400000">
            <a:off x="3381680" y="3607308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21" name="Shape 18"/>
          <p:cNvSpPr/>
          <p:nvPr/>
        </p:nvSpPr>
        <p:spPr>
          <a:xfrm>
            <a:off x="3518840" y="2798064"/>
            <a:ext cx="241241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464748932270907e+50" dist="6.161872330677268e+49" dir="1.9591041024000004e+59">
              <a:srgbClr val="959092">
                <a:alpha val="2.2e+59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518840" y="2798064"/>
            <a:ext cx="2412416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738296" y="29626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38296" y="320040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REACH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3738296" y="3529584"/>
            <a:ext cx="1973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Looks inside our own code for a real call to the flawed part, and says which of the three answers it found.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738296" y="4261104"/>
            <a:ext cx="197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Stays offline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976976" y="3656686"/>
            <a:ext cx="146304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28" name="Shape 25"/>
          <p:cNvSpPr/>
          <p:nvPr/>
        </p:nvSpPr>
        <p:spPr>
          <a:xfrm rot="5400000">
            <a:off x="6123280" y="3607308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29" name="Shape 26"/>
          <p:cNvSpPr/>
          <p:nvPr/>
        </p:nvSpPr>
        <p:spPr>
          <a:xfrm>
            <a:off x="6260440" y="2798064"/>
            <a:ext cx="241241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1302311439840524e+54" dist="7.825577859960131e+53" dir="1.1754624614400003e+64">
              <a:srgbClr val="959092">
                <a:alpha val="2.2e+64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60440" y="2798064"/>
            <a:ext cx="2412416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79896" y="29626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479896" y="320040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BLAST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79896" y="3529584"/>
            <a:ext cx="1973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reachable findings only: how much sits downstream, and whether it runs in production or only in tests.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479896" y="4261104"/>
            <a:ext cx="197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Stays offline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8718575" y="3656686"/>
            <a:ext cx="146304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36" name="Shape 33"/>
          <p:cNvSpPr/>
          <p:nvPr/>
        </p:nvSpPr>
        <p:spPr>
          <a:xfrm rot="5400000">
            <a:off x="8864879" y="3607308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37" name="Shape 34"/>
          <p:cNvSpPr/>
          <p:nvPr/>
        </p:nvSpPr>
        <p:spPr>
          <a:xfrm>
            <a:off x="9002039" y="2798064"/>
            <a:ext cx="241241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9753935528597466e+58" dist="9.938483882149366e+57" dir="7.052774768640002e+68">
              <a:srgbClr val="959092">
                <a:alpha val="2.2e+69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9002039" y="2798064"/>
            <a:ext cx="2412416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221495" y="29626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9221495" y="320040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REGRESS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9221495" y="3529584"/>
            <a:ext cx="1973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well tested the affected files are, and how risky the upgrade looks — kept as two separate measures.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9221495" y="4261104"/>
            <a:ext cx="197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Stays offline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10198189" y="4553712"/>
            <a:ext cx="20117" cy="82296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4" name="Shape 41"/>
          <p:cNvSpPr/>
          <p:nvPr/>
        </p:nvSpPr>
        <p:spPr>
          <a:xfrm rot="10800000">
            <a:off x="10162527" y="4636008"/>
            <a:ext cx="91440" cy="118872"/>
          </a:xfrm>
          <a:prstGeom prst="triangle">
            <a:avLst/>
          </a:prstGeom>
          <a:solidFill>
            <a:srgbClr val="94283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830807" y="46451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ONLY IF YOU ASK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777240" y="4773168"/>
            <a:ext cx="10637215" cy="1133856"/>
          </a:xfrm>
          <a:prstGeom prst="roundRect">
            <a:avLst>
              <a:gd name="adj" fmla="val 4839"/>
            </a:avLst>
          </a:prstGeom>
          <a:solidFill>
            <a:srgbClr val="2B2D30"/>
          </a:solidFill>
          <a:ln/>
          <a:effectLst>
            <a:outerShdw sx="100000" sy="100000" kx="0" ky="0" algn="bl" rotWithShape="0" blurRad="1.247623194062889e+46" dist="2.7724959868064195e+45" dir="3.2651735040000005e+54">
              <a:srgbClr val="959092">
                <a:alpha val="1.6e+54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1088136" y="49743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STAGE 04</a:t>
            </a:r>
            <a:endParaRPr lang="en-US" sz="850" dirty="0"/>
          </a:p>
        </p:txBody>
      </p:sp>
      <p:sp>
        <p:nvSpPr>
          <p:cNvPr id="48" name="Text 45"/>
          <p:cNvSpPr txBox="1"/>
          <p:nvPr/>
        </p:nvSpPr>
        <p:spPr>
          <a:xfrm>
            <a:off x="1088136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3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FIX</a:t>
            </a:r>
            <a:endParaRPr lang="en-US" sz="2200" dirty="0"/>
          </a:p>
        </p:txBody>
      </p:sp>
      <p:sp>
        <p:nvSpPr>
          <p:cNvPr id="49" name="Text 46"/>
          <p:cNvSpPr txBox="1"/>
          <p:nvPr/>
        </p:nvSpPr>
        <p:spPr>
          <a:xfrm>
            <a:off x="2880360" y="4992624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ED9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Runs only when you ask for it by name. Builds a fix plan and works one step at a time.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6355080" y="4956048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574536" y="49560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Every step needs explicit human approval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6355080" y="5221224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—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6574536" y="5221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Refuses to touch a protected branch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548640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574536" y="548640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Never merges, and never marks its own work resolved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PROVING IT WORKS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 tried to catch it lying, and it held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13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security tool that quietly reports "clean" when it actually failed is worse than no tool at all. So I tested the failure paths, not just the happy path.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8716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spc="-14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733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12724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packages read from a real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project's lockfile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3063240" y="248716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spc="-14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312724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bugs found in my own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code, and fixed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77240" y="3858768"/>
            <a:ext cx="4114800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7240" y="4041648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bugs are the interesting part: one was an honesty bug — a "can't prove" result was being described as if the flaw had been confirmed absent. Exactly the failure the tool exists to prevent.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358384" y="2432304"/>
            <a:ext cx="6056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WHAT I ACTUALLY TESTED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58384" y="2779776"/>
            <a:ext cx="45720" cy="1828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41264" y="2724912"/>
            <a:ext cx="5873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Tested end to end, not just reviewed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41264" y="298094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 the whole pipeline against a real open-source project and read all 733 packages out of its lockfile.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358384" y="3648456"/>
            <a:ext cx="45720" cy="1828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41264" y="3593592"/>
            <a:ext cx="5873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It failed loudly, which is the point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41264" y="384962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the company network blocked the flaw-database lookup, SCAN reported an error instead of reporting "clean."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358384" y="4517136"/>
            <a:ext cx="45720" cy="1828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41264" y="4462272"/>
            <a:ext cx="5873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It refused to guess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541264" y="471830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Forced onto its weakest analysis method, REACH answered "can't prove" rather than calling anything safe.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358384" y="5385816"/>
            <a:ext cx="45720" cy="1828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541264" y="5330952"/>
            <a:ext cx="5873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safety rails hold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41264" y="558698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FIX refused to run without explicit approval, and refused to touch a protected branch even once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What is still open, and how I would close it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The pipeline is built and its safety rails are tested. Three things still need a real run before I would call it finished.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523744"/>
            <a:ext cx="3356762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5.048749812131878e+62" dist="1.2621874530329695e+62" dir="4.2316648611840007e+73">
              <a:srgbClr val="959092">
                <a:alpha val="2.2e+7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252374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798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182112"/>
            <a:ext cx="27349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Unblock the live lookups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3822192"/>
            <a:ext cx="273497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company security proxy presents a malformed certificate that modern security libraries correctly reject, so the lookups fail. The real fix is an inspection bypass. Meanwhile I built the workaround: the scan splits in two, so the lookup can run from an unblocked network.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17466" y="2523744"/>
            <a:ext cx="3356762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6.411912261407485e+66" dist="1.6029780653518713e+66" dir="2.5389989167104004e+78">
              <a:srgbClr val="959092">
                <a:alpha val="2.2000000000000002e+7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17466" y="252374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28362" y="2798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728362" y="3182112"/>
            <a:ext cx="27349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Read code structure, not just text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4728362" y="3822192"/>
            <a:ext cx="273497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Reachability currently falls back to searching text. With the right tooling present it reads the code's actual structure, which is far more accurate. That still needs a real run.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57693" y="2523744"/>
            <a:ext cx="3356762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8.143128571987506e+70" dist="2.0357821429968766e+70" dir="1.5233993500262402e+83">
              <a:srgbClr val="959092">
                <a:alpha val="2.2000000000000003e+84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57693" y="252374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368589" y="2798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68589" y="3182112"/>
            <a:ext cx="27349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Get it into other people's hands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8368589" y="3822192"/>
            <a:ext cx="273497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Packaged as a plugin so a developer can install it with one command. The install flow itself has not been run start to finish yet.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58338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Said plainly: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the parts that judge risk are built and tested. The parts that depend on the corporate network are not proven yet.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CVE-to-Patch Automation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Turning a manual, one-at-a-time patch lookup into a job that finishes in seconds.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Every flaw needed its own patch, found by hand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03120"/>
            <a:ext cx="3840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3697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high and critical flaws tracked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this cycle, every one of them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directly affecting the business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77240" y="4041648"/>
            <a:ext cx="566928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242816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This is not a sample. Kevlar — the team's vulnerability tracker — flagged these because they met both bars: high or critical severity, and a direct effect on business operations.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2084832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WHAT A "KNOWN FLAW" IS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2340864"/>
            <a:ext cx="638525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publicly published weakness in software that attackers already know about. Each one has a matching fix released by the vendor.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029200" y="3182112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3419856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IT IS SLOW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3675888"/>
            <a:ext cx="638525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each flaw: find Microsoft's advisory, work out which products and versions are affected, locate the matching patch for each one, then check it against the real machine inventory. Then repeat.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0" y="4517136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0" y="4700016"/>
            <a:ext cx="6385255" cy="1335024"/>
          </a:xfrm>
          <a:prstGeom prst="roundRect">
            <a:avLst>
              <a:gd name="adj" fmla="val 4110"/>
            </a:avLst>
          </a:prstGeom>
          <a:solidFill>
            <a:srgbClr val="2B2D30"/>
          </a:solidFill>
          <a:ln/>
          <a:effectLst>
            <a:outerShdw sx="100000" sy="100000" kx="0" ky="0" algn="bl" rotWithShape="0" blurRad="1.5844814564598688e+50" dist="3.5210699032441527e+49" dir="1.9591041024000004e+59">
              <a:srgbClr val="959092">
                <a:alpha val="1.6e+59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035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BEFORE  ·  DOING IT BY HAND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5120640"/>
            <a:ext cx="5836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~17.5 hours</a:t>
            </a:r>
            <a:pPr indent="0" marL="0">
              <a:buNone/>
            </a:pPr>
            <a:r>
              <a:rPr lang="en-US" sz="1250" dirty="0">
                <a:solidFill>
                  <a:srgbClr val="DED9D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 about 2 to 2.5 business days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5559552"/>
            <a:ext cx="5836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4BBB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Estimated at 8–10 min per flaw from the steps above — a reasoned estimate based on the work involved, not a stopwatch measurement.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RESULT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From about two days of work to twelve seconds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built a Python script that matches each flaw to its Microsoft patch automatically, using Microsoft's own public security feeds — no API key, no manual searching.</a:t>
            </a:r>
            <a:endParaRPr lang="en-US" sz="1400" dirty="0"/>
          </a:p>
        </p:txBody>
      </p:sp>
      <p:pic>
        <p:nvPicPr>
          <p:cNvPr id="10" name="Image 1" descr="/home/user/ai/assets/gen/chart-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87168"/>
            <a:ext cx="5852160" cy="325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58115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Share of the 117 flaws matched to their correct patch automatically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315200" y="2432304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0341773286424134e+75" dist="2.5854433216060334e+74" dir="9.14039610015744e+87">
              <a:srgbClr val="959092">
                <a:alpha val="2.2000000000000003e+89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589520" y="2606040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117/117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308152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flaws matched to the correct patch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315200" y="3675888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313405207375865e+79" dist="3.2835130184396625e+78" dir="5.484237660094465e+92">
              <a:srgbClr val="959092">
                <a:alpha val="2.2e+94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589520" y="3849624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~12 sec</a:t>
            </a:r>
            <a:endParaRPr lang="en-US" sz="27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0" y="4325112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runtime, start to finish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315200" y="4919472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1.6680246133673485e+83" dist="4.170061533418371e+82" dir="3.2905425960566786e+97">
              <a:srgbClr val="959092">
                <a:alpha val="2.2000000000000003e+99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589520" y="5093208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29/29</a:t>
            </a:r>
            <a:endParaRPr lang="en-US" sz="2700" dirty="0"/>
          </a:p>
        </p:txBody>
      </p:sp>
      <p:sp>
        <p:nvSpPr>
          <p:cNvPr id="20" name="Text 16"/>
          <p:cNvSpPr txBox="1"/>
          <p:nvPr/>
        </p:nvSpPr>
        <p:spPr>
          <a:xfrm>
            <a:off x="7589520" y="556869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spot-checked against Tenable, Rapid7 and public advisories — all confirmed correct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FINDING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52 of the 117 needed no action at all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18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Cross-referencing the matched patches against the real fleet turned up something better than a faster process: a large share of the work did not need doing in the first place.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432304"/>
            <a:ext cx="5175504" cy="1316736"/>
          </a:xfrm>
          <a:prstGeom prst="roundRect">
            <a:avLst>
              <a:gd name="adj" fmla="val 4167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2.1183912589765324e+87" dist="5.295978147441331e+86" dir="1.9743255576340073e+102">
              <a:srgbClr val="959092">
                <a:alpha val="2.2000000000000003e+104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088136" y="2670048"/>
            <a:ext cx="1737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65</a:t>
            </a:r>
            <a:endParaRPr lang="en-US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2880360" y="2889504"/>
            <a:ext cx="2761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flaws genuinely outstanding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36208" y="2432304"/>
            <a:ext cx="5175504" cy="1316736"/>
          </a:xfrm>
          <a:prstGeom prst="roundRect">
            <a:avLst>
              <a:gd name="adj" fmla="val 4167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6903568989001962e+91" dist="6.7258922472504905e+90" dir="1.1845953345804043e+107">
              <a:srgbClr val="959092">
                <a:alpha val="2.2000000000000003e+109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47104" y="2670048"/>
            <a:ext cx="1737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spc="-18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52</a:t>
            </a:r>
            <a:endParaRPr lang="en-US" sz="4600" dirty="0"/>
          </a:p>
        </p:txBody>
      </p:sp>
      <p:sp>
        <p:nvSpPr>
          <p:cNvPr id="15" name="Text 12"/>
          <p:cNvSpPr txBox="1"/>
          <p:nvPr/>
        </p:nvSpPr>
        <p:spPr>
          <a:xfrm>
            <a:off x="8339328" y="2889504"/>
            <a:ext cx="2761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flaws needing no action at all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98678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EVERY SQUARE IS ONE TRACKED FLAW</a:t>
            </a:r>
            <a:endParaRPr lang="en-US" sz="850" dirty="0"/>
          </a:p>
        </p:txBody>
      </p:sp>
      <p:pic>
        <p:nvPicPr>
          <p:cNvPr id="17" name="Image 1" descr="/home/user/ai/assets/gen/chart-no-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242816"/>
            <a:ext cx="10637215" cy="76763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77240" y="510189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65 still needed patching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28055" y="510189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52 already covered by routine monthly patching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5687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Why: 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Windows updates roll forward, so ordinary monthly patching had already carried every current machine past the fix for those 52. They were closed with no ticket and no work.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GOING DEEPER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Matching the flaws was only half the job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416753261603249e+95" dist="8.541883154008123e+94" dir="7.107572007482426e+111">
              <a:srgbClr val="959092">
                <a:alpha val="2.2000000000000003e+11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88136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WHERE 209 COMES FROM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088136" y="2578608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7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Kevlar's own report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88136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Kevlar publishes its own prioritisation report, and its KB Priority tab already held 209 rows — one for each unique pairing of flaw-set and operating-system product. I found that number in the data; I did not calculate it.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6208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3392766422361264e+99" dist="1.0848191605590316e+99" dir="4.2645432044894554e+116">
              <a:srgbClr val="959092">
                <a:alpha val="2.2000000000000005e+119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47104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WHAT I ACTUALLY DID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547104" y="2578608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7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Highest build wins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47104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Windows updates supersede every earlier fix on that branch, so for each machine-and-product pair only the highest fixed-build patch is needed. Applying that rule — and proving it lost nothing — collapsed the 209 rows to 46.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6817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HOW THE NUMBERS RELATE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77240" y="4974336"/>
            <a:ext cx="2487168" cy="1060704"/>
          </a:xfrm>
          <a:prstGeom prst="roundRect">
            <a:avLst>
              <a:gd name="adj" fmla="val 517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01600" dist="50800" dir="5400000">
              <a:srgbClr val="FFFFFF">
                <a:alpha val="7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60120" y="512064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2,658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" y="555955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host and product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assignments in the fleet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3196285" y="529437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19"/>
          <p:cNvSpPr/>
          <p:nvPr/>
        </p:nvSpPr>
        <p:spPr>
          <a:xfrm>
            <a:off x="3493922" y="4974336"/>
            <a:ext cx="2487168" cy="1060704"/>
          </a:xfrm>
          <a:prstGeom prst="roundRect">
            <a:avLst>
              <a:gd name="adj" fmla="val 517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290320000" dist="645160000" dir="324000000000">
              <a:srgbClr val="FFFFFF">
                <a:alpha val="750000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3676802" y="512064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3640226" y="555955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rows Kevlar grouped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them into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2968" y="529437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6210605" y="4974336"/>
            <a:ext cx="2487168" cy="1060704"/>
          </a:xfrm>
          <a:prstGeom prst="roundRect">
            <a:avLst>
              <a:gd name="adj" fmla="val 517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6387064000000" dist="8193532000000" dir="19440000000000000">
              <a:srgbClr val="FFFFFF">
                <a:alpha val="75000000000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393485" y="512064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12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RULE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356909" y="555955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highest build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wins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629650" y="529437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7"/>
          <p:cNvSpPr/>
          <p:nvPr/>
        </p:nvSpPr>
        <p:spPr>
          <a:xfrm>
            <a:off x="8927287" y="4974336"/>
            <a:ext cx="2487168" cy="1060704"/>
          </a:xfrm>
          <a:prstGeom prst="roundRect">
            <a:avLst>
              <a:gd name="adj" fmla="val 5172"/>
            </a:avLst>
          </a:prstGeom>
          <a:solidFill>
            <a:srgbClr val="942838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203200" dist="50800" dir="5400000">
              <a:srgbClr val="5D1923">
                <a:alpha val="34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110167" y="512064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073591" y="555955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actually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opened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PAYOFF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 rows became 46 tickets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20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5.510881335639881e+103" dist="1.3777203339099702e+103" dir="2.5587259226936733e+121">
              <a:srgbClr val="959092">
                <a:alpha val="2.2000000000000006e+12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96696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rows in Kevlar’s own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KB Priority report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440784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6.998819296262648e+107" dist="1.749704824065662e+107" dir="1.535235553616204e+126">
              <a:srgbClr val="959092">
                <a:alpha val="2.2000000000000006e+129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60240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4600" dirty="0"/>
          </a:p>
        </p:txBody>
      </p:sp>
      <p:sp>
        <p:nvSpPr>
          <p:cNvPr id="14" name="Text 11"/>
          <p:cNvSpPr txBox="1"/>
          <p:nvPr/>
        </p:nvSpPr>
        <p:spPr>
          <a:xfrm>
            <a:off x="4660240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actually opened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after applying the rule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04327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8.888500506253563e+111" dist="2.2221251265633907e+111" dir="9.211413321697224e+130">
              <a:srgbClr val="959092">
                <a:alpha val="2.2000000000000004e+134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23783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78%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8323783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fewer than the report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implied — 163 absorbed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03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EVERY SQUARE IS ONE ROW IN KEVLAR’S REPORT</a:t>
            </a:r>
            <a:endParaRPr lang="en-US" sz="850" dirty="0"/>
          </a:p>
        </p:txBody>
      </p:sp>
      <p:pic>
        <p:nvPicPr>
          <p:cNvPr id="19" name="Image 1" descr="/home/user/ai/assets/gen/chart-conso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96512"/>
            <a:ext cx="10637215" cy="122149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" y="540945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46 opened as tickets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5928055" y="540945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163 absorbed by a higher build already being installed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Zero coverage loss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—  verified across all 2,658 host-and-product combinations, not a sample.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Four systems, one screen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21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1168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 these four systems each hold one piece of the story, and someone has to stitch them together by hand. The next step is a single view where the whole path is visible at once.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95528" y="3118104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0392" y="3172968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Shape 9"/>
          <p:cNvSpPr/>
          <p:nvPr/>
        </p:nvSpPr>
        <p:spPr>
          <a:xfrm>
            <a:off x="882396" y="3319272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43000" y="30540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finds the flaw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95528" y="3776472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" y="3831336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7" name="Shape 14"/>
          <p:cNvSpPr/>
          <p:nvPr/>
        </p:nvSpPr>
        <p:spPr>
          <a:xfrm>
            <a:off x="882396" y="3977640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143000" y="371246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Kevlar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968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tracks which machines are exposed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528" y="4434840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0392" y="4489704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2" name="Shape 19"/>
          <p:cNvSpPr/>
          <p:nvPr/>
        </p:nvSpPr>
        <p:spPr>
          <a:xfrm>
            <a:off x="882396" y="4636008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143000" y="437083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Jira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" y="4626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 the ticket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95528" y="5093208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50392" y="5148072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143000" y="502920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Wiz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" y="52852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confirms the machine is real and reachable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63270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Flaw found → fix identified → ticket opened → patch confirmed, all in one place.</a:t>
            </a:r>
            <a:endParaRPr lang="en-US" sz="1100" dirty="0"/>
          </a:p>
        </p:txBody>
      </p:sp>
      <p:pic>
        <p:nvPicPr>
          <p:cNvPr id="30" name="Image 1" descr="/home/user/ai/assets/gen/dashboard-m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2103120"/>
            <a:ext cx="6056071" cy="349906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358384" y="5748487"/>
            <a:ext cx="60560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C9C6C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Concept — not a live system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926080"/>
            <a:ext cx="4754880" cy="475488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6583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987552"/>
            <a:ext cx="9509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Not just a good intern for my team —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for the company</a:t>
            </a:r>
            <a:endParaRPr lang="en-US" sz="3200" dirty="0"/>
          </a:p>
        </p:txBody>
      </p:sp>
      <p:sp>
        <p:nvSpPr>
          <p:cNvPr id="7" name="Shape 2"/>
          <p:cNvSpPr/>
          <p:nvPr/>
        </p:nvSpPr>
        <p:spPr>
          <a:xfrm>
            <a:off x="777240" y="2249424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3"/>
          <p:cNvSpPr/>
          <p:nvPr/>
        </p:nvSpPr>
        <p:spPr>
          <a:xfrm>
            <a:off x="777240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77240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33272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Left tools behind, not just results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1033272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scripts and frameworks I built are still in use by the team after I go.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236208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36208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92240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Worked across team lines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6492240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Vulnerability Management, Application Security and Network Security — plus Cloud Operations and Development.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77240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33272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proof, not opinions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033272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number here is either measured and independently checked, or clearly labelled as an estimate.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236208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36208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492240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to scale beyond one team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492240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project was designed so another group can pick it up and run it.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561441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Thank you — happy to take questions.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98017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Next up: the PWPA and PJPT certifications, heading toward penetration testing.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Stewart Title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Analyst Internship — Exit Presentation</dc:title>
  <dc:subject>PptxGenJS Presentation</dc:subject>
  <dc:creator>Jair Maldonado</dc:creator>
  <cp:lastModifiedBy>Jair Maldonado</cp:lastModifiedBy>
  <cp:revision>1</cp:revision>
  <dcterms:created xsi:type="dcterms:W3CDTF">2026-07-27T22:55:56Z</dcterms:created>
  <dcterms:modified xsi:type="dcterms:W3CDTF">2026-07-27T22:55:56Z</dcterms:modified>
</cp:coreProperties>
</file>