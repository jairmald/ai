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take one thing from this: three separate problems, three working solutions, and I can show the evidence for each. The detail follows — feel free to tune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Golden Image is the template every new virtual machine is built from. Set it up once and every machine after that inherits it. Q: Does this slow down provisioning? — No. The tools go into the image itself, so a machine built from it is already compliant on first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does this actually get adopted? — Q4, when the policy manager returns. It is drafted and staged for sign-off now, not adopted. Q: Who owns the rollout? — The infrastructure security team; each named team owns its own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someone poisons a popular free software package, and everyone who installs it gets the poison too. It has happened repeatedly in the last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Can AEGIS catch zero-days? — No. It catches publicly known flaws in open-source dependencies. Zero-days need different tooling entirely. Q: What about false positives? — Every finding it labels reachable is a real code path; anything it cannot confirm is labelled "can't prove", never "safe". I have not measured a false-positive rate, so I am not going to quote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security folks. The short version for everyone else: I tried to make the tool report a clean result it had not earned, and it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Who maintains this after I leave? — The Vulnerability Management team. It is packaged as a plugin so it installs with one command, though that install flow still needs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117 and not more? — Because that is the filtered set: high or critical severity AND directly affecting business operations. It is not a sample and it is not everything Kevlar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~17.5 hour baseline is a reasoned estimate at 8-10 minutes per flaw, not a stopwatch measurement. Say so if asked. If precision matters, have an analyst time a sample of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all 117 validated? — 29 were independently spot-checked and all 29 were correct. One entry, CVE-2025-47827, is double-classified in the Kevlar export (IGEL OS and Windows). That is a data-quality issue upstream, not a bug in the script, but worth flagging to whoever owns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chain if asked: 2,658 real host-and-product assignments, which Kevlar groups into 209 KB Priority rows, which the highest-fixed-build rule collapses to 46 tickets. The 78% is measured against Kevlar's 209, not against the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Will this integrate with Jira? — The data is ready. The integration depends on a workflow decision with the team that owns ticketing. The scripts work today without it; the dashboard is the optional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png">    </p:cNvPr>
          <p:cNvPicPr>
            <a:picLocks noChangeAspect="1"/>
          </p:cNvPicPr>
          <p:nvPr/>
        </p:nvPicPr>
        <p:blipFill>
          <a:blip r:embed="rId2"/>
          <a:stretch>
            <a:fillRect/>
          </a:stretch>
        </p:blipFill>
        <p:spPr>
          <a:xfrm>
            <a:off x="7040880" y="-822960"/>
            <a:ext cx="6035040" cy="60350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777240" y="566928"/>
            <a:ext cx="2194560" cy="221404"/>
          </a:xfrm>
          <a:prstGeom prst="rect">
            <a:avLst/>
          </a:prstGeom>
        </p:spPr>
      </p:pic>
      <p:sp>
        <p:nvSpPr>
          <p:cNvPr id="5" name="Text 0"/>
          <p:cNvSpPr txBox="1"/>
          <p:nvPr/>
        </p:nvSpPr>
        <p:spPr>
          <a:xfrm>
            <a:off x="777240" y="2304288"/>
            <a:ext cx="82296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STEWART TITLE  ·  INFORMATION SECURITY</a:t>
            </a:r>
            <a:endParaRPr lang="en-US" sz="1000" dirty="0"/>
          </a:p>
        </p:txBody>
      </p:sp>
      <p:sp>
        <p:nvSpPr>
          <p:cNvPr id="6" name="Text 1"/>
          <p:cNvSpPr txBox="1"/>
          <p:nvPr/>
        </p:nvSpPr>
        <p:spPr>
          <a:xfrm>
            <a:off x="777240" y="2633472"/>
            <a:ext cx="8595360" cy="1600200"/>
          </a:xfrm>
          <a:prstGeom prst="rect">
            <a:avLst/>
          </a:prstGeom>
          <a:noFill/>
          <a:ln/>
        </p:spPr>
        <p:txBody>
          <a:bodyPr wrap="square" lIns="0" tIns="0" rIns="0" bIns="0" rtlCol="0" anchor="t"/>
          <a:lstStyle/>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Information Security</a:t>
            </a:r>
            <a:endParaRPr lang="en-US" sz="5000" dirty="0"/>
          </a:p>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Analyst Internship</a:t>
            </a:r>
            <a:endParaRPr lang="en-US" sz="5000" dirty="0"/>
          </a:p>
        </p:txBody>
      </p:sp>
      <p:sp>
        <p:nvSpPr>
          <p:cNvPr id="7" name="Shape 2"/>
          <p:cNvSpPr/>
          <p:nvPr/>
        </p:nvSpPr>
        <p:spPr>
          <a:xfrm>
            <a:off x="777240" y="4370832"/>
            <a:ext cx="713232" cy="54864"/>
          </a:xfrm>
          <a:prstGeom prst="rect">
            <a:avLst/>
          </a:prstGeom>
          <a:solidFill>
            <a:srgbClr val="FFFFFF"/>
          </a:solidFill>
          <a:ln/>
        </p:spPr>
      </p:sp>
      <p:sp>
        <p:nvSpPr>
          <p:cNvPr id="8" name="Text 3"/>
          <p:cNvSpPr txBox="1"/>
          <p:nvPr/>
        </p:nvSpPr>
        <p:spPr>
          <a:xfrm>
            <a:off x="777240" y="4645152"/>
            <a:ext cx="6400800" cy="365760"/>
          </a:xfrm>
          <a:prstGeom prst="rect">
            <a:avLst/>
          </a:prstGeom>
          <a:noFill/>
          <a:ln/>
        </p:spPr>
        <p:txBody>
          <a:bodyPr wrap="square" lIns="0" tIns="0" rIns="0" bIns="0" rtlCol="0" anchor="t"/>
          <a:lstStyle/>
          <a:p>
            <a:pPr indent="0" marL="0">
              <a:buNone/>
            </a:pPr>
            <a:r>
              <a:rPr lang="en-US" sz="1900" dirty="0">
                <a:solidFill>
                  <a:srgbClr val="FFFFFF"/>
                </a:solidFill>
                <a:latin typeface="Montserrat SemiBold" pitchFamily="34" charset="0"/>
                <a:ea typeface="Montserrat SemiBold" pitchFamily="34" charset="-122"/>
                <a:cs typeface="Montserrat SemiBold" pitchFamily="34" charset="-120"/>
              </a:rPr>
              <a:t>Jair Maldonado</a:t>
            </a:r>
            <a:endParaRPr lang="en-US" sz="1900" dirty="0"/>
          </a:p>
        </p:txBody>
      </p:sp>
      <p:sp>
        <p:nvSpPr>
          <p:cNvPr id="9" name="Text 4"/>
          <p:cNvSpPr txBox="1"/>
          <p:nvPr/>
        </p:nvSpPr>
        <p:spPr>
          <a:xfrm>
            <a:off x="777240" y="5029200"/>
            <a:ext cx="6400800" cy="274320"/>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Exit Presentation  ·  Summer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CONTENTS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 will walk through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TABLE OF CONTENTS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02</a:t>
            </a:r>
            <a:endParaRPr lang="en-US" sz="850" dirty="0"/>
          </a:p>
        </p:txBody>
      </p:sp>
      <p:sp>
        <p:nvSpPr>
          <p:cNvPr id="9" name="Text 6"/>
          <p:cNvSpPr txBox="1"/>
          <p:nvPr/>
        </p:nvSpPr>
        <p:spPr>
          <a:xfrm>
            <a:off x="777240" y="212140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0" name="Text 7"/>
          <p:cNvSpPr txBox="1"/>
          <p:nvPr/>
        </p:nvSpPr>
        <p:spPr>
          <a:xfrm>
            <a:off x="1618488" y="210312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About Me</a:t>
            </a:r>
            <a:endParaRPr lang="en-US" sz="1550" dirty="0"/>
          </a:p>
        </p:txBody>
      </p:sp>
      <p:sp>
        <p:nvSpPr>
          <p:cNvPr id="11" name="Text 8"/>
          <p:cNvSpPr txBox="1"/>
          <p:nvPr/>
        </p:nvSpPr>
        <p:spPr>
          <a:xfrm>
            <a:off x="5989320" y="213969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Who I am and where I am headed</a:t>
            </a:r>
            <a:endParaRPr lang="en-US" sz="1100" dirty="0"/>
          </a:p>
        </p:txBody>
      </p:sp>
      <p:sp>
        <p:nvSpPr>
          <p:cNvPr id="12" name="Shape 9"/>
          <p:cNvSpPr/>
          <p:nvPr/>
        </p:nvSpPr>
        <p:spPr>
          <a:xfrm>
            <a:off x="777240" y="2596896"/>
            <a:ext cx="10637215" cy="10973"/>
          </a:xfrm>
          <a:prstGeom prst="rect">
            <a:avLst/>
          </a:prstGeom>
          <a:solidFill>
            <a:srgbClr val="E6E4E2"/>
          </a:solidFill>
          <a:ln/>
        </p:spPr>
      </p:sp>
      <p:sp>
        <p:nvSpPr>
          <p:cNvPr id="13" name="Text 10"/>
          <p:cNvSpPr txBox="1"/>
          <p:nvPr/>
        </p:nvSpPr>
        <p:spPr>
          <a:xfrm>
            <a:off x="777240" y="2793492"/>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4" name="Text 11"/>
          <p:cNvSpPr txBox="1"/>
          <p:nvPr/>
        </p:nvSpPr>
        <p:spPr>
          <a:xfrm>
            <a:off x="1618488" y="2775204"/>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Internship Overview</a:t>
            </a:r>
            <a:endParaRPr lang="en-US" sz="1550" dirty="0"/>
          </a:p>
        </p:txBody>
      </p:sp>
      <p:sp>
        <p:nvSpPr>
          <p:cNvPr id="15" name="Text 12"/>
          <p:cNvSpPr txBox="1"/>
          <p:nvPr/>
        </p:nvSpPr>
        <p:spPr>
          <a:xfrm>
            <a:off x="5989320" y="2811780"/>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Three rotations across the security team</a:t>
            </a:r>
            <a:endParaRPr lang="en-US" sz="1100" dirty="0"/>
          </a:p>
        </p:txBody>
      </p:sp>
      <p:sp>
        <p:nvSpPr>
          <p:cNvPr id="16" name="Shape 13"/>
          <p:cNvSpPr/>
          <p:nvPr/>
        </p:nvSpPr>
        <p:spPr>
          <a:xfrm>
            <a:off x="777240" y="3268980"/>
            <a:ext cx="10637215" cy="10973"/>
          </a:xfrm>
          <a:prstGeom prst="rect">
            <a:avLst/>
          </a:prstGeom>
          <a:solidFill>
            <a:srgbClr val="E6E4E2"/>
          </a:solidFill>
          <a:ln/>
        </p:spPr>
      </p:sp>
      <p:sp>
        <p:nvSpPr>
          <p:cNvPr id="17" name="Text 14"/>
          <p:cNvSpPr txBox="1"/>
          <p:nvPr/>
        </p:nvSpPr>
        <p:spPr>
          <a:xfrm>
            <a:off x="777240" y="3465576"/>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18" name="Text 15"/>
          <p:cNvSpPr txBox="1"/>
          <p:nvPr/>
        </p:nvSpPr>
        <p:spPr>
          <a:xfrm>
            <a:off x="1618488" y="3447288"/>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Image Management Program</a:t>
            </a:r>
            <a:endParaRPr lang="en-US" sz="1550" dirty="0"/>
          </a:p>
        </p:txBody>
      </p:sp>
      <p:sp>
        <p:nvSpPr>
          <p:cNvPr id="19" name="Text 16"/>
          <p:cNvSpPr txBox="1"/>
          <p:nvPr/>
        </p:nvSpPr>
        <p:spPr>
          <a:xfrm>
            <a:off x="5989320" y="3483864"/>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Making sure every new machine starts secure</a:t>
            </a:r>
            <a:endParaRPr lang="en-US" sz="1100" dirty="0"/>
          </a:p>
        </p:txBody>
      </p:sp>
      <p:sp>
        <p:nvSpPr>
          <p:cNvPr id="20" name="Shape 17"/>
          <p:cNvSpPr/>
          <p:nvPr/>
        </p:nvSpPr>
        <p:spPr>
          <a:xfrm>
            <a:off x="777240" y="3941064"/>
            <a:ext cx="10637215" cy="10973"/>
          </a:xfrm>
          <a:prstGeom prst="rect">
            <a:avLst/>
          </a:prstGeom>
          <a:solidFill>
            <a:srgbClr val="E6E4E2"/>
          </a:solidFill>
          <a:ln/>
        </p:spPr>
      </p:sp>
      <p:sp>
        <p:nvSpPr>
          <p:cNvPr id="21" name="Text 18"/>
          <p:cNvSpPr txBox="1"/>
          <p:nvPr/>
        </p:nvSpPr>
        <p:spPr>
          <a:xfrm>
            <a:off x="777240" y="4137660"/>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04</a:t>
            </a:r>
            <a:endParaRPr lang="en-US" sz="2100" dirty="0"/>
          </a:p>
        </p:txBody>
      </p:sp>
      <p:sp>
        <p:nvSpPr>
          <p:cNvPr id="22" name="Text 19"/>
          <p:cNvSpPr txBox="1"/>
          <p:nvPr/>
        </p:nvSpPr>
        <p:spPr>
          <a:xfrm>
            <a:off x="1618488" y="4119372"/>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AEGIS</a:t>
            </a:r>
            <a:endParaRPr lang="en-US" sz="1550" dirty="0"/>
          </a:p>
        </p:txBody>
      </p:sp>
      <p:sp>
        <p:nvSpPr>
          <p:cNvPr id="23" name="Text 20"/>
          <p:cNvSpPr txBox="1"/>
          <p:nvPr/>
        </p:nvSpPr>
        <p:spPr>
          <a:xfrm>
            <a:off x="5989320" y="4155948"/>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Catching supply-chain attacks before they reach us</a:t>
            </a:r>
            <a:endParaRPr lang="en-US" sz="1100" dirty="0"/>
          </a:p>
        </p:txBody>
      </p:sp>
      <p:sp>
        <p:nvSpPr>
          <p:cNvPr id="24" name="Shape 21"/>
          <p:cNvSpPr/>
          <p:nvPr/>
        </p:nvSpPr>
        <p:spPr>
          <a:xfrm>
            <a:off x="777240" y="4613148"/>
            <a:ext cx="10637215" cy="10973"/>
          </a:xfrm>
          <a:prstGeom prst="rect">
            <a:avLst/>
          </a:prstGeom>
          <a:solidFill>
            <a:srgbClr val="E6E4E2"/>
          </a:solidFill>
          <a:ln/>
        </p:spPr>
      </p:sp>
      <p:sp>
        <p:nvSpPr>
          <p:cNvPr id="25" name="Text 22"/>
          <p:cNvSpPr txBox="1"/>
          <p:nvPr/>
        </p:nvSpPr>
        <p:spPr>
          <a:xfrm>
            <a:off x="777240" y="4809744"/>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05</a:t>
            </a:r>
            <a:endParaRPr lang="en-US" sz="2100" dirty="0"/>
          </a:p>
        </p:txBody>
      </p:sp>
      <p:sp>
        <p:nvSpPr>
          <p:cNvPr id="26" name="Text 23"/>
          <p:cNvSpPr txBox="1"/>
          <p:nvPr/>
        </p:nvSpPr>
        <p:spPr>
          <a:xfrm>
            <a:off x="1618488" y="4791456"/>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CVE-to-Patch Automation</a:t>
            </a:r>
            <a:endParaRPr lang="en-US" sz="1550" dirty="0"/>
          </a:p>
        </p:txBody>
      </p:sp>
      <p:sp>
        <p:nvSpPr>
          <p:cNvPr id="27" name="Text 24"/>
          <p:cNvSpPr txBox="1"/>
          <p:nvPr/>
        </p:nvSpPr>
        <p:spPr>
          <a:xfrm>
            <a:off x="5989320" y="4828032"/>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Turning two days of patch work into twelve seconds</a:t>
            </a:r>
            <a:endParaRPr lang="en-US" sz="1100" dirty="0"/>
          </a:p>
        </p:txBody>
      </p:sp>
      <p:sp>
        <p:nvSpPr>
          <p:cNvPr id="28" name="Shape 25"/>
          <p:cNvSpPr/>
          <p:nvPr/>
        </p:nvSpPr>
        <p:spPr>
          <a:xfrm>
            <a:off x="777240" y="5285232"/>
            <a:ext cx="10637215" cy="10973"/>
          </a:xfrm>
          <a:prstGeom prst="rect">
            <a:avLst/>
          </a:prstGeom>
          <a:solidFill>
            <a:srgbClr val="E6E4E2"/>
          </a:solidFill>
          <a:ln/>
        </p:spPr>
      </p:sp>
      <p:sp>
        <p:nvSpPr>
          <p:cNvPr id="29" name="Text 26"/>
          <p:cNvSpPr txBox="1"/>
          <p:nvPr/>
        </p:nvSpPr>
        <p:spPr>
          <a:xfrm>
            <a:off x="777240" y="548182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06</a:t>
            </a:r>
            <a:endParaRPr lang="en-US" sz="2100" dirty="0"/>
          </a:p>
        </p:txBody>
      </p:sp>
      <p:sp>
        <p:nvSpPr>
          <p:cNvPr id="30" name="Text 27"/>
          <p:cNvSpPr txBox="1"/>
          <p:nvPr/>
        </p:nvSpPr>
        <p:spPr>
          <a:xfrm>
            <a:off x="1618488" y="546354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Summary</a:t>
            </a:r>
            <a:endParaRPr lang="en-US" sz="1550" dirty="0"/>
          </a:p>
        </p:txBody>
      </p:sp>
      <p:sp>
        <p:nvSpPr>
          <p:cNvPr id="31" name="Text 28"/>
          <p:cNvSpPr txBox="1"/>
          <p:nvPr/>
        </p:nvSpPr>
        <p:spPr>
          <a:xfrm>
            <a:off x="5989320" y="550011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What this means for Stewart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EXECUTIVE SUMMARY</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problems, three working solutions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EXECUTIVE SUMMARY</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03</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Three separate gaps, three things the team keeps using. This is the whole story on one slide.</a:t>
            </a:r>
            <a:endParaRPr lang="en-US" sz="1400" dirty="0"/>
          </a:p>
        </p:txBody>
      </p:sp>
      <p:sp>
        <p:nvSpPr>
          <p:cNvPr id="10" name="Text 7"/>
          <p:cNvSpPr txBox="1"/>
          <p:nvPr/>
        </p:nvSpPr>
        <p:spPr>
          <a:xfrm>
            <a:off x="777240" y="2487168"/>
            <a:ext cx="3200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PROBLEM</a:t>
            </a:r>
            <a:endParaRPr lang="en-US" sz="850" dirty="0"/>
          </a:p>
        </p:txBody>
      </p:sp>
      <p:sp>
        <p:nvSpPr>
          <p:cNvPr id="11" name="Text 8"/>
          <p:cNvSpPr txBox="1"/>
          <p:nvPr/>
        </p:nvSpPr>
        <p:spPr>
          <a:xfrm>
            <a:off x="4224528" y="2487168"/>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BUILT</a:t>
            </a:r>
            <a:endParaRPr lang="en-US" sz="850" dirty="0"/>
          </a:p>
        </p:txBody>
      </p:sp>
      <p:sp>
        <p:nvSpPr>
          <p:cNvPr id="12" name="Text 9"/>
          <p:cNvSpPr txBox="1"/>
          <p:nvPr/>
        </p:nvSpPr>
        <p:spPr>
          <a:xfrm>
            <a:off x="8101584" y="2487168"/>
            <a:ext cx="33128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PROOF</a:t>
            </a:r>
            <a:endParaRPr lang="en-US" sz="850" dirty="0"/>
          </a:p>
        </p:txBody>
      </p:sp>
      <p:sp>
        <p:nvSpPr>
          <p:cNvPr id="13" name="Shape 10"/>
          <p:cNvSpPr/>
          <p:nvPr/>
        </p:nvSpPr>
        <p:spPr>
          <a:xfrm>
            <a:off x="777240" y="2743200"/>
            <a:ext cx="10637215" cy="10973"/>
          </a:xfrm>
          <a:prstGeom prst="rect">
            <a:avLst/>
          </a:prstGeom>
          <a:solidFill>
            <a:srgbClr val="E6E4E2"/>
          </a:solidFill>
          <a:ln/>
        </p:spPr>
      </p:sp>
      <p:sp>
        <p:nvSpPr>
          <p:cNvPr id="14" name="Text 11"/>
          <p:cNvSpPr txBox="1"/>
          <p:nvPr/>
        </p:nvSpPr>
        <p:spPr>
          <a:xfrm>
            <a:off x="777240" y="2889504"/>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New machines could ship without the security tools they need.</a:t>
            </a:r>
            <a:endParaRPr lang="en-US" sz="1100" dirty="0"/>
          </a:p>
        </p:txBody>
      </p:sp>
      <p:sp>
        <p:nvSpPr>
          <p:cNvPr id="15" name="Text 12"/>
          <p:cNvSpPr txBox="1"/>
          <p:nvPr/>
        </p:nvSpPr>
        <p:spPr>
          <a:xfrm>
            <a:off x="4224528" y="2889504"/>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written framework naming all nine required tools and who owns each.</a:t>
            </a:r>
            <a:endParaRPr lang="en-US" sz="1100" dirty="0"/>
          </a:p>
        </p:txBody>
      </p:sp>
      <p:sp>
        <p:nvSpPr>
          <p:cNvPr id="16" name="Shape 13"/>
          <p:cNvSpPr/>
          <p:nvPr/>
        </p:nvSpPr>
        <p:spPr>
          <a:xfrm>
            <a:off x="7918704" y="2779776"/>
            <a:ext cx="3495751" cy="859536"/>
          </a:xfrm>
          <a:prstGeom prst="roundRect">
            <a:avLst>
              <a:gd name="adj" fmla="val 5319"/>
            </a:avLst>
          </a:prstGeom>
          <a:solidFill>
            <a:srgbClr val="F6EEF0"/>
          </a:solidFill>
          <a:ln/>
        </p:spPr>
      </p:sp>
      <p:sp>
        <p:nvSpPr>
          <p:cNvPr id="17" name="Text 14"/>
          <p:cNvSpPr txBox="1"/>
          <p:nvPr/>
        </p:nvSpPr>
        <p:spPr>
          <a:xfrm>
            <a:off x="8101584" y="2907792"/>
            <a:ext cx="3129991" cy="658368"/>
          </a:xfrm>
          <a:prstGeom prst="rect">
            <a:avLst/>
          </a:prstGeom>
          <a:noFill/>
          <a:ln/>
        </p:spPr>
        <p:txBody>
          <a:bodyPr wrap="square" lIns="0" tIns="0" rIns="0" bIns="0" rtlCol="0" anchor="t"/>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Drafted and staged for Q4 sign-off</a:t>
            </a:r>
            <a:endParaRPr lang="en-US" sz="1100" dirty="0"/>
          </a:p>
        </p:txBody>
      </p:sp>
      <p:sp>
        <p:nvSpPr>
          <p:cNvPr id="18" name="Shape 15"/>
          <p:cNvSpPr/>
          <p:nvPr/>
        </p:nvSpPr>
        <p:spPr>
          <a:xfrm>
            <a:off x="777240" y="3858768"/>
            <a:ext cx="10637215" cy="10973"/>
          </a:xfrm>
          <a:prstGeom prst="rect">
            <a:avLst/>
          </a:prstGeom>
          <a:solidFill>
            <a:srgbClr val="E6E4E2"/>
          </a:solidFill>
          <a:ln/>
        </p:spPr>
      </p:sp>
      <p:sp>
        <p:nvSpPr>
          <p:cNvPr id="19" name="Text 16"/>
          <p:cNvSpPr txBox="1"/>
          <p:nvPr/>
        </p:nvSpPr>
        <p:spPr>
          <a:xfrm>
            <a:off x="777240" y="4023360"/>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7"/>
          <p:cNvSpPr txBox="1"/>
          <p:nvPr/>
        </p:nvSpPr>
        <p:spPr>
          <a:xfrm>
            <a:off x="4224528" y="4023360"/>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AEGIS — a scanner that checks whether our code actually reaches the flaw.</a:t>
            </a:r>
            <a:endParaRPr lang="en-US" sz="1100" dirty="0"/>
          </a:p>
        </p:txBody>
      </p:sp>
      <p:sp>
        <p:nvSpPr>
          <p:cNvPr id="21" name="Shape 18"/>
          <p:cNvSpPr/>
          <p:nvPr/>
        </p:nvSpPr>
        <p:spPr>
          <a:xfrm>
            <a:off x="7918704" y="3913632"/>
            <a:ext cx="3495751" cy="859536"/>
          </a:xfrm>
          <a:prstGeom prst="roundRect">
            <a:avLst>
              <a:gd name="adj" fmla="val 5319"/>
            </a:avLst>
          </a:prstGeom>
          <a:solidFill>
            <a:srgbClr val="F6EEF0"/>
          </a:solidFill>
          <a:ln/>
        </p:spPr>
      </p:sp>
      <p:sp>
        <p:nvSpPr>
          <p:cNvPr id="22" name="Text 19"/>
          <p:cNvSpPr txBox="1"/>
          <p:nvPr/>
        </p:nvSpPr>
        <p:spPr>
          <a:xfrm>
            <a:off x="8101584" y="4041648"/>
            <a:ext cx="3129991" cy="658368"/>
          </a:xfrm>
          <a:prstGeom prst="rect">
            <a:avLst/>
          </a:prstGeom>
          <a:noFill/>
          <a:ln/>
        </p:spPr>
        <p:txBody>
          <a:bodyPr wrap="square" lIns="0" tIns="0" rIns="0" bIns="0" rtlCol="0" anchor="t"/>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5,675 packages scanned in production by an earlier version</a:t>
            </a:r>
            <a:endParaRPr lang="en-US" sz="1100" dirty="0"/>
          </a:p>
        </p:txBody>
      </p:sp>
      <p:sp>
        <p:nvSpPr>
          <p:cNvPr id="23" name="Shape 20"/>
          <p:cNvSpPr/>
          <p:nvPr/>
        </p:nvSpPr>
        <p:spPr>
          <a:xfrm>
            <a:off x="777240" y="4992624"/>
            <a:ext cx="10637215" cy="10973"/>
          </a:xfrm>
          <a:prstGeom prst="rect">
            <a:avLst/>
          </a:prstGeom>
          <a:solidFill>
            <a:srgbClr val="E6E4E2"/>
          </a:solidFill>
          <a:ln/>
        </p:spPr>
      </p:sp>
      <p:sp>
        <p:nvSpPr>
          <p:cNvPr id="24" name="Text 21"/>
          <p:cNvSpPr txBox="1"/>
          <p:nvPr/>
        </p:nvSpPr>
        <p:spPr>
          <a:xfrm>
            <a:off x="777240" y="5157216"/>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5" name="Text 22"/>
          <p:cNvSpPr txBox="1"/>
          <p:nvPr/>
        </p:nvSpPr>
        <p:spPr>
          <a:xfrm>
            <a:off x="4224528" y="5157216"/>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script that does the matching automatically, then consolidates the result.</a:t>
            </a:r>
            <a:endParaRPr lang="en-US" sz="1100" dirty="0"/>
          </a:p>
        </p:txBody>
      </p:sp>
      <p:sp>
        <p:nvSpPr>
          <p:cNvPr id="26" name="Shape 23"/>
          <p:cNvSpPr/>
          <p:nvPr/>
        </p:nvSpPr>
        <p:spPr>
          <a:xfrm>
            <a:off x="7918704" y="5047488"/>
            <a:ext cx="3495751" cy="859536"/>
          </a:xfrm>
          <a:prstGeom prst="roundRect">
            <a:avLst>
              <a:gd name="adj" fmla="val 5319"/>
            </a:avLst>
          </a:prstGeom>
          <a:solidFill>
            <a:srgbClr val="F6EEF0"/>
          </a:solidFill>
          <a:ln/>
        </p:spPr>
      </p:sp>
      <p:sp>
        <p:nvSpPr>
          <p:cNvPr id="27" name="Text 24"/>
          <p:cNvSpPr txBox="1"/>
          <p:nvPr/>
        </p:nvSpPr>
        <p:spPr>
          <a:xfrm>
            <a:off x="8101584" y="5175504"/>
            <a:ext cx="3129991" cy="658368"/>
          </a:xfrm>
          <a:prstGeom prst="rect">
            <a:avLst/>
          </a:prstGeom>
          <a:noFill/>
          <a:ln/>
        </p:spPr>
        <p:txBody>
          <a:bodyPr wrap="square" lIns="0" tIns="0" rIns="0" bIns="0" rtlCol="0" anchor="t"/>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117 matched in ~12 sec; 209 rows became 46 tickets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ai/assets/gen/panel-red-left.png">    </p:cNvPr>
          <p:cNvPicPr>
            <a:picLocks noChangeAspect="1"/>
          </p:cNvPicPr>
          <p:nvPr/>
        </p:nvPicPr>
        <p:blipFill>
          <a:blip r:embed="rId1"/>
          <a:stretch>
            <a:fillRect/>
          </a:stretch>
        </p:blipFill>
        <p:spPr>
          <a:xfrm>
            <a:off x="0" y="0"/>
            <a:ext cx="4343400"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640080" y="3931920"/>
            <a:ext cx="3840480" cy="3840480"/>
          </a:xfrm>
          <a:prstGeom prst="rect">
            <a:avLst/>
          </a:prstGeom>
        </p:spPr>
      </p:pic>
      <p:sp>
        <p:nvSpPr>
          <p:cNvPr id="4" name="Text 0"/>
          <p:cNvSpPr txBox="1"/>
          <p:nvPr/>
        </p:nvSpPr>
        <p:spPr>
          <a:xfrm>
            <a:off x="777240" y="1371600"/>
            <a:ext cx="310896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ABOUT ME</a:t>
            </a:r>
            <a:endParaRPr lang="en-US" sz="1000" dirty="0"/>
          </a:p>
        </p:txBody>
      </p:sp>
      <p:sp>
        <p:nvSpPr>
          <p:cNvPr id="5" name="Text 1"/>
          <p:cNvSpPr txBox="1"/>
          <p:nvPr/>
        </p:nvSpPr>
        <p:spPr>
          <a:xfrm>
            <a:off x="777240" y="1737360"/>
            <a:ext cx="3291840" cy="1371600"/>
          </a:xfrm>
          <a:prstGeom prst="rect">
            <a:avLst/>
          </a:prstGeom>
          <a:noFill/>
          <a:ln/>
        </p:spPr>
        <p:txBody>
          <a:bodyPr wrap="square" lIns="0" tIns="0" rIns="0" bIns="0" rtlCol="0" anchor="t"/>
          <a:lstStyle/>
          <a:p>
            <a:pPr indent="0" marL="0">
              <a:lnSpc>
                <a:spcPct val="98000"/>
              </a:lnSpc>
              <a:buNone/>
            </a:pPr>
            <a:r>
              <a:rPr lang="en-US" sz="3300" spc="-70" kern="0" dirty="0">
                <a:solidFill>
                  <a:srgbClr val="FFFFFF"/>
                </a:solidFill>
                <a:latin typeface="Montserrat ExtraBold" pitchFamily="34" charset="0"/>
                <a:ea typeface="Montserrat ExtraBold" pitchFamily="34" charset="-122"/>
                <a:cs typeface="Montserrat ExtraBold" pitchFamily="34" charset="-120"/>
              </a:rPr>
              <a:t>Jair Maldonado</a:t>
            </a:r>
            <a:endParaRPr lang="en-US" sz="3300" dirty="0"/>
          </a:p>
        </p:txBody>
      </p:sp>
      <p:sp>
        <p:nvSpPr>
          <p:cNvPr id="6" name="Shape 2"/>
          <p:cNvSpPr/>
          <p:nvPr/>
        </p:nvSpPr>
        <p:spPr>
          <a:xfrm>
            <a:off x="777240" y="3127248"/>
            <a:ext cx="548640" cy="45720"/>
          </a:xfrm>
          <a:prstGeom prst="rect">
            <a:avLst/>
          </a:prstGeom>
          <a:solidFill>
            <a:srgbClr val="FFFFFF"/>
          </a:solidFill>
          <a:ln/>
        </p:spPr>
      </p:sp>
      <p:sp>
        <p:nvSpPr>
          <p:cNvPr id="7" name="Text 3"/>
          <p:cNvSpPr txBox="1"/>
          <p:nvPr/>
        </p:nvSpPr>
        <p:spPr>
          <a:xfrm>
            <a:off x="777240" y="3364992"/>
            <a:ext cx="3200400" cy="548640"/>
          </a:xfrm>
          <a:prstGeom prst="rect">
            <a:avLst/>
          </a:prstGeom>
          <a:noFill/>
          <a:ln/>
        </p:spPr>
        <p:txBody>
          <a:bodyPr wrap="square" lIns="0" tIns="0" rIns="0" bIns="0" rtlCol="0" anchor="t"/>
          <a:lstStyle/>
          <a:p>
            <a:pPr indent="0" marL="0">
              <a:lnSpc>
                <a:spcPct val="120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Information Security Analyst Intern</a:t>
            </a:r>
            <a:endParaRPr lang="en-US" sz="950" dirty="0"/>
          </a:p>
        </p:txBody>
      </p:sp>
      <p:sp>
        <p:nvSpPr>
          <p:cNvPr id="8" name="Text 4"/>
          <p:cNvSpPr txBox="1"/>
          <p:nvPr/>
        </p:nvSpPr>
        <p:spPr>
          <a:xfrm>
            <a:off x="5120640" y="868680"/>
            <a:ext cx="6293815" cy="237744"/>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BACKGROUND</a:t>
            </a:r>
            <a:endParaRPr lang="en-US" sz="1000" dirty="0"/>
          </a:p>
        </p:txBody>
      </p:sp>
      <p:sp>
        <p:nvSpPr>
          <p:cNvPr id="9" name="Text 5"/>
          <p:cNvSpPr txBox="1"/>
          <p:nvPr/>
        </p:nvSpPr>
        <p:spPr>
          <a:xfrm>
            <a:off x="5120640" y="1298448"/>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POSITION</a:t>
            </a:r>
            <a:endParaRPr lang="en-US" sz="850" dirty="0"/>
          </a:p>
        </p:txBody>
      </p:sp>
      <p:sp>
        <p:nvSpPr>
          <p:cNvPr id="10" name="Text 6"/>
          <p:cNvSpPr txBox="1"/>
          <p:nvPr/>
        </p:nvSpPr>
        <p:spPr>
          <a:xfrm>
            <a:off x="5120640" y="1545336"/>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Information Security Analyst Intern</a:t>
            </a:r>
            <a:endParaRPr lang="en-US" sz="1250" dirty="0"/>
          </a:p>
        </p:txBody>
      </p:sp>
      <p:sp>
        <p:nvSpPr>
          <p:cNvPr id="11" name="Shape 7"/>
          <p:cNvSpPr/>
          <p:nvPr/>
        </p:nvSpPr>
        <p:spPr>
          <a:xfrm>
            <a:off x="5120640" y="2084832"/>
            <a:ext cx="6293815" cy="10973"/>
          </a:xfrm>
          <a:prstGeom prst="rect">
            <a:avLst/>
          </a:prstGeom>
          <a:solidFill>
            <a:srgbClr val="E6E4E2"/>
          </a:solidFill>
          <a:ln/>
        </p:spPr>
      </p:sp>
      <p:sp>
        <p:nvSpPr>
          <p:cNvPr id="12" name="Text 8"/>
          <p:cNvSpPr txBox="1"/>
          <p:nvPr/>
        </p:nvSpPr>
        <p:spPr>
          <a:xfrm>
            <a:off x="5120640" y="2240280"/>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SCHOOL</a:t>
            </a:r>
            <a:endParaRPr lang="en-US" sz="850" dirty="0"/>
          </a:p>
        </p:txBody>
      </p:sp>
      <p:sp>
        <p:nvSpPr>
          <p:cNvPr id="13" name="Text 9"/>
          <p:cNvSpPr txBox="1"/>
          <p:nvPr/>
        </p:nvSpPr>
        <p:spPr>
          <a:xfrm>
            <a:off x="5120640" y="2487168"/>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Studying cybersecurity, with a focus on offensive security</a:t>
            </a:r>
            <a:endParaRPr lang="en-US" sz="1250" dirty="0"/>
          </a:p>
        </p:txBody>
      </p:sp>
      <p:sp>
        <p:nvSpPr>
          <p:cNvPr id="14" name="Shape 10"/>
          <p:cNvSpPr/>
          <p:nvPr/>
        </p:nvSpPr>
        <p:spPr>
          <a:xfrm>
            <a:off x="5120640" y="3026664"/>
            <a:ext cx="6293815" cy="10973"/>
          </a:xfrm>
          <a:prstGeom prst="rect">
            <a:avLst/>
          </a:prstGeom>
          <a:solidFill>
            <a:srgbClr val="E6E4E2"/>
          </a:solidFill>
          <a:ln/>
        </p:spPr>
      </p:sp>
      <p:sp>
        <p:nvSpPr>
          <p:cNvPr id="15" name="Text 11"/>
          <p:cNvSpPr txBox="1"/>
          <p:nvPr/>
        </p:nvSpPr>
        <p:spPr>
          <a:xfrm>
            <a:off x="5120640" y="3182112"/>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BACKGROUND</a:t>
            </a:r>
            <a:endParaRPr lang="en-US" sz="850" dirty="0"/>
          </a:p>
        </p:txBody>
      </p:sp>
      <p:sp>
        <p:nvSpPr>
          <p:cNvPr id="16" name="Text 12"/>
          <p:cNvSpPr txBox="1"/>
          <p:nvPr/>
        </p:nvSpPr>
        <p:spPr>
          <a:xfrm>
            <a:off x="5120640" y="3429000"/>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Hands-on security work across vulnerability management, application security, and network security</a:t>
            </a:r>
            <a:endParaRPr lang="en-US" sz="1250" dirty="0"/>
          </a:p>
        </p:txBody>
      </p:sp>
      <p:sp>
        <p:nvSpPr>
          <p:cNvPr id="17" name="Shape 13"/>
          <p:cNvSpPr/>
          <p:nvPr/>
        </p:nvSpPr>
        <p:spPr>
          <a:xfrm>
            <a:off x="5120640" y="3968496"/>
            <a:ext cx="6293815" cy="10973"/>
          </a:xfrm>
          <a:prstGeom prst="rect">
            <a:avLst/>
          </a:prstGeom>
          <a:solidFill>
            <a:srgbClr val="E6E4E2"/>
          </a:solidFill>
          <a:ln/>
        </p:spPr>
      </p:sp>
      <p:sp>
        <p:nvSpPr>
          <p:cNvPr id="18" name="Text 14"/>
          <p:cNvSpPr txBox="1"/>
          <p:nvPr/>
        </p:nvSpPr>
        <p:spPr>
          <a:xfrm>
            <a:off x="5120640" y="4123944"/>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CERTIFICATIONS</a:t>
            </a:r>
            <a:endParaRPr lang="en-US" sz="850" dirty="0"/>
          </a:p>
        </p:txBody>
      </p:sp>
      <p:sp>
        <p:nvSpPr>
          <p:cNvPr id="19" name="Text 15"/>
          <p:cNvSpPr txBox="1"/>
          <p:nvPr/>
        </p:nvSpPr>
        <p:spPr>
          <a:xfrm>
            <a:off x="5120640" y="4370832"/>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Working toward the PWPA and PJPT practical certifications</a:t>
            </a:r>
            <a:endParaRPr lang="en-US" sz="1250" dirty="0"/>
          </a:p>
        </p:txBody>
      </p:sp>
      <p:sp>
        <p:nvSpPr>
          <p:cNvPr id="20" name="Shape 16"/>
          <p:cNvSpPr/>
          <p:nvPr/>
        </p:nvSpPr>
        <p:spPr>
          <a:xfrm>
            <a:off x="5120640" y="4910328"/>
            <a:ext cx="6293815" cy="10973"/>
          </a:xfrm>
          <a:prstGeom prst="rect">
            <a:avLst/>
          </a:prstGeom>
          <a:solidFill>
            <a:srgbClr val="E6E4E2"/>
          </a:solidFill>
          <a:ln/>
        </p:spPr>
      </p:sp>
      <p:sp>
        <p:nvSpPr>
          <p:cNvPr id="21" name="Text 17"/>
          <p:cNvSpPr txBox="1"/>
          <p:nvPr/>
        </p:nvSpPr>
        <p:spPr>
          <a:xfrm>
            <a:off x="5120640" y="5065776"/>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CAREER DIRECTION</a:t>
            </a:r>
            <a:endParaRPr lang="en-US" sz="850" dirty="0"/>
          </a:p>
        </p:txBody>
      </p:sp>
      <p:sp>
        <p:nvSpPr>
          <p:cNvPr id="22" name="Text 18"/>
          <p:cNvSpPr txBox="1"/>
          <p:nvPr/>
        </p:nvSpPr>
        <p:spPr>
          <a:xfrm>
            <a:off x="5120640" y="5312664"/>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Penetration testing — finding weaknesses before an attacker does</a:t>
            </a:r>
            <a:endParaRPr lang="en-US" sz="1250" dirty="0"/>
          </a:p>
        </p:txBody>
      </p:sp>
      <p:pic>
        <p:nvPicPr>
          <p:cNvPr id="23" name="Image 2" descr="/home/user/ai/assets/gen/logo-red.png">    </p:cNvPr>
          <p:cNvPicPr>
            <a:picLocks noChangeAspect="1"/>
          </p:cNvPicPr>
          <p:nvPr/>
        </p:nvPicPr>
        <p:blipFill>
          <a:blip r:embed="rId3"/>
          <a:stretch>
            <a:fillRect/>
          </a:stretch>
        </p:blipFill>
        <p:spPr>
          <a:xfrm>
            <a:off x="9768535" y="457200"/>
            <a:ext cx="1645920" cy="166053"/>
          </a:xfrm>
          <a:prstGeom prst="rect">
            <a:avLst/>
          </a:prstGeom>
        </p:spPr>
      </p:pic>
      <p:sp>
        <p:nvSpPr>
          <p:cNvPr id="24" name="Shape 19"/>
          <p:cNvSpPr/>
          <p:nvPr/>
        </p:nvSpPr>
        <p:spPr>
          <a:xfrm>
            <a:off x="5120640" y="6181344"/>
            <a:ext cx="6293815" cy="10973"/>
          </a:xfrm>
          <a:prstGeom prst="rect">
            <a:avLst/>
          </a:prstGeom>
          <a:solidFill>
            <a:srgbClr val="E6E4E2"/>
          </a:solidFill>
          <a:ln/>
        </p:spPr>
      </p:sp>
      <p:sp>
        <p:nvSpPr>
          <p:cNvPr id="25" name="Text 20"/>
          <p:cNvSpPr txBox="1"/>
          <p:nvPr/>
        </p:nvSpPr>
        <p:spPr>
          <a:xfrm>
            <a:off x="51206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ABOUT ME</a:t>
            </a:r>
            <a:endParaRPr lang="en-US" sz="850" dirty="0"/>
          </a:p>
        </p:txBody>
      </p:sp>
      <p:sp>
        <p:nvSpPr>
          <p:cNvPr id="26" name="Text 21"/>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INTERNSHIP OVERVIEW</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rotations across the security team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INTERNSHIP OVERVIEW</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05</a:t>
            </a:r>
            <a:endParaRPr lang="en-US" sz="850" dirty="0"/>
          </a:p>
        </p:txBody>
      </p:sp>
      <p:sp>
        <p:nvSpPr>
          <p:cNvPr id="9" name="Text 6"/>
          <p:cNvSpPr txBox="1"/>
          <p:nvPr/>
        </p:nvSpPr>
        <p:spPr>
          <a:xfrm>
            <a:off x="777240" y="1883664"/>
            <a:ext cx="90525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moved through three different areas of Information Security. Each rotation produced one project.</a:t>
            </a:r>
            <a:endParaRPr lang="en-US" sz="1400" dirty="0"/>
          </a:p>
        </p:txBody>
      </p:sp>
      <p:sp>
        <p:nvSpPr>
          <p:cNvPr id="10" name="Shape 7"/>
          <p:cNvSpPr/>
          <p:nvPr/>
        </p:nvSpPr>
        <p:spPr>
          <a:xfrm>
            <a:off x="777240" y="2852928"/>
            <a:ext cx="10637215" cy="10973"/>
          </a:xfrm>
          <a:prstGeom prst="rect">
            <a:avLst/>
          </a:prstGeom>
          <a:solidFill>
            <a:srgbClr val="C9C6C4"/>
          </a:solidFill>
          <a:ln/>
        </p:spPr>
      </p:sp>
      <p:sp>
        <p:nvSpPr>
          <p:cNvPr id="11" name="Shape 8"/>
          <p:cNvSpPr/>
          <p:nvPr/>
        </p:nvSpPr>
        <p:spPr>
          <a:xfrm>
            <a:off x="1033272" y="2756916"/>
            <a:ext cx="201168" cy="201168"/>
          </a:xfrm>
          <a:prstGeom prst="ellipse">
            <a:avLst/>
          </a:prstGeom>
          <a:solidFill>
            <a:srgbClr val="942838"/>
          </a:solidFill>
          <a:ln w="25400">
            <a:solidFill>
              <a:srgbClr val="FFFFFF"/>
            </a:solidFill>
            <a:prstDash val="solid"/>
          </a:ln>
        </p:spPr>
      </p:sp>
      <p:sp>
        <p:nvSpPr>
          <p:cNvPr id="12" name="Shape 9"/>
          <p:cNvSpPr/>
          <p:nvPr/>
        </p:nvSpPr>
        <p:spPr>
          <a:xfrm>
            <a:off x="777240"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177800" dist="44450" dir="5400000">
              <a:srgbClr val="959092">
                <a:alpha val="22000"/>
              </a:srgbClr>
            </a:outerShdw>
          </a:effectLst>
        </p:spPr>
      </p:sp>
      <p:sp>
        <p:nvSpPr>
          <p:cNvPr id="13" name="Shape 10"/>
          <p:cNvSpPr/>
          <p:nvPr/>
        </p:nvSpPr>
        <p:spPr>
          <a:xfrm>
            <a:off x="777240" y="3310128"/>
            <a:ext cx="3310128" cy="50292"/>
          </a:xfrm>
          <a:prstGeom prst="rect">
            <a:avLst/>
          </a:prstGeom>
          <a:solidFill>
            <a:srgbClr val="942838"/>
          </a:solidFill>
          <a:ln/>
        </p:spPr>
      </p:sp>
      <p:sp>
        <p:nvSpPr>
          <p:cNvPr id="14" name="Text 11"/>
          <p:cNvSpPr txBox="1"/>
          <p:nvPr/>
        </p:nvSpPr>
        <p:spPr>
          <a:xfrm>
            <a:off x="1088136"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5" name="Text 12"/>
          <p:cNvSpPr txBox="1"/>
          <p:nvPr/>
        </p:nvSpPr>
        <p:spPr>
          <a:xfrm>
            <a:off x="1088136"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Vulnerability Management</a:t>
            </a:r>
            <a:endParaRPr lang="en-US" sz="1500" dirty="0"/>
          </a:p>
        </p:txBody>
      </p:sp>
      <p:sp>
        <p:nvSpPr>
          <p:cNvPr id="16" name="Text 13"/>
          <p:cNvSpPr txBox="1"/>
          <p:nvPr/>
        </p:nvSpPr>
        <p:spPr>
          <a:xfrm>
            <a:off x="1088136"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Finding known weaknesses across company machines and making sure they actually get fixed.</a:t>
            </a:r>
            <a:endParaRPr lang="en-US" sz="1100" dirty="0"/>
          </a:p>
        </p:txBody>
      </p:sp>
      <p:sp>
        <p:nvSpPr>
          <p:cNvPr id="17" name="Shape 14"/>
          <p:cNvSpPr/>
          <p:nvPr/>
        </p:nvSpPr>
        <p:spPr>
          <a:xfrm>
            <a:off x="4696816" y="2756916"/>
            <a:ext cx="201168" cy="201168"/>
          </a:xfrm>
          <a:prstGeom prst="ellipse">
            <a:avLst/>
          </a:prstGeom>
          <a:solidFill>
            <a:srgbClr val="942838"/>
          </a:solidFill>
          <a:ln w="25400">
            <a:solidFill>
              <a:srgbClr val="FFFFFF"/>
            </a:solidFill>
            <a:prstDash val="solid"/>
          </a:ln>
        </p:spPr>
      </p:sp>
      <p:sp>
        <p:nvSpPr>
          <p:cNvPr id="18" name="Shape 15"/>
          <p:cNvSpPr/>
          <p:nvPr/>
        </p:nvSpPr>
        <p:spPr>
          <a:xfrm>
            <a:off x="4440784"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258060000" dist="564515000" dir="324000000000">
              <a:srgbClr val="959092">
                <a:alpha val="2200000000"/>
              </a:srgbClr>
            </a:outerShdw>
          </a:effectLst>
        </p:spPr>
      </p:sp>
      <p:sp>
        <p:nvSpPr>
          <p:cNvPr id="19" name="Shape 16"/>
          <p:cNvSpPr/>
          <p:nvPr/>
        </p:nvSpPr>
        <p:spPr>
          <a:xfrm>
            <a:off x="4440784" y="3310128"/>
            <a:ext cx="3310128" cy="50292"/>
          </a:xfrm>
          <a:prstGeom prst="rect">
            <a:avLst/>
          </a:prstGeom>
          <a:solidFill>
            <a:srgbClr val="942838"/>
          </a:solidFill>
          <a:ln/>
        </p:spPr>
      </p:sp>
      <p:sp>
        <p:nvSpPr>
          <p:cNvPr id="20" name="Text 17"/>
          <p:cNvSpPr txBox="1"/>
          <p:nvPr/>
        </p:nvSpPr>
        <p:spPr>
          <a:xfrm>
            <a:off x="4751680"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1" name="Text 18"/>
          <p:cNvSpPr txBox="1"/>
          <p:nvPr/>
        </p:nvSpPr>
        <p:spPr>
          <a:xfrm>
            <a:off x="4751680"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Application Security</a:t>
            </a:r>
            <a:endParaRPr lang="en-US" sz="1500" dirty="0"/>
          </a:p>
        </p:txBody>
      </p:sp>
      <p:sp>
        <p:nvSpPr>
          <p:cNvPr id="22" name="Text 19"/>
          <p:cNvSpPr txBox="1"/>
          <p:nvPr/>
        </p:nvSpPr>
        <p:spPr>
          <a:xfrm>
            <a:off x="4751680"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Checking the software we build and the outside code we rely on for weaknesses.</a:t>
            </a:r>
            <a:endParaRPr lang="en-US" sz="1100" dirty="0"/>
          </a:p>
        </p:txBody>
      </p:sp>
      <p:sp>
        <p:nvSpPr>
          <p:cNvPr id="23" name="Shape 20"/>
          <p:cNvSpPr/>
          <p:nvPr/>
        </p:nvSpPr>
        <p:spPr>
          <a:xfrm>
            <a:off x="8360359" y="2756916"/>
            <a:ext cx="201168" cy="201168"/>
          </a:xfrm>
          <a:prstGeom prst="ellipse">
            <a:avLst/>
          </a:prstGeom>
          <a:solidFill>
            <a:srgbClr val="942838"/>
          </a:solidFill>
          <a:ln w="25400">
            <a:solidFill>
              <a:srgbClr val="FFFFFF"/>
            </a:solidFill>
            <a:prstDash val="solid"/>
          </a:ln>
        </p:spPr>
      </p:sp>
      <p:sp>
        <p:nvSpPr>
          <p:cNvPr id="24" name="Shape 21"/>
          <p:cNvSpPr/>
          <p:nvPr/>
        </p:nvSpPr>
        <p:spPr>
          <a:xfrm>
            <a:off x="8104327"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8677362000000" dist="7169340500000" dir="19440000000000000">
              <a:srgbClr val="959092">
                <a:alpha val="220000000000000"/>
              </a:srgbClr>
            </a:outerShdw>
          </a:effectLst>
        </p:spPr>
      </p:sp>
      <p:sp>
        <p:nvSpPr>
          <p:cNvPr id="25" name="Shape 22"/>
          <p:cNvSpPr/>
          <p:nvPr/>
        </p:nvSpPr>
        <p:spPr>
          <a:xfrm>
            <a:off x="8104327" y="3310128"/>
            <a:ext cx="3310128" cy="50292"/>
          </a:xfrm>
          <a:prstGeom prst="rect">
            <a:avLst/>
          </a:prstGeom>
          <a:solidFill>
            <a:srgbClr val="942838"/>
          </a:solidFill>
          <a:ln/>
        </p:spPr>
      </p:sp>
      <p:sp>
        <p:nvSpPr>
          <p:cNvPr id="26" name="Text 23"/>
          <p:cNvSpPr txBox="1"/>
          <p:nvPr/>
        </p:nvSpPr>
        <p:spPr>
          <a:xfrm>
            <a:off x="8415223"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7" name="Text 24"/>
          <p:cNvSpPr txBox="1"/>
          <p:nvPr/>
        </p:nvSpPr>
        <p:spPr>
          <a:xfrm>
            <a:off x="8415223"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Network Security</a:t>
            </a:r>
            <a:endParaRPr lang="en-US" sz="1500" dirty="0"/>
          </a:p>
        </p:txBody>
      </p:sp>
      <p:sp>
        <p:nvSpPr>
          <p:cNvPr id="28" name="Text 25"/>
          <p:cNvSpPr txBox="1"/>
          <p:nvPr/>
        </p:nvSpPr>
        <p:spPr>
          <a:xfrm>
            <a:off x="8415223"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Protecting how machines talk to each other, and what is allowed in and out.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01</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01</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Image Management Program</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Making sure every new machine ships with the security tools it needs — and that nobody can skip the step.</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01</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Nine required tools. No process to install them.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07</a:t>
            </a:r>
            <a:endParaRPr lang="en-US" sz="850" dirty="0"/>
          </a:p>
        </p:txBody>
      </p:sp>
      <p:sp>
        <p:nvSpPr>
          <p:cNvPr id="9" name="Text 6"/>
          <p:cNvSpPr txBox="1"/>
          <p:nvPr/>
        </p:nvSpPr>
        <p:spPr>
          <a:xfrm>
            <a:off x="777240" y="2029968"/>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Golden Image</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is the standard template every new virtual machine is built from — set it up once, and every machine created afterwards inherits it.</a:t>
            </a:r>
            <a:endParaRPr lang="en-US" sz="1400" dirty="0"/>
          </a:p>
        </p:txBody>
      </p:sp>
      <p:pic>
        <p:nvPicPr>
          <p:cNvPr id="10" name="Image 1" descr="/home/user/ai/assets/gen/iso-machine.png">    </p:cNvPr>
          <p:cNvPicPr>
            <a:picLocks noChangeAspect="1"/>
          </p:cNvPicPr>
          <p:nvPr/>
        </p:nvPicPr>
        <p:blipFill>
          <a:blip r:embed="rId2"/>
          <a:stretch>
            <a:fillRect/>
          </a:stretch>
        </p:blipFill>
        <p:spPr>
          <a:xfrm>
            <a:off x="640080" y="2505456"/>
            <a:ext cx="3108960" cy="3017520"/>
          </a:xfrm>
          <a:prstGeom prst="rect">
            <a:avLst/>
          </a:prstGeom>
        </p:spPr>
      </p:pic>
      <p:sp>
        <p:nvSpPr>
          <p:cNvPr id="11" name="Text 7"/>
          <p:cNvSpPr txBox="1"/>
          <p:nvPr/>
        </p:nvSpPr>
        <p:spPr>
          <a:xfrm>
            <a:off x="594360" y="5577840"/>
            <a:ext cx="3200400"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Each layer is security tooling the image should carry before it is ever deployed.</a:t>
            </a:r>
            <a:endParaRPr lang="en-US" sz="950" dirty="0"/>
          </a:p>
        </p:txBody>
      </p:sp>
      <p:sp>
        <p:nvSpPr>
          <p:cNvPr id="12" name="Text 8"/>
          <p:cNvSpPr txBox="1"/>
          <p:nvPr/>
        </p:nvSpPr>
        <p:spPr>
          <a:xfrm>
            <a:off x="4224528" y="2578608"/>
            <a:ext cx="7223760"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NINE REQUIRED TOOLS</a:t>
            </a:r>
            <a:endParaRPr lang="en-US" sz="850" dirty="0"/>
          </a:p>
        </p:txBody>
      </p:sp>
      <p:sp>
        <p:nvSpPr>
          <p:cNvPr id="13" name="Shape 9"/>
          <p:cNvSpPr/>
          <p:nvPr/>
        </p:nvSpPr>
        <p:spPr>
          <a:xfrm>
            <a:off x="4224528"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14300" dist="25400" dir="5400000">
              <a:srgbClr val="959092">
                <a:alpha val="16000"/>
              </a:srgbClr>
            </a:outerShdw>
          </a:effectLst>
        </p:spPr>
      </p:sp>
      <p:sp>
        <p:nvSpPr>
          <p:cNvPr id="14" name="Shape 10"/>
          <p:cNvSpPr/>
          <p:nvPr/>
        </p:nvSpPr>
        <p:spPr>
          <a:xfrm>
            <a:off x="4224528" y="2926080"/>
            <a:ext cx="45720" cy="530352"/>
          </a:xfrm>
          <a:prstGeom prst="rect">
            <a:avLst/>
          </a:prstGeom>
          <a:solidFill>
            <a:srgbClr val="942838"/>
          </a:solidFill>
          <a:ln/>
        </p:spPr>
      </p:sp>
      <p:sp>
        <p:nvSpPr>
          <p:cNvPr id="15" name="Text 11"/>
          <p:cNvSpPr txBox="1"/>
          <p:nvPr/>
        </p:nvSpPr>
        <p:spPr>
          <a:xfrm>
            <a:off x="4398264"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Tenable Nessus Agent</a:t>
            </a:r>
            <a:endParaRPr lang="en-US" sz="1050" dirty="0"/>
          </a:p>
        </p:txBody>
      </p:sp>
      <p:sp>
        <p:nvSpPr>
          <p:cNvPr id="16" name="Shape 12"/>
          <p:cNvSpPr/>
          <p:nvPr/>
        </p:nvSpPr>
        <p:spPr>
          <a:xfrm>
            <a:off x="6620256"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451610000" dist="322580000" dir="324000000000">
              <a:srgbClr val="959092">
                <a:alpha val="1600000000"/>
              </a:srgbClr>
            </a:outerShdw>
          </a:effectLst>
        </p:spPr>
      </p:sp>
      <p:sp>
        <p:nvSpPr>
          <p:cNvPr id="17" name="Shape 13"/>
          <p:cNvSpPr/>
          <p:nvPr/>
        </p:nvSpPr>
        <p:spPr>
          <a:xfrm>
            <a:off x="6620256" y="2926080"/>
            <a:ext cx="45720" cy="530352"/>
          </a:xfrm>
          <a:prstGeom prst="rect">
            <a:avLst/>
          </a:prstGeom>
          <a:solidFill>
            <a:srgbClr val="942838"/>
          </a:solidFill>
          <a:ln/>
        </p:spPr>
      </p:sp>
      <p:sp>
        <p:nvSpPr>
          <p:cNvPr id="18" name="Text 14"/>
          <p:cNvSpPr txBox="1"/>
          <p:nvPr/>
        </p:nvSpPr>
        <p:spPr>
          <a:xfrm>
            <a:off x="6793992"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CrowdStrike Falcon Sensor</a:t>
            </a:r>
            <a:endParaRPr lang="en-US" sz="1050" dirty="0"/>
          </a:p>
        </p:txBody>
      </p:sp>
      <p:sp>
        <p:nvSpPr>
          <p:cNvPr id="19" name="Shape 15"/>
          <p:cNvSpPr/>
          <p:nvPr/>
        </p:nvSpPr>
        <p:spPr>
          <a:xfrm>
            <a:off x="9015984"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8435447000000" dist="4096766000000" dir="19440000000000000">
              <a:srgbClr val="959092">
                <a:alpha val="160000000000000"/>
              </a:srgbClr>
            </a:outerShdw>
          </a:effectLst>
        </p:spPr>
      </p:sp>
      <p:sp>
        <p:nvSpPr>
          <p:cNvPr id="20" name="Shape 16"/>
          <p:cNvSpPr/>
          <p:nvPr/>
        </p:nvSpPr>
        <p:spPr>
          <a:xfrm>
            <a:off x="9015984" y="2926080"/>
            <a:ext cx="45720" cy="530352"/>
          </a:xfrm>
          <a:prstGeom prst="rect">
            <a:avLst/>
          </a:prstGeom>
          <a:solidFill>
            <a:srgbClr val="942838"/>
          </a:solidFill>
          <a:ln/>
        </p:spPr>
      </p:sp>
      <p:sp>
        <p:nvSpPr>
          <p:cNvPr id="21" name="Text 17"/>
          <p:cNvSpPr txBox="1"/>
          <p:nvPr/>
        </p:nvSpPr>
        <p:spPr>
          <a:xfrm>
            <a:off x="9189720"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Netskope</a:t>
            </a:r>
            <a:endParaRPr lang="en-US" sz="1050" dirty="0"/>
          </a:p>
        </p:txBody>
      </p:sp>
      <p:sp>
        <p:nvSpPr>
          <p:cNvPr id="22" name="Shape 18"/>
          <p:cNvSpPr/>
          <p:nvPr/>
        </p:nvSpPr>
        <p:spPr>
          <a:xfrm>
            <a:off x="4224528"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34130176900000000" dist="52028928200000000" dir="1.1664e+21">
              <a:srgbClr val="959092">
                <a:alpha val="16000000000000000000"/>
              </a:srgbClr>
            </a:outerShdw>
          </a:effectLst>
        </p:spPr>
      </p:sp>
      <p:sp>
        <p:nvSpPr>
          <p:cNvPr id="23" name="Shape 19"/>
          <p:cNvSpPr/>
          <p:nvPr/>
        </p:nvSpPr>
        <p:spPr>
          <a:xfrm>
            <a:off x="4224528" y="3611880"/>
            <a:ext cx="45720" cy="530352"/>
          </a:xfrm>
          <a:prstGeom prst="rect">
            <a:avLst/>
          </a:prstGeom>
          <a:solidFill>
            <a:srgbClr val="942838"/>
          </a:solidFill>
          <a:ln/>
        </p:spPr>
      </p:sp>
      <p:sp>
        <p:nvSpPr>
          <p:cNvPr id="24" name="Text 20"/>
          <p:cNvSpPr txBox="1"/>
          <p:nvPr/>
        </p:nvSpPr>
        <p:spPr>
          <a:xfrm>
            <a:off x="4398264"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Cribl</a:t>
            </a:r>
            <a:endParaRPr lang="en-US" sz="1050" dirty="0"/>
          </a:p>
        </p:txBody>
      </p:sp>
      <p:sp>
        <p:nvSpPr>
          <p:cNvPr id="25" name="Shape 21"/>
          <p:cNvSpPr/>
          <p:nvPr/>
        </p:nvSpPr>
        <p:spPr>
          <a:xfrm>
            <a:off x="6620256"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97345324663e+21" dist="660767388140000000000" dir="6.9984e+25">
              <a:srgbClr val="959092">
                <a:alpha val="1.6e+24"/>
              </a:srgbClr>
            </a:outerShdw>
          </a:effectLst>
        </p:spPr>
      </p:sp>
      <p:sp>
        <p:nvSpPr>
          <p:cNvPr id="26" name="Shape 22"/>
          <p:cNvSpPr/>
          <p:nvPr/>
        </p:nvSpPr>
        <p:spPr>
          <a:xfrm>
            <a:off x="6620256" y="3611880"/>
            <a:ext cx="45720" cy="530352"/>
          </a:xfrm>
          <a:prstGeom prst="rect">
            <a:avLst/>
          </a:prstGeom>
          <a:solidFill>
            <a:srgbClr val="942838"/>
          </a:solidFill>
          <a:ln/>
        </p:spPr>
      </p:sp>
      <p:sp>
        <p:nvSpPr>
          <p:cNvPr id="27" name="Text 23"/>
          <p:cNvSpPr txBox="1"/>
          <p:nvPr/>
        </p:nvSpPr>
        <p:spPr>
          <a:xfrm>
            <a:off x="6793992"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Splunk</a:t>
            </a:r>
            <a:endParaRPr lang="en-US" sz="1050" dirty="0"/>
          </a:p>
        </p:txBody>
      </p:sp>
      <p:sp>
        <p:nvSpPr>
          <p:cNvPr id="28" name="Shape 24"/>
          <p:cNvSpPr/>
          <p:nvPr/>
        </p:nvSpPr>
        <p:spPr>
          <a:xfrm>
            <a:off x="9015984"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3.7762856232201e+25" dist="8.391745829378e+24" dir="4.19904e+30">
              <a:srgbClr val="959092">
                <a:alpha val="1.6e+29"/>
              </a:srgbClr>
            </a:outerShdw>
          </a:effectLst>
        </p:spPr>
      </p:sp>
      <p:sp>
        <p:nvSpPr>
          <p:cNvPr id="29" name="Shape 25"/>
          <p:cNvSpPr/>
          <p:nvPr/>
        </p:nvSpPr>
        <p:spPr>
          <a:xfrm>
            <a:off x="9015984" y="3611880"/>
            <a:ext cx="45720" cy="530352"/>
          </a:xfrm>
          <a:prstGeom prst="rect">
            <a:avLst/>
          </a:prstGeom>
          <a:solidFill>
            <a:srgbClr val="942838"/>
          </a:solidFill>
          <a:ln/>
        </p:spPr>
      </p:sp>
      <p:sp>
        <p:nvSpPr>
          <p:cNvPr id="30" name="Text 26"/>
          <p:cNvSpPr txBox="1"/>
          <p:nvPr/>
        </p:nvSpPr>
        <p:spPr>
          <a:xfrm>
            <a:off x="9189720"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ThreatLocker</a:t>
            </a:r>
            <a:endParaRPr lang="en-US" sz="1050" dirty="0"/>
          </a:p>
        </p:txBody>
      </p:sp>
      <p:sp>
        <p:nvSpPr>
          <p:cNvPr id="31" name="Shape 27"/>
          <p:cNvSpPr/>
          <p:nvPr/>
        </p:nvSpPr>
        <p:spPr>
          <a:xfrm>
            <a:off x="4224528"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4.795882741489527e+29" dist="1.0657517203310059e+29" dir="2.519424e+35">
              <a:srgbClr val="959092">
                <a:alpha val="1.6e+34"/>
              </a:srgbClr>
            </a:outerShdw>
          </a:effectLst>
        </p:spPr>
      </p:sp>
      <p:sp>
        <p:nvSpPr>
          <p:cNvPr id="32" name="Shape 28"/>
          <p:cNvSpPr/>
          <p:nvPr/>
        </p:nvSpPr>
        <p:spPr>
          <a:xfrm>
            <a:off x="4224528" y="4297680"/>
            <a:ext cx="45720" cy="530352"/>
          </a:xfrm>
          <a:prstGeom prst="rect">
            <a:avLst/>
          </a:prstGeom>
          <a:solidFill>
            <a:srgbClr val="942838"/>
          </a:solidFill>
          <a:ln/>
        </p:spPr>
      </p:sp>
      <p:sp>
        <p:nvSpPr>
          <p:cNvPr id="33" name="Text 29"/>
          <p:cNvSpPr txBox="1"/>
          <p:nvPr/>
        </p:nvSpPr>
        <p:spPr>
          <a:xfrm>
            <a:off x="4398264"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Proofpoint DLP Agent</a:t>
            </a:r>
            <a:endParaRPr lang="en-US" sz="1050" dirty="0"/>
          </a:p>
        </p:txBody>
      </p:sp>
      <p:sp>
        <p:nvSpPr>
          <p:cNvPr id="34" name="Shape 30"/>
          <p:cNvSpPr/>
          <p:nvPr/>
        </p:nvSpPr>
        <p:spPr>
          <a:xfrm>
            <a:off x="6620256"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6.090771081691699e+33" dist="1.3535046848203775e+33" dir="1.5116544e+40">
              <a:srgbClr val="959092">
                <a:alpha val="1.6e+39"/>
              </a:srgbClr>
            </a:outerShdw>
          </a:effectLst>
        </p:spPr>
      </p:sp>
      <p:sp>
        <p:nvSpPr>
          <p:cNvPr id="35" name="Shape 31"/>
          <p:cNvSpPr/>
          <p:nvPr/>
        </p:nvSpPr>
        <p:spPr>
          <a:xfrm>
            <a:off x="6620256" y="4297680"/>
            <a:ext cx="45720" cy="530352"/>
          </a:xfrm>
          <a:prstGeom prst="rect">
            <a:avLst/>
          </a:prstGeom>
          <a:solidFill>
            <a:srgbClr val="942838"/>
          </a:solidFill>
          <a:ln/>
        </p:spPr>
      </p:sp>
      <p:sp>
        <p:nvSpPr>
          <p:cNvPr id="36" name="Text 32"/>
          <p:cNvSpPr txBox="1"/>
          <p:nvPr/>
        </p:nvSpPr>
        <p:spPr>
          <a:xfrm>
            <a:off x="6793992"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SCCM Agent</a:t>
            </a:r>
            <a:endParaRPr lang="en-US" sz="1050" dirty="0"/>
          </a:p>
        </p:txBody>
      </p:sp>
      <p:sp>
        <p:nvSpPr>
          <p:cNvPr id="37" name="Shape 33"/>
          <p:cNvSpPr/>
          <p:nvPr/>
        </p:nvSpPr>
        <p:spPr>
          <a:xfrm>
            <a:off x="9015984"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7.735279273748459e+37" dist="1.7189509497218795e+37" dir="9.069926400000001e+44">
              <a:srgbClr val="959092">
                <a:alpha val="1.6e+44"/>
              </a:srgbClr>
            </a:outerShdw>
          </a:effectLst>
        </p:spPr>
      </p:sp>
      <p:sp>
        <p:nvSpPr>
          <p:cNvPr id="38" name="Shape 34"/>
          <p:cNvSpPr/>
          <p:nvPr/>
        </p:nvSpPr>
        <p:spPr>
          <a:xfrm>
            <a:off x="9015984" y="4297680"/>
            <a:ext cx="45720" cy="530352"/>
          </a:xfrm>
          <a:prstGeom prst="rect">
            <a:avLst/>
          </a:prstGeom>
          <a:solidFill>
            <a:srgbClr val="942838"/>
          </a:solidFill>
          <a:ln/>
        </p:spPr>
      </p:sp>
      <p:sp>
        <p:nvSpPr>
          <p:cNvPr id="39" name="Text 35"/>
          <p:cNvSpPr txBox="1"/>
          <p:nvPr/>
        </p:nvSpPr>
        <p:spPr>
          <a:xfrm>
            <a:off x="9189720"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ControlUp Agent</a:t>
            </a:r>
            <a:endParaRPr lang="en-US" sz="1050" dirty="0"/>
          </a:p>
        </p:txBody>
      </p:sp>
      <p:sp>
        <p:nvSpPr>
          <p:cNvPr id="40" name="Text 36"/>
          <p:cNvSpPr txBox="1"/>
          <p:nvPr/>
        </p:nvSpPr>
        <p:spPr>
          <a:xfrm>
            <a:off x="4224528" y="4864608"/>
            <a:ext cx="7187184" cy="384048"/>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 single tool catches everything. Together they cover threat detection, web filtering, logging, vulnerability scanning, data-loss prevention, patch delivery and session visibility.</a:t>
            </a:r>
            <a:endParaRPr lang="en-US" sz="1100" dirty="0"/>
          </a:p>
        </p:txBody>
      </p:sp>
      <p:sp>
        <p:nvSpPr>
          <p:cNvPr id="41" name="Shape 37"/>
          <p:cNvSpPr/>
          <p:nvPr/>
        </p:nvSpPr>
        <p:spPr>
          <a:xfrm>
            <a:off x="4224528" y="5303520"/>
            <a:ext cx="7187184" cy="841248"/>
          </a:xfrm>
          <a:prstGeom prst="roundRect">
            <a:avLst>
              <a:gd name="adj" fmla="val 5435"/>
            </a:avLst>
          </a:prstGeom>
          <a:solidFill>
            <a:srgbClr val="F6EEF0"/>
          </a:solidFill>
          <a:ln/>
        </p:spPr>
      </p:sp>
      <p:sp>
        <p:nvSpPr>
          <p:cNvPr id="42" name="Shape 38"/>
          <p:cNvSpPr/>
          <p:nvPr/>
        </p:nvSpPr>
        <p:spPr>
          <a:xfrm>
            <a:off x="4224528" y="5303520"/>
            <a:ext cx="50292" cy="841248"/>
          </a:xfrm>
          <a:prstGeom prst="rect">
            <a:avLst/>
          </a:prstGeom>
          <a:solidFill>
            <a:srgbClr val="942838"/>
          </a:solidFill>
          <a:ln/>
        </p:spPr>
      </p:sp>
      <p:sp>
        <p:nvSpPr>
          <p:cNvPr id="43" name="Text 39"/>
          <p:cNvSpPr txBox="1"/>
          <p:nvPr/>
        </p:nvSpPr>
        <p:spPr>
          <a:xfrm>
            <a:off x="4443984" y="5431536"/>
            <a:ext cx="676656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ACTUAL GAP</a:t>
            </a:r>
            <a:endParaRPr lang="en-US" sz="850" dirty="0"/>
          </a:p>
        </p:txBody>
      </p:sp>
      <p:sp>
        <p:nvSpPr>
          <p:cNvPr id="44" name="Text 40"/>
          <p:cNvSpPr txBox="1"/>
          <p:nvPr/>
        </p:nvSpPr>
        <p:spPr>
          <a:xfrm>
            <a:off x="4443984" y="5669280"/>
            <a:ext cx="6766560" cy="402336"/>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No dedicated process exists yet for installing these tools onto cloud images before deployment. My job was to define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Building the process from scratch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08</a:t>
            </a:r>
            <a:endParaRPr lang="en-US" sz="850" dirty="0"/>
          </a:p>
        </p:txBody>
      </p:sp>
      <p:sp>
        <p:nvSpPr>
          <p:cNvPr id="9" name="Text 6"/>
          <p:cNvSpPr txBox="1"/>
          <p:nvPr/>
        </p:nvSpPr>
        <p:spPr>
          <a:xfrm>
            <a:off x="777240" y="1956816"/>
            <a:ext cx="969264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My role was to coordinate and bridge teams — define what is required, name who owns it, and get it signed off. I did not build or provision the machines myself.</a:t>
            </a:r>
            <a:endParaRPr lang="en-US" sz="1400" dirty="0"/>
          </a:p>
        </p:txBody>
      </p:sp>
      <p:sp>
        <p:nvSpPr>
          <p:cNvPr id="10" name="Shape 7"/>
          <p:cNvSpPr/>
          <p:nvPr/>
        </p:nvSpPr>
        <p:spPr>
          <a:xfrm>
            <a:off x="777240"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64202497400000000" dist="91050624350000000" dir="1.1664e+21">
              <a:srgbClr val="959092">
                <a:alpha val="22000000000000000000"/>
              </a:srgbClr>
            </a:outerShdw>
          </a:effectLst>
        </p:spPr>
      </p:sp>
      <p:sp>
        <p:nvSpPr>
          <p:cNvPr id="11" name="Shape 8"/>
          <p:cNvSpPr/>
          <p:nvPr/>
        </p:nvSpPr>
        <p:spPr>
          <a:xfrm>
            <a:off x="1088136" y="2926080"/>
            <a:ext cx="658368" cy="658368"/>
          </a:xfrm>
          <a:prstGeom prst="roundRect">
            <a:avLst>
              <a:gd name="adj" fmla="val 8333"/>
            </a:avLst>
          </a:prstGeom>
          <a:solidFill>
            <a:srgbClr val="F6EEF0"/>
          </a:solidFill>
          <a:ln/>
        </p:spPr>
      </p:sp>
      <p:sp>
        <p:nvSpPr>
          <p:cNvPr id="12" name="Text 9"/>
          <p:cNvSpPr txBox="1"/>
          <p:nvPr/>
        </p:nvSpPr>
        <p:spPr>
          <a:xfrm>
            <a:off x="1088136"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3" name="Text 10"/>
          <p:cNvSpPr txBox="1"/>
          <p:nvPr/>
        </p:nvSpPr>
        <p:spPr>
          <a:xfrm>
            <a:off x="1088136"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Tools</a:t>
            </a:r>
            <a:endParaRPr lang="en-US" sz="1550" dirty="0"/>
          </a:p>
        </p:txBody>
      </p:sp>
      <p:sp>
        <p:nvSpPr>
          <p:cNvPr id="14" name="Text 11"/>
          <p:cNvSpPr txBox="1"/>
          <p:nvPr/>
        </p:nvSpPr>
        <p:spPr>
          <a:xfrm>
            <a:off x="1088136"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Agree on exactly which security tools belong on every image — nine of them.</a:t>
            </a:r>
            <a:endParaRPr lang="en-US" sz="1100" dirty="0"/>
          </a:p>
        </p:txBody>
      </p:sp>
      <p:sp>
        <p:nvSpPr>
          <p:cNvPr id="15" name="Text 12"/>
          <p:cNvSpPr txBox="1"/>
          <p:nvPr/>
        </p:nvSpPr>
        <p:spPr>
          <a:xfrm>
            <a:off x="4062908"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16" name="Shape 13"/>
          <p:cNvSpPr/>
          <p:nvPr/>
        </p:nvSpPr>
        <p:spPr>
          <a:xfrm>
            <a:off x="4440784"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62537171698e+21" dist="1.156342929245e+21" dir="6.9984e+25">
              <a:srgbClr val="959092">
                <a:alpha val="2.2e+24"/>
              </a:srgbClr>
            </a:outerShdw>
          </a:effectLst>
        </p:spPr>
      </p:sp>
      <p:sp>
        <p:nvSpPr>
          <p:cNvPr id="17" name="Shape 14"/>
          <p:cNvSpPr/>
          <p:nvPr/>
        </p:nvSpPr>
        <p:spPr>
          <a:xfrm>
            <a:off x="4751680" y="2926080"/>
            <a:ext cx="658368" cy="658368"/>
          </a:xfrm>
          <a:prstGeom prst="roundRect">
            <a:avLst>
              <a:gd name="adj" fmla="val 8333"/>
            </a:avLst>
          </a:prstGeom>
          <a:solidFill>
            <a:srgbClr val="F6EEF0"/>
          </a:solidFill>
          <a:ln/>
        </p:spPr>
      </p:sp>
      <p:sp>
        <p:nvSpPr>
          <p:cNvPr id="18" name="Text 15"/>
          <p:cNvSpPr txBox="1"/>
          <p:nvPr/>
        </p:nvSpPr>
        <p:spPr>
          <a:xfrm>
            <a:off x="4751680"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9" name="Text 16"/>
          <p:cNvSpPr txBox="1"/>
          <p:nvPr/>
        </p:nvSpPr>
        <p:spPr>
          <a:xfrm>
            <a:off x="4751680"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Owners</a:t>
            </a:r>
            <a:endParaRPr lang="en-US" sz="1550" dirty="0"/>
          </a:p>
        </p:txBody>
      </p:sp>
      <p:sp>
        <p:nvSpPr>
          <p:cNvPr id="20" name="Text 17"/>
          <p:cNvSpPr txBox="1"/>
          <p:nvPr/>
        </p:nvSpPr>
        <p:spPr>
          <a:xfrm>
            <a:off x="4751680"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Name the team responsible for installing and maintaining each one.</a:t>
            </a:r>
            <a:endParaRPr lang="en-US" sz="1100" dirty="0"/>
          </a:p>
        </p:txBody>
      </p:sp>
      <p:sp>
        <p:nvSpPr>
          <p:cNvPr id="21" name="Text 18"/>
          <p:cNvSpPr txBox="1"/>
          <p:nvPr/>
        </p:nvSpPr>
        <p:spPr>
          <a:xfrm>
            <a:off x="7726451"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22" name="Shape 19"/>
          <p:cNvSpPr/>
          <p:nvPr/>
        </p:nvSpPr>
        <p:spPr>
          <a:xfrm>
            <a:off x="8104327"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5.8742220805646e+25" dist="1.46855552014115e+25" dir="4.19904e+30">
              <a:srgbClr val="959092">
                <a:alpha val="2.2e+29"/>
              </a:srgbClr>
            </a:outerShdw>
          </a:effectLst>
        </p:spPr>
      </p:sp>
      <p:sp>
        <p:nvSpPr>
          <p:cNvPr id="23" name="Shape 20"/>
          <p:cNvSpPr/>
          <p:nvPr/>
        </p:nvSpPr>
        <p:spPr>
          <a:xfrm>
            <a:off x="8415223" y="2926080"/>
            <a:ext cx="658368" cy="658368"/>
          </a:xfrm>
          <a:prstGeom prst="roundRect">
            <a:avLst>
              <a:gd name="adj" fmla="val 8333"/>
            </a:avLst>
          </a:prstGeom>
          <a:solidFill>
            <a:srgbClr val="F6EEF0"/>
          </a:solidFill>
          <a:ln/>
        </p:spPr>
      </p:sp>
      <p:sp>
        <p:nvSpPr>
          <p:cNvPr id="24" name="Text 21"/>
          <p:cNvSpPr txBox="1"/>
          <p:nvPr/>
        </p:nvSpPr>
        <p:spPr>
          <a:xfrm>
            <a:off x="8415223"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25" name="Text 22"/>
          <p:cNvSpPr txBox="1"/>
          <p:nvPr/>
        </p:nvSpPr>
        <p:spPr>
          <a:xfrm>
            <a:off x="8415223"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Get It Adopted</a:t>
            </a:r>
            <a:endParaRPr lang="en-US" sz="1550" dirty="0"/>
          </a:p>
        </p:txBody>
      </p:sp>
      <p:sp>
        <p:nvSpPr>
          <p:cNvPr id="26" name="Text 23"/>
          <p:cNvSpPr txBox="1"/>
          <p:nvPr/>
        </p:nvSpPr>
        <p:spPr>
          <a:xfrm>
            <a:off x="8415223"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Turn that into a written framework the company formally signs off on.</a:t>
            </a:r>
            <a:endParaRPr lang="en-US" sz="1100" dirty="0"/>
          </a:p>
        </p:txBody>
      </p:sp>
      <p:sp>
        <p:nvSpPr>
          <p:cNvPr id="27" name="Shape 24"/>
          <p:cNvSpPr/>
          <p:nvPr/>
        </p:nvSpPr>
        <p:spPr>
          <a:xfrm>
            <a:off x="777240" y="5138928"/>
            <a:ext cx="10637215" cy="859536"/>
          </a:xfrm>
          <a:prstGeom prst="roundRect">
            <a:avLst>
              <a:gd name="adj" fmla="val 6383"/>
            </a:avLst>
          </a:prstGeom>
          <a:solidFill>
            <a:srgbClr val="2B2D30"/>
          </a:solidFill>
          <a:ln/>
          <a:effectLst>
            <a:outerShdw sx="100000" sy="100000" kx="0" ky="0" algn="bl" rotWithShape="0" blurRad="9.823804677660543e+41" dist="2.183067706146787e+41" dir="5.44195584e+49">
              <a:srgbClr val="959092">
                <a:alpha val="1.6e+49"/>
              </a:srgbClr>
            </a:outerShdw>
          </a:effectLst>
        </p:spPr>
      </p:sp>
      <p:sp>
        <p:nvSpPr>
          <p:cNvPr id="28" name="Text 25"/>
          <p:cNvSpPr txBox="1"/>
          <p:nvPr/>
        </p:nvSpPr>
        <p:spPr>
          <a:xfrm>
            <a:off x="1069848" y="5285232"/>
            <a:ext cx="18288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DELIVERED</a:t>
            </a:r>
            <a:endParaRPr lang="en-US" sz="850" dirty="0"/>
          </a:p>
        </p:txBody>
      </p:sp>
      <p:sp>
        <p:nvSpPr>
          <p:cNvPr id="29" name="Text 26"/>
          <p:cNvSpPr txBox="1"/>
          <p:nvPr/>
        </p:nvSpPr>
        <p:spPr>
          <a:xfrm>
            <a:off x="1069848" y="5522976"/>
            <a:ext cx="10051999" cy="36576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Montserrat" pitchFamily="34" charset="0"/>
                <a:ea typeface="Montserrat" pitchFamily="34" charset="-122"/>
                <a:cs typeface="Montserrat" pitchFamily="34" charset="-120"/>
              </a:rPr>
              <a:t>A written Roles &amp; Responsibilities framework — drafted, staged for review, and set for formal adoption once the policy manager returns in Q4.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 drafted framework to a standing process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09</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framework exists on paper. Turning it into something the company runs without me is the next stretch.</a:t>
            </a:r>
            <a:endParaRPr lang="en-US" sz="1400" dirty="0"/>
          </a:p>
        </p:txBody>
      </p:sp>
      <p:sp>
        <p:nvSpPr>
          <p:cNvPr id="10" name="Shape 7"/>
          <p:cNvSpPr/>
          <p:nvPr/>
        </p:nvSpPr>
        <p:spPr>
          <a:xfrm>
            <a:off x="777240"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7.460262042317042e+29" dist="1.8650655105792604e+29" dir="2.519424e+35">
              <a:srgbClr val="959092">
                <a:alpha val="2.2e+34"/>
              </a:srgbClr>
            </a:outerShdw>
          </a:effectLst>
        </p:spPr>
      </p:sp>
      <p:sp>
        <p:nvSpPr>
          <p:cNvPr id="11" name="Shape 8"/>
          <p:cNvSpPr/>
          <p:nvPr/>
        </p:nvSpPr>
        <p:spPr>
          <a:xfrm>
            <a:off x="777240" y="2615184"/>
            <a:ext cx="3356762" cy="45720"/>
          </a:xfrm>
          <a:prstGeom prst="rect">
            <a:avLst/>
          </a:prstGeom>
          <a:solidFill>
            <a:srgbClr val="942838"/>
          </a:solidFill>
          <a:ln/>
        </p:spPr>
      </p:sp>
      <p:sp>
        <p:nvSpPr>
          <p:cNvPr id="12" name="Text 9"/>
          <p:cNvSpPr txBox="1"/>
          <p:nvPr/>
        </p:nvSpPr>
        <p:spPr>
          <a:xfrm>
            <a:off x="1088136"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Formal adoption</a:t>
            </a:r>
            <a:endParaRPr lang="en-US" sz="1500" dirty="0"/>
          </a:p>
        </p:txBody>
      </p:sp>
      <p:sp>
        <p:nvSpPr>
          <p:cNvPr id="14" name="Text 11"/>
          <p:cNvSpPr txBox="1"/>
          <p:nvPr/>
        </p:nvSpPr>
        <p:spPr>
          <a:xfrm>
            <a:off x="1088136"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framework is drafted and staged for review. It goes for sign-off once the policy manager returns in Q4.</a:t>
            </a:r>
            <a:endParaRPr lang="en-US" sz="1100" dirty="0"/>
          </a:p>
        </p:txBody>
      </p:sp>
      <p:sp>
        <p:nvSpPr>
          <p:cNvPr id="15" name="Shape 12"/>
          <p:cNvSpPr/>
          <p:nvPr/>
        </p:nvSpPr>
        <p:spPr>
          <a:xfrm>
            <a:off x="4417466"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9.474532793742643e+33" dist="2.3686331984356606e+33" dir="1.5116544e+40">
              <a:srgbClr val="959092">
                <a:alpha val="2.2e+39"/>
              </a:srgbClr>
            </a:outerShdw>
          </a:effectLst>
        </p:spPr>
      </p:sp>
      <p:sp>
        <p:nvSpPr>
          <p:cNvPr id="16" name="Shape 13"/>
          <p:cNvSpPr/>
          <p:nvPr/>
        </p:nvSpPr>
        <p:spPr>
          <a:xfrm>
            <a:off x="4417466" y="2615184"/>
            <a:ext cx="3356762" cy="45720"/>
          </a:xfrm>
          <a:prstGeom prst="rect">
            <a:avLst/>
          </a:prstGeom>
          <a:solidFill>
            <a:srgbClr val="942838"/>
          </a:solidFill>
          <a:ln/>
        </p:spPr>
      </p:sp>
      <p:sp>
        <p:nvSpPr>
          <p:cNvPr id="17" name="Text 14"/>
          <p:cNvSpPr txBox="1"/>
          <p:nvPr/>
        </p:nvSpPr>
        <p:spPr>
          <a:xfrm>
            <a:off x="4728362"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Owners take it from here</a:t>
            </a:r>
            <a:endParaRPr lang="en-US" sz="1500" dirty="0"/>
          </a:p>
        </p:txBody>
      </p:sp>
      <p:sp>
        <p:nvSpPr>
          <p:cNvPr id="19" name="Text 16"/>
          <p:cNvSpPr txBox="1"/>
          <p:nvPr/>
        </p:nvSpPr>
        <p:spPr>
          <a:xfrm>
            <a:off x="4728362"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Each named team picks up the tool it owns, so responsibility sits with the people who can act on it.</a:t>
            </a:r>
            <a:endParaRPr lang="en-US" sz="1100" dirty="0"/>
          </a:p>
        </p:txBody>
      </p:sp>
      <p:sp>
        <p:nvSpPr>
          <p:cNvPr id="20" name="Shape 17"/>
          <p:cNvSpPr/>
          <p:nvPr/>
        </p:nvSpPr>
        <p:spPr>
          <a:xfrm>
            <a:off x="8057693"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1.2032656648053156e+38" dist="3.008164162013289e+37" dir="9.069926400000001e+44">
              <a:srgbClr val="959092">
                <a:alpha val="2.2e+44"/>
              </a:srgbClr>
            </a:outerShdw>
          </a:effectLst>
        </p:spPr>
      </p:sp>
      <p:sp>
        <p:nvSpPr>
          <p:cNvPr id="21" name="Shape 18"/>
          <p:cNvSpPr/>
          <p:nvPr/>
        </p:nvSpPr>
        <p:spPr>
          <a:xfrm>
            <a:off x="8057693" y="2615184"/>
            <a:ext cx="3356762" cy="45720"/>
          </a:xfrm>
          <a:prstGeom prst="rect">
            <a:avLst/>
          </a:prstGeom>
          <a:solidFill>
            <a:srgbClr val="942838"/>
          </a:solidFill>
          <a:ln/>
        </p:spPr>
      </p:sp>
      <p:sp>
        <p:nvSpPr>
          <p:cNvPr id="22" name="Text 19"/>
          <p:cNvSpPr txBox="1"/>
          <p:nvPr/>
        </p:nvSpPr>
        <p:spPr>
          <a:xfrm>
            <a:off x="8368589"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Check before deploy</a:t>
            </a:r>
            <a:endParaRPr lang="en-US" sz="1500" dirty="0"/>
          </a:p>
        </p:txBody>
      </p:sp>
      <p:sp>
        <p:nvSpPr>
          <p:cNvPr id="24" name="Text 21"/>
          <p:cNvSpPr txBox="1"/>
          <p:nvPr/>
        </p:nvSpPr>
        <p:spPr>
          <a:xfrm>
            <a:off x="8368589"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natural next step is a check that a newly built image actually carries all nine tools before it goes live.</a:t>
            </a:r>
            <a:endParaRPr lang="en-US" sz="1100" dirty="0"/>
          </a:p>
        </p:txBody>
      </p:sp>
      <p:sp>
        <p:nvSpPr>
          <p:cNvPr id="25" name="Text 22"/>
          <p:cNvSpPr txBox="1"/>
          <p:nvPr/>
        </p:nvSpPr>
        <p:spPr>
          <a:xfrm>
            <a:off x="777240" y="5230368"/>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The honest status:</a:t>
            </a:r>
            <a:pPr indent="0" marL="0">
              <a:buNone/>
            </a:pPr>
            <a:r>
              <a:rPr lang="en-US" sz="1150" dirty="0">
                <a:solidFill>
                  <a:srgbClr val="6E7175"/>
                </a:solidFill>
                <a:latin typeface="Montserrat" pitchFamily="34" charset="0"/>
                <a:ea typeface="Montserrat" pitchFamily="34" charset="-122"/>
                <a:cs typeface="Montserrat" pitchFamily="34" charset="-120"/>
              </a:rPr>
              <a:t>  drafted and staged for review, not yet formally adopted. The decision sits with the policy manager in Q4.</a:t>
            </a:r>
            <a:endParaRPr lang="en-US" sz="1150" dirty="0"/>
          </a:p>
        </p:txBody>
      </p:sp>
      <p:sp>
        <p:nvSpPr>
          <p:cNvPr id="26" name="Text 23"/>
          <p:cNvSpPr txBox="1"/>
          <p:nvPr/>
        </p:nvSpPr>
        <p:spPr>
          <a:xfrm>
            <a:off x="777240" y="5577840"/>
            <a:ext cx="10637215" cy="274320"/>
          </a:xfrm>
          <a:prstGeom prst="rect">
            <a:avLst/>
          </a:prstGeom>
          <a:noFill/>
          <a:ln/>
        </p:spPr>
        <p:txBody>
          <a:bodyPr wrap="square" lIns="0" tIns="0" rIns="0" bIns="0" rtlCol="0" anchor="t"/>
          <a:lstStyle/>
          <a:p>
            <a:pPr indent="0" marL="0">
              <a:buNone/>
            </a:pPr>
            <a:r>
              <a:rPr lang="en-US" sz="1100" dirty="0">
                <a:solidFill>
                  <a:srgbClr val="942838"/>
                </a:solidFill>
                <a:latin typeface="Montserrat" pitchFamily="34" charset="0"/>
                <a:ea typeface="Montserrat" pitchFamily="34" charset="-122"/>
                <a:cs typeface="Montserrat" pitchFamily="34" charset="-120"/>
              </a:rPr>
              <a:t>It also closes an audit gap: once adopted, we can show that every new machine met a defined security baseline before it was deployed.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02</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02</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AEGIS — Supply-Chain Defense</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Catching risky code hidden inside the open-source packages our software depends on.</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02</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One poisoned package reaches everyone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11</a:t>
            </a:r>
            <a:endParaRPr lang="en-US" sz="850" dirty="0"/>
          </a:p>
        </p:txBody>
      </p:sp>
      <p:sp>
        <p:nvSpPr>
          <p:cNvPr id="9" name="Text 6"/>
          <p:cNvSpPr txBox="1"/>
          <p:nvPr/>
        </p:nvSpPr>
        <p:spPr>
          <a:xfrm>
            <a:off x="777240" y="1975104"/>
            <a:ext cx="10424160" cy="566928"/>
          </a:xfrm>
          <a:prstGeom prst="rect">
            <a:avLst/>
          </a:prstGeom>
          <a:noFill/>
          <a:ln/>
        </p:spPr>
        <p:txBody>
          <a:bodyPr wrap="square" lIns="0" tIns="0" rIns="0" bIns="0" rtlCol="0" anchor="t"/>
          <a:lstStyle/>
          <a:p>
            <a:pPr indent="0" marL="0">
              <a:lnSpc>
                <a:spcPct val="122000"/>
              </a:lnSpc>
              <a:buNone/>
            </a:pPr>
            <a:r>
              <a:rPr lang="en-US" sz="1400" dirty="0">
                <a:solidFill>
                  <a:srgbClr val="6E7175"/>
                </a:solidFill>
                <a:latin typeface="Montserrat Medium" pitchFamily="34" charset="0"/>
                <a:ea typeface="Montserrat Medium" pitchFamily="34" charset="-122"/>
                <a:cs typeface="Montserrat Medium" pitchFamily="34" charset="-120"/>
              </a:rPr>
              <a:t>In a supply-chain attack, an attacker hides malicious code inside a legitimate, widely-used open-source package. Everyone who installs it inherits the compromise — including us. Real campaigns in 2025 and 2026 worked exactly this way, including a self-spreading family that reused each victim to infect the next.</a:t>
            </a:r>
            <a:endParaRPr lang="en-US" sz="1400" dirty="0"/>
          </a:p>
        </p:txBody>
      </p:sp>
      <p:pic>
        <p:nvPicPr>
          <p:cNvPr id="10" name="Image 1" descr="/home/user/ai/assets/gen/supply-chain.png">    </p:cNvPr>
          <p:cNvPicPr>
            <a:picLocks noChangeAspect="1"/>
          </p:cNvPicPr>
          <p:nvPr/>
        </p:nvPicPr>
        <p:blipFill>
          <a:blip r:embed="rId2"/>
          <a:stretch>
            <a:fillRect/>
          </a:stretch>
        </p:blipFill>
        <p:spPr>
          <a:xfrm>
            <a:off x="1170432" y="2798064"/>
            <a:ext cx="9875520" cy="2880360"/>
          </a:xfrm>
          <a:prstGeom prst="rect">
            <a:avLst/>
          </a:prstGeom>
        </p:spPr>
      </p:pic>
      <p:sp>
        <p:nvSpPr>
          <p:cNvPr id="11" name="Text 7"/>
          <p:cNvSpPr txBox="1"/>
          <p:nvPr/>
        </p:nvSpPr>
        <p:spPr>
          <a:xfrm>
            <a:off x="52852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Attacker</a:t>
            </a:r>
            <a:endParaRPr lang="en-US" sz="950" dirty="0"/>
          </a:p>
        </p:txBody>
      </p:sp>
      <p:sp>
        <p:nvSpPr>
          <p:cNvPr id="12" name="Text 8"/>
          <p:cNvSpPr txBox="1"/>
          <p:nvPr/>
        </p:nvSpPr>
        <p:spPr>
          <a:xfrm>
            <a:off x="2365370"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Poisoned package</a:t>
            </a:r>
            <a:endParaRPr lang="en-US" sz="950" dirty="0"/>
          </a:p>
        </p:txBody>
      </p:sp>
      <p:sp>
        <p:nvSpPr>
          <p:cNvPr id="13" name="Text 9"/>
          <p:cNvSpPr txBox="1"/>
          <p:nvPr/>
        </p:nvSpPr>
        <p:spPr>
          <a:xfrm>
            <a:off x="4587362"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Public registry</a:t>
            </a:r>
            <a:endParaRPr lang="en-US" sz="950" dirty="0"/>
          </a:p>
        </p:txBody>
      </p:sp>
      <p:sp>
        <p:nvSpPr>
          <p:cNvPr id="14" name="Text 10"/>
          <p:cNvSpPr txBox="1"/>
          <p:nvPr/>
        </p:nvSpPr>
        <p:spPr>
          <a:xfrm>
            <a:off x="802404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Every project that installs it</a:t>
            </a:r>
            <a:endParaRPr lang="en-US" sz="950" dirty="0"/>
          </a:p>
        </p:txBody>
      </p:sp>
      <p:sp>
        <p:nvSpPr>
          <p:cNvPr id="15" name="Shape 11"/>
          <p:cNvSpPr/>
          <p:nvPr/>
        </p:nvSpPr>
        <p:spPr>
          <a:xfrm>
            <a:off x="777240" y="5138928"/>
            <a:ext cx="10637215" cy="859536"/>
          </a:xfrm>
          <a:prstGeom prst="roundRect">
            <a:avLst>
              <a:gd name="adj" fmla="val 6383"/>
            </a:avLst>
          </a:prstGeom>
          <a:solidFill>
            <a:srgbClr val="F6EEF0"/>
          </a:solidFill>
          <a:ln/>
        </p:spPr>
      </p:sp>
      <p:sp>
        <p:nvSpPr>
          <p:cNvPr id="16" name="Shape 12"/>
          <p:cNvSpPr/>
          <p:nvPr/>
        </p:nvSpPr>
        <p:spPr>
          <a:xfrm>
            <a:off x="777240" y="5138928"/>
            <a:ext cx="50292" cy="859536"/>
          </a:xfrm>
          <a:prstGeom prst="rect">
            <a:avLst/>
          </a:prstGeom>
          <a:solidFill>
            <a:srgbClr val="942838"/>
          </a:solidFill>
          <a:ln/>
        </p:spPr>
      </p:sp>
      <p:sp>
        <p:nvSpPr>
          <p:cNvPr id="17" name="Text 13"/>
          <p:cNvSpPr txBox="1"/>
          <p:nvPr/>
        </p:nvSpPr>
        <p:spPr>
          <a:xfrm>
            <a:off x="1014984" y="5276088"/>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WHY EXISTING TOOLS WERE NOT ENOUGH</a:t>
            </a:r>
            <a:endParaRPr lang="en-US" sz="850" dirty="0"/>
          </a:p>
        </p:txBody>
      </p:sp>
      <p:sp>
        <p:nvSpPr>
          <p:cNvPr id="18" name="Text 14"/>
          <p:cNvSpPr txBox="1"/>
          <p:nvPr/>
        </p:nvSpPr>
        <p:spPr>
          <a:xfrm>
            <a:off x="1014984" y="5513832"/>
            <a:ext cx="10134295" cy="384048"/>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Most scanners cry wolf: "you have 500 flaws." But our code never touches most of them, so nobody can tell what is urgent. AEGIS separates signal from noise by checking whether our code actually calls the vulnerable part.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A scanner that checks if the flaw is reachable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12</a:t>
            </a:r>
            <a:endParaRPr lang="en-US" sz="850" dirty="0"/>
          </a:p>
        </p:txBody>
      </p:sp>
      <p:sp>
        <p:nvSpPr>
          <p:cNvPr id="9" name="Text 6"/>
          <p:cNvSpPr txBox="1"/>
          <p:nvPr/>
        </p:nvSpPr>
        <p:spPr>
          <a:xfrm>
            <a:off x="777240" y="2011680"/>
            <a:ext cx="393192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5,675</a:t>
            </a:r>
            <a:endParaRPr lang="en-US" sz="7200" dirty="0"/>
          </a:p>
        </p:txBody>
      </p:sp>
      <p:sp>
        <p:nvSpPr>
          <p:cNvPr id="10" name="Text 7"/>
          <p:cNvSpPr txBox="1"/>
          <p:nvPr/>
        </p:nvSpPr>
        <p:spPr>
          <a:xfrm>
            <a:off x="777240" y="3145536"/>
            <a:ext cx="393192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 in production</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an earlier version of the tool</a:t>
            </a:r>
            <a:endParaRPr lang="en-US" sz="950" dirty="0"/>
          </a:p>
        </p:txBody>
      </p:sp>
      <p:sp>
        <p:nvSpPr>
          <p:cNvPr id="11" name="Shape 8"/>
          <p:cNvSpPr/>
          <p:nvPr/>
        </p:nvSpPr>
        <p:spPr>
          <a:xfrm>
            <a:off x="795528" y="3602736"/>
            <a:ext cx="109728" cy="109728"/>
          </a:xfrm>
          <a:prstGeom prst="ellipse">
            <a:avLst/>
          </a:prstGeom>
          <a:solidFill>
            <a:srgbClr val="942838"/>
          </a:solidFill>
          <a:ln/>
        </p:spPr>
      </p:sp>
      <p:sp>
        <p:nvSpPr>
          <p:cNvPr id="12" name="Text 9"/>
          <p:cNvSpPr txBox="1"/>
          <p:nvPr/>
        </p:nvSpPr>
        <p:spPr>
          <a:xfrm>
            <a:off x="1033272" y="3529584"/>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Reachability, not just presence</a:t>
            </a:r>
            <a:endParaRPr lang="en-US" sz="1250" dirty="0"/>
          </a:p>
        </p:txBody>
      </p:sp>
      <p:sp>
        <p:nvSpPr>
          <p:cNvPr id="13" name="Text 10"/>
          <p:cNvSpPr txBox="1"/>
          <p:nvPr/>
        </p:nvSpPr>
        <p:spPr>
          <a:xfrm>
            <a:off x="1033272" y="3785616"/>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Not "you have a flawed package" but "your code actually calls the flawed part".</a:t>
            </a:r>
            <a:endParaRPr lang="en-US" sz="1100" dirty="0"/>
          </a:p>
        </p:txBody>
      </p:sp>
      <p:sp>
        <p:nvSpPr>
          <p:cNvPr id="14" name="Shape 11"/>
          <p:cNvSpPr/>
          <p:nvPr/>
        </p:nvSpPr>
        <p:spPr>
          <a:xfrm>
            <a:off x="795528" y="4370832"/>
            <a:ext cx="109728" cy="109728"/>
          </a:xfrm>
          <a:prstGeom prst="ellipse">
            <a:avLst/>
          </a:prstGeom>
          <a:solidFill>
            <a:srgbClr val="942838"/>
          </a:solidFill>
          <a:ln/>
        </p:spPr>
      </p:sp>
      <p:sp>
        <p:nvSpPr>
          <p:cNvPr id="15" name="Text 12"/>
          <p:cNvSpPr txBox="1"/>
          <p:nvPr/>
        </p:nvSpPr>
        <p:spPr>
          <a:xfrm>
            <a:off x="1033272" y="4297680"/>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Three honest answers</a:t>
            </a:r>
            <a:endParaRPr lang="en-US" sz="1250" dirty="0"/>
          </a:p>
        </p:txBody>
      </p:sp>
      <p:sp>
        <p:nvSpPr>
          <p:cNvPr id="16" name="Text 13"/>
          <p:cNvSpPr txBox="1"/>
          <p:nvPr/>
        </p:nvSpPr>
        <p:spPr>
          <a:xfrm>
            <a:off x="1033272" y="4553712"/>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Reachable, no call site found, or can't prove. They are never collapsed together into a single "safe".</a:t>
            </a:r>
            <a:endParaRPr lang="en-US" sz="1100" dirty="0"/>
          </a:p>
        </p:txBody>
      </p:sp>
      <p:sp>
        <p:nvSpPr>
          <p:cNvPr id="17" name="Shape 14"/>
          <p:cNvSpPr/>
          <p:nvPr/>
        </p:nvSpPr>
        <p:spPr>
          <a:xfrm>
            <a:off x="795528" y="5138928"/>
            <a:ext cx="109728" cy="109728"/>
          </a:xfrm>
          <a:prstGeom prst="ellipse">
            <a:avLst/>
          </a:prstGeom>
          <a:solidFill>
            <a:srgbClr val="942838"/>
          </a:solidFill>
          <a:ln/>
        </p:spPr>
      </p:sp>
      <p:sp>
        <p:nvSpPr>
          <p:cNvPr id="18" name="Text 15"/>
          <p:cNvSpPr txBox="1"/>
          <p:nvPr/>
        </p:nvSpPr>
        <p:spPr>
          <a:xfrm>
            <a:off x="1033272" y="5065776"/>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"safe"</a:t>
            </a:r>
            <a:endParaRPr lang="en-US" sz="1250" dirty="0"/>
          </a:p>
        </p:txBody>
      </p:sp>
      <p:sp>
        <p:nvSpPr>
          <p:cNvPr id="19" name="Text 16"/>
          <p:cNvSpPr txBox="1"/>
          <p:nvPr/>
        </p:nvSpPr>
        <p:spPr>
          <a:xfrm>
            <a:off x="1033272" y="5321808"/>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If the tool cannot tell, it says so. It never reports a clean result it has not earned.</a:t>
            </a:r>
            <a:endParaRPr lang="en-US" sz="1100" dirty="0"/>
          </a:p>
        </p:txBody>
      </p:sp>
      <p:sp>
        <p:nvSpPr>
          <p:cNvPr id="20" name="Shape 17"/>
          <p:cNvSpPr/>
          <p:nvPr/>
        </p:nvSpPr>
        <p:spPr>
          <a:xfrm>
            <a:off x="5175504" y="2066544"/>
            <a:ext cx="6238951" cy="3035808"/>
          </a:xfrm>
          <a:prstGeom prst="roundRect">
            <a:avLst>
              <a:gd name="adj" fmla="val 1807"/>
            </a:avLst>
          </a:prstGeom>
          <a:solidFill>
            <a:srgbClr val="FFFFFF"/>
          </a:solidFill>
          <a:ln w="9525">
            <a:solidFill>
              <a:srgbClr val="E6E4E2"/>
            </a:solidFill>
            <a:prstDash val="solid"/>
          </a:ln>
          <a:effectLst>
            <a:outerShdw sx="100000" sy="100000" kx="0" ky="0" algn="bl" rotWithShape="0" blurRad="1.528147394302751e+42" dist="3.8203684857568774e+41" dir="5.44195584e+49">
              <a:srgbClr val="959092">
                <a:alpha val="2.2e+49"/>
              </a:srgbClr>
            </a:outerShdw>
          </a:effectLst>
        </p:spPr>
      </p:sp>
      <p:sp>
        <p:nvSpPr>
          <p:cNvPr id="21" name="Text 18"/>
          <p:cNvSpPr txBox="1"/>
          <p:nvPr/>
        </p:nvSpPr>
        <p:spPr>
          <a:xfrm>
            <a:off x="5486400" y="2322576"/>
            <a:ext cx="5617159"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PACKAGES SCANNED PER RUN  ·  EARLIER VERSION</a:t>
            </a:r>
            <a:endParaRPr lang="en-US" sz="850" dirty="0"/>
          </a:p>
        </p:txBody>
      </p:sp>
      <p:pic>
        <p:nvPicPr>
          <p:cNvPr id="22" name="Image 1" descr="/home/user/ai/assets/gen/chart-packages.png">    </p:cNvPr>
          <p:cNvPicPr>
            <a:picLocks noChangeAspect="1"/>
          </p:cNvPicPr>
          <p:nvPr/>
        </p:nvPicPr>
        <p:blipFill>
          <a:blip r:embed="rId2"/>
          <a:stretch>
            <a:fillRect/>
          </a:stretch>
        </p:blipFill>
        <p:spPr>
          <a:xfrm>
            <a:off x="6164428" y="2578608"/>
            <a:ext cx="4261104" cy="2410888"/>
          </a:xfrm>
          <a:prstGeom prst="rect">
            <a:avLst/>
          </a:prstGeom>
        </p:spPr>
      </p:pic>
      <p:sp>
        <p:nvSpPr>
          <p:cNvPr id="23" name="Shape 19"/>
          <p:cNvSpPr/>
          <p:nvPr/>
        </p:nvSpPr>
        <p:spPr>
          <a:xfrm>
            <a:off x="5175504" y="5266944"/>
            <a:ext cx="6238951" cy="877824"/>
          </a:xfrm>
          <a:prstGeom prst="roundRect">
            <a:avLst>
              <a:gd name="adj" fmla="val 6250"/>
            </a:avLst>
          </a:prstGeom>
          <a:solidFill>
            <a:srgbClr val="F6EEF0"/>
          </a:solidFill>
          <a:ln/>
        </p:spPr>
      </p:sp>
      <p:sp>
        <p:nvSpPr>
          <p:cNvPr id="24" name="Shape 20"/>
          <p:cNvSpPr/>
          <p:nvPr/>
        </p:nvSpPr>
        <p:spPr>
          <a:xfrm>
            <a:off x="5175504" y="5266944"/>
            <a:ext cx="50292" cy="877824"/>
          </a:xfrm>
          <a:prstGeom prst="rect">
            <a:avLst/>
          </a:prstGeom>
          <a:solidFill>
            <a:srgbClr val="942838"/>
          </a:solidFill>
          <a:ln/>
        </p:spPr>
      </p:sp>
      <p:sp>
        <p:nvSpPr>
          <p:cNvPr id="25" name="Text 21"/>
          <p:cNvSpPr txBox="1"/>
          <p:nvPr/>
        </p:nvSpPr>
        <p:spPr>
          <a:xfrm>
            <a:off x="5413248" y="5394960"/>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IN PRACTICE</a:t>
            </a:r>
            <a:endParaRPr lang="en-US" sz="850" dirty="0"/>
          </a:p>
        </p:txBody>
      </p:sp>
      <p:sp>
        <p:nvSpPr>
          <p:cNvPr id="26" name="Text 22"/>
          <p:cNvSpPr txBox="1"/>
          <p:nvPr/>
        </p:nvSpPr>
        <p:spPr>
          <a:xfrm>
            <a:off x="5413248" y="5614416"/>
            <a:ext cx="5781751" cy="457200"/>
          </a:xfrm>
          <a:prstGeom prst="rect">
            <a:avLst/>
          </a:prstGeom>
          <a:noFill/>
          <a:ln/>
        </p:spPr>
        <p:txBody>
          <a:bodyPr wrap="square" lIns="0" tIns="0" rIns="0" bIns="0" rtlCol="0" anchor="t"/>
          <a:lstStyle/>
          <a:p>
            <a:pPr indent="0" marL="0">
              <a:lnSpc>
                <a:spcPct val="120000"/>
              </a:lnSpc>
              <a:buNone/>
            </a:pPr>
            <a:r>
              <a:rPr lang="en-US" sz="1000" dirty="0">
                <a:solidFill>
                  <a:srgbClr val="43464A"/>
                </a:solidFill>
                <a:latin typeface="Montserrat" pitchFamily="34" charset="0"/>
                <a:ea typeface="Montserrat" pitchFamily="34" charset="-122"/>
                <a:cs typeface="Montserrat" pitchFamily="34" charset="-120"/>
              </a:rPr>
              <a:t>A package we use has a known flaw. AEGIS answers three things: does our code actually call it, how much would be affected, and how risky is the fix. Then the team decides whether it is urgent — instead of guessing.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HOW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Five stages. Only one can change anything</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13</a:t>
            </a:r>
            <a:endParaRPr lang="en-US" sz="850" dirty="0"/>
          </a:p>
        </p:txBody>
      </p:sp>
      <p:sp>
        <p:nvSpPr>
          <p:cNvPr id="9" name="Shape 6"/>
          <p:cNvSpPr/>
          <p:nvPr/>
        </p:nvSpPr>
        <p:spPr>
          <a:xfrm>
            <a:off x="777240" y="1865376"/>
            <a:ext cx="10637215" cy="530352"/>
          </a:xfrm>
          <a:prstGeom prst="roundRect">
            <a:avLst>
              <a:gd name="adj" fmla="val 10345"/>
            </a:avLst>
          </a:prstGeom>
          <a:solidFill>
            <a:srgbClr val="F6EEF0"/>
          </a:solidFill>
          <a:ln/>
        </p:spPr>
      </p:sp>
      <p:sp>
        <p:nvSpPr>
          <p:cNvPr id="10" name="Shape 7"/>
          <p:cNvSpPr/>
          <p:nvPr/>
        </p:nvSpPr>
        <p:spPr>
          <a:xfrm>
            <a:off x="777240" y="1865376"/>
            <a:ext cx="50292" cy="530352"/>
          </a:xfrm>
          <a:prstGeom prst="rect">
            <a:avLst/>
          </a:prstGeom>
          <a:solidFill>
            <a:srgbClr val="942838"/>
          </a:solidFill>
          <a:ln/>
        </p:spPr>
      </p:sp>
      <p:sp>
        <p:nvSpPr>
          <p:cNvPr id="11" name="Text 8"/>
          <p:cNvSpPr txBox="1"/>
          <p:nvPr/>
        </p:nvSpPr>
        <p:spPr>
          <a:xfrm>
            <a:off x="1014984" y="2039112"/>
            <a:ext cx="10180015" cy="274320"/>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CORE RULE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reported as safe. If AEGIS cannot tell, it says so.</a:t>
            </a:r>
            <a:endParaRPr lang="en-US" sz="900" dirty="0"/>
          </a:p>
        </p:txBody>
      </p:sp>
      <p:sp>
        <p:nvSpPr>
          <p:cNvPr id="12" name="Text 9"/>
          <p:cNvSpPr txBox="1"/>
          <p:nvPr/>
        </p:nvSpPr>
        <p:spPr>
          <a:xfrm>
            <a:off x="777240" y="2596896"/>
            <a:ext cx="8229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STAGES 00–03   ·   RUN AUTOMATICALLY, READ ONLY — NOTHING IS CHANGED</a:t>
            </a:r>
            <a:endParaRPr lang="en-US" sz="850" dirty="0"/>
          </a:p>
        </p:txBody>
      </p:sp>
      <p:sp>
        <p:nvSpPr>
          <p:cNvPr id="13" name="Shape 10"/>
          <p:cNvSpPr/>
          <p:nvPr/>
        </p:nvSpPr>
        <p:spPr>
          <a:xfrm>
            <a:off x="7772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1.9407471907644937e+46" dist="4.851867976911234e+45" dir="3.2651735040000005e+54">
              <a:srgbClr val="959092">
                <a:alpha val="2.2e+54"/>
              </a:srgbClr>
            </a:outerShdw>
          </a:effectLst>
        </p:spPr>
      </p:sp>
      <p:sp>
        <p:nvSpPr>
          <p:cNvPr id="14" name="Shape 11"/>
          <p:cNvSpPr/>
          <p:nvPr/>
        </p:nvSpPr>
        <p:spPr>
          <a:xfrm>
            <a:off x="777240" y="2798064"/>
            <a:ext cx="2412416" cy="45720"/>
          </a:xfrm>
          <a:prstGeom prst="rect">
            <a:avLst/>
          </a:prstGeom>
          <a:solidFill>
            <a:srgbClr val="942838"/>
          </a:solidFill>
          <a:ln/>
        </p:spPr>
      </p:sp>
      <p:sp>
        <p:nvSpPr>
          <p:cNvPr id="15" name="Text 12"/>
          <p:cNvSpPr txBox="1"/>
          <p:nvPr/>
        </p:nvSpPr>
        <p:spPr>
          <a:xfrm>
            <a:off x="9966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00</a:t>
            </a:r>
            <a:endParaRPr lang="en-US" sz="1300" dirty="0"/>
          </a:p>
        </p:txBody>
      </p:sp>
      <p:sp>
        <p:nvSpPr>
          <p:cNvPr id="16" name="Text 13"/>
          <p:cNvSpPr txBox="1"/>
          <p:nvPr/>
        </p:nvSpPr>
        <p:spPr>
          <a:xfrm>
            <a:off x="9966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SCAN</a:t>
            </a:r>
            <a:endParaRPr lang="en-US" sz="1600" dirty="0"/>
          </a:p>
        </p:txBody>
      </p:sp>
      <p:sp>
        <p:nvSpPr>
          <p:cNvPr id="17" name="Text 14"/>
          <p:cNvSpPr txBox="1"/>
          <p:nvPr/>
        </p:nvSpPr>
        <p:spPr>
          <a:xfrm>
            <a:off x="9966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every package version the project installs — its "lockfile" — against public records of known flaws.</a:t>
            </a:r>
            <a:endParaRPr lang="en-US" sz="950" dirty="0"/>
          </a:p>
        </p:txBody>
      </p:sp>
      <p:sp>
        <p:nvSpPr>
          <p:cNvPr id="18" name="Text 15"/>
          <p:cNvSpPr txBox="1"/>
          <p:nvPr/>
        </p:nvSpPr>
        <p:spPr>
          <a:xfrm>
            <a:off x="9966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Checks public flaw records</a:t>
            </a:r>
            <a:endParaRPr lang="en-US" sz="850" dirty="0"/>
          </a:p>
        </p:txBody>
      </p:sp>
      <p:sp>
        <p:nvSpPr>
          <p:cNvPr id="19" name="Shape 16"/>
          <p:cNvSpPr/>
          <p:nvPr/>
        </p:nvSpPr>
        <p:spPr>
          <a:xfrm>
            <a:off x="3235376" y="3656686"/>
            <a:ext cx="146304" cy="20117"/>
          </a:xfrm>
          <a:prstGeom prst="rect">
            <a:avLst/>
          </a:prstGeom>
          <a:solidFill>
            <a:srgbClr val="43464A"/>
          </a:solidFill>
          <a:ln/>
        </p:spPr>
      </p:sp>
      <p:sp>
        <p:nvSpPr>
          <p:cNvPr id="20" name="Shape 17"/>
          <p:cNvSpPr/>
          <p:nvPr/>
        </p:nvSpPr>
        <p:spPr>
          <a:xfrm rot="5400000">
            <a:off x="3381680" y="3607308"/>
            <a:ext cx="91440" cy="118872"/>
          </a:xfrm>
          <a:prstGeom prst="triangle">
            <a:avLst/>
          </a:prstGeom>
          <a:solidFill>
            <a:srgbClr val="43464A"/>
          </a:solidFill>
          <a:ln/>
        </p:spPr>
      </p:sp>
      <p:sp>
        <p:nvSpPr>
          <p:cNvPr id="21" name="Shape 18"/>
          <p:cNvSpPr/>
          <p:nvPr/>
        </p:nvSpPr>
        <p:spPr>
          <a:xfrm>
            <a:off x="35188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2.464748932270907e+50" dist="6.161872330677268e+49" dir="1.9591041024000004e+59">
              <a:srgbClr val="959092">
                <a:alpha val="2.2e+59"/>
              </a:srgbClr>
            </a:outerShdw>
          </a:effectLst>
        </p:spPr>
      </p:sp>
      <p:sp>
        <p:nvSpPr>
          <p:cNvPr id="22" name="Shape 19"/>
          <p:cNvSpPr/>
          <p:nvPr/>
        </p:nvSpPr>
        <p:spPr>
          <a:xfrm>
            <a:off x="3518840" y="2798064"/>
            <a:ext cx="2412416" cy="45720"/>
          </a:xfrm>
          <a:prstGeom prst="rect">
            <a:avLst/>
          </a:prstGeom>
          <a:solidFill>
            <a:srgbClr val="942838"/>
          </a:solidFill>
          <a:ln/>
        </p:spPr>
      </p:sp>
      <p:sp>
        <p:nvSpPr>
          <p:cNvPr id="23" name="Text 20"/>
          <p:cNvSpPr txBox="1"/>
          <p:nvPr/>
        </p:nvSpPr>
        <p:spPr>
          <a:xfrm>
            <a:off x="37382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01</a:t>
            </a:r>
            <a:endParaRPr lang="en-US" sz="1300" dirty="0"/>
          </a:p>
        </p:txBody>
      </p:sp>
      <p:sp>
        <p:nvSpPr>
          <p:cNvPr id="24" name="Text 21"/>
          <p:cNvSpPr txBox="1"/>
          <p:nvPr/>
        </p:nvSpPr>
        <p:spPr>
          <a:xfrm>
            <a:off x="37382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REACH</a:t>
            </a:r>
            <a:endParaRPr lang="en-US" sz="1600" dirty="0"/>
          </a:p>
        </p:txBody>
      </p:sp>
      <p:sp>
        <p:nvSpPr>
          <p:cNvPr id="25" name="Text 22"/>
          <p:cNvSpPr txBox="1"/>
          <p:nvPr/>
        </p:nvSpPr>
        <p:spPr>
          <a:xfrm>
            <a:off x="37382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Finds whether our own code actually calls the vulnerable part — and answers reachable, no call site, or can't prove.</a:t>
            </a:r>
            <a:endParaRPr lang="en-US" sz="950" dirty="0"/>
          </a:p>
        </p:txBody>
      </p:sp>
      <p:sp>
        <p:nvSpPr>
          <p:cNvPr id="26" name="Text 23"/>
          <p:cNvSpPr txBox="1"/>
          <p:nvPr/>
        </p:nvSpPr>
        <p:spPr>
          <a:xfrm>
            <a:off x="37382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27" name="Shape 24"/>
          <p:cNvSpPr/>
          <p:nvPr/>
        </p:nvSpPr>
        <p:spPr>
          <a:xfrm>
            <a:off x="5976976" y="3656686"/>
            <a:ext cx="146304" cy="20117"/>
          </a:xfrm>
          <a:prstGeom prst="rect">
            <a:avLst/>
          </a:prstGeom>
          <a:solidFill>
            <a:srgbClr val="43464A"/>
          </a:solidFill>
          <a:ln/>
        </p:spPr>
      </p:sp>
      <p:sp>
        <p:nvSpPr>
          <p:cNvPr id="28" name="Shape 25"/>
          <p:cNvSpPr/>
          <p:nvPr/>
        </p:nvSpPr>
        <p:spPr>
          <a:xfrm rot="5400000">
            <a:off x="6123280" y="3607308"/>
            <a:ext cx="91440" cy="118872"/>
          </a:xfrm>
          <a:prstGeom prst="triangle">
            <a:avLst/>
          </a:prstGeom>
          <a:solidFill>
            <a:srgbClr val="43464A"/>
          </a:solidFill>
          <a:ln/>
        </p:spPr>
      </p:sp>
      <p:sp>
        <p:nvSpPr>
          <p:cNvPr id="29" name="Shape 26"/>
          <p:cNvSpPr/>
          <p:nvPr/>
        </p:nvSpPr>
        <p:spPr>
          <a:xfrm>
            <a:off x="62604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1302311439840524e+54" dist="7.825577859960131e+53" dir="1.1754624614400003e+64">
              <a:srgbClr val="959092">
                <a:alpha val="2.2e+64"/>
              </a:srgbClr>
            </a:outerShdw>
          </a:effectLst>
        </p:spPr>
      </p:sp>
      <p:sp>
        <p:nvSpPr>
          <p:cNvPr id="30" name="Shape 27"/>
          <p:cNvSpPr/>
          <p:nvPr/>
        </p:nvSpPr>
        <p:spPr>
          <a:xfrm>
            <a:off x="6260440" y="2798064"/>
            <a:ext cx="2412416" cy="45720"/>
          </a:xfrm>
          <a:prstGeom prst="rect">
            <a:avLst/>
          </a:prstGeom>
          <a:solidFill>
            <a:srgbClr val="942838"/>
          </a:solidFill>
          <a:ln/>
        </p:spPr>
      </p:sp>
      <p:sp>
        <p:nvSpPr>
          <p:cNvPr id="31" name="Text 28"/>
          <p:cNvSpPr txBox="1"/>
          <p:nvPr/>
        </p:nvSpPr>
        <p:spPr>
          <a:xfrm>
            <a:off x="64798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02</a:t>
            </a:r>
            <a:endParaRPr lang="en-US" sz="1300" dirty="0"/>
          </a:p>
        </p:txBody>
      </p:sp>
      <p:sp>
        <p:nvSpPr>
          <p:cNvPr id="32" name="Text 29"/>
          <p:cNvSpPr txBox="1"/>
          <p:nvPr/>
        </p:nvSpPr>
        <p:spPr>
          <a:xfrm>
            <a:off x="64798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BLAST</a:t>
            </a:r>
            <a:endParaRPr lang="en-US" sz="1600" dirty="0"/>
          </a:p>
        </p:txBody>
      </p:sp>
      <p:sp>
        <p:nvSpPr>
          <p:cNvPr id="33" name="Text 30"/>
          <p:cNvSpPr txBox="1"/>
          <p:nvPr/>
        </p:nvSpPr>
        <p:spPr>
          <a:xfrm>
            <a:off x="64798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Measures how much could be affected — how much of the codebase sits downstream, and whether it runs in production.</a:t>
            </a:r>
            <a:endParaRPr lang="en-US" sz="950" dirty="0"/>
          </a:p>
        </p:txBody>
      </p:sp>
      <p:sp>
        <p:nvSpPr>
          <p:cNvPr id="34" name="Text 31"/>
          <p:cNvSpPr txBox="1"/>
          <p:nvPr/>
        </p:nvSpPr>
        <p:spPr>
          <a:xfrm>
            <a:off x="64798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35" name="Shape 32"/>
          <p:cNvSpPr/>
          <p:nvPr/>
        </p:nvSpPr>
        <p:spPr>
          <a:xfrm>
            <a:off x="8718575" y="3656686"/>
            <a:ext cx="146304" cy="20117"/>
          </a:xfrm>
          <a:prstGeom prst="rect">
            <a:avLst/>
          </a:prstGeom>
          <a:solidFill>
            <a:srgbClr val="43464A"/>
          </a:solidFill>
          <a:ln/>
        </p:spPr>
      </p:sp>
      <p:sp>
        <p:nvSpPr>
          <p:cNvPr id="36" name="Shape 33"/>
          <p:cNvSpPr/>
          <p:nvPr/>
        </p:nvSpPr>
        <p:spPr>
          <a:xfrm rot="5400000">
            <a:off x="8864879" y="3607308"/>
            <a:ext cx="91440" cy="118872"/>
          </a:xfrm>
          <a:prstGeom prst="triangle">
            <a:avLst/>
          </a:prstGeom>
          <a:solidFill>
            <a:srgbClr val="43464A"/>
          </a:solidFill>
          <a:ln/>
        </p:spPr>
      </p:sp>
      <p:sp>
        <p:nvSpPr>
          <p:cNvPr id="37" name="Shape 34"/>
          <p:cNvSpPr/>
          <p:nvPr/>
        </p:nvSpPr>
        <p:spPr>
          <a:xfrm>
            <a:off x="9002039"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9753935528597466e+58" dist="9.938483882149366e+57" dir="7.052774768640002e+68">
              <a:srgbClr val="959092">
                <a:alpha val="2.2e+69"/>
              </a:srgbClr>
            </a:outerShdw>
          </a:effectLst>
        </p:spPr>
      </p:sp>
      <p:sp>
        <p:nvSpPr>
          <p:cNvPr id="38" name="Shape 35"/>
          <p:cNvSpPr/>
          <p:nvPr/>
        </p:nvSpPr>
        <p:spPr>
          <a:xfrm>
            <a:off x="9002039" y="2798064"/>
            <a:ext cx="2412416" cy="45720"/>
          </a:xfrm>
          <a:prstGeom prst="rect">
            <a:avLst/>
          </a:prstGeom>
          <a:solidFill>
            <a:srgbClr val="942838"/>
          </a:solidFill>
          <a:ln/>
        </p:spPr>
      </p:sp>
      <p:sp>
        <p:nvSpPr>
          <p:cNvPr id="39" name="Text 36"/>
          <p:cNvSpPr txBox="1"/>
          <p:nvPr/>
        </p:nvSpPr>
        <p:spPr>
          <a:xfrm>
            <a:off x="9221495"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03</a:t>
            </a:r>
            <a:endParaRPr lang="en-US" sz="1300" dirty="0"/>
          </a:p>
        </p:txBody>
      </p:sp>
      <p:sp>
        <p:nvSpPr>
          <p:cNvPr id="40" name="Text 37"/>
          <p:cNvSpPr txBox="1"/>
          <p:nvPr/>
        </p:nvSpPr>
        <p:spPr>
          <a:xfrm>
            <a:off x="9221495"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REGRESS</a:t>
            </a:r>
            <a:endParaRPr lang="en-US" sz="1600" dirty="0"/>
          </a:p>
        </p:txBody>
      </p:sp>
      <p:sp>
        <p:nvSpPr>
          <p:cNvPr id="41" name="Text 38"/>
          <p:cNvSpPr txBox="1"/>
          <p:nvPr/>
        </p:nvSpPr>
        <p:spPr>
          <a:xfrm>
            <a:off x="9221495"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whether the security fix could break something — test coverage and upgrade risk, kept separate.</a:t>
            </a:r>
            <a:endParaRPr lang="en-US" sz="950" dirty="0"/>
          </a:p>
        </p:txBody>
      </p:sp>
      <p:sp>
        <p:nvSpPr>
          <p:cNvPr id="42" name="Text 39"/>
          <p:cNvSpPr txBox="1"/>
          <p:nvPr/>
        </p:nvSpPr>
        <p:spPr>
          <a:xfrm>
            <a:off x="9221495"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43" name="Shape 40"/>
          <p:cNvSpPr/>
          <p:nvPr/>
        </p:nvSpPr>
        <p:spPr>
          <a:xfrm>
            <a:off x="10198189" y="4553712"/>
            <a:ext cx="20117" cy="82296"/>
          </a:xfrm>
          <a:prstGeom prst="rect">
            <a:avLst/>
          </a:prstGeom>
          <a:solidFill>
            <a:srgbClr val="942838"/>
          </a:solidFill>
          <a:ln/>
        </p:spPr>
      </p:sp>
      <p:sp>
        <p:nvSpPr>
          <p:cNvPr id="44" name="Shape 41"/>
          <p:cNvSpPr/>
          <p:nvPr/>
        </p:nvSpPr>
        <p:spPr>
          <a:xfrm rot="10800000">
            <a:off x="10162527" y="4636008"/>
            <a:ext cx="91440" cy="118872"/>
          </a:xfrm>
          <a:prstGeom prst="triangle">
            <a:avLst/>
          </a:prstGeom>
          <a:solidFill>
            <a:srgbClr val="942838"/>
          </a:solidFill>
          <a:ln/>
        </p:spPr>
      </p:sp>
      <p:sp>
        <p:nvSpPr>
          <p:cNvPr id="45" name="Text 42"/>
          <p:cNvSpPr txBox="1"/>
          <p:nvPr/>
        </p:nvSpPr>
        <p:spPr>
          <a:xfrm>
            <a:off x="7830807" y="4645152"/>
            <a:ext cx="2194560" cy="201168"/>
          </a:xfrm>
          <a:prstGeom prst="rect">
            <a:avLst/>
          </a:prstGeom>
          <a:noFill/>
          <a:ln/>
        </p:spPr>
        <p:txBody>
          <a:bodyPr wrap="square" lIns="0" tIns="0" rIns="0" bIns="0" rtlCol="0" anchor="t"/>
          <a:lstStyle/>
          <a:p>
            <a:pPr algn="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ONLY IF YOU ASK</a:t>
            </a:r>
            <a:endParaRPr lang="en-US" sz="850" dirty="0"/>
          </a:p>
        </p:txBody>
      </p:sp>
      <p:sp>
        <p:nvSpPr>
          <p:cNvPr id="46" name="Shape 43"/>
          <p:cNvSpPr/>
          <p:nvPr/>
        </p:nvSpPr>
        <p:spPr>
          <a:xfrm>
            <a:off x="777240" y="4773168"/>
            <a:ext cx="10637215" cy="1133856"/>
          </a:xfrm>
          <a:prstGeom prst="roundRect">
            <a:avLst>
              <a:gd name="adj" fmla="val 4839"/>
            </a:avLst>
          </a:prstGeom>
          <a:solidFill>
            <a:srgbClr val="2B2D30"/>
          </a:solidFill>
          <a:ln/>
          <a:effectLst>
            <a:outerShdw sx="100000" sy="100000" kx="0" ky="0" algn="bl" rotWithShape="0" blurRad="1.247623194062889e+46" dist="2.7724959868064195e+45" dir="3.2651735040000005e+54">
              <a:srgbClr val="959092">
                <a:alpha val="1.6e+54"/>
              </a:srgbClr>
            </a:outerShdw>
          </a:effectLst>
        </p:spPr>
      </p:sp>
      <p:sp>
        <p:nvSpPr>
          <p:cNvPr id="47" name="Text 44"/>
          <p:cNvSpPr txBox="1"/>
          <p:nvPr/>
        </p:nvSpPr>
        <p:spPr>
          <a:xfrm>
            <a:off x="1088136" y="4974336"/>
            <a:ext cx="146304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STAGE 04</a:t>
            </a:r>
            <a:endParaRPr lang="en-US" sz="850" dirty="0"/>
          </a:p>
        </p:txBody>
      </p:sp>
      <p:sp>
        <p:nvSpPr>
          <p:cNvPr id="48" name="Text 45"/>
          <p:cNvSpPr txBox="1"/>
          <p:nvPr/>
        </p:nvSpPr>
        <p:spPr>
          <a:xfrm>
            <a:off x="1088136" y="5212080"/>
            <a:ext cx="1828800" cy="365760"/>
          </a:xfrm>
          <a:prstGeom prst="rect">
            <a:avLst/>
          </a:prstGeom>
          <a:noFill/>
          <a:ln/>
        </p:spPr>
        <p:txBody>
          <a:bodyPr wrap="square" lIns="0" tIns="0" rIns="0" bIns="0" rtlCol="0" anchor="t"/>
          <a:lstStyle/>
          <a:p>
            <a:pPr indent="0" marL="0">
              <a:buNone/>
            </a:pPr>
            <a:r>
              <a:rPr lang="en-US" sz="2200" spc="30" kern="0" dirty="0">
                <a:solidFill>
                  <a:srgbClr val="FFFFFF"/>
                </a:solidFill>
                <a:latin typeface="Montserrat ExtraBold" pitchFamily="34" charset="0"/>
                <a:ea typeface="Montserrat ExtraBold" pitchFamily="34" charset="-122"/>
                <a:cs typeface="Montserrat ExtraBold" pitchFamily="34" charset="-120"/>
              </a:rPr>
              <a:t>FIX</a:t>
            </a:r>
            <a:endParaRPr lang="en-US" sz="2200" dirty="0"/>
          </a:p>
        </p:txBody>
      </p:sp>
      <p:sp>
        <p:nvSpPr>
          <p:cNvPr id="49" name="Text 46"/>
          <p:cNvSpPr txBox="1"/>
          <p:nvPr/>
        </p:nvSpPr>
        <p:spPr>
          <a:xfrm>
            <a:off x="2880360" y="4992624"/>
            <a:ext cx="3200400" cy="731520"/>
          </a:xfrm>
          <a:prstGeom prst="rect">
            <a:avLst/>
          </a:prstGeom>
          <a:noFill/>
          <a:ln/>
        </p:spPr>
        <p:txBody>
          <a:bodyPr wrap="square" lIns="0" tIns="0" rIns="0" bIns="0" rtlCol="0" anchor="t"/>
          <a:lstStyle/>
          <a:p>
            <a:pPr indent="0" marL="0">
              <a:lnSpc>
                <a:spcPct val="120000"/>
              </a:lnSpc>
              <a:buNone/>
            </a:pPr>
            <a:r>
              <a:rPr lang="en-US" sz="1000" dirty="0">
                <a:solidFill>
                  <a:srgbClr val="DED9DA"/>
                </a:solidFill>
                <a:latin typeface="Montserrat" pitchFamily="34" charset="0"/>
                <a:ea typeface="Montserrat" pitchFamily="34" charset="-122"/>
                <a:cs typeface="Montserrat" pitchFamily="34" charset="-120"/>
              </a:rPr>
              <a:t>Builds and tests the fix — only when you ask, and one approved step at a time.</a:t>
            </a:r>
            <a:endParaRPr lang="en-US" sz="1000" dirty="0"/>
          </a:p>
        </p:txBody>
      </p:sp>
      <p:sp>
        <p:nvSpPr>
          <p:cNvPr id="50" name="Text 47"/>
          <p:cNvSpPr txBox="1"/>
          <p:nvPr/>
        </p:nvSpPr>
        <p:spPr>
          <a:xfrm>
            <a:off x="6355080" y="4956048"/>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1" name="Text 48"/>
          <p:cNvSpPr txBox="1"/>
          <p:nvPr/>
        </p:nvSpPr>
        <p:spPr>
          <a:xfrm>
            <a:off x="6574536" y="4956048"/>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Every step needs explicit human approval</a:t>
            </a:r>
            <a:endParaRPr lang="en-US" sz="1050" dirty="0"/>
          </a:p>
        </p:txBody>
      </p:sp>
      <p:sp>
        <p:nvSpPr>
          <p:cNvPr id="52" name="Text 49"/>
          <p:cNvSpPr txBox="1"/>
          <p:nvPr/>
        </p:nvSpPr>
        <p:spPr>
          <a:xfrm>
            <a:off x="6355080" y="5221224"/>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3" name="Text 50"/>
          <p:cNvSpPr txBox="1"/>
          <p:nvPr/>
        </p:nvSpPr>
        <p:spPr>
          <a:xfrm>
            <a:off x="6574536" y="5221224"/>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Refuses to touch a protected branch</a:t>
            </a:r>
            <a:endParaRPr lang="en-US" sz="1050" dirty="0"/>
          </a:p>
        </p:txBody>
      </p:sp>
      <p:sp>
        <p:nvSpPr>
          <p:cNvPr id="54" name="Text 51"/>
          <p:cNvSpPr txBox="1"/>
          <p:nvPr/>
        </p:nvSpPr>
        <p:spPr>
          <a:xfrm>
            <a:off x="6355080" y="5486400"/>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5" name="Text 52"/>
          <p:cNvSpPr txBox="1"/>
          <p:nvPr/>
        </p:nvSpPr>
        <p:spPr>
          <a:xfrm>
            <a:off x="6574536" y="5486400"/>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Never merges, and never marks its own work resolved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PROVING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I tried to catch it lying, and it held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14</a:t>
            </a:r>
            <a:endParaRPr lang="en-US" sz="850" dirty="0"/>
          </a:p>
        </p:txBody>
      </p:sp>
      <p:sp>
        <p:nvSpPr>
          <p:cNvPr id="9" name="Text 6"/>
          <p:cNvSpPr txBox="1"/>
          <p:nvPr/>
        </p:nvSpPr>
        <p:spPr>
          <a:xfrm>
            <a:off x="777240" y="1956816"/>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security tool that quietly reports "clean" when it actually failed is worse than no tool at all. So I tested the failure paths, not just the happy path.</a:t>
            </a:r>
            <a:endParaRPr lang="en-US" sz="1400" dirty="0"/>
          </a:p>
        </p:txBody>
      </p:sp>
      <p:sp>
        <p:nvSpPr>
          <p:cNvPr id="10" name="Text 7"/>
          <p:cNvSpPr txBox="1"/>
          <p:nvPr/>
        </p:nvSpPr>
        <p:spPr>
          <a:xfrm>
            <a:off x="777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733</a:t>
            </a:r>
            <a:endParaRPr lang="en-US" sz="4000" dirty="0"/>
          </a:p>
        </p:txBody>
      </p:sp>
      <p:sp>
        <p:nvSpPr>
          <p:cNvPr id="11" name="Text 8"/>
          <p:cNvSpPr txBox="1"/>
          <p:nvPr/>
        </p:nvSpPr>
        <p:spPr>
          <a:xfrm>
            <a:off x="777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read from a real</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project's lockfile</a:t>
            </a:r>
            <a:endParaRPr lang="en-US" sz="950" dirty="0"/>
          </a:p>
        </p:txBody>
      </p:sp>
      <p:sp>
        <p:nvSpPr>
          <p:cNvPr id="12" name="Text 9"/>
          <p:cNvSpPr txBox="1"/>
          <p:nvPr/>
        </p:nvSpPr>
        <p:spPr>
          <a:xfrm>
            <a:off x="3063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2</a:t>
            </a:r>
            <a:endParaRPr lang="en-US" sz="4000" dirty="0"/>
          </a:p>
        </p:txBody>
      </p:sp>
      <p:sp>
        <p:nvSpPr>
          <p:cNvPr id="13" name="Text 10"/>
          <p:cNvSpPr txBox="1"/>
          <p:nvPr/>
        </p:nvSpPr>
        <p:spPr>
          <a:xfrm>
            <a:off x="3063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real bugs found in my own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code, and fixed</a:t>
            </a:r>
            <a:endParaRPr lang="en-US" sz="950" dirty="0"/>
          </a:p>
        </p:txBody>
      </p:sp>
      <p:sp>
        <p:nvSpPr>
          <p:cNvPr id="14" name="Shape 11"/>
          <p:cNvSpPr/>
          <p:nvPr/>
        </p:nvSpPr>
        <p:spPr>
          <a:xfrm>
            <a:off x="777240" y="3858768"/>
            <a:ext cx="4114800" cy="10973"/>
          </a:xfrm>
          <a:prstGeom prst="rect">
            <a:avLst/>
          </a:prstGeom>
          <a:solidFill>
            <a:srgbClr val="E6E4E2"/>
          </a:solidFill>
          <a:ln/>
        </p:spPr>
      </p:sp>
      <p:sp>
        <p:nvSpPr>
          <p:cNvPr id="15" name="Text 12"/>
          <p:cNvSpPr txBox="1"/>
          <p:nvPr/>
        </p:nvSpPr>
        <p:spPr>
          <a:xfrm>
            <a:off x="777240" y="4041648"/>
            <a:ext cx="4023360"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The bugs are the interesting part: one was an honesty bug — a "can't prove" result was being described as if the flaw had been confirmed absent. Exactly the failure the tool exists to prevent.</a:t>
            </a:r>
            <a:endParaRPr lang="en-US" sz="1100" dirty="0"/>
          </a:p>
        </p:txBody>
      </p:sp>
      <p:sp>
        <p:nvSpPr>
          <p:cNvPr id="16" name="Text 13"/>
          <p:cNvSpPr txBox="1"/>
          <p:nvPr/>
        </p:nvSpPr>
        <p:spPr>
          <a:xfrm>
            <a:off x="5358384" y="2432304"/>
            <a:ext cx="60560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ACTUALLY TESTED</a:t>
            </a:r>
            <a:endParaRPr lang="en-US" sz="850" dirty="0"/>
          </a:p>
        </p:txBody>
      </p:sp>
      <p:sp>
        <p:nvSpPr>
          <p:cNvPr id="17" name="Shape 14"/>
          <p:cNvSpPr/>
          <p:nvPr/>
        </p:nvSpPr>
        <p:spPr>
          <a:xfrm>
            <a:off x="5358384" y="2779776"/>
            <a:ext cx="45720" cy="182880"/>
          </a:xfrm>
          <a:prstGeom prst="rect">
            <a:avLst/>
          </a:prstGeom>
          <a:solidFill>
            <a:srgbClr val="942838"/>
          </a:solidFill>
          <a:ln/>
        </p:spPr>
      </p:sp>
      <p:sp>
        <p:nvSpPr>
          <p:cNvPr id="18" name="Text 15"/>
          <p:cNvSpPr txBox="1"/>
          <p:nvPr/>
        </p:nvSpPr>
        <p:spPr>
          <a:xfrm>
            <a:off x="5541264" y="272491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Tested end to end, not just reviewed</a:t>
            </a:r>
            <a:endParaRPr lang="en-US" sz="1200" dirty="0"/>
          </a:p>
        </p:txBody>
      </p:sp>
      <p:sp>
        <p:nvSpPr>
          <p:cNvPr id="19" name="Text 16"/>
          <p:cNvSpPr txBox="1"/>
          <p:nvPr/>
        </p:nvSpPr>
        <p:spPr>
          <a:xfrm>
            <a:off x="5541264" y="298094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Ran the whole pipeline against a real open-source project and read all 733 packages out of its lockfile.</a:t>
            </a:r>
            <a:endParaRPr lang="en-US" sz="1100" dirty="0"/>
          </a:p>
        </p:txBody>
      </p:sp>
      <p:sp>
        <p:nvSpPr>
          <p:cNvPr id="20" name="Shape 17"/>
          <p:cNvSpPr/>
          <p:nvPr/>
        </p:nvSpPr>
        <p:spPr>
          <a:xfrm>
            <a:off x="5358384" y="3648456"/>
            <a:ext cx="45720" cy="182880"/>
          </a:xfrm>
          <a:prstGeom prst="rect">
            <a:avLst/>
          </a:prstGeom>
          <a:solidFill>
            <a:srgbClr val="942838"/>
          </a:solidFill>
          <a:ln/>
        </p:spPr>
      </p:sp>
      <p:sp>
        <p:nvSpPr>
          <p:cNvPr id="21" name="Text 18"/>
          <p:cNvSpPr txBox="1"/>
          <p:nvPr/>
        </p:nvSpPr>
        <p:spPr>
          <a:xfrm>
            <a:off x="5541264" y="359359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failed loudly, which is the point</a:t>
            </a:r>
            <a:endParaRPr lang="en-US" sz="1200" dirty="0"/>
          </a:p>
        </p:txBody>
      </p:sp>
      <p:sp>
        <p:nvSpPr>
          <p:cNvPr id="22" name="Text 19"/>
          <p:cNvSpPr txBox="1"/>
          <p:nvPr/>
        </p:nvSpPr>
        <p:spPr>
          <a:xfrm>
            <a:off x="5541264" y="384962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When the company network blocked the flaw-database lookup, SCAN reported an error instead of reporting "clean."</a:t>
            </a:r>
            <a:endParaRPr lang="en-US" sz="1100" dirty="0"/>
          </a:p>
        </p:txBody>
      </p:sp>
      <p:sp>
        <p:nvSpPr>
          <p:cNvPr id="23" name="Shape 20"/>
          <p:cNvSpPr/>
          <p:nvPr/>
        </p:nvSpPr>
        <p:spPr>
          <a:xfrm>
            <a:off x="5358384" y="4517136"/>
            <a:ext cx="45720" cy="182880"/>
          </a:xfrm>
          <a:prstGeom prst="rect">
            <a:avLst/>
          </a:prstGeom>
          <a:solidFill>
            <a:srgbClr val="942838"/>
          </a:solidFill>
          <a:ln/>
        </p:spPr>
      </p:sp>
      <p:sp>
        <p:nvSpPr>
          <p:cNvPr id="24" name="Text 21"/>
          <p:cNvSpPr txBox="1"/>
          <p:nvPr/>
        </p:nvSpPr>
        <p:spPr>
          <a:xfrm>
            <a:off x="5541264" y="446227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refused to guess</a:t>
            </a:r>
            <a:endParaRPr lang="en-US" sz="1200" dirty="0"/>
          </a:p>
        </p:txBody>
      </p:sp>
      <p:sp>
        <p:nvSpPr>
          <p:cNvPr id="25" name="Text 22"/>
          <p:cNvSpPr txBox="1"/>
          <p:nvPr/>
        </p:nvSpPr>
        <p:spPr>
          <a:xfrm>
            <a:off x="5541264" y="471830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Forced onto its weakest analysis method, REACH answered "can't prove" rather than calling anything safe.</a:t>
            </a:r>
            <a:endParaRPr lang="en-US" sz="1100" dirty="0"/>
          </a:p>
        </p:txBody>
      </p:sp>
      <p:sp>
        <p:nvSpPr>
          <p:cNvPr id="26" name="Shape 23"/>
          <p:cNvSpPr/>
          <p:nvPr/>
        </p:nvSpPr>
        <p:spPr>
          <a:xfrm>
            <a:off x="5358384" y="5385816"/>
            <a:ext cx="45720" cy="182880"/>
          </a:xfrm>
          <a:prstGeom prst="rect">
            <a:avLst/>
          </a:prstGeom>
          <a:solidFill>
            <a:srgbClr val="942838"/>
          </a:solidFill>
          <a:ln/>
        </p:spPr>
      </p:sp>
      <p:sp>
        <p:nvSpPr>
          <p:cNvPr id="27" name="Text 24"/>
          <p:cNvSpPr txBox="1"/>
          <p:nvPr/>
        </p:nvSpPr>
        <p:spPr>
          <a:xfrm>
            <a:off x="5541264" y="533095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The safety rails hold</a:t>
            </a:r>
            <a:endParaRPr lang="en-US" sz="1200" dirty="0"/>
          </a:p>
        </p:txBody>
      </p:sp>
      <p:sp>
        <p:nvSpPr>
          <p:cNvPr id="28" name="Text 25"/>
          <p:cNvSpPr txBox="1"/>
          <p:nvPr/>
        </p:nvSpPr>
        <p:spPr>
          <a:xfrm>
            <a:off x="5541264" y="558698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FIX refused to run without explicit approval, and refused to touch a protected branch even once approved.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is still open, and how I would close it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15</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pipeline is built and its safety rails are tested. Three things still need a real run before I would call it finished.</a:t>
            </a:r>
            <a:endParaRPr lang="en-US" sz="1400" dirty="0"/>
          </a:p>
        </p:txBody>
      </p:sp>
      <p:sp>
        <p:nvSpPr>
          <p:cNvPr id="10" name="Shape 7"/>
          <p:cNvSpPr/>
          <p:nvPr/>
        </p:nvSpPr>
        <p:spPr>
          <a:xfrm>
            <a:off x="777240"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5.048749812131878e+62" dist="1.2621874530329695e+62" dir="4.2316648611840007e+73">
              <a:srgbClr val="959092">
                <a:alpha val="2.2e+74"/>
              </a:srgbClr>
            </a:outerShdw>
          </a:effectLst>
        </p:spPr>
      </p:sp>
      <p:sp>
        <p:nvSpPr>
          <p:cNvPr id="11" name="Shape 8"/>
          <p:cNvSpPr/>
          <p:nvPr/>
        </p:nvSpPr>
        <p:spPr>
          <a:xfrm>
            <a:off x="777240" y="2523744"/>
            <a:ext cx="3356762" cy="45720"/>
          </a:xfrm>
          <a:prstGeom prst="rect">
            <a:avLst/>
          </a:prstGeom>
          <a:solidFill>
            <a:srgbClr val="942838"/>
          </a:solidFill>
          <a:ln/>
        </p:spPr>
      </p:sp>
      <p:sp>
        <p:nvSpPr>
          <p:cNvPr id="12" name="Text 9"/>
          <p:cNvSpPr txBox="1"/>
          <p:nvPr/>
        </p:nvSpPr>
        <p:spPr>
          <a:xfrm>
            <a:off x="1088136"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Unblock the live lookups</a:t>
            </a:r>
            <a:endParaRPr lang="en-US" sz="1450" dirty="0"/>
          </a:p>
        </p:txBody>
      </p:sp>
      <p:sp>
        <p:nvSpPr>
          <p:cNvPr id="14" name="Text 11"/>
          <p:cNvSpPr txBox="1"/>
          <p:nvPr/>
        </p:nvSpPr>
        <p:spPr>
          <a:xfrm>
            <a:off x="1088136"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company security proxy presents a malformed certificate that modern security libraries correctly reject, so the lookups fail. The real fix is an inspection bypass. Meanwhile I built the workaround: the scan splits in two, so the lookup can run from an unblocked network.</a:t>
            </a:r>
            <a:endParaRPr lang="en-US" sz="1100" dirty="0"/>
          </a:p>
        </p:txBody>
      </p:sp>
      <p:sp>
        <p:nvSpPr>
          <p:cNvPr id="15" name="Shape 12"/>
          <p:cNvSpPr/>
          <p:nvPr/>
        </p:nvSpPr>
        <p:spPr>
          <a:xfrm>
            <a:off x="4417466"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6.411912261407485e+66" dist="1.6029780653518713e+66" dir="2.5389989167104004e+78">
              <a:srgbClr val="959092">
                <a:alpha val="2.2000000000000002e+79"/>
              </a:srgbClr>
            </a:outerShdw>
          </a:effectLst>
        </p:spPr>
      </p:sp>
      <p:sp>
        <p:nvSpPr>
          <p:cNvPr id="16" name="Shape 13"/>
          <p:cNvSpPr/>
          <p:nvPr/>
        </p:nvSpPr>
        <p:spPr>
          <a:xfrm>
            <a:off x="4417466" y="2523744"/>
            <a:ext cx="3356762" cy="45720"/>
          </a:xfrm>
          <a:prstGeom prst="rect">
            <a:avLst/>
          </a:prstGeom>
          <a:solidFill>
            <a:srgbClr val="942838"/>
          </a:solidFill>
          <a:ln/>
        </p:spPr>
      </p:sp>
      <p:sp>
        <p:nvSpPr>
          <p:cNvPr id="17" name="Text 14"/>
          <p:cNvSpPr txBox="1"/>
          <p:nvPr/>
        </p:nvSpPr>
        <p:spPr>
          <a:xfrm>
            <a:off x="4728362"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Read code structure, not just text</a:t>
            </a:r>
            <a:endParaRPr lang="en-US" sz="1450" dirty="0"/>
          </a:p>
        </p:txBody>
      </p:sp>
      <p:sp>
        <p:nvSpPr>
          <p:cNvPr id="19" name="Text 16"/>
          <p:cNvSpPr txBox="1"/>
          <p:nvPr/>
        </p:nvSpPr>
        <p:spPr>
          <a:xfrm>
            <a:off x="4728362"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Reachability currently falls back to searching text. With the right tooling present it reads the code's actual structure, which is far more accurate. That still needs a real run.</a:t>
            </a:r>
            <a:endParaRPr lang="en-US" sz="1100" dirty="0"/>
          </a:p>
        </p:txBody>
      </p:sp>
      <p:sp>
        <p:nvSpPr>
          <p:cNvPr id="20" name="Shape 17"/>
          <p:cNvSpPr/>
          <p:nvPr/>
        </p:nvSpPr>
        <p:spPr>
          <a:xfrm>
            <a:off x="8057693"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8.143128571987506e+70" dist="2.0357821429968766e+70" dir="1.5233993500262402e+83">
              <a:srgbClr val="959092">
                <a:alpha val="2.2000000000000003e+84"/>
              </a:srgbClr>
            </a:outerShdw>
          </a:effectLst>
        </p:spPr>
      </p:sp>
      <p:sp>
        <p:nvSpPr>
          <p:cNvPr id="21" name="Shape 18"/>
          <p:cNvSpPr/>
          <p:nvPr/>
        </p:nvSpPr>
        <p:spPr>
          <a:xfrm>
            <a:off x="8057693" y="2523744"/>
            <a:ext cx="3356762" cy="45720"/>
          </a:xfrm>
          <a:prstGeom prst="rect">
            <a:avLst/>
          </a:prstGeom>
          <a:solidFill>
            <a:srgbClr val="942838"/>
          </a:solidFill>
          <a:ln/>
        </p:spPr>
      </p:sp>
      <p:sp>
        <p:nvSpPr>
          <p:cNvPr id="22" name="Text 19"/>
          <p:cNvSpPr txBox="1"/>
          <p:nvPr/>
        </p:nvSpPr>
        <p:spPr>
          <a:xfrm>
            <a:off x="8368589"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Get it into other people's hands</a:t>
            </a:r>
            <a:endParaRPr lang="en-US" sz="1450" dirty="0"/>
          </a:p>
        </p:txBody>
      </p:sp>
      <p:sp>
        <p:nvSpPr>
          <p:cNvPr id="24" name="Text 21"/>
          <p:cNvSpPr txBox="1"/>
          <p:nvPr/>
        </p:nvSpPr>
        <p:spPr>
          <a:xfrm>
            <a:off x="8368589"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Packaged as a plugin so a developer can install it with one command. The install flow itself has not been run start to finish yet.</a:t>
            </a:r>
            <a:endParaRPr lang="en-US" sz="1100" dirty="0"/>
          </a:p>
        </p:txBody>
      </p:sp>
      <p:sp>
        <p:nvSpPr>
          <p:cNvPr id="25" name="Text 22"/>
          <p:cNvSpPr txBox="1"/>
          <p:nvPr/>
        </p:nvSpPr>
        <p:spPr>
          <a:xfrm>
            <a:off x="777240" y="5833872"/>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Said plainly:</a:t>
            </a:r>
            <a:pPr indent="0" marL="0">
              <a:buNone/>
            </a:pPr>
            <a:r>
              <a:rPr lang="en-US" sz="1150" dirty="0">
                <a:solidFill>
                  <a:srgbClr val="6E7175"/>
                </a:solidFill>
                <a:latin typeface="Montserrat" pitchFamily="34" charset="0"/>
                <a:ea typeface="Montserrat" pitchFamily="34" charset="-122"/>
                <a:cs typeface="Montserrat" pitchFamily="34" charset="-120"/>
              </a:rPr>
              <a:t>  the parts that judge risk are built and tested. The parts that depend on the corporate network are not proven yet.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03</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03</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CVE-to-Patch Automation</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Turning a manual, one-at-a-time patch lookup into a job that finishes in seconds.</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03</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Every flaw needed its own patch, found by hand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17</a:t>
            </a:r>
            <a:endParaRPr lang="en-US" sz="850" dirty="0"/>
          </a:p>
        </p:txBody>
      </p:sp>
      <p:sp>
        <p:nvSpPr>
          <p:cNvPr id="9" name="Text 6"/>
          <p:cNvSpPr txBox="1"/>
          <p:nvPr/>
        </p:nvSpPr>
        <p:spPr>
          <a:xfrm>
            <a:off x="777240" y="2103120"/>
            <a:ext cx="384048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117</a:t>
            </a:r>
            <a:endParaRPr lang="en-US" sz="7200" dirty="0"/>
          </a:p>
        </p:txBody>
      </p:sp>
      <p:sp>
        <p:nvSpPr>
          <p:cNvPr id="10" name="Text 7"/>
          <p:cNvSpPr txBox="1"/>
          <p:nvPr/>
        </p:nvSpPr>
        <p:spPr>
          <a:xfrm>
            <a:off x="777240" y="3236976"/>
            <a:ext cx="384048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 and critical flaws tracked</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this cycle, every one of them</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directly affecting the business</a:t>
            </a:r>
            <a:endParaRPr lang="en-US" sz="950" dirty="0"/>
          </a:p>
        </p:txBody>
      </p:sp>
      <p:sp>
        <p:nvSpPr>
          <p:cNvPr id="11" name="Shape 8"/>
          <p:cNvSpPr/>
          <p:nvPr/>
        </p:nvSpPr>
        <p:spPr>
          <a:xfrm>
            <a:off x="777240" y="4041648"/>
            <a:ext cx="566928" cy="45720"/>
          </a:xfrm>
          <a:prstGeom prst="rect">
            <a:avLst/>
          </a:prstGeom>
          <a:solidFill>
            <a:srgbClr val="942838"/>
          </a:solidFill>
          <a:ln/>
        </p:spPr>
      </p:sp>
      <p:sp>
        <p:nvSpPr>
          <p:cNvPr id="12" name="Text 9"/>
          <p:cNvSpPr txBox="1"/>
          <p:nvPr/>
        </p:nvSpPr>
        <p:spPr>
          <a:xfrm>
            <a:off x="777240" y="4242816"/>
            <a:ext cx="3703320" cy="1005840"/>
          </a:xfrm>
          <a:prstGeom prst="rect">
            <a:avLst/>
          </a:prstGeom>
          <a:noFill/>
          <a:ln/>
        </p:spPr>
        <p:txBody>
          <a:bodyPr wrap="square" lIns="0" tIns="0" rIns="0" bIns="0" rtlCol="0" anchor="t"/>
          <a:lstStyle/>
          <a:p>
            <a:pPr indent="0" marL="0">
              <a:lnSpc>
                <a:spcPct val="125000"/>
              </a:lnSpc>
              <a:buNone/>
            </a:pPr>
            <a:r>
              <a:rPr lang="en-US" sz="1100" dirty="0">
                <a:solidFill>
                  <a:srgbClr val="6E7175"/>
                </a:solidFill>
                <a:latin typeface="Montserrat" pitchFamily="34" charset="0"/>
                <a:ea typeface="Montserrat" pitchFamily="34" charset="-122"/>
                <a:cs typeface="Montserrat" pitchFamily="34" charset="-120"/>
              </a:rPr>
              <a:t>This is not a sample. Kevlar — the team's vulnerability tracker — flagged these because they met both bars: high or critical severity, and a direct effect on business operations.</a:t>
            </a:r>
            <a:endParaRPr lang="en-US" sz="1100" dirty="0"/>
          </a:p>
        </p:txBody>
      </p:sp>
      <p:sp>
        <p:nvSpPr>
          <p:cNvPr id="13" name="Text 10"/>
          <p:cNvSpPr txBox="1"/>
          <p:nvPr/>
        </p:nvSpPr>
        <p:spPr>
          <a:xfrm>
            <a:off x="5029200" y="2084832"/>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A "KNOWN FLAW" IS</a:t>
            </a:r>
            <a:endParaRPr lang="en-US" sz="850" dirty="0"/>
          </a:p>
        </p:txBody>
      </p:sp>
      <p:sp>
        <p:nvSpPr>
          <p:cNvPr id="14" name="Text 11"/>
          <p:cNvSpPr txBox="1"/>
          <p:nvPr/>
        </p:nvSpPr>
        <p:spPr>
          <a:xfrm>
            <a:off x="5029200" y="2340864"/>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A publicly published weakness in software that attackers already know about. Each one has a matching fix released by the vendor.</a:t>
            </a:r>
            <a:endParaRPr lang="en-US" sz="1250" dirty="0"/>
          </a:p>
        </p:txBody>
      </p:sp>
      <p:sp>
        <p:nvSpPr>
          <p:cNvPr id="15" name="Shape 12"/>
          <p:cNvSpPr/>
          <p:nvPr/>
        </p:nvSpPr>
        <p:spPr>
          <a:xfrm>
            <a:off x="5029200" y="3182112"/>
            <a:ext cx="6385255" cy="10973"/>
          </a:xfrm>
          <a:prstGeom prst="rect">
            <a:avLst/>
          </a:prstGeom>
          <a:solidFill>
            <a:srgbClr val="E6E4E2"/>
          </a:solidFill>
          <a:ln/>
        </p:spPr>
      </p:sp>
      <p:sp>
        <p:nvSpPr>
          <p:cNvPr id="16" name="Text 13"/>
          <p:cNvSpPr txBox="1"/>
          <p:nvPr/>
        </p:nvSpPr>
        <p:spPr>
          <a:xfrm>
            <a:off x="5029200" y="3419856"/>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BOTTLENECK</a:t>
            </a:r>
            <a:endParaRPr lang="en-US" sz="850" dirty="0"/>
          </a:p>
        </p:txBody>
      </p:sp>
      <p:sp>
        <p:nvSpPr>
          <p:cNvPr id="17" name="Text 14"/>
          <p:cNvSpPr txBox="1"/>
          <p:nvPr/>
        </p:nvSpPr>
        <p:spPr>
          <a:xfrm>
            <a:off x="5029200" y="3675888"/>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Microsoft publishes the flaw and the fix in separate documents. Someone has to cross-reference them by hand, once per flaw, then check it against the real machine list. Do that 117 times and it is two days of work.</a:t>
            </a:r>
            <a:endParaRPr lang="en-US" sz="1250" dirty="0"/>
          </a:p>
        </p:txBody>
      </p:sp>
      <p:sp>
        <p:nvSpPr>
          <p:cNvPr id="18" name="Shape 15"/>
          <p:cNvSpPr/>
          <p:nvPr/>
        </p:nvSpPr>
        <p:spPr>
          <a:xfrm>
            <a:off x="5029200" y="4517136"/>
            <a:ext cx="6385255" cy="10973"/>
          </a:xfrm>
          <a:prstGeom prst="rect">
            <a:avLst/>
          </a:prstGeom>
          <a:solidFill>
            <a:srgbClr val="E6E4E2"/>
          </a:solidFill>
          <a:ln/>
        </p:spPr>
      </p:sp>
      <p:sp>
        <p:nvSpPr>
          <p:cNvPr id="19" name="Shape 16"/>
          <p:cNvSpPr/>
          <p:nvPr/>
        </p:nvSpPr>
        <p:spPr>
          <a:xfrm>
            <a:off x="5029200" y="4700016"/>
            <a:ext cx="6385255" cy="1335024"/>
          </a:xfrm>
          <a:prstGeom prst="roundRect">
            <a:avLst>
              <a:gd name="adj" fmla="val 4110"/>
            </a:avLst>
          </a:prstGeom>
          <a:solidFill>
            <a:srgbClr val="2B2D30"/>
          </a:solidFill>
          <a:ln/>
          <a:effectLst>
            <a:outerShdw sx="100000" sy="100000" kx="0" ky="0" algn="bl" rotWithShape="0" blurRad="1.5844814564598688e+50" dist="3.5210699032441527e+49" dir="1.9591041024000004e+59">
              <a:srgbClr val="959092">
                <a:alpha val="1.6e+59"/>
              </a:srgbClr>
            </a:outerShdw>
          </a:effectLst>
        </p:spPr>
      </p:sp>
      <p:sp>
        <p:nvSpPr>
          <p:cNvPr id="20" name="Text 17"/>
          <p:cNvSpPr txBox="1"/>
          <p:nvPr/>
        </p:nvSpPr>
        <p:spPr>
          <a:xfrm>
            <a:off x="5303520" y="4846320"/>
            <a:ext cx="36576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BEFORE  ·  DOING IT BY HAND</a:t>
            </a:r>
            <a:endParaRPr lang="en-US" sz="850" dirty="0"/>
          </a:p>
        </p:txBody>
      </p:sp>
      <p:sp>
        <p:nvSpPr>
          <p:cNvPr id="21" name="Text 18"/>
          <p:cNvSpPr txBox="1"/>
          <p:nvPr/>
        </p:nvSpPr>
        <p:spPr>
          <a:xfrm>
            <a:off x="5303520" y="5120640"/>
            <a:ext cx="5836615" cy="402336"/>
          </a:xfrm>
          <a:prstGeom prst="rect">
            <a:avLst/>
          </a:prstGeom>
          <a:noFill/>
          <a:ln/>
        </p:spPr>
        <p:txBody>
          <a:bodyPr wrap="square" lIns="0" tIns="0" rIns="0" bIns="0" rtlCol="0" anchor="t"/>
          <a:lstStyle/>
          <a:p>
            <a:pPr indent="0" marL="0">
              <a:buNone/>
            </a:pPr>
            <a:r>
              <a:rPr lang="en-US" sz="2600" spc="-80" kern="0" dirty="0">
                <a:solidFill>
                  <a:srgbClr val="FFFFFF"/>
                </a:solidFill>
                <a:latin typeface="Montserrat ExtraBold" pitchFamily="34" charset="0"/>
                <a:ea typeface="Montserrat ExtraBold" pitchFamily="34" charset="-122"/>
                <a:cs typeface="Montserrat ExtraBold" pitchFamily="34" charset="-120"/>
              </a:rPr>
              <a:t>~17.5 hours</a:t>
            </a:r>
            <a:pPr indent="0" marL="0">
              <a:buNone/>
            </a:pPr>
            <a:r>
              <a:rPr lang="en-US" sz="1250" dirty="0">
                <a:solidFill>
                  <a:srgbClr val="DED9DA"/>
                </a:solidFill>
                <a:latin typeface="Montserrat Medium" pitchFamily="34" charset="0"/>
                <a:ea typeface="Montserrat Medium" pitchFamily="34" charset="-122"/>
                <a:cs typeface="Montserrat Medium" pitchFamily="34" charset="-120"/>
              </a:rPr>
              <a:t>   about 2 to 2.5 business days</a:t>
            </a:r>
            <a:endParaRPr lang="en-US" sz="2600" dirty="0"/>
          </a:p>
        </p:txBody>
      </p:sp>
      <p:sp>
        <p:nvSpPr>
          <p:cNvPr id="22" name="Text 19"/>
          <p:cNvSpPr txBox="1"/>
          <p:nvPr/>
        </p:nvSpPr>
        <p:spPr>
          <a:xfrm>
            <a:off x="5303520" y="5559552"/>
            <a:ext cx="5836615" cy="402336"/>
          </a:xfrm>
          <a:prstGeom prst="rect">
            <a:avLst/>
          </a:prstGeom>
          <a:noFill/>
          <a:ln/>
        </p:spPr>
        <p:txBody>
          <a:bodyPr wrap="square" lIns="0" tIns="0" rIns="0" bIns="0" rtlCol="0" anchor="t"/>
          <a:lstStyle/>
          <a:p>
            <a:pPr indent="0" marL="0">
              <a:lnSpc>
                <a:spcPct val="120000"/>
              </a:lnSpc>
              <a:buNone/>
            </a:pPr>
            <a:r>
              <a:rPr lang="en-US" sz="1000" dirty="0">
                <a:solidFill>
                  <a:srgbClr val="C4BBBD"/>
                </a:solidFill>
                <a:latin typeface="Montserrat Medium" pitchFamily="34" charset="0"/>
                <a:ea typeface="Montserrat Medium" pitchFamily="34" charset="-122"/>
                <a:cs typeface="Montserrat Medium" pitchFamily="34" charset="-120"/>
              </a:rPr>
              <a:t>Estimated at 8–10 min per flaw from the steps above — a reasoned estimate based on the work involved, not a stopwatch measurement.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RESULT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about two days of work to twelve seconds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18</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built a Python script that matches each flaw to its Microsoft patch automatically, using Microsoft's own public security feeds — no API key, no manual searching.</a:t>
            </a:r>
            <a:endParaRPr lang="en-US" sz="1400" dirty="0"/>
          </a:p>
        </p:txBody>
      </p:sp>
      <p:pic>
        <p:nvPicPr>
          <p:cNvPr id="10" name="Image 1" descr="/home/user/ai/assets/gen/chart-match.png">    </p:cNvPr>
          <p:cNvPicPr>
            <a:picLocks noChangeAspect="1"/>
          </p:cNvPicPr>
          <p:nvPr/>
        </p:nvPicPr>
        <p:blipFill>
          <a:blip r:embed="rId2"/>
          <a:stretch>
            <a:fillRect/>
          </a:stretch>
        </p:blipFill>
        <p:spPr>
          <a:xfrm>
            <a:off x="731520" y="2487168"/>
            <a:ext cx="5852160" cy="3251200"/>
          </a:xfrm>
          <a:prstGeom prst="rect">
            <a:avLst/>
          </a:prstGeom>
        </p:spPr>
      </p:pic>
      <p:sp>
        <p:nvSpPr>
          <p:cNvPr id="11" name="Text 7"/>
          <p:cNvSpPr txBox="1"/>
          <p:nvPr/>
        </p:nvSpPr>
        <p:spPr>
          <a:xfrm>
            <a:off x="777240" y="5811520"/>
            <a:ext cx="5669280"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Share of the 117 flaws matched to their correct patch automatically</a:t>
            </a:r>
            <a:endParaRPr lang="en-US" sz="950" dirty="0"/>
          </a:p>
        </p:txBody>
      </p:sp>
      <p:sp>
        <p:nvSpPr>
          <p:cNvPr id="12" name="Shape 8"/>
          <p:cNvSpPr/>
          <p:nvPr/>
        </p:nvSpPr>
        <p:spPr>
          <a:xfrm>
            <a:off x="7315200" y="2432304"/>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0341773286424134e+75" dist="2.5854433216060334e+74" dir="9.14039610015744e+87">
              <a:srgbClr val="959092">
                <a:alpha val="2.2000000000000003e+89"/>
              </a:srgbClr>
            </a:outerShdw>
          </a:effectLst>
        </p:spPr>
      </p:sp>
      <p:sp>
        <p:nvSpPr>
          <p:cNvPr id="13" name="Text 9"/>
          <p:cNvSpPr txBox="1"/>
          <p:nvPr/>
        </p:nvSpPr>
        <p:spPr>
          <a:xfrm>
            <a:off x="7589520" y="2606040"/>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117/117</a:t>
            </a:r>
            <a:endParaRPr lang="en-US" sz="2700" dirty="0"/>
          </a:p>
        </p:txBody>
      </p:sp>
      <p:sp>
        <p:nvSpPr>
          <p:cNvPr id="14" name="Text 10"/>
          <p:cNvSpPr txBox="1"/>
          <p:nvPr/>
        </p:nvSpPr>
        <p:spPr>
          <a:xfrm>
            <a:off x="7589520" y="3081528"/>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flaws matched to the correct patch</a:t>
            </a:r>
            <a:endParaRPr lang="en-US" sz="1100" dirty="0"/>
          </a:p>
        </p:txBody>
      </p:sp>
      <p:sp>
        <p:nvSpPr>
          <p:cNvPr id="15" name="Shape 11"/>
          <p:cNvSpPr/>
          <p:nvPr/>
        </p:nvSpPr>
        <p:spPr>
          <a:xfrm>
            <a:off x="7315200" y="3675888"/>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313405207375865e+79" dist="3.2835130184396625e+78" dir="5.484237660094465e+92">
              <a:srgbClr val="959092">
                <a:alpha val="2.2e+94"/>
              </a:srgbClr>
            </a:outerShdw>
          </a:effectLst>
        </p:spPr>
      </p:sp>
      <p:sp>
        <p:nvSpPr>
          <p:cNvPr id="16" name="Text 12"/>
          <p:cNvSpPr txBox="1"/>
          <p:nvPr/>
        </p:nvSpPr>
        <p:spPr>
          <a:xfrm>
            <a:off x="7589520" y="3849624"/>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~12 sec</a:t>
            </a:r>
            <a:endParaRPr lang="en-US" sz="2700" dirty="0"/>
          </a:p>
        </p:txBody>
      </p:sp>
      <p:sp>
        <p:nvSpPr>
          <p:cNvPr id="17" name="Text 13"/>
          <p:cNvSpPr txBox="1"/>
          <p:nvPr/>
        </p:nvSpPr>
        <p:spPr>
          <a:xfrm>
            <a:off x="7589520" y="4325112"/>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total runtime, start to finish</a:t>
            </a:r>
            <a:endParaRPr lang="en-US" sz="1100" dirty="0"/>
          </a:p>
        </p:txBody>
      </p:sp>
      <p:sp>
        <p:nvSpPr>
          <p:cNvPr id="18" name="Shape 14"/>
          <p:cNvSpPr/>
          <p:nvPr/>
        </p:nvSpPr>
        <p:spPr>
          <a:xfrm>
            <a:off x="7315200" y="4919472"/>
            <a:ext cx="4099255" cy="1097280"/>
          </a:xfrm>
          <a:prstGeom prst="roundRect">
            <a:avLst>
              <a:gd name="adj" fmla="val 5000"/>
            </a:avLst>
          </a:prstGeom>
          <a:solidFill>
            <a:srgbClr val="F6EEF0"/>
          </a:solidFill>
          <a:ln w="9525">
            <a:solidFill>
              <a:srgbClr val="942838"/>
            </a:solidFill>
            <a:prstDash val="solid"/>
          </a:ln>
          <a:effectLst>
            <a:outerShdw sx="100000" sy="100000" kx="0" ky="0" algn="bl" rotWithShape="0" blurRad="1.6680246133673485e+83" dist="4.170061533418371e+82" dir="3.2905425960566786e+97">
              <a:srgbClr val="959092">
                <a:alpha val="2.2000000000000003e+99"/>
              </a:srgbClr>
            </a:outerShdw>
          </a:effectLst>
        </p:spPr>
      </p:sp>
      <p:sp>
        <p:nvSpPr>
          <p:cNvPr id="19" name="Text 15"/>
          <p:cNvSpPr txBox="1"/>
          <p:nvPr/>
        </p:nvSpPr>
        <p:spPr>
          <a:xfrm>
            <a:off x="7589520" y="5093208"/>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29/29</a:t>
            </a:r>
            <a:endParaRPr lang="en-US" sz="2700" dirty="0"/>
          </a:p>
        </p:txBody>
      </p:sp>
      <p:sp>
        <p:nvSpPr>
          <p:cNvPr id="20" name="Text 16"/>
          <p:cNvSpPr txBox="1"/>
          <p:nvPr/>
        </p:nvSpPr>
        <p:spPr>
          <a:xfrm>
            <a:off x="7589520" y="5568696"/>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spot-checked against Tenable, Rapid7 and public advisories — all confirmed correct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FINDING</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52 of the 117 needed no action at all</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19</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Cross-referencing the matched patches against the real fleet turned up something better than a faster process: a large share of the work did not need doing in the first place.</a:t>
            </a:r>
            <a:endParaRPr lang="en-US" sz="1400" dirty="0"/>
          </a:p>
        </p:txBody>
      </p:sp>
      <p:sp>
        <p:nvSpPr>
          <p:cNvPr id="10" name="Shape 7"/>
          <p:cNvSpPr/>
          <p:nvPr/>
        </p:nvSpPr>
        <p:spPr>
          <a:xfrm>
            <a:off x="777240" y="2432304"/>
            <a:ext cx="5175504" cy="1316736"/>
          </a:xfrm>
          <a:prstGeom prst="roundRect">
            <a:avLst>
              <a:gd name="adj" fmla="val 4167"/>
            </a:avLst>
          </a:prstGeom>
          <a:solidFill>
            <a:srgbClr val="F6EEF0"/>
          </a:solidFill>
          <a:ln w="9525">
            <a:solidFill>
              <a:srgbClr val="942838"/>
            </a:solidFill>
            <a:prstDash val="solid"/>
          </a:ln>
          <a:effectLst>
            <a:outerShdw sx="100000" sy="100000" kx="0" ky="0" algn="bl" rotWithShape="0" blurRad="2.1183912589765324e+87" dist="5.295978147441331e+86" dir="1.9743255576340073e+102">
              <a:srgbClr val="959092">
                <a:alpha val="2.2000000000000003e+104"/>
              </a:srgbClr>
            </a:outerShdw>
          </a:effectLst>
        </p:spPr>
      </p:sp>
      <p:sp>
        <p:nvSpPr>
          <p:cNvPr id="11" name="Text 8"/>
          <p:cNvSpPr txBox="1"/>
          <p:nvPr/>
        </p:nvSpPr>
        <p:spPr>
          <a:xfrm>
            <a:off x="1088136" y="2670048"/>
            <a:ext cx="1737360" cy="694944"/>
          </a:xfrm>
          <a:prstGeom prst="rect">
            <a:avLst/>
          </a:prstGeom>
          <a:noFill/>
          <a:ln/>
        </p:spPr>
        <p:txBody>
          <a:bodyPr wrap="square" lIns="0" tIns="0" rIns="0" bIns="0" rtlCol="0" anchor="t"/>
          <a:lstStyle/>
          <a:p>
            <a:pPr indent="0" marL="0">
              <a:buNone/>
            </a:pPr>
            <a:r>
              <a:rPr lang="en-US" sz="4600" spc="-180" kern="0" dirty="0">
                <a:solidFill>
                  <a:srgbClr val="942838"/>
                </a:solidFill>
                <a:latin typeface="Montserrat ExtraBold" pitchFamily="34" charset="0"/>
                <a:ea typeface="Montserrat ExtraBold" pitchFamily="34" charset="-122"/>
                <a:cs typeface="Montserrat ExtraBold" pitchFamily="34" charset="-120"/>
              </a:rPr>
              <a:t>65</a:t>
            </a:r>
            <a:endParaRPr lang="en-US" sz="4600" dirty="0"/>
          </a:p>
        </p:txBody>
      </p:sp>
      <p:sp>
        <p:nvSpPr>
          <p:cNvPr id="12" name="Text 9"/>
          <p:cNvSpPr txBox="1"/>
          <p:nvPr/>
        </p:nvSpPr>
        <p:spPr>
          <a:xfrm>
            <a:off x="2880360" y="2889504"/>
            <a:ext cx="2761488" cy="457200"/>
          </a:xfrm>
          <a:prstGeom prst="rect">
            <a:avLst/>
          </a:prstGeom>
          <a:noFill/>
          <a:ln/>
        </p:spPr>
        <p:txBody>
          <a:bodyPr wrap="square" lIns="0" tIns="0" rIns="0" bIns="0" rtlCol="0" anchor="t"/>
          <a:lstStyle/>
          <a:p>
            <a:pPr indent="0" marL="0">
              <a:lnSpc>
                <a:spcPct val="115000"/>
              </a:lnSpc>
              <a:buNone/>
            </a:pPr>
            <a:r>
              <a:rPr lang="en-US" sz="1300" dirty="0">
                <a:solidFill>
                  <a:srgbClr val="2B2D30"/>
                </a:solidFill>
                <a:latin typeface="Montserrat SemiBold" pitchFamily="34" charset="0"/>
                <a:ea typeface="Montserrat SemiBold" pitchFamily="34" charset="-122"/>
                <a:cs typeface="Montserrat SemiBold" pitchFamily="34" charset="-120"/>
              </a:rPr>
              <a:t>flaws genuinely outstanding</a:t>
            </a:r>
            <a:endParaRPr lang="en-US" sz="1300" dirty="0"/>
          </a:p>
        </p:txBody>
      </p:sp>
      <p:sp>
        <p:nvSpPr>
          <p:cNvPr id="13" name="Shape 10"/>
          <p:cNvSpPr/>
          <p:nvPr/>
        </p:nvSpPr>
        <p:spPr>
          <a:xfrm>
            <a:off x="6236208" y="2432304"/>
            <a:ext cx="5175504" cy="1316736"/>
          </a:xfrm>
          <a:prstGeom prst="roundRect">
            <a:avLst>
              <a:gd name="adj" fmla="val 4167"/>
            </a:avLst>
          </a:prstGeom>
          <a:solidFill>
            <a:srgbClr val="F5F4F3"/>
          </a:solidFill>
          <a:ln w="9525">
            <a:solidFill>
              <a:srgbClr val="E6E4E2"/>
            </a:solidFill>
            <a:prstDash val="solid"/>
          </a:ln>
          <a:effectLst>
            <a:outerShdw sx="100000" sy="100000" kx="0" ky="0" algn="bl" rotWithShape="0" blurRad="2.6903568989001962e+91" dist="6.7258922472504905e+90" dir="1.1845953345804043e+107">
              <a:srgbClr val="959092">
                <a:alpha val="2.2000000000000003e+109"/>
              </a:srgbClr>
            </a:outerShdw>
          </a:effectLst>
        </p:spPr>
      </p:sp>
      <p:sp>
        <p:nvSpPr>
          <p:cNvPr id="14" name="Text 11"/>
          <p:cNvSpPr txBox="1"/>
          <p:nvPr/>
        </p:nvSpPr>
        <p:spPr>
          <a:xfrm>
            <a:off x="6547104" y="2670048"/>
            <a:ext cx="1737360" cy="694944"/>
          </a:xfrm>
          <a:prstGeom prst="rect">
            <a:avLst/>
          </a:prstGeom>
          <a:noFill/>
          <a:ln/>
        </p:spPr>
        <p:txBody>
          <a:bodyPr wrap="square" lIns="0" tIns="0" rIns="0" bIns="0" rtlCol="0" anchor="t"/>
          <a:lstStyle/>
          <a:p>
            <a:pPr indent="0" marL="0">
              <a:buNone/>
            </a:pPr>
            <a:r>
              <a:rPr lang="en-US" sz="4600" spc="-180" kern="0" dirty="0">
                <a:solidFill>
                  <a:srgbClr val="2B2D30"/>
                </a:solidFill>
                <a:latin typeface="Montserrat ExtraBold" pitchFamily="34" charset="0"/>
                <a:ea typeface="Montserrat ExtraBold" pitchFamily="34" charset="-122"/>
                <a:cs typeface="Montserrat ExtraBold" pitchFamily="34" charset="-120"/>
              </a:rPr>
              <a:t>52</a:t>
            </a:r>
            <a:endParaRPr lang="en-US" sz="4600" dirty="0"/>
          </a:p>
        </p:txBody>
      </p:sp>
      <p:sp>
        <p:nvSpPr>
          <p:cNvPr id="15" name="Text 12"/>
          <p:cNvSpPr txBox="1"/>
          <p:nvPr/>
        </p:nvSpPr>
        <p:spPr>
          <a:xfrm>
            <a:off x="8339328" y="2889504"/>
            <a:ext cx="2761488" cy="457200"/>
          </a:xfrm>
          <a:prstGeom prst="rect">
            <a:avLst/>
          </a:prstGeom>
          <a:noFill/>
          <a:ln/>
        </p:spPr>
        <p:txBody>
          <a:bodyPr wrap="square" lIns="0" tIns="0" rIns="0" bIns="0" rtlCol="0" anchor="t"/>
          <a:lstStyle/>
          <a:p>
            <a:pPr indent="0" marL="0">
              <a:lnSpc>
                <a:spcPct val="115000"/>
              </a:lnSpc>
              <a:buNone/>
            </a:pPr>
            <a:r>
              <a:rPr lang="en-US" sz="1300" dirty="0">
                <a:solidFill>
                  <a:srgbClr val="6E7175"/>
                </a:solidFill>
                <a:latin typeface="Montserrat SemiBold" pitchFamily="34" charset="0"/>
                <a:ea typeface="Montserrat SemiBold" pitchFamily="34" charset="-122"/>
                <a:cs typeface="Montserrat SemiBold" pitchFamily="34" charset="-120"/>
              </a:rPr>
              <a:t>flaws needing no action at all</a:t>
            </a:r>
            <a:endParaRPr lang="en-US" sz="1300" dirty="0"/>
          </a:p>
        </p:txBody>
      </p:sp>
      <p:sp>
        <p:nvSpPr>
          <p:cNvPr id="16" name="Text 13"/>
          <p:cNvSpPr txBox="1"/>
          <p:nvPr/>
        </p:nvSpPr>
        <p:spPr>
          <a:xfrm>
            <a:off x="777240" y="3986784"/>
            <a:ext cx="64008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TRACKED FLAW</a:t>
            </a:r>
            <a:endParaRPr lang="en-US" sz="850" dirty="0"/>
          </a:p>
        </p:txBody>
      </p:sp>
      <p:pic>
        <p:nvPicPr>
          <p:cNvPr id="17" name="Image 1" descr="/home/user/ai/assets/gen/chart-no-action.png">    </p:cNvPr>
          <p:cNvPicPr>
            <a:picLocks noChangeAspect="1"/>
          </p:cNvPicPr>
          <p:nvPr/>
        </p:nvPicPr>
        <p:blipFill>
          <a:blip r:embed="rId2"/>
          <a:stretch>
            <a:fillRect/>
          </a:stretch>
        </p:blipFill>
        <p:spPr>
          <a:xfrm>
            <a:off x="777240" y="4242816"/>
            <a:ext cx="10637215" cy="767634"/>
          </a:xfrm>
          <a:prstGeom prst="rect">
            <a:avLst/>
          </a:prstGeom>
        </p:spPr>
      </p:pic>
      <p:sp>
        <p:nvSpPr>
          <p:cNvPr id="18" name="Text 14"/>
          <p:cNvSpPr txBox="1"/>
          <p:nvPr/>
        </p:nvSpPr>
        <p:spPr>
          <a:xfrm>
            <a:off x="777240" y="5101890"/>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65 still needed patching</a:t>
            </a:r>
            <a:endParaRPr lang="en-US" sz="1150" dirty="0"/>
          </a:p>
        </p:txBody>
      </p:sp>
      <p:sp>
        <p:nvSpPr>
          <p:cNvPr id="19" name="Text 15"/>
          <p:cNvSpPr txBox="1"/>
          <p:nvPr/>
        </p:nvSpPr>
        <p:spPr>
          <a:xfrm>
            <a:off x="5928055" y="5101890"/>
            <a:ext cx="54864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52 already covered by routine monthly patching</a:t>
            </a:r>
            <a:endParaRPr lang="en-US" sz="1150" dirty="0"/>
          </a:p>
        </p:txBody>
      </p:sp>
      <p:sp>
        <p:nvSpPr>
          <p:cNvPr id="20" name="Text 16"/>
          <p:cNvSpPr txBox="1"/>
          <p:nvPr/>
        </p:nvSpPr>
        <p:spPr>
          <a:xfrm>
            <a:off x="777240" y="5687568"/>
            <a:ext cx="10637215" cy="310896"/>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Why: </a:t>
            </a:r>
            <a:pPr indent="0" marL="0">
              <a:buNone/>
            </a:pPr>
            <a:r>
              <a:rPr lang="en-US" sz="1150" dirty="0">
                <a:solidFill>
                  <a:srgbClr val="6E7175"/>
                </a:solidFill>
                <a:latin typeface="Montserrat" pitchFamily="34" charset="0"/>
                <a:ea typeface="Montserrat" pitchFamily="34" charset="-122"/>
                <a:cs typeface="Montserrat" pitchFamily="34" charset="-120"/>
              </a:rPr>
              <a:t>routine monthly patching had already carried every machine past the fix for those 52 — so the patching process is working better than we assumed. We were tracking work that was already done.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GOING DEEPER</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Matching the flaws was only half the job</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20</a:t>
            </a:r>
            <a:endParaRPr lang="en-US" sz="850" dirty="0"/>
          </a:p>
        </p:txBody>
      </p:sp>
      <p:sp>
        <p:nvSpPr>
          <p:cNvPr id="9" name="Shape 6"/>
          <p:cNvSpPr/>
          <p:nvPr/>
        </p:nvSpPr>
        <p:spPr>
          <a:xfrm>
            <a:off x="777240" y="2029968"/>
            <a:ext cx="5175504"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416753261603249e+95" dist="8.541883154008123e+94" dir="7.107572007482426e+111">
              <a:srgbClr val="959092">
                <a:alpha val="2.2000000000000003e+114"/>
              </a:srgbClr>
            </a:outerShdw>
          </a:effectLst>
        </p:spPr>
      </p:sp>
      <p:sp>
        <p:nvSpPr>
          <p:cNvPr id="10" name="Text 7"/>
          <p:cNvSpPr txBox="1"/>
          <p:nvPr/>
        </p:nvSpPr>
        <p:spPr>
          <a:xfrm>
            <a:off x="1088136" y="2304288"/>
            <a:ext cx="4553712"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WHERE 209 COMES FROM</a:t>
            </a:r>
            <a:endParaRPr lang="en-US" sz="850" dirty="0"/>
          </a:p>
        </p:txBody>
      </p:sp>
      <p:sp>
        <p:nvSpPr>
          <p:cNvPr id="11" name="Text 8"/>
          <p:cNvSpPr txBox="1"/>
          <p:nvPr/>
        </p:nvSpPr>
        <p:spPr>
          <a:xfrm>
            <a:off x="1088136" y="2578608"/>
            <a:ext cx="4553712" cy="384048"/>
          </a:xfrm>
          <a:prstGeom prst="rect">
            <a:avLst/>
          </a:prstGeom>
          <a:noFill/>
          <a:ln/>
        </p:spPr>
        <p:txBody>
          <a:bodyPr wrap="square" lIns="0" tIns="0" rIns="0" bIns="0" rtlCol="0" anchor="t"/>
          <a:lstStyle/>
          <a:p>
            <a:pPr indent="0" marL="0">
              <a:buNone/>
            </a:pPr>
            <a:r>
              <a:rPr lang="en-US" sz="2400" spc="-70" kern="0" dirty="0">
                <a:solidFill>
                  <a:srgbClr val="2B2D30"/>
                </a:solidFill>
                <a:latin typeface="Montserrat ExtraBold" pitchFamily="34" charset="0"/>
                <a:ea typeface="Montserrat ExtraBold" pitchFamily="34" charset="-122"/>
                <a:cs typeface="Montserrat ExtraBold" pitchFamily="34" charset="-120"/>
              </a:rPr>
              <a:t>Kevlar's own report</a:t>
            </a:r>
            <a:endParaRPr lang="en-US" sz="2400" dirty="0"/>
          </a:p>
        </p:txBody>
      </p:sp>
      <p:sp>
        <p:nvSpPr>
          <p:cNvPr id="12" name="Text 9"/>
          <p:cNvSpPr txBox="1"/>
          <p:nvPr/>
        </p:nvSpPr>
        <p:spPr>
          <a:xfrm>
            <a:off x="1088136" y="3108960"/>
            <a:ext cx="4553712" cy="91440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Kevlar publishes its own prioritisation report, and its KB Priority tab already held 209 rows — one for each unique pairing of flaw-set and operating-system product. I found that number in the data; I did not calculate it.</a:t>
            </a:r>
            <a:endParaRPr lang="en-US" sz="1100" dirty="0"/>
          </a:p>
        </p:txBody>
      </p:sp>
      <p:sp>
        <p:nvSpPr>
          <p:cNvPr id="13" name="Shape 10"/>
          <p:cNvSpPr/>
          <p:nvPr/>
        </p:nvSpPr>
        <p:spPr>
          <a:xfrm>
            <a:off x="6236208" y="2029968"/>
            <a:ext cx="5175504"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3392766422361264e+99" dist="1.0848191605590316e+99" dir="4.2645432044894554e+116">
              <a:srgbClr val="959092">
                <a:alpha val="2.2000000000000005e+119"/>
              </a:srgbClr>
            </a:outerShdw>
          </a:effectLst>
        </p:spPr>
      </p:sp>
      <p:sp>
        <p:nvSpPr>
          <p:cNvPr id="14" name="Text 11"/>
          <p:cNvSpPr txBox="1"/>
          <p:nvPr/>
        </p:nvSpPr>
        <p:spPr>
          <a:xfrm>
            <a:off x="6547104" y="2304288"/>
            <a:ext cx="4553712"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ACTUALLY DID</a:t>
            </a:r>
            <a:endParaRPr lang="en-US" sz="850" dirty="0"/>
          </a:p>
        </p:txBody>
      </p:sp>
      <p:sp>
        <p:nvSpPr>
          <p:cNvPr id="15" name="Text 12"/>
          <p:cNvSpPr txBox="1"/>
          <p:nvPr/>
        </p:nvSpPr>
        <p:spPr>
          <a:xfrm>
            <a:off x="6547104" y="2578608"/>
            <a:ext cx="4553712" cy="384048"/>
          </a:xfrm>
          <a:prstGeom prst="rect">
            <a:avLst/>
          </a:prstGeom>
          <a:noFill/>
          <a:ln/>
        </p:spPr>
        <p:txBody>
          <a:bodyPr wrap="square" lIns="0" tIns="0" rIns="0" bIns="0" rtlCol="0" anchor="t"/>
          <a:lstStyle/>
          <a:p>
            <a:pPr indent="0" marL="0">
              <a:buNone/>
            </a:pPr>
            <a:r>
              <a:rPr lang="en-US" sz="2400" spc="-70" kern="0" dirty="0">
                <a:solidFill>
                  <a:srgbClr val="2B2D30"/>
                </a:solidFill>
                <a:latin typeface="Montserrat ExtraBold" pitchFamily="34" charset="0"/>
                <a:ea typeface="Montserrat ExtraBold" pitchFamily="34" charset="-122"/>
                <a:cs typeface="Montserrat ExtraBold" pitchFamily="34" charset="-120"/>
              </a:rPr>
              <a:t>Highest build wins</a:t>
            </a:r>
            <a:endParaRPr lang="en-US" sz="2400" dirty="0"/>
          </a:p>
        </p:txBody>
      </p:sp>
      <p:sp>
        <p:nvSpPr>
          <p:cNvPr id="16" name="Text 13"/>
          <p:cNvSpPr txBox="1"/>
          <p:nvPr/>
        </p:nvSpPr>
        <p:spPr>
          <a:xfrm>
            <a:off x="6547104" y="3108960"/>
            <a:ext cx="4553712" cy="91440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Windows updates supersede every earlier fix on that branch, so for each machine-and-product pair only the highest fixed-build patch is needed. Applying that rule — and proving it lost nothing — collapsed the 209 rows to 46.</a:t>
            </a:r>
            <a:endParaRPr lang="en-US" sz="1100" dirty="0"/>
          </a:p>
        </p:txBody>
      </p:sp>
      <p:sp>
        <p:nvSpPr>
          <p:cNvPr id="17" name="Text 14"/>
          <p:cNvSpPr txBox="1"/>
          <p:nvPr/>
        </p:nvSpPr>
        <p:spPr>
          <a:xfrm>
            <a:off x="777240" y="4681728"/>
            <a:ext cx="5486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HOW THE NUMBERS RELATE</a:t>
            </a:r>
            <a:endParaRPr lang="en-US" sz="850" dirty="0"/>
          </a:p>
        </p:txBody>
      </p:sp>
      <p:sp>
        <p:nvSpPr>
          <p:cNvPr id="18" name="Shape 15"/>
          <p:cNvSpPr/>
          <p:nvPr/>
        </p:nvSpPr>
        <p:spPr>
          <a:xfrm>
            <a:off x="777240" y="4974336"/>
            <a:ext cx="248716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01600" dist="50800" dir="5400000">
              <a:srgbClr val="FFFFFF">
                <a:alpha val="75000"/>
              </a:srgbClr>
            </a:outerShdw>
          </a:effectLst>
        </p:spPr>
      </p:sp>
      <p:sp>
        <p:nvSpPr>
          <p:cNvPr id="19" name="Text 16"/>
          <p:cNvSpPr txBox="1"/>
          <p:nvPr/>
        </p:nvSpPr>
        <p:spPr>
          <a:xfrm>
            <a:off x="960120" y="5120640"/>
            <a:ext cx="2121408" cy="420624"/>
          </a:xfrm>
          <a:prstGeom prst="rect">
            <a:avLst/>
          </a:prstGeom>
          <a:noFill/>
          <a:ln/>
        </p:spPr>
        <p:txBody>
          <a:bodyPr wrap="square" lIns="0" tIns="0" rIns="0" bIns="0" rtlCol="0" anchor="ctr"/>
          <a:lstStyle/>
          <a:p>
            <a:pPr algn="ctr" indent="0" marL="0">
              <a:buNone/>
            </a:pPr>
            <a:r>
              <a:rPr lang="en-US" sz="2600" spc="-90" kern="0" dirty="0">
                <a:solidFill>
                  <a:srgbClr val="2B2D30"/>
                </a:solidFill>
                <a:latin typeface="Montserrat ExtraBold" pitchFamily="34" charset="0"/>
                <a:ea typeface="Montserrat ExtraBold" pitchFamily="34" charset="-122"/>
                <a:cs typeface="Montserrat ExtraBold" pitchFamily="34" charset="-120"/>
              </a:rPr>
              <a:t>2,658</a:t>
            </a:r>
            <a:endParaRPr lang="en-US" sz="2600" dirty="0"/>
          </a:p>
        </p:txBody>
      </p:sp>
      <p:sp>
        <p:nvSpPr>
          <p:cNvPr id="20" name="Text 17"/>
          <p:cNvSpPr txBox="1"/>
          <p:nvPr/>
        </p:nvSpPr>
        <p:spPr>
          <a:xfrm>
            <a:off x="923544"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host and product</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assignments in the fleet</a:t>
            </a:r>
            <a:endParaRPr lang="en-US" sz="950" dirty="0"/>
          </a:p>
        </p:txBody>
      </p:sp>
      <p:sp>
        <p:nvSpPr>
          <p:cNvPr id="21" name="Text 18"/>
          <p:cNvSpPr txBox="1"/>
          <p:nvPr/>
        </p:nvSpPr>
        <p:spPr>
          <a:xfrm>
            <a:off x="3196285" y="5294376"/>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2" name="Shape 19"/>
          <p:cNvSpPr/>
          <p:nvPr/>
        </p:nvSpPr>
        <p:spPr>
          <a:xfrm>
            <a:off x="3493922" y="4974336"/>
            <a:ext cx="248716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290320000" dist="645160000" dir="324000000000">
              <a:srgbClr val="FFFFFF">
                <a:alpha val="7500000000"/>
              </a:srgbClr>
            </a:outerShdw>
          </a:effectLst>
        </p:spPr>
      </p:sp>
      <p:sp>
        <p:nvSpPr>
          <p:cNvPr id="23" name="Text 20"/>
          <p:cNvSpPr txBox="1"/>
          <p:nvPr/>
        </p:nvSpPr>
        <p:spPr>
          <a:xfrm>
            <a:off x="3676802" y="5120640"/>
            <a:ext cx="2121408" cy="420624"/>
          </a:xfrm>
          <a:prstGeom prst="rect">
            <a:avLst/>
          </a:prstGeom>
          <a:noFill/>
          <a:ln/>
        </p:spPr>
        <p:txBody>
          <a:bodyPr wrap="square" lIns="0" tIns="0" rIns="0" bIns="0" rtlCol="0" anchor="ctr"/>
          <a:lstStyle/>
          <a:p>
            <a:pPr algn="ctr" indent="0" marL="0">
              <a:buNone/>
            </a:pPr>
            <a:r>
              <a:rPr lang="en-US" sz="2600" spc="-90" kern="0" dirty="0">
                <a:solidFill>
                  <a:srgbClr val="2B2D30"/>
                </a:solidFill>
                <a:latin typeface="Montserrat ExtraBold" pitchFamily="34" charset="0"/>
                <a:ea typeface="Montserrat ExtraBold" pitchFamily="34" charset="-122"/>
                <a:cs typeface="Montserrat ExtraBold" pitchFamily="34" charset="-120"/>
              </a:rPr>
              <a:t>209</a:t>
            </a:r>
            <a:endParaRPr lang="en-US" sz="2600" dirty="0"/>
          </a:p>
        </p:txBody>
      </p:sp>
      <p:sp>
        <p:nvSpPr>
          <p:cNvPr id="24" name="Text 21"/>
          <p:cNvSpPr txBox="1"/>
          <p:nvPr/>
        </p:nvSpPr>
        <p:spPr>
          <a:xfrm>
            <a:off x="3640226"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Kevlar grouped</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them into</a:t>
            </a:r>
            <a:endParaRPr lang="en-US" sz="950" dirty="0"/>
          </a:p>
        </p:txBody>
      </p:sp>
      <p:sp>
        <p:nvSpPr>
          <p:cNvPr id="25" name="Text 22"/>
          <p:cNvSpPr txBox="1"/>
          <p:nvPr/>
        </p:nvSpPr>
        <p:spPr>
          <a:xfrm>
            <a:off x="5912968" y="5294376"/>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6" name="Shape 23"/>
          <p:cNvSpPr/>
          <p:nvPr/>
        </p:nvSpPr>
        <p:spPr>
          <a:xfrm>
            <a:off x="6210605" y="4974336"/>
            <a:ext cx="248716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6387064000000" dist="8193532000000" dir="19440000000000000">
              <a:srgbClr val="FFFFFF">
                <a:alpha val="750000000000000"/>
              </a:srgbClr>
            </a:outerShdw>
          </a:effectLst>
        </p:spPr>
      </p:sp>
      <p:sp>
        <p:nvSpPr>
          <p:cNvPr id="27" name="Text 24"/>
          <p:cNvSpPr txBox="1"/>
          <p:nvPr/>
        </p:nvSpPr>
        <p:spPr>
          <a:xfrm>
            <a:off x="6393485" y="5120640"/>
            <a:ext cx="2121408" cy="420624"/>
          </a:xfrm>
          <a:prstGeom prst="rect">
            <a:avLst/>
          </a:prstGeom>
          <a:noFill/>
          <a:ln/>
        </p:spPr>
        <p:txBody>
          <a:bodyPr wrap="square" lIns="0" tIns="0" rIns="0" bIns="0" rtlCol="0" anchor="ctr"/>
          <a:lstStyle/>
          <a:p>
            <a:pPr algn="ctr" indent="0" marL="0">
              <a:buNone/>
            </a:pPr>
            <a:r>
              <a:rPr lang="en-US" sz="1700" spc="120" kern="0" dirty="0">
                <a:solidFill>
                  <a:srgbClr val="2B2D30"/>
                </a:solidFill>
                <a:latin typeface="Montserrat ExtraBold" pitchFamily="34" charset="0"/>
                <a:ea typeface="Montserrat ExtraBold" pitchFamily="34" charset="-122"/>
                <a:cs typeface="Montserrat ExtraBold" pitchFamily="34" charset="-120"/>
              </a:rPr>
              <a:t>RULE</a:t>
            </a:r>
            <a:endParaRPr lang="en-US" sz="1700" dirty="0"/>
          </a:p>
        </p:txBody>
      </p:sp>
      <p:sp>
        <p:nvSpPr>
          <p:cNvPr id="28" name="Text 25"/>
          <p:cNvSpPr txBox="1"/>
          <p:nvPr/>
        </p:nvSpPr>
        <p:spPr>
          <a:xfrm>
            <a:off x="6356909"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highest build</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wins</a:t>
            </a:r>
            <a:endParaRPr lang="en-US" sz="950" dirty="0"/>
          </a:p>
        </p:txBody>
      </p:sp>
      <p:sp>
        <p:nvSpPr>
          <p:cNvPr id="29" name="Text 26"/>
          <p:cNvSpPr txBox="1"/>
          <p:nvPr/>
        </p:nvSpPr>
        <p:spPr>
          <a:xfrm>
            <a:off x="8629650" y="5294376"/>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30" name="Shape 27"/>
          <p:cNvSpPr/>
          <p:nvPr/>
        </p:nvSpPr>
        <p:spPr>
          <a:xfrm>
            <a:off x="8927287" y="4974336"/>
            <a:ext cx="2487168" cy="1060704"/>
          </a:xfrm>
          <a:prstGeom prst="roundRect">
            <a:avLst>
              <a:gd name="adj" fmla="val 5172"/>
            </a:avLst>
          </a:prstGeom>
          <a:solidFill>
            <a:srgbClr val="942838"/>
          </a:solidFill>
          <a:ln w="9525">
            <a:solidFill>
              <a:srgbClr val="942838"/>
            </a:solidFill>
            <a:prstDash val="solid"/>
          </a:ln>
          <a:effectLst>
            <a:outerShdw sx="100000" sy="100000" kx="0" ky="0" algn="bl" rotWithShape="0" blurRad="203200" dist="50800" dir="5400000">
              <a:srgbClr val="5D1923">
                <a:alpha val="34000"/>
              </a:srgbClr>
            </a:outerShdw>
          </a:effectLst>
        </p:spPr>
      </p:sp>
      <p:sp>
        <p:nvSpPr>
          <p:cNvPr id="31" name="Text 28"/>
          <p:cNvSpPr txBox="1"/>
          <p:nvPr/>
        </p:nvSpPr>
        <p:spPr>
          <a:xfrm>
            <a:off x="9110167" y="5120640"/>
            <a:ext cx="2121408" cy="420624"/>
          </a:xfrm>
          <a:prstGeom prst="rect">
            <a:avLst/>
          </a:prstGeom>
          <a:noFill/>
          <a:ln/>
        </p:spPr>
        <p:txBody>
          <a:bodyPr wrap="square" lIns="0" tIns="0" rIns="0" bIns="0" rtlCol="0" anchor="ctr"/>
          <a:lstStyle/>
          <a:p>
            <a:pPr algn="ctr" indent="0" marL="0">
              <a:buNone/>
            </a:pPr>
            <a:r>
              <a:rPr lang="en-US" sz="2600" spc="-90" kern="0" dirty="0">
                <a:solidFill>
                  <a:srgbClr val="FFFFFF"/>
                </a:solidFill>
                <a:latin typeface="Montserrat ExtraBold" pitchFamily="34" charset="0"/>
                <a:ea typeface="Montserrat ExtraBold" pitchFamily="34" charset="-122"/>
                <a:cs typeface="Montserrat ExtraBold" pitchFamily="34" charset="-120"/>
              </a:rPr>
              <a:t>46</a:t>
            </a:r>
            <a:endParaRPr lang="en-US" sz="2600" dirty="0"/>
          </a:p>
        </p:txBody>
      </p:sp>
      <p:sp>
        <p:nvSpPr>
          <p:cNvPr id="32" name="Text 29"/>
          <p:cNvSpPr txBox="1"/>
          <p:nvPr/>
        </p:nvSpPr>
        <p:spPr>
          <a:xfrm>
            <a:off x="9073591"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tickets actually</a:t>
            </a:r>
            <a:endParaRPr lang="en-US" sz="950" dirty="0"/>
          </a:p>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opened</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PAYOFF</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209 rows became 46 tickets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21</a:t>
            </a:r>
            <a:endParaRPr lang="en-US" sz="850" dirty="0"/>
          </a:p>
        </p:txBody>
      </p:sp>
      <p:sp>
        <p:nvSpPr>
          <p:cNvPr id="9" name="Shape 6"/>
          <p:cNvSpPr/>
          <p:nvPr/>
        </p:nvSpPr>
        <p:spPr>
          <a:xfrm>
            <a:off x="777240" y="2011680"/>
            <a:ext cx="3310128" cy="1481328"/>
          </a:xfrm>
          <a:prstGeom prst="roundRect">
            <a:avLst>
              <a:gd name="adj" fmla="val 3704"/>
            </a:avLst>
          </a:prstGeom>
          <a:solidFill>
            <a:srgbClr val="F5F4F3"/>
          </a:solidFill>
          <a:ln w="9525">
            <a:solidFill>
              <a:srgbClr val="E6E4E2"/>
            </a:solidFill>
            <a:prstDash val="solid"/>
          </a:ln>
          <a:effectLst>
            <a:outerShdw sx="100000" sy="100000" kx="0" ky="0" algn="bl" rotWithShape="0" blurRad="5.510881335639881e+103" dist="1.3777203339099702e+103" dir="2.5587259226936733e+121">
              <a:srgbClr val="959092">
                <a:alpha val="2.2000000000000006e+124"/>
              </a:srgbClr>
            </a:outerShdw>
          </a:effectLst>
        </p:spPr>
      </p:sp>
      <p:sp>
        <p:nvSpPr>
          <p:cNvPr id="10" name="Text 7"/>
          <p:cNvSpPr txBox="1"/>
          <p:nvPr/>
        </p:nvSpPr>
        <p:spPr>
          <a:xfrm>
            <a:off x="996696" y="2194560"/>
            <a:ext cx="2871216" cy="676656"/>
          </a:xfrm>
          <a:prstGeom prst="rect">
            <a:avLst/>
          </a:prstGeom>
          <a:noFill/>
          <a:ln/>
        </p:spPr>
        <p:txBody>
          <a:bodyPr wrap="square" lIns="0" tIns="0" rIns="0" bIns="0" rtlCol="0" anchor="t"/>
          <a:lstStyle/>
          <a:p>
            <a:pPr algn="ctr" indent="0" marL="0">
              <a:buNone/>
            </a:pPr>
            <a:r>
              <a:rPr lang="en-US" sz="4600" spc="-180" kern="0" dirty="0">
                <a:solidFill>
                  <a:srgbClr val="2B2D30"/>
                </a:solidFill>
                <a:latin typeface="Montserrat ExtraBold" pitchFamily="34" charset="0"/>
                <a:ea typeface="Montserrat ExtraBold" pitchFamily="34" charset="-122"/>
                <a:cs typeface="Montserrat ExtraBold" pitchFamily="34" charset="-120"/>
              </a:rPr>
              <a:t>209</a:t>
            </a:r>
            <a:endParaRPr lang="en-US" sz="4600" dirty="0"/>
          </a:p>
        </p:txBody>
      </p:sp>
      <p:sp>
        <p:nvSpPr>
          <p:cNvPr id="11" name="Text 8"/>
          <p:cNvSpPr txBox="1"/>
          <p:nvPr/>
        </p:nvSpPr>
        <p:spPr>
          <a:xfrm>
            <a:off x="996696" y="2907792"/>
            <a:ext cx="2871216" cy="512064"/>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in Kevlar’s own</a:t>
            </a:r>
            <a:endParaRPr lang="en-US" sz="950" dirty="0"/>
          </a:p>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KB Priority report</a:t>
            </a:r>
            <a:endParaRPr lang="en-US" sz="950" dirty="0"/>
          </a:p>
        </p:txBody>
      </p:sp>
      <p:sp>
        <p:nvSpPr>
          <p:cNvPr id="12" name="Shape 9"/>
          <p:cNvSpPr/>
          <p:nvPr/>
        </p:nvSpPr>
        <p:spPr>
          <a:xfrm>
            <a:off x="4440784" y="2011680"/>
            <a:ext cx="3310128" cy="1481328"/>
          </a:xfrm>
          <a:prstGeom prst="roundRect">
            <a:avLst>
              <a:gd name="adj" fmla="val 3704"/>
            </a:avLst>
          </a:prstGeom>
          <a:solidFill>
            <a:srgbClr val="F6EEF0"/>
          </a:solidFill>
          <a:ln w="9525">
            <a:solidFill>
              <a:srgbClr val="942838"/>
            </a:solidFill>
            <a:prstDash val="solid"/>
          </a:ln>
          <a:effectLst>
            <a:outerShdw sx="100000" sy="100000" kx="0" ky="0" algn="bl" rotWithShape="0" blurRad="6.998819296262648e+107" dist="1.749704824065662e+107" dir="1.535235553616204e+126">
              <a:srgbClr val="959092">
                <a:alpha val="2.2000000000000006e+129"/>
              </a:srgbClr>
            </a:outerShdw>
          </a:effectLst>
        </p:spPr>
      </p:sp>
      <p:sp>
        <p:nvSpPr>
          <p:cNvPr id="13" name="Text 10"/>
          <p:cNvSpPr txBox="1"/>
          <p:nvPr/>
        </p:nvSpPr>
        <p:spPr>
          <a:xfrm>
            <a:off x="4660240" y="2194560"/>
            <a:ext cx="2871216" cy="676656"/>
          </a:xfrm>
          <a:prstGeom prst="rect">
            <a:avLst/>
          </a:prstGeom>
          <a:noFill/>
          <a:ln/>
        </p:spPr>
        <p:txBody>
          <a:bodyPr wrap="square" lIns="0" tIns="0" rIns="0" bIns="0" rtlCol="0" anchor="t"/>
          <a:lstStyle/>
          <a:p>
            <a:pPr algn="ctr" indent="0" marL="0">
              <a:buNone/>
            </a:pPr>
            <a:r>
              <a:rPr lang="en-US" sz="4600" spc="-180" kern="0" dirty="0">
                <a:solidFill>
                  <a:srgbClr val="942838"/>
                </a:solidFill>
                <a:latin typeface="Montserrat ExtraBold" pitchFamily="34" charset="0"/>
                <a:ea typeface="Montserrat ExtraBold" pitchFamily="34" charset="-122"/>
                <a:cs typeface="Montserrat ExtraBold" pitchFamily="34" charset="-120"/>
              </a:rPr>
              <a:t>46</a:t>
            </a:r>
            <a:endParaRPr lang="en-US" sz="4600" dirty="0"/>
          </a:p>
        </p:txBody>
      </p:sp>
      <p:sp>
        <p:nvSpPr>
          <p:cNvPr id="14" name="Text 11"/>
          <p:cNvSpPr txBox="1"/>
          <p:nvPr/>
        </p:nvSpPr>
        <p:spPr>
          <a:xfrm>
            <a:off x="4660240" y="2907792"/>
            <a:ext cx="2871216" cy="512064"/>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tickets actually opened</a:t>
            </a:r>
            <a:endParaRPr lang="en-US" sz="950" dirty="0"/>
          </a:p>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after applying the rule</a:t>
            </a:r>
            <a:endParaRPr lang="en-US" sz="950" dirty="0"/>
          </a:p>
        </p:txBody>
      </p:sp>
      <p:sp>
        <p:nvSpPr>
          <p:cNvPr id="15" name="Shape 12"/>
          <p:cNvSpPr/>
          <p:nvPr/>
        </p:nvSpPr>
        <p:spPr>
          <a:xfrm>
            <a:off x="8104327" y="2011680"/>
            <a:ext cx="3310128" cy="1481328"/>
          </a:xfrm>
          <a:prstGeom prst="roundRect">
            <a:avLst>
              <a:gd name="adj" fmla="val 3704"/>
            </a:avLst>
          </a:prstGeom>
          <a:solidFill>
            <a:srgbClr val="F6EEF0"/>
          </a:solidFill>
          <a:ln w="9525">
            <a:solidFill>
              <a:srgbClr val="942838"/>
            </a:solidFill>
            <a:prstDash val="solid"/>
          </a:ln>
          <a:effectLst>
            <a:outerShdw sx="100000" sy="100000" kx="0" ky="0" algn="bl" rotWithShape="0" blurRad="8.888500506253563e+111" dist="2.2221251265633907e+111" dir="9.211413321697224e+130">
              <a:srgbClr val="959092">
                <a:alpha val="2.2000000000000004e+134"/>
              </a:srgbClr>
            </a:outerShdw>
          </a:effectLst>
        </p:spPr>
      </p:sp>
      <p:sp>
        <p:nvSpPr>
          <p:cNvPr id="16" name="Text 13"/>
          <p:cNvSpPr txBox="1"/>
          <p:nvPr/>
        </p:nvSpPr>
        <p:spPr>
          <a:xfrm>
            <a:off x="8323783" y="2194560"/>
            <a:ext cx="2871216" cy="676656"/>
          </a:xfrm>
          <a:prstGeom prst="rect">
            <a:avLst/>
          </a:prstGeom>
          <a:noFill/>
          <a:ln/>
        </p:spPr>
        <p:txBody>
          <a:bodyPr wrap="square" lIns="0" tIns="0" rIns="0" bIns="0" rtlCol="0" anchor="t"/>
          <a:lstStyle/>
          <a:p>
            <a:pPr algn="ctr" indent="0" marL="0">
              <a:buNone/>
            </a:pPr>
            <a:r>
              <a:rPr lang="en-US" sz="4600" spc="-180" kern="0" dirty="0">
                <a:solidFill>
                  <a:srgbClr val="942838"/>
                </a:solidFill>
                <a:latin typeface="Montserrat ExtraBold" pitchFamily="34" charset="0"/>
                <a:ea typeface="Montserrat ExtraBold" pitchFamily="34" charset="-122"/>
                <a:cs typeface="Montserrat ExtraBold" pitchFamily="34" charset="-120"/>
              </a:rPr>
              <a:t>78%</a:t>
            </a:r>
            <a:endParaRPr lang="en-US" sz="4600" dirty="0"/>
          </a:p>
        </p:txBody>
      </p:sp>
      <p:sp>
        <p:nvSpPr>
          <p:cNvPr id="17" name="Text 14"/>
          <p:cNvSpPr txBox="1"/>
          <p:nvPr/>
        </p:nvSpPr>
        <p:spPr>
          <a:xfrm>
            <a:off x="8323783" y="2907792"/>
            <a:ext cx="2871216" cy="512064"/>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fewer than the report</a:t>
            </a:r>
            <a:endParaRPr lang="en-US" sz="950" dirty="0"/>
          </a:p>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implied — 163 absorbed</a:t>
            </a:r>
            <a:endParaRPr lang="en-US" sz="950" dirty="0"/>
          </a:p>
        </p:txBody>
      </p:sp>
      <p:sp>
        <p:nvSpPr>
          <p:cNvPr id="18" name="Text 15"/>
          <p:cNvSpPr txBox="1"/>
          <p:nvPr/>
        </p:nvSpPr>
        <p:spPr>
          <a:xfrm>
            <a:off x="777240" y="3803904"/>
            <a:ext cx="64008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ROW IN KEVLAR’S REPORT</a:t>
            </a:r>
            <a:endParaRPr lang="en-US" sz="850" dirty="0"/>
          </a:p>
        </p:txBody>
      </p:sp>
      <p:pic>
        <p:nvPicPr>
          <p:cNvPr id="19" name="Image 1" descr="/home/user/ai/assets/gen/chart-consolidation.png">    </p:cNvPr>
          <p:cNvPicPr>
            <a:picLocks noChangeAspect="1"/>
          </p:cNvPicPr>
          <p:nvPr/>
        </p:nvPicPr>
        <p:blipFill>
          <a:blip r:embed="rId2"/>
          <a:stretch>
            <a:fillRect/>
          </a:stretch>
        </p:blipFill>
        <p:spPr>
          <a:xfrm>
            <a:off x="777240" y="4096512"/>
            <a:ext cx="10637215" cy="1221498"/>
          </a:xfrm>
          <a:prstGeom prst="rect">
            <a:avLst/>
          </a:prstGeom>
        </p:spPr>
      </p:pic>
      <p:sp>
        <p:nvSpPr>
          <p:cNvPr id="20" name="Text 16"/>
          <p:cNvSpPr txBox="1"/>
          <p:nvPr/>
        </p:nvSpPr>
        <p:spPr>
          <a:xfrm>
            <a:off x="777240" y="5409450"/>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46 opened as tickets</a:t>
            </a:r>
            <a:endParaRPr lang="en-US" sz="1150" dirty="0"/>
          </a:p>
        </p:txBody>
      </p:sp>
      <p:sp>
        <p:nvSpPr>
          <p:cNvPr id="21" name="Text 17"/>
          <p:cNvSpPr txBox="1"/>
          <p:nvPr/>
        </p:nvSpPr>
        <p:spPr>
          <a:xfrm>
            <a:off x="5928055" y="5409450"/>
            <a:ext cx="54864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163 absorbed by a higher build already being installed</a:t>
            </a:r>
            <a:endParaRPr lang="en-US" sz="1150" dirty="0"/>
          </a:p>
        </p:txBody>
      </p:sp>
      <p:sp>
        <p:nvSpPr>
          <p:cNvPr id="22" name="Text 18"/>
          <p:cNvSpPr txBox="1"/>
          <p:nvPr/>
        </p:nvSpPr>
        <p:spPr>
          <a:xfrm>
            <a:off x="777240" y="5852160"/>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Zero coverage loss</a:t>
            </a:r>
            <a:pPr indent="0" marL="0">
              <a:buNone/>
            </a:pPr>
            <a:r>
              <a:rPr lang="en-US" sz="1150" dirty="0">
                <a:solidFill>
                  <a:srgbClr val="6E7175"/>
                </a:solidFill>
                <a:latin typeface="Montserrat" pitchFamily="34" charset="0"/>
                <a:ea typeface="Montserrat" pitchFamily="34" charset="-122"/>
                <a:cs typeface="Montserrat" pitchFamily="34" charset="-120"/>
              </a:rPr>
              <a:t>  —  verified across all 2,658 host-and-product combinations, not a sample.</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Four systems, one screen</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22</a:t>
            </a:r>
            <a:endParaRPr lang="en-US" sz="850" dirty="0"/>
          </a:p>
        </p:txBody>
      </p:sp>
      <p:sp>
        <p:nvSpPr>
          <p:cNvPr id="9" name="Text 6"/>
          <p:cNvSpPr txBox="1"/>
          <p:nvPr/>
        </p:nvSpPr>
        <p:spPr>
          <a:xfrm>
            <a:off x="777240" y="2011680"/>
            <a:ext cx="4160520" cy="822960"/>
          </a:xfrm>
          <a:prstGeom prst="rect">
            <a:avLst/>
          </a:prstGeom>
          <a:noFill/>
          <a:ln/>
        </p:spPr>
        <p:txBody>
          <a:bodyPr wrap="square" lIns="0" tIns="0" rIns="0" bIns="0" rtlCol="0" anchor="t"/>
          <a:lstStyle/>
          <a:p>
            <a:pPr indent="0" marL="0">
              <a:lnSpc>
                <a:spcPct val="128000"/>
              </a:lnSpc>
              <a:buNone/>
            </a:pPr>
            <a:r>
              <a:rPr lang="en-US" sz="1250" dirty="0">
                <a:solidFill>
                  <a:srgbClr val="6E7175"/>
                </a:solidFill>
                <a:latin typeface="Montserrat" pitchFamily="34" charset="0"/>
                <a:ea typeface="Montserrat" pitchFamily="34" charset="-122"/>
                <a:cs typeface="Montserrat" pitchFamily="34" charset="-120"/>
              </a:rPr>
              <a:t>Two views would close the gap: an SLA remediation dashboard showing whether flaws are fixed inside their deadline, and a patching dashboard showing how much of the fleet is current.</a:t>
            </a:r>
            <a:endParaRPr lang="en-US" sz="1250" dirty="0"/>
          </a:p>
        </p:txBody>
      </p:sp>
      <p:sp>
        <p:nvSpPr>
          <p:cNvPr id="10" name="Shape 7"/>
          <p:cNvSpPr/>
          <p:nvPr/>
        </p:nvSpPr>
        <p:spPr>
          <a:xfrm>
            <a:off x="795528" y="3044952"/>
            <a:ext cx="182880" cy="182880"/>
          </a:xfrm>
          <a:prstGeom prst="ellipse">
            <a:avLst/>
          </a:prstGeom>
          <a:solidFill>
            <a:srgbClr val="F6EEF0"/>
          </a:solidFill>
          <a:ln w="19050">
            <a:solidFill>
              <a:srgbClr val="942838"/>
            </a:solidFill>
            <a:prstDash val="solid"/>
          </a:ln>
        </p:spPr>
      </p:sp>
      <p:sp>
        <p:nvSpPr>
          <p:cNvPr id="11" name="Shape 8"/>
          <p:cNvSpPr/>
          <p:nvPr/>
        </p:nvSpPr>
        <p:spPr>
          <a:xfrm>
            <a:off x="850392" y="3099816"/>
            <a:ext cx="73152" cy="73152"/>
          </a:xfrm>
          <a:prstGeom prst="ellipse">
            <a:avLst/>
          </a:prstGeom>
          <a:solidFill>
            <a:srgbClr val="942838"/>
          </a:solidFill>
          <a:ln/>
        </p:spPr>
      </p:sp>
      <p:sp>
        <p:nvSpPr>
          <p:cNvPr id="12" name="Shape 9"/>
          <p:cNvSpPr/>
          <p:nvPr/>
        </p:nvSpPr>
        <p:spPr>
          <a:xfrm>
            <a:off x="882396" y="3246120"/>
            <a:ext cx="10973" cy="457200"/>
          </a:xfrm>
          <a:prstGeom prst="rect">
            <a:avLst/>
          </a:prstGeom>
          <a:solidFill>
            <a:srgbClr val="C9C6C4"/>
          </a:solidFill>
          <a:ln/>
        </p:spPr>
      </p:sp>
      <p:sp>
        <p:nvSpPr>
          <p:cNvPr id="13" name="Text 10"/>
          <p:cNvSpPr txBox="1"/>
          <p:nvPr/>
        </p:nvSpPr>
        <p:spPr>
          <a:xfrm>
            <a:off x="1143000" y="2980944"/>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Tenable</a:t>
            </a:r>
            <a:endParaRPr lang="en-US" sz="1350" dirty="0"/>
          </a:p>
        </p:txBody>
      </p:sp>
      <p:sp>
        <p:nvSpPr>
          <p:cNvPr id="14" name="Text 11"/>
          <p:cNvSpPr txBox="1"/>
          <p:nvPr/>
        </p:nvSpPr>
        <p:spPr>
          <a:xfrm>
            <a:off x="1143000" y="3236976"/>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finds the flaw</a:t>
            </a:r>
            <a:endParaRPr lang="en-US" sz="1100" dirty="0"/>
          </a:p>
        </p:txBody>
      </p:sp>
      <p:sp>
        <p:nvSpPr>
          <p:cNvPr id="15" name="Shape 12"/>
          <p:cNvSpPr/>
          <p:nvPr/>
        </p:nvSpPr>
        <p:spPr>
          <a:xfrm>
            <a:off x="795528" y="3630168"/>
            <a:ext cx="182880" cy="182880"/>
          </a:xfrm>
          <a:prstGeom prst="ellipse">
            <a:avLst/>
          </a:prstGeom>
          <a:solidFill>
            <a:srgbClr val="F6EEF0"/>
          </a:solidFill>
          <a:ln w="19050">
            <a:solidFill>
              <a:srgbClr val="942838"/>
            </a:solidFill>
            <a:prstDash val="solid"/>
          </a:ln>
        </p:spPr>
      </p:sp>
      <p:sp>
        <p:nvSpPr>
          <p:cNvPr id="16" name="Shape 13"/>
          <p:cNvSpPr/>
          <p:nvPr/>
        </p:nvSpPr>
        <p:spPr>
          <a:xfrm>
            <a:off x="850392" y="3685032"/>
            <a:ext cx="73152" cy="73152"/>
          </a:xfrm>
          <a:prstGeom prst="ellipse">
            <a:avLst/>
          </a:prstGeom>
          <a:solidFill>
            <a:srgbClr val="942838"/>
          </a:solidFill>
          <a:ln/>
        </p:spPr>
      </p:sp>
      <p:sp>
        <p:nvSpPr>
          <p:cNvPr id="17" name="Shape 14"/>
          <p:cNvSpPr/>
          <p:nvPr/>
        </p:nvSpPr>
        <p:spPr>
          <a:xfrm>
            <a:off x="882396" y="3831336"/>
            <a:ext cx="10973" cy="457200"/>
          </a:xfrm>
          <a:prstGeom prst="rect">
            <a:avLst/>
          </a:prstGeom>
          <a:solidFill>
            <a:srgbClr val="C9C6C4"/>
          </a:solidFill>
          <a:ln/>
        </p:spPr>
      </p:sp>
      <p:sp>
        <p:nvSpPr>
          <p:cNvPr id="18" name="Text 15"/>
          <p:cNvSpPr txBox="1"/>
          <p:nvPr/>
        </p:nvSpPr>
        <p:spPr>
          <a:xfrm>
            <a:off x="1143000" y="3566160"/>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Kevlar</a:t>
            </a:r>
            <a:endParaRPr lang="en-US" sz="1350" dirty="0"/>
          </a:p>
        </p:txBody>
      </p:sp>
      <p:sp>
        <p:nvSpPr>
          <p:cNvPr id="19" name="Text 16"/>
          <p:cNvSpPr txBox="1"/>
          <p:nvPr/>
        </p:nvSpPr>
        <p:spPr>
          <a:xfrm>
            <a:off x="1143000" y="3822192"/>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tracks which machines are exposed</a:t>
            </a:r>
            <a:endParaRPr lang="en-US" sz="1100" dirty="0"/>
          </a:p>
        </p:txBody>
      </p:sp>
      <p:sp>
        <p:nvSpPr>
          <p:cNvPr id="20" name="Shape 17"/>
          <p:cNvSpPr/>
          <p:nvPr/>
        </p:nvSpPr>
        <p:spPr>
          <a:xfrm>
            <a:off x="795528" y="4215384"/>
            <a:ext cx="182880" cy="182880"/>
          </a:xfrm>
          <a:prstGeom prst="ellipse">
            <a:avLst/>
          </a:prstGeom>
          <a:solidFill>
            <a:srgbClr val="F6EEF0"/>
          </a:solidFill>
          <a:ln w="19050">
            <a:solidFill>
              <a:srgbClr val="942838"/>
            </a:solidFill>
            <a:prstDash val="solid"/>
          </a:ln>
        </p:spPr>
      </p:sp>
      <p:sp>
        <p:nvSpPr>
          <p:cNvPr id="21" name="Shape 18"/>
          <p:cNvSpPr/>
          <p:nvPr/>
        </p:nvSpPr>
        <p:spPr>
          <a:xfrm>
            <a:off x="850392" y="4270248"/>
            <a:ext cx="73152" cy="73152"/>
          </a:xfrm>
          <a:prstGeom prst="ellipse">
            <a:avLst/>
          </a:prstGeom>
          <a:solidFill>
            <a:srgbClr val="942838"/>
          </a:solidFill>
          <a:ln/>
        </p:spPr>
      </p:sp>
      <p:sp>
        <p:nvSpPr>
          <p:cNvPr id="22" name="Shape 19"/>
          <p:cNvSpPr/>
          <p:nvPr/>
        </p:nvSpPr>
        <p:spPr>
          <a:xfrm>
            <a:off x="882396" y="4416552"/>
            <a:ext cx="10973" cy="457200"/>
          </a:xfrm>
          <a:prstGeom prst="rect">
            <a:avLst/>
          </a:prstGeom>
          <a:solidFill>
            <a:srgbClr val="C9C6C4"/>
          </a:solidFill>
          <a:ln/>
        </p:spPr>
      </p:sp>
      <p:sp>
        <p:nvSpPr>
          <p:cNvPr id="23" name="Text 20"/>
          <p:cNvSpPr txBox="1"/>
          <p:nvPr/>
        </p:nvSpPr>
        <p:spPr>
          <a:xfrm>
            <a:off x="1143000" y="4151376"/>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Jira</a:t>
            </a:r>
            <a:endParaRPr lang="en-US" sz="1350" dirty="0"/>
          </a:p>
        </p:txBody>
      </p:sp>
      <p:sp>
        <p:nvSpPr>
          <p:cNvPr id="24" name="Text 21"/>
          <p:cNvSpPr txBox="1"/>
          <p:nvPr/>
        </p:nvSpPr>
        <p:spPr>
          <a:xfrm>
            <a:off x="1143000" y="4407408"/>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opens the ticket</a:t>
            </a:r>
            <a:endParaRPr lang="en-US" sz="1100" dirty="0"/>
          </a:p>
        </p:txBody>
      </p:sp>
      <p:sp>
        <p:nvSpPr>
          <p:cNvPr id="25" name="Shape 22"/>
          <p:cNvSpPr/>
          <p:nvPr/>
        </p:nvSpPr>
        <p:spPr>
          <a:xfrm>
            <a:off x="795528" y="4800600"/>
            <a:ext cx="182880" cy="182880"/>
          </a:xfrm>
          <a:prstGeom prst="ellipse">
            <a:avLst/>
          </a:prstGeom>
          <a:solidFill>
            <a:srgbClr val="F6EEF0"/>
          </a:solidFill>
          <a:ln w="19050">
            <a:solidFill>
              <a:srgbClr val="942838"/>
            </a:solidFill>
            <a:prstDash val="solid"/>
          </a:ln>
        </p:spPr>
      </p:sp>
      <p:sp>
        <p:nvSpPr>
          <p:cNvPr id="26" name="Shape 23"/>
          <p:cNvSpPr/>
          <p:nvPr/>
        </p:nvSpPr>
        <p:spPr>
          <a:xfrm>
            <a:off x="850392" y="4855464"/>
            <a:ext cx="73152" cy="73152"/>
          </a:xfrm>
          <a:prstGeom prst="ellipse">
            <a:avLst/>
          </a:prstGeom>
          <a:solidFill>
            <a:srgbClr val="942838"/>
          </a:solidFill>
          <a:ln/>
        </p:spPr>
      </p:sp>
      <p:sp>
        <p:nvSpPr>
          <p:cNvPr id="27" name="Text 24"/>
          <p:cNvSpPr txBox="1"/>
          <p:nvPr/>
        </p:nvSpPr>
        <p:spPr>
          <a:xfrm>
            <a:off x="1143000" y="4736592"/>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Wiz</a:t>
            </a:r>
            <a:endParaRPr lang="en-US" sz="1350" dirty="0"/>
          </a:p>
        </p:txBody>
      </p:sp>
      <p:sp>
        <p:nvSpPr>
          <p:cNvPr id="28" name="Text 25"/>
          <p:cNvSpPr txBox="1"/>
          <p:nvPr/>
        </p:nvSpPr>
        <p:spPr>
          <a:xfrm>
            <a:off x="1143000" y="4992624"/>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confirms the machine is real and reachable</a:t>
            </a:r>
            <a:endParaRPr lang="en-US" sz="1100" dirty="0"/>
          </a:p>
        </p:txBody>
      </p:sp>
      <p:sp>
        <p:nvSpPr>
          <p:cNvPr id="29" name="Text 26"/>
          <p:cNvSpPr txBox="1"/>
          <p:nvPr/>
        </p:nvSpPr>
        <p:spPr>
          <a:xfrm>
            <a:off x="777240" y="5449824"/>
            <a:ext cx="4160520" cy="548640"/>
          </a:xfrm>
          <a:prstGeom prst="rect">
            <a:avLst/>
          </a:prstGeom>
          <a:noFill/>
          <a:ln/>
        </p:spPr>
        <p:txBody>
          <a:bodyPr wrap="square" lIns="0" tIns="0" rIns="0" bIns="0" rtlCol="0" anchor="t"/>
          <a:lstStyle/>
          <a:p>
            <a:pPr indent="0" marL="0">
              <a:lnSpc>
                <a:spcPct val="120000"/>
              </a:lnSpc>
              <a:buNone/>
            </a:pPr>
            <a:r>
              <a:rPr lang="en-US" sz="1100" dirty="0">
                <a:solidFill>
                  <a:srgbClr val="2B2D30"/>
                </a:solidFill>
                <a:latin typeface="Montserrat SemiBold" pitchFamily="34" charset="0"/>
                <a:ea typeface="Montserrat SemiBold" pitchFamily="34" charset="-122"/>
                <a:cs typeface="Montserrat SemiBold" pitchFamily="34" charset="-120"/>
              </a:rPr>
              <a:t>To be clear: </a:t>
            </a:r>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the scripts are done and tested. The dashboard is optional follow-up work for whoever picks up the pipeline — not a dependency.</a:t>
            </a:r>
            <a:endParaRPr lang="en-US" sz="1100" dirty="0"/>
          </a:p>
        </p:txBody>
      </p:sp>
      <p:pic>
        <p:nvPicPr>
          <p:cNvPr id="30" name="Image 1" descr="/home/user/ai/assets/gen/dashboard-mock.png">    </p:cNvPr>
          <p:cNvPicPr>
            <a:picLocks noChangeAspect="1"/>
          </p:cNvPicPr>
          <p:nvPr/>
        </p:nvPicPr>
        <p:blipFill>
          <a:blip r:embed="rId2"/>
          <a:stretch>
            <a:fillRect/>
          </a:stretch>
        </p:blipFill>
        <p:spPr>
          <a:xfrm>
            <a:off x="5358384" y="2103120"/>
            <a:ext cx="6056071" cy="3633643"/>
          </a:xfrm>
          <a:prstGeom prst="rect">
            <a:avLst/>
          </a:prstGeom>
        </p:spPr>
      </p:pic>
      <p:sp>
        <p:nvSpPr>
          <p:cNvPr id="31" name="Text 27"/>
          <p:cNvSpPr txBox="1"/>
          <p:nvPr/>
        </p:nvSpPr>
        <p:spPr>
          <a:xfrm>
            <a:off x="5358384" y="5883067"/>
            <a:ext cx="6056071" cy="237744"/>
          </a:xfrm>
          <a:prstGeom prst="rect">
            <a:avLst/>
          </a:prstGeom>
          <a:noFill/>
          <a:ln/>
        </p:spPr>
        <p:txBody>
          <a:bodyPr wrap="square" lIns="0" tIns="0" rIns="0" bIns="0" rtlCol="0" anchor="t"/>
          <a:lstStyle/>
          <a:p>
            <a:pPr algn="ctr" indent="0" marL="0">
              <a:buNone/>
            </a:pPr>
            <a:r>
              <a:rPr lang="en-US" sz="950" spc="30" kern="0" dirty="0">
                <a:solidFill>
                  <a:srgbClr val="C9C6C4"/>
                </a:solidFill>
                <a:latin typeface="Montserrat Medium" pitchFamily="34" charset="0"/>
                <a:ea typeface="Montserrat Medium" pitchFamily="34" charset="-122"/>
                <a:cs typeface="Montserrat Medium" pitchFamily="34" charset="-120"/>
              </a:rPr>
              <a:t>Concept — not a live system</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595360" y="2377440"/>
            <a:ext cx="5120640" cy="51206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713232"/>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IN CLOSING</a:t>
            </a:r>
            <a:endParaRPr lang="en-US" sz="1000" dirty="0"/>
          </a:p>
        </p:txBody>
      </p:sp>
      <p:sp>
        <p:nvSpPr>
          <p:cNvPr id="6" name="Text 1"/>
          <p:cNvSpPr txBox="1"/>
          <p:nvPr/>
        </p:nvSpPr>
        <p:spPr>
          <a:xfrm>
            <a:off x="777240" y="1042416"/>
            <a:ext cx="7315200" cy="896112"/>
          </a:xfrm>
          <a:prstGeom prst="rect">
            <a:avLst/>
          </a:prstGeom>
          <a:noFill/>
          <a:ln/>
        </p:spPr>
        <p:txBody>
          <a:bodyPr wrap="square" lIns="0" tIns="0" rIns="0" bIns="0" rtlCol="0" anchor="t"/>
          <a:lstStyle/>
          <a:p>
            <a:pPr indent="0" marL="0">
              <a:buNone/>
            </a:pPr>
            <a:r>
              <a:rPr lang="en-US" sz="4600" spc="-120" kern="0" dirty="0">
                <a:solidFill>
                  <a:srgbClr val="FFFFFF"/>
                </a:solidFill>
                <a:latin typeface="Montserrat ExtraBold" pitchFamily="34" charset="0"/>
                <a:ea typeface="Montserrat ExtraBold" pitchFamily="34" charset="-122"/>
                <a:cs typeface="Montserrat ExtraBold" pitchFamily="34" charset="-120"/>
              </a:rPr>
              <a:t>Thank you</a:t>
            </a:r>
            <a:endParaRPr lang="en-US" sz="4600" dirty="0"/>
          </a:p>
        </p:txBody>
      </p:sp>
      <p:sp>
        <p:nvSpPr>
          <p:cNvPr id="7" name="Shape 2"/>
          <p:cNvSpPr/>
          <p:nvPr/>
        </p:nvSpPr>
        <p:spPr>
          <a:xfrm>
            <a:off x="777240" y="2066544"/>
            <a:ext cx="640080" cy="50292"/>
          </a:xfrm>
          <a:prstGeom prst="rect">
            <a:avLst/>
          </a:prstGeom>
          <a:solidFill>
            <a:srgbClr val="FFFFFF"/>
          </a:solidFill>
          <a:ln/>
        </p:spPr>
      </p:sp>
      <p:sp>
        <p:nvSpPr>
          <p:cNvPr id="8" name="Text 3"/>
          <p:cNvSpPr txBox="1"/>
          <p:nvPr/>
        </p:nvSpPr>
        <p:spPr>
          <a:xfrm>
            <a:off x="777240" y="2340864"/>
            <a:ext cx="7863840" cy="566928"/>
          </a:xfrm>
          <a:prstGeom prst="rect">
            <a:avLst/>
          </a:prstGeom>
          <a:noFill/>
          <a:ln/>
        </p:spPr>
        <p:txBody>
          <a:bodyPr wrap="square" lIns="0" tIns="0" rIns="0" bIns="0" rtlCol="0" anchor="t"/>
          <a:lstStyle/>
          <a:p>
            <a:pPr indent="0" marL="0">
              <a:lnSpc>
                <a:spcPct val="130000"/>
              </a:lnSpc>
              <a:buNone/>
            </a:pPr>
            <a:r>
              <a:rPr lang="en-US" sz="1400" dirty="0">
                <a:solidFill>
                  <a:srgbClr val="DAB4BA"/>
                </a:solidFill>
                <a:latin typeface="Montserrat Medium" pitchFamily="34" charset="0"/>
                <a:ea typeface="Montserrat Medium" pitchFamily="34" charset="-122"/>
                <a:cs typeface="Montserrat Medium" pitchFamily="34" charset="-120"/>
              </a:rPr>
              <a:t>Everything in this deck exists because people here made room for an intern to do real work — and because plenty of them pushed back on it until it was right.</a:t>
            </a:r>
            <a:endParaRPr lang="en-US" sz="1400" dirty="0"/>
          </a:p>
        </p:txBody>
      </p:sp>
      <p:sp>
        <p:nvSpPr>
          <p:cNvPr id="9" name="Shape 4"/>
          <p:cNvSpPr/>
          <p:nvPr/>
        </p:nvSpPr>
        <p:spPr>
          <a:xfrm>
            <a:off x="777240" y="3182112"/>
            <a:ext cx="45720" cy="384048"/>
          </a:xfrm>
          <a:prstGeom prst="rect">
            <a:avLst/>
          </a:prstGeom>
          <a:solidFill>
            <a:srgbClr val="FFFFFF"/>
          </a:solidFill>
          <a:ln/>
        </p:spPr>
      </p:sp>
      <p:sp>
        <p:nvSpPr>
          <p:cNvPr id="10" name="Text 5"/>
          <p:cNvSpPr txBox="1"/>
          <p:nvPr/>
        </p:nvSpPr>
        <p:spPr>
          <a:xfrm>
            <a:off x="1014984" y="3127248"/>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the Information Security team</a:t>
            </a:r>
            <a:endParaRPr lang="en-US" sz="1400" dirty="0"/>
          </a:p>
        </p:txBody>
      </p:sp>
      <p:sp>
        <p:nvSpPr>
          <p:cNvPr id="11" name="Text 6"/>
          <p:cNvSpPr txBox="1"/>
          <p:nvPr/>
        </p:nvSpPr>
        <p:spPr>
          <a:xfrm>
            <a:off x="1014984" y="3419856"/>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handing me problems that actually mattered, and trusting me to work on them properly.</a:t>
            </a:r>
            <a:endParaRPr lang="en-US" sz="1100" dirty="0"/>
          </a:p>
        </p:txBody>
      </p:sp>
      <p:sp>
        <p:nvSpPr>
          <p:cNvPr id="12" name="Shape 7"/>
          <p:cNvSpPr/>
          <p:nvPr/>
        </p:nvSpPr>
        <p:spPr>
          <a:xfrm>
            <a:off x="777240" y="3858768"/>
            <a:ext cx="10637215" cy="7315"/>
          </a:xfrm>
          <a:prstGeom prst="rect">
            <a:avLst/>
          </a:prstGeom>
          <a:solidFill>
            <a:srgbClr val="CA949C"/>
          </a:solidFill>
          <a:ln/>
        </p:spPr>
      </p:sp>
      <p:sp>
        <p:nvSpPr>
          <p:cNvPr id="13" name="Shape 8"/>
          <p:cNvSpPr/>
          <p:nvPr/>
        </p:nvSpPr>
        <p:spPr>
          <a:xfrm>
            <a:off x="777240" y="4041648"/>
            <a:ext cx="45720" cy="384048"/>
          </a:xfrm>
          <a:prstGeom prst="rect">
            <a:avLst/>
          </a:prstGeom>
          <a:solidFill>
            <a:srgbClr val="FFFFFF"/>
          </a:solidFill>
          <a:ln/>
        </p:spPr>
      </p:sp>
      <p:sp>
        <p:nvSpPr>
          <p:cNvPr id="14" name="Text 9"/>
          <p:cNvSpPr txBox="1"/>
          <p:nvPr/>
        </p:nvSpPr>
        <p:spPr>
          <a:xfrm>
            <a:off x="1014984" y="3986784"/>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Vulnerability Management, Application Security and Network Security</a:t>
            </a:r>
            <a:endParaRPr lang="en-US" sz="1400" dirty="0"/>
          </a:p>
        </p:txBody>
      </p:sp>
      <p:sp>
        <p:nvSpPr>
          <p:cNvPr id="15" name="Text 10"/>
          <p:cNvSpPr txBox="1"/>
          <p:nvPr/>
        </p:nvSpPr>
        <p:spPr>
          <a:xfrm>
            <a:off x="1014984" y="4279392"/>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Three rotations, three different ways of looking at the same job. I learned something distinct in each one.</a:t>
            </a:r>
            <a:endParaRPr lang="en-US" sz="1100" dirty="0"/>
          </a:p>
        </p:txBody>
      </p:sp>
      <p:sp>
        <p:nvSpPr>
          <p:cNvPr id="16" name="Shape 11"/>
          <p:cNvSpPr/>
          <p:nvPr/>
        </p:nvSpPr>
        <p:spPr>
          <a:xfrm>
            <a:off x="777240" y="4718304"/>
            <a:ext cx="10637215" cy="7315"/>
          </a:xfrm>
          <a:prstGeom prst="rect">
            <a:avLst/>
          </a:prstGeom>
          <a:solidFill>
            <a:srgbClr val="CA949C"/>
          </a:solidFill>
          <a:ln/>
        </p:spPr>
      </p:sp>
      <p:sp>
        <p:nvSpPr>
          <p:cNvPr id="17" name="Shape 12"/>
          <p:cNvSpPr/>
          <p:nvPr/>
        </p:nvSpPr>
        <p:spPr>
          <a:xfrm>
            <a:off x="777240" y="4901184"/>
            <a:ext cx="45720" cy="384048"/>
          </a:xfrm>
          <a:prstGeom prst="rect">
            <a:avLst/>
          </a:prstGeom>
          <a:solidFill>
            <a:srgbClr val="FFFFFF"/>
          </a:solidFill>
          <a:ln/>
        </p:spPr>
      </p:sp>
      <p:sp>
        <p:nvSpPr>
          <p:cNvPr id="18" name="Text 13"/>
          <p:cNvSpPr txBox="1"/>
          <p:nvPr/>
        </p:nvSpPr>
        <p:spPr>
          <a:xfrm>
            <a:off x="1014984" y="4846320"/>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Cloud Operations and Development</a:t>
            </a:r>
            <a:endParaRPr lang="en-US" sz="1400" dirty="0"/>
          </a:p>
        </p:txBody>
      </p:sp>
      <p:sp>
        <p:nvSpPr>
          <p:cNvPr id="19" name="Text 14"/>
          <p:cNvSpPr txBox="1"/>
          <p:nvPr/>
        </p:nvSpPr>
        <p:spPr>
          <a:xfrm>
            <a:off x="1014984" y="5138928"/>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making time for someone from another team who kept turning up with questions.</a:t>
            </a:r>
            <a:endParaRPr lang="en-US" sz="1100" dirty="0"/>
          </a:p>
        </p:txBody>
      </p:sp>
      <p:sp>
        <p:nvSpPr>
          <p:cNvPr id="20" name="Text 15"/>
          <p:cNvSpPr txBox="1"/>
          <p:nvPr/>
        </p:nvSpPr>
        <p:spPr>
          <a:xfrm>
            <a:off x="777240" y="5669280"/>
            <a:ext cx="6949440" cy="310896"/>
          </a:xfrm>
          <a:prstGeom prst="rect">
            <a:avLst/>
          </a:prstGeom>
          <a:noFill/>
          <a:ln/>
        </p:spPr>
        <p:txBody>
          <a:bodyPr wrap="square" lIns="0" tIns="0" rIns="0" bIns="0" rtlCol="0" anchor="t"/>
          <a:lstStyle/>
          <a:p>
            <a:pPr indent="0" marL="0">
              <a:buNone/>
            </a:pPr>
            <a:r>
              <a:rPr lang="en-US" sz="1600" dirty="0">
                <a:solidFill>
                  <a:srgbClr val="FFFFFF"/>
                </a:solidFill>
                <a:latin typeface="Montserrat SemiBold" pitchFamily="34" charset="0"/>
                <a:ea typeface="Montserrat SemiBold" pitchFamily="34" charset="-122"/>
                <a:cs typeface="Montserrat SemiBold" pitchFamily="34" charset="-120"/>
              </a:rPr>
              <a:t>Happy to take any questions.</a:t>
            </a:r>
            <a:endParaRPr lang="en-US" sz="1600" dirty="0"/>
          </a:p>
        </p:txBody>
      </p:sp>
      <p:sp>
        <p:nvSpPr>
          <p:cNvPr id="21" name="Text 16"/>
          <p:cNvSpPr txBox="1"/>
          <p:nvPr/>
        </p:nvSpPr>
        <p:spPr>
          <a:xfrm>
            <a:off x="777240" y="6016752"/>
            <a:ext cx="7680960" cy="256032"/>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Next up: the PWPA and PJPT certifications, heading toward penetration testing.</a:t>
            </a:r>
            <a:endParaRPr lang="en-US" sz="950" dirty="0"/>
          </a:p>
        </p:txBody>
      </p:sp>
      <p:sp>
        <p:nvSpPr>
          <p:cNvPr id="22" name="Text 17"/>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THANK YOU</a:t>
            </a:r>
            <a:endParaRPr lang="en-US" sz="850" dirty="0"/>
          </a:p>
        </p:txBody>
      </p:sp>
      <p:sp>
        <p:nvSpPr>
          <p:cNvPr id="23" name="Text 18"/>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Stewart Title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Analyst Internship — Exit Presentation</dc:title>
  <dc:subject>PptxGenJS Presentation</dc:subject>
  <dc:creator>Jair Maldonado</dc:creator>
  <cp:lastModifiedBy>Jair Maldonado</cp:lastModifiedBy>
  <cp:revision>1</cp:revision>
  <dcterms:created xsi:type="dcterms:W3CDTF">2026-07-28T00:15:23Z</dcterms:created>
  <dcterms:modified xsi:type="dcterms:W3CDTF">2026-07-28T00:15:23Z</dcterms:modified>
</cp:coreProperties>
</file>