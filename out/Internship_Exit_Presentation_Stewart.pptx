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it found real flaws in a real Stewart repository, and where it could not be certain it said so rather than guessing. Q: Why "can't prove" and not yes or no? — AEGIS has a hand-curated list of about nine packages where the exact dangerous function is documented. Angular is not on it yet, so the tool can confirm the app uses the package but not whether the vulnerable function specifically is called. That is a known limitation, not a bug, and it is why those two need a person. Earlier, testing against an open-source project, I also found and fixed two bugs in my own code — one where a "can't prove" result was being described as a confirmed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A REAL RUN</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1,518 packages, 28 real flaws, nothing guessed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Not a test project — the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Stewart.STEPS.Frontend</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repository. Every flaw is genuine, pulled live.</a:t>
            </a:r>
            <a:endParaRPr lang="en-US" sz="1400" dirty="0"/>
          </a:p>
        </p:txBody>
      </p:sp>
      <p:sp>
        <p:nvSpPr>
          <p:cNvPr id="10" name="Shape 7"/>
          <p:cNvSpPr/>
          <p:nvPr/>
        </p:nvSpPr>
        <p:spPr>
          <a:xfrm>
            <a:off x="777240"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Text 8"/>
          <p:cNvSpPr txBox="1"/>
          <p:nvPr/>
        </p:nvSpPr>
        <p:spPr>
          <a:xfrm>
            <a:off x="960120"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1,518</a:t>
            </a:r>
            <a:endParaRPr lang="en-US" sz="3800" dirty="0"/>
          </a:p>
        </p:txBody>
      </p:sp>
      <p:sp>
        <p:nvSpPr>
          <p:cNvPr id="12" name="Text 9"/>
          <p:cNvSpPr txBox="1"/>
          <p:nvPr/>
        </p:nvSpPr>
        <p:spPr>
          <a:xfrm>
            <a:off x="960120"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a:t>
            </a:r>
            <a:endParaRPr lang="en-US" sz="950" dirty="0"/>
          </a:p>
        </p:txBody>
      </p:sp>
      <p:sp>
        <p:nvSpPr>
          <p:cNvPr id="13" name="Text 10"/>
          <p:cNvSpPr txBox="1"/>
          <p:nvPr/>
        </p:nvSpPr>
        <p:spPr>
          <a:xfrm>
            <a:off x="4081196"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4" name="Shape 11"/>
          <p:cNvSpPr/>
          <p:nvPr/>
        </p:nvSpPr>
        <p:spPr>
          <a:xfrm>
            <a:off x="4440784"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5" name="Text 12"/>
          <p:cNvSpPr txBox="1"/>
          <p:nvPr/>
        </p:nvSpPr>
        <p:spPr>
          <a:xfrm>
            <a:off x="4623664"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28</a:t>
            </a:r>
            <a:endParaRPr lang="en-US" sz="3800" dirty="0"/>
          </a:p>
        </p:txBody>
      </p:sp>
      <p:sp>
        <p:nvSpPr>
          <p:cNvPr id="16" name="Text 13"/>
          <p:cNvSpPr txBox="1"/>
          <p:nvPr/>
        </p:nvSpPr>
        <p:spPr>
          <a:xfrm>
            <a:off x="4623664"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carrying a known flaw</a:t>
            </a:r>
            <a:endParaRPr lang="en-US" sz="950" dirty="0"/>
          </a:p>
        </p:txBody>
      </p:sp>
      <p:sp>
        <p:nvSpPr>
          <p:cNvPr id="17" name="Text 14"/>
          <p:cNvSpPr txBox="1"/>
          <p:nvPr/>
        </p:nvSpPr>
        <p:spPr>
          <a:xfrm>
            <a:off x="7744739"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8" name="Shape 15"/>
          <p:cNvSpPr/>
          <p:nvPr/>
        </p:nvSpPr>
        <p:spPr>
          <a:xfrm>
            <a:off x="8104327" y="2432304"/>
            <a:ext cx="3310128" cy="1207008"/>
          </a:xfrm>
          <a:prstGeom prst="roundRect">
            <a:avLst>
              <a:gd name="adj" fmla="val 4545"/>
            </a:avLst>
          </a:prstGeom>
          <a:solidFill>
            <a:srgbClr val="F6EEF0"/>
          </a:solidFill>
          <a:ln w="9525">
            <a:solidFill>
              <a:srgbClr val="942838"/>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19" name="Text 16"/>
          <p:cNvSpPr txBox="1"/>
          <p:nvPr/>
        </p:nvSpPr>
        <p:spPr>
          <a:xfrm>
            <a:off x="8287207"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942838"/>
                </a:solidFill>
                <a:latin typeface="Montserrat ExtraBold" pitchFamily="34" charset="0"/>
                <a:ea typeface="Montserrat ExtraBold" pitchFamily="34" charset="-122"/>
                <a:cs typeface="Montserrat ExtraBold" pitchFamily="34" charset="-120"/>
              </a:rPr>
              <a:t>3</a:t>
            </a:r>
            <a:endParaRPr lang="en-US" sz="3800" dirty="0"/>
          </a:p>
        </p:txBody>
      </p:sp>
      <p:sp>
        <p:nvSpPr>
          <p:cNvPr id="20" name="Text 17"/>
          <p:cNvSpPr txBox="1"/>
          <p:nvPr/>
        </p:nvSpPr>
        <p:spPr>
          <a:xfrm>
            <a:off x="8287207"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needing a human decision</a:t>
            </a:r>
            <a:endParaRPr lang="en-US" sz="950" dirty="0"/>
          </a:p>
        </p:txBody>
      </p:sp>
      <p:sp>
        <p:nvSpPr>
          <p:cNvPr id="21" name="Shape 18"/>
          <p:cNvSpPr/>
          <p:nvPr/>
        </p:nvSpPr>
        <p:spPr>
          <a:xfrm>
            <a:off x="777240" y="3931920"/>
            <a:ext cx="5175504" cy="1371600"/>
          </a:xfrm>
          <a:prstGeom prst="roundRect">
            <a:avLst>
              <a:gd name="adj" fmla="val 4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22" name="Shape 19"/>
          <p:cNvSpPr/>
          <p:nvPr/>
        </p:nvSpPr>
        <p:spPr>
          <a:xfrm>
            <a:off x="777240" y="3931920"/>
            <a:ext cx="5175504" cy="45720"/>
          </a:xfrm>
          <a:prstGeom prst="rect">
            <a:avLst/>
          </a:prstGeom>
          <a:solidFill>
            <a:srgbClr val="C9C6C4"/>
          </a:solidFill>
          <a:ln/>
        </p:spPr>
      </p:sp>
      <p:sp>
        <p:nvSpPr>
          <p:cNvPr id="23" name="Text 20"/>
          <p:cNvSpPr txBox="1"/>
          <p:nvPr/>
        </p:nvSpPr>
        <p:spPr>
          <a:xfrm>
            <a:off x="1069848"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25 confirmed not called by our code</a:t>
            </a:r>
            <a:endParaRPr lang="en-US" sz="1350" dirty="0"/>
          </a:p>
        </p:txBody>
      </p:sp>
      <p:sp>
        <p:nvSpPr>
          <p:cNvPr id="24" name="Text 21"/>
          <p:cNvSpPr txBox="1"/>
          <p:nvPr/>
        </p:nvSpPr>
        <p:spPr>
          <a:xfrm>
            <a:off x="1069848"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Dev and build tooling, resolved with a real code parser rather than a text search — so this is a confident answer, not a guess.</a:t>
            </a:r>
            <a:endParaRPr lang="en-US" sz="1100" dirty="0"/>
          </a:p>
        </p:txBody>
      </p:sp>
      <p:sp>
        <p:nvSpPr>
          <p:cNvPr id="25" name="Shape 22"/>
          <p:cNvSpPr/>
          <p:nvPr/>
        </p:nvSpPr>
        <p:spPr>
          <a:xfrm>
            <a:off x="6236208" y="3931920"/>
            <a:ext cx="5175504" cy="1371600"/>
          </a:xfrm>
          <a:prstGeom prst="roundRect">
            <a:avLst>
              <a:gd name="adj" fmla="val 4000"/>
            </a:avLst>
          </a:prstGeom>
          <a:solidFill>
            <a:srgbClr val="FFFFFF"/>
          </a:solidFill>
          <a:ln w="9525">
            <a:solidFill>
              <a:srgbClr val="942838"/>
            </a:solidFill>
            <a:prstDash val="solid"/>
          </a:ln>
          <a:effectLst>
            <a:outerShdw sx="100000" sy="100000" kx="0" ky="0" algn="bl" rotWithShape="0" blurRad="1.313405207375865e+79" dist="3.2835130184396625e+78" dir="5.484237660094465e+92">
              <a:srgbClr val="959092">
                <a:alpha val="2.2e+94"/>
              </a:srgbClr>
            </a:outerShdw>
          </a:effectLst>
        </p:spPr>
      </p:sp>
      <p:sp>
        <p:nvSpPr>
          <p:cNvPr id="26" name="Shape 23"/>
          <p:cNvSpPr/>
          <p:nvPr/>
        </p:nvSpPr>
        <p:spPr>
          <a:xfrm>
            <a:off x="6236208" y="3931920"/>
            <a:ext cx="5175504" cy="45720"/>
          </a:xfrm>
          <a:prstGeom prst="rect">
            <a:avLst/>
          </a:prstGeom>
          <a:solidFill>
            <a:srgbClr val="942838"/>
          </a:solidFill>
          <a:ln/>
        </p:spPr>
      </p:sp>
      <p:sp>
        <p:nvSpPr>
          <p:cNvPr id="27" name="Text 24"/>
          <p:cNvSpPr txBox="1"/>
          <p:nvPr/>
        </p:nvSpPr>
        <p:spPr>
          <a:xfrm>
            <a:off x="6528816"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 could not be proven either way</a:t>
            </a:r>
            <a:endParaRPr lang="en-US" sz="1350" dirty="0"/>
          </a:p>
        </p:txBody>
      </p:sp>
      <p:sp>
        <p:nvSpPr>
          <p:cNvPr id="28" name="Text 25"/>
          <p:cNvSpPr txBox="1"/>
          <p:nvPr/>
        </p:nvSpPr>
        <p:spPr>
          <a:xfrm>
            <a:off x="6528816"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Both actively used by the app. AEGIS reported them as unproven rather than safe — the exact behaviour it exists to have.</a:t>
            </a:r>
            <a:endParaRPr lang="en-US" sz="1100" dirty="0"/>
          </a:p>
        </p:txBody>
      </p:sp>
      <p:sp>
        <p:nvSpPr>
          <p:cNvPr id="29" name="Shape 26"/>
          <p:cNvSpPr/>
          <p:nvPr/>
        </p:nvSpPr>
        <p:spPr>
          <a:xfrm>
            <a:off x="795528" y="5568696"/>
            <a:ext cx="73152" cy="73152"/>
          </a:xfrm>
          <a:prstGeom prst="ellipse">
            <a:avLst/>
          </a:prstGeom>
          <a:solidFill>
            <a:srgbClr val="942838"/>
          </a:solidFill>
          <a:ln/>
        </p:spPr>
      </p:sp>
      <p:sp>
        <p:nvSpPr>
          <p:cNvPr id="30" name="Text 27"/>
          <p:cNvSpPr txBox="1"/>
          <p:nvPr/>
        </p:nvSpPr>
        <p:spPr>
          <a:xfrm>
            <a:off x="996696" y="55046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None of the 28 are on the US government's actively-exploited list.</a:t>
            </a:r>
            <a:endParaRPr lang="en-US" sz="1050" dirty="0"/>
          </a:p>
        </p:txBody>
      </p:sp>
      <p:sp>
        <p:nvSpPr>
          <p:cNvPr id="31" name="Shape 28"/>
          <p:cNvSpPr/>
          <p:nvPr/>
        </p:nvSpPr>
        <p:spPr>
          <a:xfrm>
            <a:off x="795528" y="5797296"/>
            <a:ext cx="73152" cy="73152"/>
          </a:xfrm>
          <a:prstGeom prst="ellipse">
            <a:avLst/>
          </a:prstGeom>
          <a:solidFill>
            <a:srgbClr val="942838"/>
          </a:solidFill>
          <a:ln/>
        </p:spPr>
      </p:sp>
      <p:sp>
        <p:nvSpPr>
          <p:cNvPr id="32" name="Text 29"/>
          <p:cNvSpPr txBox="1"/>
          <p:nvPr/>
        </p:nvSpPr>
        <p:spPr>
          <a:xfrm>
            <a:off x="996696" y="57332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All three needing a decision have a non-breaking upgrade available, and the repo's own tests can verify it.</a:t>
            </a:r>
            <a:endParaRPr lang="en-US" sz="1050" dirty="0"/>
          </a:p>
        </p:txBody>
      </p:sp>
      <p:sp>
        <p:nvSpPr>
          <p:cNvPr id="33" name="Shape 30"/>
          <p:cNvSpPr/>
          <p:nvPr/>
        </p:nvSpPr>
        <p:spPr>
          <a:xfrm>
            <a:off x="795528" y="6025896"/>
            <a:ext cx="73152" cy="73152"/>
          </a:xfrm>
          <a:prstGeom prst="ellipse">
            <a:avLst/>
          </a:prstGeom>
          <a:solidFill>
            <a:srgbClr val="942838"/>
          </a:solidFill>
          <a:ln/>
        </p:spPr>
      </p:sp>
      <p:sp>
        <p:nvSpPr>
          <p:cNvPr id="34" name="Text 31"/>
          <p:cNvSpPr txBox="1"/>
          <p:nvPr/>
        </p:nvSpPr>
        <p:spPr>
          <a:xfrm>
            <a:off x="996696" y="59618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The scan was read-only. Nothing in the repository was changed.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Built, safety-rail tested, and already run against a real repository. Three things would take it further.</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Teach it the framework packages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AEGIS knows exactly which function is the dangerous one for about nine packages. Angular is not among them yet — which is why two findings came back "can't prove" instead of a straight answer. Extending that list turns those into a verdict.</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Keep the live lookups working everywhere</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This run pulled real flaw data live. On networks where the security proxy inspects traffic it still fails, so the split-scan workaround stays until an inspection bypass is in place.</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it works, and it has been run for real. What is left is widening what it can answer with certainty, and getting it into other hands.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ONE FACT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r>
          <p:cNvPicPr>
            <a:picLocks noChangeAspect="1"/>
          </p:cNvPicPr>
          <p:nvPr/>
        </p:nvPicPr>
        <p:blipFill>
          <a:blip r:embed="rId2"/>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5" name="Text 11"/>
          <p:cNvSpPr txBox="1"/>
          <p:nvPr/>
        </p:nvSpPr>
        <p:spPr>
          <a:xfrm>
            <a:off x="7882128" y="3182112"/>
            <a:ext cx="1097280" cy="566928"/>
          </a:xfrm>
          <a:prstGeom prst="rect">
            <a:avLst/>
          </a:prstGeom>
          <a:noFill/>
          <a:ln/>
        </p:spPr>
        <p:txBody>
          <a:bodyPr wrap="square" lIns="0" tIns="0" rIns="0" bIns="0" rtlCol="0" anchor="t"/>
          <a:lstStyle/>
          <a:p>
            <a:pPr indent="0" marL="0">
              <a:buNone/>
            </a:pPr>
            <a:r>
              <a:rPr lang="en-US" sz="3600" spc="-140" kern="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8" name="Text 14"/>
          <p:cNvSpPr txBox="1"/>
          <p:nvPr/>
        </p:nvSpPr>
        <p:spPr>
          <a:xfrm>
            <a:off x="7882128" y="4151376"/>
            <a:ext cx="1097280" cy="566928"/>
          </a:xfrm>
          <a:prstGeom prst="rect">
            <a:avLst/>
          </a:prstGeom>
          <a:noFill/>
          <a:ln/>
        </p:spPr>
        <p:txBody>
          <a:bodyPr wrap="square" lIns="0" tIns="0" rIns="0" bIns="0" rtlCol="0" anchor="t"/>
          <a:lstStyle/>
          <a:p>
            <a:pPr indent="0" marL="0">
              <a:buNone/>
            </a:pPr>
            <a:r>
              <a:rPr lang="en-US" sz="3600" spc="-140" kern="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r>
          <p:cNvPicPr>
            <a:picLocks noChangeAspect="1"/>
          </p:cNvPicPr>
          <p:nvPr/>
        </p:nvPicPr>
        <p:blipFill>
          <a:blip r:embed="rId3"/>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r>
          <p:cNvPicPr>
            <a:picLocks noChangeAspect="1"/>
          </p:cNvPicPr>
          <p:nvPr/>
        </p:nvPicPr>
        <p:blipFill>
          <a:blip r:embed="rId2"/>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1.1288395642942025e+116" dist="2.822098910735506e+115" dir="5.526847993018334e+135">
              <a:srgbClr val="959092">
                <a:alpha val="2.2000000000000005e+139"/>
              </a:srgbClr>
            </a:outerShdw>
          </a:effectLst>
        </p:spPr>
      </p:sp>
      <p:sp>
        <p:nvSpPr>
          <p:cNvPr id="12" name="Text 8"/>
          <p:cNvSpPr txBox="1"/>
          <p:nvPr/>
        </p:nvSpPr>
        <p:spPr>
          <a:xfrm>
            <a:off x="7242048" y="2688336"/>
            <a:ext cx="3879799"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indent="0" marL="0">
              <a:buNone/>
            </a:pPr>
            <a:r>
              <a:rPr lang="en-US" sz="22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7" name="Text 13"/>
          <p:cNvSpPr txBox="1"/>
          <p:nvPr/>
        </p:nvSpPr>
        <p:spPr>
          <a:xfrm>
            <a:off x="960120"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1" name="Text 17"/>
          <p:cNvSpPr txBox="1"/>
          <p:nvPr/>
        </p:nvSpPr>
        <p:spPr>
          <a:xfrm>
            <a:off x="3676802"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5" name="Text 21"/>
          <p:cNvSpPr txBox="1"/>
          <p:nvPr/>
        </p:nvSpPr>
        <p:spPr>
          <a:xfrm>
            <a:off x="6393485"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29" name="Text 25"/>
          <p:cNvSpPr txBox="1"/>
          <p:nvPr/>
        </p:nvSpPr>
        <p:spPr>
          <a:xfrm>
            <a:off x="9110167"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SAME FACT AGAIN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sx="100000" sy="100000" kx="0" ky="0" algn="bl" rotWithShape="0" blurRad="1.433626246653637e+120" dist="3.584065616634093e+119" dir="3.3161087958110005e+140">
              <a:srgbClr val="959092">
                <a:alpha val="2.2000000000000006e+144"/>
              </a:srgbClr>
            </a:outerShdw>
          </a:effectLst>
        </p:spPr>
      </p:sp>
      <p:sp>
        <p:nvSpPr>
          <p:cNvPr id="13" name="Text 10"/>
          <p:cNvSpPr txBox="1"/>
          <p:nvPr/>
        </p:nvSpPr>
        <p:spPr>
          <a:xfrm>
            <a:off x="1051560" y="2852928"/>
            <a:ext cx="5029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March patch</a:t>
            </a:r>
            <a:pPr indent="0" marL="0">
              <a:buNone/>
            </a:pP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June patch</a:t>
            </a:r>
            <a:pPr indent="0" marL="0">
              <a:buNone/>
            </a:pP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indent="0" marL="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pPr indent="0" marL="0">
              <a:buNone/>
            </a:pP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indent="0" marL="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sx="100000" sy="100000" kx="0" ky="0" algn="bl" rotWithShape="0" blurRad="1.8207053332501191e+124" dist="4.551763333125298e+123" dir="1.9896652774866004e+145">
              <a:srgbClr val="959092">
                <a:alpha val="2.2000000000000004e+149"/>
              </a:srgbClr>
            </a:outerShdw>
          </a:effectLst>
        </p:spPr>
      </p:sp>
      <p:sp>
        <p:nvSpPr>
          <p:cNvPr id="22" name="Text 19"/>
          <p:cNvSpPr txBox="1"/>
          <p:nvPr/>
        </p:nvSpPr>
        <p:spPr>
          <a:xfrm>
            <a:off x="689457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2.312295773227651e+128" dist="5.780739433069128e+127" dir="1.1937991664919603e+150">
              <a:srgbClr val="959092">
                <a:alpha val="2.2000000000000004e+154"/>
              </a:srgbClr>
            </a:outerShdw>
          </a:effectLst>
        </p:spPr>
      </p:sp>
      <p:sp>
        <p:nvSpPr>
          <p:cNvPr id="25" name="Text 22"/>
          <p:cNvSpPr txBox="1"/>
          <p:nvPr/>
        </p:nvSpPr>
        <p:spPr>
          <a:xfrm>
            <a:off x="851702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2.936615631999117e+132" dist="7.341539079997793e+131" dir="7.162794998951762e+154">
              <a:srgbClr val="959092">
                <a:alpha val="2.2000000000000003e+159"/>
              </a:srgbClr>
            </a:outerShdw>
          </a:effectLst>
        </p:spPr>
      </p:sp>
      <p:sp>
        <p:nvSpPr>
          <p:cNvPr id="28" name="Text 25"/>
          <p:cNvSpPr txBox="1"/>
          <p:nvPr/>
        </p:nvSpPr>
        <p:spPr>
          <a:xfrm>
            <a:off x="10139477"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r>
          <p:cNvPicPr>
            <a:picLocks noChangeAspect="1"/>
          </p:cNvPicPr>
          <p:nvPr/>
        </p:nvPicPr>
        <p:blipFill>
          <a:blip r:embed="rId2"/>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pPr indent="0" marL="0">
              <a:buNone/>
            </a:pP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412480" y="-548640"/>
            <a:ext cx="4937760" cy="493776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76656"/>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69264"/>
            <a:ext cx="9509760" cy="749808"/>
          </a:xfrm>
          <a:prstGeom prst="rect">
            <a:avLst/>
          </a:prstGeom>
          <a:noFill/>
          <a:ln/>
        </p:spPr>
        <p:txBody>
          <a:bodyPr wrap="square" lIns="0" tIns="0" rIns="0" bIns="0" rtlCol="0" anchor="t"/>
          <a:lstStyle/>
          <a:p>
            <a:pPr indent="0" marL="0">
              <a:buNone/>
            </a:pPr>
            <a:r>
              <a:rPr lang="en-US" sz="3600" spc="-90" kern="0" dirty="0">
                <a:solidFill>
                  <a:srgbClr val="FFFFFF"/>
                </a:solidFill>
                <a:latin typeface="Montserrat ExtraBold" pitchFamily="34" charset="0"/>
                <a:ea typeface="Montserrat ExtraBold" pitchFamily="34" charset="-122"/>
                <a:cs typeface="Montserrat ExtraBold" pitchFamily="34" charset="-120"/>
              </a:rPr>
              <a:t>What this means for Stewart</a:t>
            </a:r>
            <a:endParaRPr lang="en-US" sz="3600" dirty="0"/>
          </a:p>
        </p:txBody>
      </p:sp>
      <p:sp>
        <p:nvSpPr>
          <p:cNvPr id="7" name="Shape 2"/>
          <p:cNvSpPr/>
          <p:nvPr/>
        </p:nvSpPr>
        <p:spPr>
          <a:xfrm>
            <a:off x="777240" y="1810512"/>
            <a:ext cx="640080" cy="50292"/>
          </a:xfrm>
          <a:prstGeom prst="rect">
            <a:avLst/>
          </a:prstGeom>
          <a:solidFill>
            <a:srgbClr val="FFFFFF"/>
          </a:solidFill>
          <a:ln/>
        </p:spPr>
      </p:sp>
      <p:sp>
        <p:nvSpPr>
          <p:cNvPr id="8" name="Text 3"/>
          <p:cNvSpPr txBox="1"/>
          <p:nvPr/>
        </p:nvSpPr>
        <p:spPr>
          <a:xfrm>
            <a:off x="777240" y="2029968"/>
            <a:ext cx="10241280" cy="310896"/>
          </a:xfrm>
          <a:prstGeom prst="rect">
            <a:avLst/>
          </a:prstGeom>
          <a:noFill/>
          <a:ln/>
        </p:spPr>
        <p:txBody>
          <a:bodyPr wrap="square" lIns="0" tIns="0" rIns="0" bIns="0" rtlCol="0" anchor="t"/>
          <a:lstStyle/>
          <a:p>
            <a:pPr indent="0" marL="0">
              <a:buNone/>
            </a:pPr>
            <a:r>
              <a:rPr lang="en-US" sz="1400" dirty="0">
                <a:solidFill>
                  <a:srgbClr val="DAB4BA"/>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9" name="Text 4"/>
          <p:cNvSpPr txBox="1"/>
          <p:nvPr/>
        </p:nvSpPr>
        <p:spPr>
          <a:xfrm>
            <a:off x="777240" y="2542032"/>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01</a:t>
            </a:r>
            <a:endParaRPr lang="en-US" sz="2400" dirty="0"/>
          </a:p>
        </p:txBody>
      </p:sp>
      <p:sp>
        <p:nvSpPr>
          <p:cNvPr id="10" name="Text 5"/>
          <p:cNvSpPr txBox="1"/>
          <p:nvPr/>
        </p:nvSpPr>
        <p:spPr>
          <a:xfrm>
            <a:off x="1527048" y="2487168"/>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1" name="Text 6"/>
          <p:cNvSpPr txBox="1"/>
          <p:nvPr/>
        </p:nvSpPr>
        <p:spPr>
          <a:xfrm>
            <a:off x="1527048" y="2706624"/>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2" name="Text 7"/>
          <p:cNvSpPr txBox="1"/>
          <p:nvPr/>
        </p:nvSpPr>
        <p:spPr>
          <a:xfrm>
            <a:off x="4882896" y="2651760"/>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13" name="Shape 8"/>
          <p:cNvSpPr/>
          <p:nvPr/>
        </p:nvSpPr>
        <p:spPr>
          <a:xfrm>
            <a:off x="5486400" y="2432304"/>
            <a:ext cx="5928055" cy="914400"/>
          </a:xfrm>
          <a:prstGeom prst="roundRect">
            <a:avLst>
              <a:gd name="adj" fmla="val 5000"/>
            </a:avLst>
          </a:prstGeom>
          <a:solidFill>
            <a:srgbClr val="FFFFFF"/>
          </a:solidFill>
          <a:ln/>
          <a:effectLst>
            <a:outerShdw sx="100000" sy="100000" kx="0" ky="0" algn="bl" rotWithShape="0" blurRad="2580640000" dist="645160000" dir="324000000000">
              <a:srgbClr val="5D1923">
                <a:alpha val="3400000000"/>
              </a:srgbClr>
            </a:outerShdw>
          </a:effectLst>
        </p:spPr>
      </p:sp>
      <p:sp>
        <p:nvSpPr>
          <p:cNvPr id="14" name="Shape 9"/>
          <p:cNvSpPr/>
          <p:nvPr/>
        </p:nvSpPr>
        <p:spPr>
          <a:xfrm>
            <a:off x="5486400" y="2432304"/>
            <a:ext cx="45720" cy="914400"/>
          </a:xfrm>
          <a:prstGeom prst="rect">
            <a:avLst/>
          </a:prstGeom>
          <a:solidFill>
            <a:srgbClr val="942838"/>
          </a:solidFill>
          <a:ln/>
        </p:spPr>
      </p:sp>
      <p:sp>
        <p:nvSpPr>
          <p:cNvPr id="15" name="Text 10"/>
          <p:cNvSpPr txBox="1"/>
          <p:nvPr/>
        </p:nvSpPr>
        <p:spPr>
          <a:xfrm>
            <a:off x="5724144" y="2560320"/>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6" name="Text 11"/>
          <p:cNvSpPr txBox="1"/>
          <p:nvPr/>
        </p:nvSpPr>
        <p:spPr>
          <a:xfrm>
            <a:off x="5724144" y="2779776"/>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7" name="Text 12"/>
          <p:cNvSpPr txBox="1"/>
          <p:nvPr/>
        </p:nvSpPr>
        <p:spPr>
          <a:xfrm>
            <a:off x="777240" y="3621024"/>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02</a:t>
            </a:r>
            <a:endParaRPr lang="en-US" sz="2400" dirty="0"/>
          </a:p>
        </p:txBody>
      </p:sp>
      <p:sp>
        <p:nvSpPr>
          <p:cNvPr id="18" name="Text 13"/>
          <p:cNvSpPr txBox="1"/>
          <p:nvPr/>
        </p:nvSpPr>
        <p:spPr>
          <a:xfrm>
            <a:off x="1527048" y="3566160"/>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9" name="Text 14"/>
          <p:cNvSpPr txBox="1"/>
          <p:nvPr/>
        </p:nvSpPr>
        <p:spPr>
          <a:xfrm>
            <a:off x="1527048" y="3785616"/>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5"/>
          <p:cNvSpPr txBox="1"/>
          <p:nvPr/>
        </p:nvSpPr>
        <p:spPr>
          <a:xfrm>
            <a:off x="4882896" y="3730752"/>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1" name="Shape 16"/>
          <p:cNvSpPr/>
          <p:nvPr/>
        </p:nvSpPr>
        <p:spPr>
          <a:xfrm>
            <a:off x="5486400" y="3511296"/>
            <a:ext cx="5928055" cy="914400"/>
          </a:xfrm>
          <a:prstGeom prst="roundRect">
            <a:avLst>
              <a:gd name="adj" fmla="val 5000"/>
            </a:avLst>
          </a:prstGeom>
          <a:solidFill>
            <a:srgbClr val="FFFFFF"/>
          </a:solidFill>
          <a:ln/>
          <a:effectLst>
            <a:outerShdw sx="100000" sy="100000" kx="0" ky="0" algn="bl" rotWithShape="0" blurRad="32774128000000" dist="8193532000000" dir="19440000000000000">
              <a:srgbClr val="5D1923">
                <a:alpha val="340000000000000"/>
              </a:srgbClr>
            </a:outerShdw>
          </a:effectLst>
        </p:spPr>
      </p:sp>
      <p:sp>
        <p:nvSpPr>
          <p:cNvPr id="22" name="Shape 17"/>
          <p:cNvSpPr/>
          <p:nvPr/>
        </p:nvSpPr>
        <p:spPr>
          <a:xfrm>
            <a:off x="5486400" y="3511296"/>
            <a:ext cx="45720" cy="914400"/>
          </a:xfrm>
          <a:prstGeom prst="rect">
            <a:avLst/>
          </a:prstGeom>
          <a:solidFill>
            <a:srgbClr val="942838"/>
          </a:solidFill>
          <a:ln/>
        </p:spPr>
      </p:sp>
      <p:sp>
        <p:nvSpPr>
          <p:cNvPr id="23" name="Text 18"/>
          <p:cNvSpPr txBox="1"/>
          <p:nvPr/>
        </p:nvSpPr>
        <p:spPr>
          <a:xfrm>
            <a:off x="5724144" y="3639312"/>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4" name="Text 19"/>
          <p:cNvSpPr txBox="1"/>
          <p:nvPr/>
        </p:nvSpPr>
        <p:spPr>
          <a:xfrm>
            <a:off x="5724144" y="3858768"/>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and its safety rails tested — five stages, and 5,675 packages scanned in production by an earlier version.</a:t>
            </a:r>
            <a:endParaRPr lang="en-US" sz="1150" dirty="0"/>
          </a:p>
        </p:txBody>
      </p:sp>
      <p:sp>
        <p:nvSpPr>
          <p:cNvPr id="25" name="Text 20"/>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03</a:t>
            </a:r>
            <a:endParaRPr lang="en-US" sz="2400" dirty="0"/>
          </a:p>
        </p:txBody>
      </p:sp>
      <p:sp>
        <p:nvSpPr>
          <p:cNvPr id="26" name="Text 21"/>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27" name="Text 22"/>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8" name="Text 23"/>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9" name="Shape 24"/>
          <p:cNvSpPr/>
          <p:nvPr/>
        </p:nvSpPr>
        <p:spPr>
          <a:xfrm>
            <a:off x="5486400" y="4590288"/>
            <a:ext cx="5928055" cy="914400"/>
          </a:xfrm>
          <a:prstGeom prst="roundRect">
            <a:avLst>
              <a:gd name="adj" fmla="val 5000"/>
            </a:avLst>
          </a:prstGeom>
          <a:solidFill>
            <a:srgbClr val="FFFFFF"/>
          </a:solidFill>
          <a:ln/>
          <a:effectLst>
            <a:outerShdw sx="100000" sy="100000" kx="0" ky="0" algn="bl" rotWithShape="0" blurRad="416231425600000000" dist="104057856400000000" dir="1.1664e+21">
              <a:srgbClr val="5D1923">
                <a:alpha val="34000000000000000000"/>
              </a:srgbClr>
            </a:outerShdw>
          </a:effectLst>
        </p:spPr>
      </p:sp>
      <p:sp>
        <p:nvSpPr>
          <p:cNvPr id="30" name="Shape 25"/>
          <p:cNvSpPr/>
          <p:nvPr/>
        </p:nvSpPr>
        <p:spPr>
          <a:xfrm>
            <a:off x="5486400" y="4590288"/>
            <a:ext cx="45720" cy="914400"/>
          </a:xfrm>
          <a:prstGeom prst="rect">
            <a:avLst/>
          </a:prstGeom>
          <a:solidFill>
            <a:srgbClr val="942838"/>
          </a:solidFill>
          <a:ln/>
        </p:spPr>
      </p:sp>
      <p:sp>
        <p:nvSpPr>
          <p:cNvPr id="31" name="Text 26"/>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2" name="Text 27"/>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3" name="Text 28"/>
          <p:cNvSpPr txBox="1"/>
          <p:nvPr/>
        </p:nvSpPr>
        <p:spPr>
          <a:xfrm>
            <a:off x="777240" y="5833872"/>
            <a:ext cx="10637215" cy="310896"/>
          </a:xfrm>
          <a:prstGeom prst="rect">
            <a:avLst/>
          </a:prstGeom>
          <a:noFill/>
          <a:ln/>
        </p:spPr>
        <p:txBody>
          <a:bodyPr wrap="square" lIns="0" tIns="0" rIns="0" bIns="0" rtlCol="0" anchor="t"/>
          <a:lstStyle/>
          <a:p>
            <a:pPr indent="0" marL="0">
              <a:buNone/>
            </a:pPr>
            <a:r>
              <a:rPr lang="en-US" sz="1300" dirty="0">
                <a:solidFill>
                  <a:srgbClr val="FFFFFF"/>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300" dirty="0"/>
          </a:p>
        </p:txBody>
      </p:sp>
      <p:sp>
        <p:nvSpPr>
          <p:cNvPr id="34" name="Text 29"/>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35" name="Text 30"/>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2026-07-29T14:40:53Z</dcterms:created>
  <dcterms:modified xsi:type="dcterms:W3CDTF">2026-07-29T14:40:53Z</dcterms:modified>
</cp:coreProperties>
</file>