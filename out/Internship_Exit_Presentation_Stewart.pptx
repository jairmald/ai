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security folks. The short version for everyone else: I tried to make the tool report a clean result it had not earned, and it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Three separate gaps, three things the team keeps using. This is the whole story on one slide.</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907792"/>
            <a:ext cx="3129991" cy="658368"/>
          </a:xfrm>
          <a:prstGeom prst="rect">
            <a:avLst/>
          </a:prstGeom>
          <a:noFill/>
          <a:ln/>
        </p:spPr>
        <p:txBody>
          <a:bodyPr wrap="square" lIns="0" tIns="0" rIns="0" bIns="0" rtlCol="0" anchor="t"/>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4041648"/>
            <a:ext cx="3129991" cy="658368"/>
          </a:xfrm>
          <a:prstGeom prst="rect">
            <a:avLst/>
          </a:prstGeom>
          <a:noFill/>
          <a:ln/>
        </p:spPr>
        <p:txBody>
          <a:bodyPr wrap="square" lIns="0" tIns="0" rIns="0" bIns="0" rtlCol="0" anchor="t"/>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5,675 packages scanned in production by an earlier version</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175504"/>
            <a:ext cx="3129991" cy="658368"/>
          </a:xfrm>
          <a:prstGeom prst="rect">
            <a:avLst/>
          </a:prstGeom>
          <a:noFill/>
          <a:ln/>
        </p:spPr>
        <p:txBody>
          <a:bodyPr wrap="square" lIns="0" tIns="0" rIns="0" bIns="0" rtlCol="0" anchor="t"/>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widely-used open-source package. Everyone who installs it inherits the compromise — including us. Real campaigns in 2025 and 2026 worked exactly this way, including a self-spreading family that reused each victim to infect the next.</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1170432" y="2798064"/>
            <a:ext cx="9875520" cy="2880360"/>
          </a:xfrm>
          <a:prstGeom prst="rect">
            <a:avLst/>
          </a:prstGeom>
        </p:spPr>
      </p:pic>
      <p:sp>
        <p:nvSpPr>
          <p:cNvPr id="11" name="Text 7"/>
          <p:cNvSpPr txBox="1"/>
          <p:nvPr/>
        </p:nvSpPr>
        <p:spPr>
          <a:xfrm>
            <a:off x="52852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365370"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587362"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802404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138928"/>
            <a:ext cx="10637215" cy="859536"/>
          </a:xfrm>
          <a:prstGeom prst="roundRect">
            <a:avLst>
              <a:gd name="adj" fmla="val 6383"/>
            </a:avLst>
          </a:prstGeom>
          <a:solidFill>
            <a:srgbClr val="F6EEF0"/>
          </a:solidFill>
          <a:ln/>
        </p:spPr>
      </p:sp>
      <p:sp>
        <p:nvSpPr>
          <p:cNvPr id="16" name="Shape 12"/>
          <p:cNvSpPr/>
          <p:nvPr/>
        </p:nvSpPr>
        <p:spPr>
          <a:xfrm>
            <a:off x="777240" y="5138928"/>
            <a:ext cx="50292" cy="859536"/>
          </a:xfrm>
          <a:prstGeom prst="rect">
            <a:avLst/>
          </a:prstGeom>
          <a:solidFill>
            <a:srgbClr val="942838"/>
          </a:solidFill>
          <a:ln/>
        </p:spPr>
      </p:sp>
      <p:sp>
        <p:nvSpPr>
          <p:cNvPr id="17" name="Text 13"/>
          <p:cNvSpPr txBox="1"/>
          <p:nvPr/>
        </p:nvSpPr>
        <p:spPr>
          <a:xfrm>
            <a:off x="1014984" y="527608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513832"/>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2011680"/>
            <a:ext cx="393192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5,675</a:t>
            </a:r>
            <a:endParaRPr lang="en-US" sz="7200" dirty="0"/>
          </a:p>
        </p:txBody>
      </p:sp>
      <p:sp>
        <p:nvSpPr>
          <p:cNvPr id="10" name="Text 7"/>
          <p:cNvSpPr txBox="1"/>
          <p:nvPr/>
        </p:nvSpPr>
        <p:spPr>
          <a:xfrm>
            <a:off x="777240" y="3145536"/>
            <a:ext cx="393192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 in production</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an earlier version of the tool</a:t>
            </a:r>
            <a:endParaRPr lang="en-US" sz="950" dirty="0"/>
          </a:p>
        </p:txBody>
      </p:sp>
      <p:sp>
        <p:nvSpPr>
          <p:cNvPr id="11" name="Shape 8"/>
          <p:cNvSpPr/>
          <p:nvPr/>
        </p:nvSpPr>
        <p:spPr>
          <a:xfrm>
            <a:off x="795528" y="3602736"/>
            <a:ext cx="109728" cy="109728"/>
          </a:xfrm>
          <a:prstGeom prst="ellipse">
            <a:avLst/>
          </a:prstGeom>
          <a:solidFill>
            <a:srgbClr val="942838"/>
          </a:solidFill>
          <a:ln/>
        </p:spPr>
      </p:sp>
      <p:sp>
        <p:nvSpPr>
          <p:cNvPr id="12" name="Text 9"/>
          <p:cNvSpPr txBox="1"/>
          <p:nvPr/>
        </p:nvSpPr>
        <p:spPr>
          <a:xfrm>
            <a:off x="1033272" y="3529584"/>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Reachability, not just presence</a:t>
            </a:r>
            <a:endParaRPr lang="en-US" sz="1250" dirty="0"/>
          </a:p>
        </p:txBody>
      </p:sp>
      <p:sp>
        <p:nvSpPr>
          <p:cNvPr id="13" name="Text 10"/>
          <p:cNvSpPr txBox="1"/>
          <p:nvPr/>
        </p:nvSpPr>
        <p:spPr>
          <a:xfrm>
            <a:off x="1033272" y="3785616"/>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Not "you have a flawed package" but "your code actually calls the flawed part".</a:t>
            </a:r>
            <a:endParaRPr lang="en-US" sz="1100" dirty="0"/>
          </a:p>
        </p:txBody>
      </p:sp>
      <p:sp>
        <p:nvSpPr>
          <p:cNvPr id="14" name="Shape 11"/>
          <p:cNvSpPr/>
          <p:nvPr/>
        </p:nvSpPr>
        <p:spPr>
          <a:xfrm>
            <a:off x="795528" y="4370832"/>
            <a:ext cx="109728" cy="109728"/>
          </a:xfrm>
          <a:prstGeom prst="ellipse">
            <a:avLst/>
          </a:prstGeom>
          <a:solidFill>
            <a:srgbClr val="942838"/>
          </a:solidFill>
          <a:ln/>
        </p:spPr>
      </p:sp>
      <p:sp>
        <p:nvSpPr>
          <p:cNvPr id="15" name="Text 12"/>
          <p:cNvSpPr txBox="1"/>
          <p:nvPr/>
        </p:nvSpPr>
        <p:spPr>
          <a:xfrm>
            <a:off x="1033272" y="4297680"/>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Three honest answers</a:t>
            </a:r>
            <a:endParaRPr lang="en-US" sz="1250" dirty="0"/>
          </a:p>
        </p:txBody>
      </p:sp>
      <p:sp>
        <p:nvSpPr>
          <p:cNvPr id="16" name="Text 13"/>
          <p:cNvSpPr txBox="1"/>
          <p:nvPr/>
        </p:nvSpPr>
        <p:spPr>
          <a:xfrm>
            <a:off x="1033272" y="4553712"/>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Reachable, no call site found, or can't prove. They are never collapsed together into a single "safe".</a:t>
            </a:r>
            <a:endParaRPr lang="en-US" sz="1100" dirty="0"/>
          </a:p>
        </p:txBody>
      </p:sp>
      <p:sp>
        <p:nvSpPr>
          <p:cNvPr id="17" name="Shape 14"/>
          <p:cNvSpPr/>
          <p:nvPr/>
        </p:nvSpPr>
        <p:spPr>
          <a:xfrm>
            <a:off x="795528" y="5138928"/>
            <a:ext cx="109728" cy="109728"/>
          </a:xfrm>
          <a:prstGeom prst="ellipse">
            <a:avLst/>
          </a:prstGeom>
          <a:solidFill>
            <a:srgbClr val="942838"/>
          </a:solidFill>
          <a:ln/>
        </p:spPr>
      </p:sp>
      <p:sp>
        <p:nvSpPr>
          <p:cNvPr id="18" name="Text 15"/>
          <p:cNvSpPr txBox="1"/>
          <p:nvPr/>
        </p:nvSpPr>
        <p:spPr>
          <a:xfrm>
            <a:off x="1033272" y="5065776"/>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"safe"</a:t>
            </a:r>
            <a:endParaRPr lang="en-US" sz="1250" dirty="0"/>
          </a:p>
        </p:txBody>
      </p:sp>
      <p:sp>
        <p:nvSpPr>
          <p:cNvPr id="19" name="Text 16"/>
          <p:cNvSpPr txBox="1"/>
          <p:nvPr/>
        </p:nvSpPr>
        <p:spPr>
          <a:xfrm>
            <a:off x="1033272" y="5321808"/>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If the tool cannot tell, it says so. It never reports a clean result it has not earned.</a:t>
            </a:r>
            <a:endParaRPr lang="en-US" sz="1100" dirty="0"/>
          </a:p>
        </p:txBody>
      </p:sp>
      <p:sp>
        <p:nvSpPr>
          <p:cNvPr id="20" name="Shape 17"/>
          <p:cNvSpPr/>
          <p:nvPr/>
        </p:nvSpPr>
        <p:spPr>
          <a:xfrm>
            <a:off x="5175504" y="2066544"/>
            <a:ext cx="6238951" cy="3035808"/>
          </a:xfrm>
          <a:prstGeom prst="roundRect">
            <a:avLst>
              <a:gd name="adj" fmla="val 1807"/>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1" name="Text 18"/>
          <p:cNvSpPr txBox="1"/>
          <p:nvPr/>
        </p:nvSpPr>
        <p:spPr>
          <a:xfrm>
            <a:off x="5486400" y="2322576"/>
            <a:ext cx="5617159"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PACKAGES SCANNED PER RUN  ·  EARLIER VERSION</a:t>
            </a:r>
            <a:endParaRPr lang="en-US" sz="850" dirty="0"/>
          </a:p>
        </p:txBody>
      </p:sp>
      <p:pic>
        <p:nvPicPr>
          <p:cNvPr id="22" name="Image 1" descr="/home/user/ai/assets/gen/chart-packages.png">    </p:cNvPr>
          <p:cNvPicPr>
            <a:picLocks noChangeAspect="1"/>
          </p:cNvPicPr>
          <p:nvPr/>
        </p:nvPicPr>
        <p:blipFill>
          <a:blip r:embed="rId2"/>
          <a:stretch>
            <a:fillRect/>
          </a:stretch>
        </p:blipFill>
        <p:spPr>
          <a:xfrm>
            <a:off x="6164428" y="2578608"/>
            <a:ext cx="4261104" cy="2410888"/>
          </a:xfrm>
          <a:prstGeom prst="rect">
            <a:avLst/>
          </a:prstGeom>
        </p:spPr>
      </p:pic>
      <p:sp>
        <p:nvSpPr>
          <p:cNvPr id="23" name="Shape 19"/>
          <p:cNvSpPr/>
          <p:nvPr/>
        </p:nvSpPr>
        <p:spPr>
          <a:xfrm>
            <a:off x="5175504" y="5266944"/>
            <a:ext cx="6238951" cy="877824"/>
          </a:xfrm>
          <a:prstGeom prst="roundRect">
            <a:avLst>
              <a:gd name="adj" fmla="val 6250"/>
            </a:avLst>
          </a:prstGeom>
          <a:solidFill>
            <a:srgbClr val="F6EEF0"/>
          </a:solidFill>
          <a:ln/>
        </p:spPr>
      </p:sp>
      <p:sp>
        <p:nvSpPr>
          <p:cNvPr id="24" name="Shape 20"/>
          <p:cNvSpPr/>
          <p:nvPr/>
        </p:nvSpPr>
        <p:spPr>
          <a:xfrm>
            <a:off x="5175504" y="5266944"/>
            <a:ext cx="50292" cy="877824"/>
          </a:xfrm>
          <a:prstGeom prst="rect">
            <a:avLst/>
          </a:prstGeom>
          <a:solidFill>
            <a:srgbClr val="942838"/>
          </a:solidFill>
          <a:ln/>
        </p:spPr>
      </p:sp>
      <p:sp>
        <p:nvSpPr>
          <p:cNvPr id="25" name="Text 21"/>
          <p:cNvSpPr txBox="1"/>
          <p:nvPr/>
        </p:nvSpPr>
        <p:spPr>
          <a:xfrm>
            <a:off x="5413248" y="5394960"/>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IN PRACTICE</a:t>
            </a:r>
            <a:endParaRPr lang="en-US" sz="850" dirty="0"/>
          </a:p>
        </p:txBody>
      </p:sp>
      <p:sp>
        <p:nvSpPr>
          <p:cNvPr id="26" name="Text 22"/>
          <p:cNvSpPr txBox="1"/>
          <p:nvPr/>
        </p:nvSpPr>
        <p:spPr>
          <a:xfrm>
            <a:off x="5413248" y="5614416"/>
            <a:ext cx="5781751" cy="457200"/>
          </a:xfrm>
          <a:prstGeom prst="rect">
            <a:avLst/>
          </a:prstGeom>
          <a:noFill/>
          <a:ln/>
        </p:spPr>
        <p:txBody>
          <a:bodyPr wrap="square" lIns="0" tIns="0" rIns="0" bIns="0" rtlCol="0" anchor="t"/>
          <a:lstStyle/>
          <a:p>
            <a:pPr indent="0" marL="0">
              <a:lnSpc>
                <a:spcPct val="120000"/>
              </a:lnSpc>
              <a:buNone/>
            </a:pPr>
            <a:r>
              <a:rPr lang="en-US" sz="1000" dirty="0">
                <a:solidFill>
                  <a:srgbClr val="43464A"/>
                </a:solidFill>
                <a:latin typeface="Montserrat" pitchFamily="34" charset="0"/>
                <a:ea typeface="Montserrat" pitchFamily="34" charset="-122"/>
                <a:cs typeface="Montserrat" pitchFamily="34" charset="-120"/>
              </a:rPr>
              <a:t>A package we use has a known flaw. AEGIS answers three things: does our code actually call it, how much would be affected, and how risky is the fix. Then the team decides whether it is urgent — instead of guessing.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actually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PROVING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I tried to catch it lying, and it held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security tool that quietly reports "clean" when it actually failed is worse than no tool at all. So I tested the failure paths, not just the happy path.</a:t>
            </a:r>
            <a:endParaRPr lang="en-US" sz="1400" dirty="0"/>
          </a:p>
        </p:txBody>
      </p:sp>
      <p:sp>
        <p:nvSpPr>
          <p:cNvPr id="10" name="Text 7"/>
          <p:cNvSpPr txBox="1"/>
          <p:nvPr/>
        </p:nvSpPr>
        <p:spPr>
          <a:xfrm>
            <a:off x="777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733</a:t>
            </a:r>
            <a:endParaRPr lang="en-US" sz="4000" dirty="0"/>
          </a:p>
        </p:txBody>
      </p:sp>
      <p:sp>
        <p:nvSpPr>
          <p:cNvPr id="11" name="Text 8"/>
          <p:cNvSpPr txBox="1"/>
          <p:nvPr/>
        </p:nvSpPr>
        <p:spPr>
          <a:xfrm>
            <a:off x="777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read from a real</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project's lockfile</a:t>
            </a:r>
            <a:endParaRPr lang="en-US" sz="950" dirty="0"/>
          </a:p>
        </p:txBody>
      </p:sp>
      <p:sp>
        <p:nvSpPr>
          <p:cNvPr id="12" name="Text 9"/>
          <p:cNvSpPr txBox="1"/>
          <p:nvPr/>
        </p:nvSpPr>
        <p:spPr>
          <a:xfrm>
            <a:off x="3063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2</a:t>
            </a:r>
            <a:endParaRPr lang="en-US" sz="4000" dirty="0"/>
          </a:p>
        </p:txBody>
      </p:sp>
      <p:sp>
        <p:nvSpPr>
          <p:cNvPr id="13" name="Text 10"/>
          <p:cNvSpPr txBox="1"/>
          <p:nvPr/>
        </p:nvSpPr>
        <p:spPr>
          <a:xfrm>
            <a:off x="3063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real bugs found in my own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code, and fixed</a:t>
            </a:r>
            <a:endParaRPr lang="en-US" sz="950" dirty="0"/>
          </a:p>
        </p:txBody>
      </p:sp>
      <p:sp>
        <p:nvSpPr>
          <p:cNvPr id="14" name="Shape 11"/>
          <p:cNvSpPr/>
          <p:nvPr/>
        </p:nvSpPr>
        <p:spPr>
          <a:xfrm>
            <a:off x="777240" y="3858768"/>
            <a:ext cx="4114800" cy="10973"/>
          </a:xfrm>
          <a:prstGeom prst="rect">
            <a:avLst/>
          </a:prstGeom>
          <a:solidFill>
            <a:srgbClr val="E6E4E2"/>
          </a:solidFill>
          <a:ln/>
        </p:spPr>
      </p:sp>
      <p:sp>
        <p:nvSpPr>
          <p:cNvPr id="15" name="Text 12"/>
          <p:cNvSpPr txBox="1"/>
          <p:nvPr/>
        </p:nvSpPr>
        <p:spPr>
          <a:xfrm>
            <a:off x="777240" y="4041648"/>
            <a:ext cx="4023360"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The bugs are the interesting part: one was an honesty bug — a "can't prove" result was being described as if the flaw had been confirmed absent. Exactly the failure the tool exists to prevent.</a:t>
            </a:r>
            <a:endParaRPr lang="en-US" sz="1100" dirty="0"/>
          </a:p>
        </p:txBody>
      </p:sp>
      <p:sp>
        <p:nvSpPr>
          <p:cNvPr id="16" name="Text 13"/>
          <p:cNvSpPr txBox="1"/>
          <p:nvPr/>
        </p:nvSpPr>
        <p:spPr>
          <a:xfrm>
            <a:off x="5358384" y="2432304"/>
            <a:ext cx="60560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TESTED</a:t>
            </a:r>
            <a:endParaRPr lang="en-US" sz="850" dirty="0"/>
          </a:p>
        </p:txBody>
      </p:sp>
      <p:sp>
        <p:nvSpPr>
          <p:cNvPr id="17" name="Shape 14"/>
          <p:cNvSpPr/>
          <p:nvPr/>
        </p:nvSpPr>
        <p:spPr>
          <a:xfrm>
            <a:off x="5358384" y="2779776"/>
            <a:ext cx="45720" cy="182880"/>
          </a:xfrm>
          <a:prstGeom prst="rect">
            <a:avLst/>
          </a:prstGeom>
          <a:solidFill>
            <a:srgbClr val="942838"/>
          </a:solidFill>
          <a:ln/>
        </p:spPr>
      </p:sp>
      <p:sp>
        <p:nvSpPr>
          <p:cNvPr id="18" name="Text 15"/>
          <p:cNvSpPr txBox="1"/>
          <p:nvPr/>
        </p:nvSpPr>
        <p:spPr>
          <a:xfrm>
            <a:off x="5541264" y="272491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Tested end to end, not just reviewed</a:t>
            </a:r>
            <a:endParaRPr lang="en-US" sz="1200" dirty="0"/>
          </a:p>
        </p:txBody>
      </p:sp>
      <p:sp>
        <p:nvSpPr>
          <p:cNvPr id="19" name="Text 16"/>
          <p:cNvSpPr txBox="1"/>
          <p:nvPr/>
        </p:nvSpPr>
        <p:spPr>
          <a:xfrm>
            <a:off x="5541264" y="298094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Ran the whole pipeline against a real open-source project and read all 733 packages out of its lockfile.</a:t>
            </a:r>
            <a:endParaRPr lang="en-US" sz="1100" dirty="0"/>
          </a:p>
        </p:txBody>
      </p:sp>
      <p:sp>
        <p:nvSpPr>
          <p:cNvPr id="20" name="Shape 17"/>
          <p:cNvSpPr/>
          <p:nvPr/>
        </p:nvSpPr>
        <p:spPr>
          <a:xfrm>
            <a:off x="5358384" y="3648456"/>
            <a:ext cx="45720" cy="182880"/>
          </a:xfrm>
          <a:prstGeom prst="rect">
            <a:avLst/>
          </a:prstGeom>
          <a:solidFill>
            <a:srgbClr val="942838"/>
          </a:solidFill>
          <a:ln/>
        </p:spPr>
      </p:sp>
      <p:sp>
        <p:nvSpPr>
          <p:cNvPr id="21" name="Text 18"/>
          <p:cNvSpPr txBox="1"/>
          <p:nvPr/>
        </p:nvSpPr>
        <p:spPr>
          <a:xfrm>
            <a:off x="5541264" y="359359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failed loudly, which is the point</a:t>
            </a:r>
            <a:endParaRPr lang="en-US" sz="1200" dirty="0"/>
          </a:p>
        </p:txBody>
      </p:sp>
      <p:sp>
        <p:nvSpPr>
          <p:cNvPr id="22" name="Text 19"/>
          <p:cNvSpPr txBox="1"/>
          <p:nvPr/>
        </p:nvSpPr>
        <p:spPr>
          <a:xfrm>
            <a:off x="5541264" y="384962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When the company network blocked the flaw-database lookup, SCAN reported an error instead of reporting "clean."</a:t>
            </a:r>
            <a:endParaRPr lang="en-US" sz="1100" dirty="0"/>
          </a:p>
        </p:txBody>
      </p:sp>
      <p:sp>
        <p:nvSpPr>
          <p:cNvPr id="23" name="Shape 20"/>
          <p:cNvSpPr/>
          <p:nvPr/>
        </p:nvSpPr>
        <p:spPr>
          <a:xfrm>
            <a:off x="5358384" y="4517136"/>
            <a:ext cx="45720" cy="182880"/>
          </a:xfrm>
          <a:prstGeom prst="rect">
            <a:avLst/>
          </a:prstGeom>
          <a:solidFill>
            <a:srgbClr val="942838"/>
          </a:solidFill>
          <a:ln/>
        </p:spPr>
      </p:sp>
      <p:sp>
        <p:nvSpPr>
          <p:cNvPr id="24" name="Text 21"/>
          <p:cNvSpPr txBox="1"/>
          <p:nvPr/>
        </p:nvSpPr>
        <p:spPr>
          <a:xfrm>
            <a:off x="5541264" y="446227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refused to guess</a:t>
            </a:r>
            <a:endParaRPr lang="en-US" sz="1200" dirty="0"/>
          </a:p>
        </p:txBody>
      </p:sp>
      <p:sp>
        <p:nvSpPr>
          <p:cNvPr id="25" name="Text 22"/>
          <p:cNvSpPr txBox="1"/>
          <p:nvPr/>
        </p:nvSpPr>
        <p:spPr>
          <a:xfrm>
            <a:off x="5541264" y="471830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Forced onto its weakest analysis method, REACH answered "can't prove" rather than calling anything safe.</a:t>
            </a:r>
            <a:endParaRPr lang="en-US" sz="1100" dirty="0"/>
          </a:p>
        </p:txBody>
      </p:sp>
      <p:sp>
        <p:nvSpPr>
          <p:cNvPr id="26" name="Shape 23"/>
          <p:cNvSpPr/>
          <p:nvPr/>
        </p:nvSpPr>
        <p:spPr>
          <a:xfrm>
            <a:off x="5358384" y="5385816"/>
            <a:ext cx="45720" cy="182880"/>
          </a:xfrm>
          <a:prstGeom prst="rect">
            <a:avLst/>
          </a:prstGeom>
          <a:solidFill>
            <a:srgbClr val="942838"/>
          </a:solidFill>
          <a:ln/>
        </p:spPr>
      </p:sp>
      <p:sp>
        <p:nvSpPr>
          <p:cNvPr id="27" name="Text 24"/>
          <p:cNvSpPr txBox="1"/>
          <p:nvPr/>
        </p:nvSpPr>
        <p:spPr>
          <a:xfrm>
            <a:off x="5541264" y="533095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The safety rails hold</a:t>
            </a:r>
            <a:endParaRPr lang="en-US" sz="1200" dirty="0"/>
          </a:p>
        </p:txBody>
      </p:sp>
      <p:sp>
        <p:nvSpPr>
          <p:cNvPr id="28" name="Text 25"/>
          <p:cNvSpPr txBox="1"/>
          <p:nvPr/>
        </p:nvSpPr>
        <p:spPr>
          <a:xfrm>
            <a:off x="5541264" y="558698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FIX refused to run without explicit approval, and refused to touch a protected branch even once approved.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pipeline is built and its safety rails are tested. Three things still need a real run before I would call it finished.</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Unblock the live lookups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company security proxy presents a malformed certificate that modern security libraries correctly reject, so the lookups fail. The real fix is an inspection bypass. Meanwhile I built the workaround: the scan splits in two, so the lookup can run from an unblocked network.</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Read code structure, not just text</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Reachability currently falls back to searching text. With the right tooling present it reads the code's actual structure, which is far more accurate. That still needs a real run.</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the parts that judge risk are built and tested. The parts that depend on the corporate network are not proven yet.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313405207375865e+79" dist="3.2835130184396625e+78" dir="5.484237660094465e+92">
              <a:srgbClr val="959092">
                <a:alpha val="2.2e+94"/>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needed no action at all</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Cross-referencing the matched patches against the real fleet turned up something better than a faster process: a large share of the work did not need doing in the first place.</a:t>
            </a:r>
            <a:endParaRPr lang="en-US" sz="1400" dirty="0"/>
          </a:p>
        </p:txBody>
      </p:sp>
      <p:sp>
        <p:nvSpPr>
          <p:cNvPr id="10" name="Shape 7"/>
          <p:cNvSpPr/>
          <p:nvPr/>
        </p:nvSpPr>
        <p:spPr>
          <a:xfrm>
            <a:off x="777240" y="2432304"/>
            <a:ext cx="5175504" cy="1316736"/>
          </a:xfrm>
          <a:prstGeom prst="roundRect">
            <a:avLst>
              <a:gd name="adj" fmla="val 4167"/>
            </a:avLst>
          </a:prstGeom>
          <a:solidFill>
            <a:srgbClr val="F6EEF0"/>
          </a:solidFill>
          <a:ln w="9525">
            <a:solidFill>
              <a:srgbClr val="942838"/>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11" name="Text 8"/>
          <p:cNvSpPr txBox="1"/>
          <p:nvPr/>
        </p:nvSpPr>
        <p:spPr>
          <a:xfrm>
            <a:off x="1088136" y="2670048"/>
            <a:ext cx="1737360" cy="694944"/>
          </a:xfrm>
          <a:prstGeom prst="rect">
            <a:avLst/>
          </a:prstGeom>
          <a:noFill/>
          <a:ln/>
        </p:spPr>
        <p:txBody>
          <a:bodyPr wrap="square" lIns="0" tIns="0" rIns="0" bIns="0" rtlCol="0" anchor="t"/>
          <a:lstStyle/>
          <a:p>
            <a:pP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65</a:t>
            </a:r>
            <a:endParaRPr lang="en-US" sz="4600" dirty="0"/>
          </a:p>
        </p:txBody>
      </p:sp>
      <p:sp>
        <p:nvSpPr>
          <p:cNvPr id="12" name="Text 9"/>
          <p:cNvSpPr txBox="1"/>
          <p:nvPr/>
        </p:nvSpPr>
        <p:spPr>
          <a:xfrm>
            <a:off x="2880360" y="2889504"/>
            <a:ext cx="2761488" cy="457200"/>
          </a:xfrm>
          <a:prstGeom prst="rect">
            <a:avLst/>
          </a:prstGeom>
          <a:noFill/>
          <a:ln/>
        </p:spPr>
        <p:txBody>
          <a:bodyPr wrap="square" lIns="0" tIns="0" rIns="0" bIns="0" rtlCol="0" anchor="t"/>
          <a:lstStyle/>
          <a:p>
            <a:pPr indent="0" marL="0">
              <a:lnSpc>
                <a:spcPct val="115000"/>
              </a:lnSpc>
              <a:buNone/>
            </a:pPr>
            <a:r>
              <a:rPr lang="en-US" sz="1300" dirty="0">
                <a:solidFill>
                  <a:srgbClr val="2B2D30"/>
                </a:solidFill>
                <a:latin typeface="Montserrat SemiBold" pitchFamily="34" charset="0"/>
                <a:ea typeface="Montserrat SemiBold" pitchFamily="34" charset="-122"/>
                <a:cs typeface="Montserrat SemiBold" pitchFamily="34" charset="-120"/>
              </a:rPr>
              <a:t>flaws genuinely outstanding</a:t>
            </a:r>
            <a:endParaRPr lang="en-US" sz="1300" dirty="0"/>
          </a:p>
        </p:txBody>
      </p:sp>
      <p:sp>
        <p:nvSpPr>
          <p:cNvPr id="13" name="Shape 10"/>
          <p:cNvSpPr/>
          <p:nvPr/>
        </p:nvSpPr>
        <p:spPr>
          <a:xfrm>
            <a:off x="6236208" y="2432304"/>
            <a:ext cx="5175504" cy="1316736"/>
          </a:xfrm>
          <a:prstGeom prst="roundRect">
            <a:avLst>
              <a:gd name="adj" fmla="val 4167"/>
            </a:avLst>
          </a:prstGeom>
          <a:solidFill>
            <a:srgbClr val="F5F4F3"/>
          </a:solidFill>
          <a:ln w="9525">
            <a:solidFill>
              <a:srgbClr val="E6E4E2"/>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14" name="Text 11"/>
          <p:cNvSpPr txBox="1"/>
          <p:nvPr/>
        </p:nvSpPr>
        <p:spPr>
          <a:xfrm>
            <a:off x="6547104" y="2670048"/>
            <a:ext cx="1737360" cy="694944"/>
          </a:xfrm>
          <a:prstGeom prst="rect">
            <a:avLst/>
          </a:prstGeom>
          <a:noFill/>
          <a:ln/>
        </p:spPr>
        <p:txBody>
          <a:bodyPr wrap="square" lIns="0" tIns="0" rIns="0" bIns="0" rtlCol="0" anchor="t"/>
          <a:lstStyle/>
          <a:p>
            <a:pPr indent="0" marL="0">
              <a:buNone/>
            </a:pPr>
            <a:r>
              <a:rPr lang="en-US" sz="4600" spc="-180" kern="0" dirty="0">
                <a:solidFill>
                  <a:srgbClr val="2B2D30"/>
                </a:solidFill>
                <a:latin typeface="Montserrat ExtraBold" pitchFamily="34" charset="0"/>
                <a:ea typeface="Montserrat ExtraBold" pitchFamily="34" charset="-122"/>
                <a:cs typeface="Montserrat ExtraBold" pitchFamily="34" charset="-120"/>
              </a:rPr>
              <a:t>52</a:t>
            </a:r>
            <a:endParaRPr lang="en-US" sz="4600" dirty="0"/>
          </a:p>
        </p:txBody>
      </p:sp>
      <p:sp>
        <p:nvSpPr>
          <p:cNvPr id="15" name="Text 12"/>
          <p:cNvSpPr txBox="1"/>
          <p:nvPr/>
        </p:nvSpPr>
        <p:spPr>
          <a:xfrm>
            <a:off x="8339328" y="2889504"/>
            <a:ext cx="2761488" cy="457200"/>
          </a:xfrm>
          <a:prstGeom prst="rect">
            <a:avLst/>
          </a:prstGeom>
          <a:noFill/>
          <a:ln/>
        </p:spPr>
        <p:txBody>
          <a:bodyPr wrap="square" lIns="0" tIns="0" rIns="0" bIns="0" rtlCol="0" anchor="t"/>
          <a:lstStyle/>
          <a:p>
            <a:pPr indent="0" marL="0">
              <a:lnSpc>
                <a:spcPct val="115000"/>
              </a:lnSpc>
              <a:buNone/>
            </a:pPr>
            <a:r>
              <a:rPr lang="en-US" sz="1300" dirty="0">
                <a:solidFill>
                  <a:srgbClr val="6E7175"/>
                </a:solidFill>
                <a:latin typeface="Montserrat SemiBold" pitchFamily="34" charset="0"/>
                <a:ea typeface="Montserrat SemiBold" pitchFamily="34" charset="-122"/>
                <a:cs typeface="Montserrat SemiBold" pitchFamily="34" charset="-120"/>
              </a:rPr>
              <a:t>flaws needing no action at all</a:t>
            </a:r>
            <a:endParaRPr lang="en-US" sz="1300" dirty="0"/>
          </a:p>
        </p:txBody>
      </p:sp>
      <p:sp>
        <p:nvSpPr>
          <p:cNvPr id="16" name="Text 13"/>
          <p:cNvSpPr txBox="1"/>
          <p:nvPr/>
        </p:nvSpPr>
        <p:spPr>
          <a:xfrm>
            <a:off x="777240" y="3986784"/>
            <a:ext cx="64008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TRACKED FLAW</a:t>
            </a:r>
            <a:endParaRPr lang="en-US" sz="850" dirty="0"/>
          </a:p>
        </p:txBody>
      </p:sp>
      <p:pic>
        <p:nvPicPr>
          <p:cNvPr id="17" name="Image 1" descr="/home/user/ai/assets/gen/chart-no-action.png">    </p:cNvPr>
          <p:cNvPicPr>
            <a:picLocks noChangeAspect="1"/>
          </p:cNvPicPr>
          <p:nvPr/>
        </p:nvPicPr>
        <p:blipFill>
          <a:blip r:embed="rId2"/>
          <a:stretch>
            <a:fillRect/>
          </a:stretch>
        </p:blipFill>
        <p:spPr>
          <a:xfrm>
            <a:off x="777240" y="4242816"/>
            <a:ext cx="10637215" cy="767634"/>
          </a:xfrm>
          <a:prstGeom prst="rect">
            <a:avLst/>
          </a:prstGeom>
        </p:spPr>
      </p:pic>
      <p:sp>
        <p:nvSpPr>
          <p:cNvPr id="18" name="Text 14"/>
          <p:cNvSpPr txBox="1"/>
          <p:nvPr/>
        </p:nvSpPr>
        <p:spPr>
          <a:xfrm>
            <a:off x="777240" y="5101890"/>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19" name="Text 15"/>
          <p:cNvSpPr txBox="1"/>
          <p:nvPr/>
        </p:nvSpPr>
        <p:spPr>
          <a:xfrm>
            <a:off x="5928055" y="5101890"/>
            <a:ext cx="54864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by routine monthly patching</a:t>
            </a:r>
            <a:endParaRPr lang="en-US" sz="1150" dirty="0"/>
          </a:p>
        </p:txBody>
      </p:sp>
      <p:sp>
        <p:nvSpPr>
          <p:cNvPr id="20" name="Text 16"/>
          <p:cNvSpPr txBox="1"/>
          <p:nvPr/>
        </p:nvSpPr>
        <p:spPr>
          <a:xfrm>
            <a:off x="777240" y="5687568"/>
            <a:ext cx="10637215" cy="310896"/>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Why: </a:t>
            </a:r>
            <a:pPr indent="0" marL="0">
              <a:buNone/>
            </a:pPr>
            <a:r>
              <a:rPr lang="en-US" sz="1150" dirty="0">
                <a:solidFill>
                  <a:srgbClr val="6E7175"/>
                </a:solidFill>
                <a:latin typeface="Montserrat" pitchFamily="34" charset="0"/>
                <a:ea typeface="Montserrat" pitchFamily="34" charset="-122"/>
                <a:cs typeface="Montserrat" pitchFamily="34" charset="-120"/>
              </a:rPr>
              <a:t>routine monthly patching had already carried every machine past the fix for those 52 — so the patching process is working better than we assumed. We were tracking work that was already done.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Matching the flaws was only half the job</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Shape 6"/>
          <p:cNvSpPr/>
          <p:nvPr/>
        </p:nvSpPr>
        <p:spPr>
          <a:xfrm>
            <a:off x="777240" y="2029968"/>
            <a:ext cx="5175504"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0" name="Text 7"/>
          <p:cNvSpPr txBox="1"/>
          <p:nvPr/>
        </p:nvSpPr>
        <p:spPr>
          <a:xfrm>
            <a:off x="1088136" y="2304288"/>
            <a:ext cx="4553712"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1" name="Text 8"/>
          <p:cNvSpPr txBox="1"/>
          <p:nvPr/>
        </p:nvSpPr>
        <p:spPr>
          <a:xfrm>
            <a:off x="1088136" y="2578608"/>
            <a:ext cx="4553712" cy="384048"/>
          </a:xfrm>
          <a:prstGeom prst="rect">
            <a:avLst/>
          </a:prstGeom>
          <a:noFill/>
          <a:ln/>
        </p:spPr>
        <p:txBody>
          <a:bodyPr wrap="square" lIns="0" tIns="0" rIns="0" bIns="0" rtlCol="0" anchor="t"/>
          <a:lstStyle/>
          <a:p>
            <a:pPr indent="0" marL="0">
              <a:buNone/>
            </a:pPr>
            <a:r>
              <a:rPr lang="en-US" sz="24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400" dirty="0"/>
          </a:p>
        </p:txBody>
      </p:sp>
      <p:sp>
        <p:nvSpPr>
          <p:cNvPr id="12" name="Text 9"/>
          <p:cNvSpPr txBox="1"/>
          <p:nvPr/>
        </p:nvSpPr>
        <p:spPr>
          <a:xfrm>
            <a:off x="1088136" y="3108960"/>
            <a:ext cx="4553712" cy="91440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Kevlar publishes its own prioritisation report, and its KB Priority tab already held 209 rows — one for each unique pairing of flaw-set and operating-system product. I found that number in the data; I did not calculate it.</a:t>
            </a:r>
            <a:endParaRPr lang="en-US" sz="1100" dirty="0"/>
          </a:p>
        </p:txBody>
      </p:sp>
      <p:sp>
        <p:nvSpPr>
          <p:cNvPr id="13" name="Shape 10"/>
          <p:cNvSpPr/>
          <p:nvPr/>
        </p:nvSpPr>
        <p:spPr>
          <a:xfrm>
            <a:off x="6236208" y="2029968"/>
            <a:ext cx="5175504"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14" name="Text 11"/>
          <p:cNvSpPr txBox="1"/>
          <p:nvPr/>
        </p:nvSpPr>
        <p:spPr>
          <a:xfrm>
            <a:off x="6547104" y="2304288"/>
            <a:ext cx="4553712"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DID</a:t>
            </a:r>
            <a:endParaRPr lang="en-US" sz="850" dirty="0"/>
          </a:p>
        </p:txBody>
      </p:sp>
      <p:sp>
        <p:nvSpPr>
          <p:cNvPr id="15" name="Text 12"/>
          <p:cNvSpPr txBox="1"/>
          <p:nvPr/>
        </p:nvSpPr>
        <p:spPr>
          <a:xfrm>
            <a:off x="6547104" y="2578608"/>
            <a:ext cx="4553712" cy="384048"/>
          </a:xfrm>
          <a:prstGeom prst="rect">
            <a:avLst/>
          </a:prstGeom>
          <a:noFill/>
          <a:ln/>
        </p:spPr>
        <p:txBody>
          <a:bodyPr wrap="square" lIns="0" tIns="0" rIns="0" bIns="0" rtlCol="0" anchor="t"/>
          <a:lstStyle/>
          <a:p>
            <a:pPr indent="0" marL="0">
              <a:buNone/>
            </a:pPr>
            <a:r>
              <a:rPr lang="en-US" sz="2400" spc="-70" kern="0" dirty="0">
                <a:solidFill>
                  <a:srgbClr val="2B2D30"/>
                </a:solidFill>
                <a:latin typeface="Montserrat ExtraBold" pitchFamily="34" charset="0"/>
                <a:ea typeface="Montserrat ExtraBold" pitchFamily="34" charset="-122"/>
                <a:cs typeface="Montserrat ExtraBold" pitchFamily="34" charset="-120"/>
              </a:rPr>
              <a:t>Highest build wins</a:t>
            </a:r>
            <a:endParaRPr lang="en-US" sz="2400" dirty="0"/>
          </a:p>
        </p:txBody>
      </p:sp>
      <p:sp>
        <p:nvSpPr>
          <p:cNvPr id="16" name="Text 13"/>
          <p:cNvSpPr txBox="1"/>
          <p:nvPr/>
        </p:nvSpPr>
        <p:spPr>
          <a:xfrm>
            <a:off x="6547104" y="3108960"/>
            <a:ext cx="4553712" cy="91440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Windows updates supersede every earlier fix on that branch, so for each machine-and-product pair only the highest fixed-build patch is needed. Applying that rule — and proving it lost nothing — collapsed the 209 rows to 46.</a:t>
            </a:r>
            <a:endParaRPr lang="en-US" sz="1100" dirty="0"/>
          </a:p>
        </p:txBody>
      </p:sp>
      <p:sp>
        <p:nvSpPr>
          <p:cNvPr id="17" name="Text 14"/>
          <p:cNvSpPr txBox="1"/>
          <p:nvPr/>
        </p:nvSpPr>
        <p:spPr>
          <a:xfrm>
            <a:off x="777240" y="4681728"/>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HOW THE NUMBERS RELATE</a:t>
            </a:r>
            <a:endParaRPr lang="en-US" sz="850" dirty="0"/>
          </a:p>
        </p:txBody>
      </p:sp>
      <p:sp>
        <p:nvSpPr>
          <p:cNvPr id="18" name="Shape 15"/>
          <p:cNvSpPr/>
          <p:nvPr/>
        </p:nvSpPr>
        <p:spPr>
          <a:xfrm>
            <a:off x="777240"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9" name="Text 16"/>
          <p:cNvSpPr txBox="1"/>
          <p:nvPr/>
        </p:nvSpPr>
        <p:spPr>
          <a:xfrm>
            <a:off x="960120"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2B2D30"/>
                </a:solidFill>
                <a:latin typeface="Montserrat ExtraBold" pitchFamily="34" charset="0"/>
                <a:ea typeface="Montserrat ExtraBold" pitchFamily="34" charset="-122"/>
                <a:cs typeface="Montserrat ExtraBold" pitchFamily="34" charset="-120"/>
              </a:rPr>
              <a:t>2,658</a:t>
            </a:r>
            <a:endParaRPr lang="en-US" sz="2600" dirty="0"/>
          </a:p>
        </p:txBody>
      </p:sp>
      <p:sp>
        <p:nvSpPr>
          <p:cNvPr id="20" name="Text 17"/>
          <p:cNvSpPr txBox="1"/>
          <p:nvPr/>
        </p:nvSpPr>
        <p:spPr>
          <a:xfrm>
            <a:off x="923544"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host and product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assignments in the fleet</a:t>
            </a:r>
            <a:endParaRPr lang="en-US" sz="950" dirty="0"/>
          </a:p>
        </p:txBody>
      </p:sp>
      <p:sp>
        <p:nvSpPr>
          <p:cNvPr id="21" name="Text 18"/>
          <p:cNvSpPr txBox="1"/>
          <p:nvPr/>
        </p:nvSpPr>
        <p:spPr>
          <a:xfrm>
            <a:off x="3196285"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2" name="Shape 19"/>
          <p:cNvSpPr/>
          <p:nvPr/>
        </p:nvSpPr>
        <p:spPr>
          <a:xfrm>
            <a:off x="3493922"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3" name="Text 20"/>
          <p:cNvSpPr txBox="1"/>
          <p:nvPr/>
        </p:nvSpPr>
        <p:spPr>
          <a:xfrm>
            <a:off x="3676802"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2B2D30"/>
                </a:solidFill>
                <a:latin typeface="Montserrat ExtraBold" pitchFamily="34" charset="0"/>
                <a:ea typeface="Montserrat ExtraBold" pitchFamily="34" charset="-122"/>
                <a:cs typeface="Montserrat ExtraBold" pitchFamily="34" charset="-120"/>
              </a:rPr>
              <a:t>209</a:t>
            </a:r>
            <a:endParaRPr lang="en-US" sz="2600" dirty="0"/>
          </a:p>
        </p:txBody>
      </p:sp>
      <p:sp>
        <p:nvSpPr>
          <p:cNvPr id="24" name="Text 21"/>
          <p:cNvSpPr txBox="1"/>
          <p:nvPr/>
        </p:nvSpPr>
        <p:spPr>
          <a:xfrm>
            <a:off x="3640226"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Kevlar grouped</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them into</a:t>
            </a:r>
            <a:endParaRPr lang="en-US" sz="950" dirty="0"/>
          </a:p>
        </p:txBody>
      </p:sp>
      <p:sp>
        <p:nvSpPr>
          <p:cNvPr id="25" name="Text 22"/>
          <p:cNvSpPr txBox="1"/>
          <p:nvPr/>
        </p:nvSpPr>
        <p:spPr>
          <a:xfrm>
            <a:off x="5912968"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6" name="Shape 23"/>
          <p:cNvSpPr/>
          <p:nvPr/>
        </p:nvSpPr>
        <p:spPr>
          <a:xfrm>
            <a:off x="6210605" y="4974336"/>
            <a:ext cx="2487168" cy="1060704"/>
          </a:xfrm>
          <a:prstGeom prst="roundRect">
            <a:avLst>
              <a:gd name="adj" fmla="val 517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7" name="Text 24"/>
          <p:cNvSpPr txBox="1"/>
          <p:nvPr/>
        </p:nvSpPr>
        <p:spPr>
          <a:xfrm>
            <a:off x="6393485" y="5120640"/>
            <a:ext cx="2121408" cy="420624"/>
          </a:xfrm>
          <a:prstGeom prst="rect">
            <a:avLst/>
          </a:prstGeom>
          <a:noFill/>
          <a:ln/>
        </p:spPr>
        <p:txBody>
          <a:bodyPr wrap="square" lIns="0" tIns="0" rIns="0" bIns="0" rtlCol="0" anchor="ctr"/>
          <a:lstStyle/>
          <a:p>
            <a:pPr algn="ctr" indent="0" marL="0">
              <a:buNone/>
            </a:pPr>
            <a:r>
              <a:rPr lang="en-US" sz="1700" spc="120" kern="0" dirty="0">
                <a:solidFill>
                  <a:srgbClr val="2B2D30"/>
                </a:solidFill>
                <a:latin typeface="Montserrat ExtraBold" pitchFamily="34" charset="0"/>
                <a:ea typeface="Montserrat ExtraBold" pitchFamily="34" charset="-122"/>
                <a:cs typeface="Montserrat ExtraBold" pitchFamily="34" charset="-120"/>
              </a:rPr>
              <a:t>RULE</a:t>
            </a:r>
            <a:endParaRPr lang="en-US" sz="1700" dirty="0"/>
          </a:p>
        </p:txBody>
      </p:sp>
      <p:sp>
        <p:nvSpPr>
          <p:cNvPr id="28" name="Text 25"/>
          <p:cNvSpPr txBox="1"/>
          <p:nvPr/>
        </p:nvSpPr>
        <p:spPr>
          <a:xfrm>
            <a:off x="6356909"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highest build</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wins</a:t>
            </a:r>
            <a:endParaRPr lang="en-US" sz="950" dirty="0"/>
          </a:p>
        </p:txBody>
      </p:sp>
      <p:sp>
        <p:nvSpPr>
          <p:cNvPr id="29" name="Text 26"/>
          <p:cNvSpPr txBox="1"/>
          <p:nvPr/>
        </p:nvSpPr>
        <p:spPr>
          <a:xfrm>
            <a:off x="8629650" y="5294376"/>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30" name="Shape 27"/>
          <p:cNvSpPr/>
          <p:nvPr/>
        </p:nvSpPr>
        <p:spPr>
          <a:xfrm>
            <a:off x="8927287" y="4974336"/>
            <a:ext cx="2487168" cy="1060704"/>
          </a:xfrm>
          <a:prstGeom prst="roundRect">
            <a:avLst>
              <a:gd name="adj" fmla="val 517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31" name="Text 28"/>
          <p:cNvSpPr txBox="1"/>
          <p:nvPr/>
        </p:nvSpPr>
        <p:spPr>
          <a:xfrm>
            <a:off x="9110167" y="5120640"/>
            <a:ext cx="2121408" cy="420624"/>
          </a:xfrm>
          <a:prstGeom prst="rect">
            <a:avLst/>
          </a:prstGeom>
          <a:noFill/>
          <a:ln/>
        </p:spPr>
        <p:txBody>
          <a:bodyPr wrap="square" lIns="0" tIns="0" rIns="0" bIns="0" rtlCol="0" anchor="ctr"/>
          <a:lstStyle/>
          <a:p>
            <a:pPr algn="ctr" indent="0" marL="0">
              <a:buNone/>
            </a:pPr>
            <a:r>
              <a:rPr lang="en-US" sz="2600" spc="-90" kern="0" dirty="0">
                <a:solidFill>
                  <a:srgbClr val="FFFFFF"/>
                </a:solidFill>
                <a:latin typeface="Montserrat ExtraBold" pitchFamily="34" charset="0"/>
                <a:ea typeface="Montserrat ExtraBold" pitchFamily="34" charset="-122"/>
                <a:cs typeface="Montserrat ExtraBold" pitchFamily="34" charset="-120"/>
              </a:rPr>
              <a:t>46</a:t>
            </a:r>
            <a:endParaRPr lang="en-US" sz="2600" dirty="0"/>
          </a:p>
        </p:txBody>
      </p:sp>
      <p:sp>
        <p:nvSpPr>
          <p:cNvPr id="32" name="Text 29"/>
          <p:cNvSpPr txBox="1"/>
          <p:nvPr/>
        </p:nvSpPr>
        <p:spPr>
          <a:xfrm>
            <a:off x="9073591" y="5559552"/>
            <a:ext cx="2194560" cy="402336"/>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actually</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opened</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2011680"/>
            <a:ext cx="3310128" cy="1481328"/>
          </a:xfrm>
          <a:prstGeom prst="roundRect">
            <a:avLst>
              <a:gd name="adj" fmla="val 3704"/>
            </a:avLst>
          </a:prstGeom>
          <a:solidFill>
            <a:srgbClr val="F5F4F3"/>
          </a:solidFill>
          <a:ln w="9525">
            <a:solidFill>
              <a:srgbClr val="E6E4E2"/>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10" name="Text 7"/>
          <p:cNvSpPr txBox="1"/>
          <p:nvPr/>
        </p:nvSpPr>
        <p:spPr>
          <a:xfrm>
            <a:off x="996696"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2B2D30"/>
                </a:solidFill>
                <a:latin typeface="Montserrat ExtraBold" pitchFamily="34" charset="0"/>
                <a:ea typeface="Montserrat ExtraBold" pitchFamily="34" charset="-122"/>
                <a:cs typeface="Montserrat ExtraBold" pitchFamily="34" charset="-120"/>
              </a:rPr>
              <a:t>209</a:t>
            </a:r>
            <a:endParaRPr lang="en-US" sz="4600" dirty="0"/>
          </a:p>
        </p:txBody>
      </p:sp>
      <p:sp>
        <p:nvSpPr>
          <p:cNvPr id="11" name="Text 8"/>
          <p:cNvSpPr txBox="1"/>
          <p:nvPr/>
        </p:nvSpPr>
        <p:spPr>
          <a:xfrm>
            <a:off x="996696"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in Kevlar’s own</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KB Priority report</a:t>
            </a:r>
            <a:endParaRPr lang="en-US" sz="950" dirty="0"/>
          </a:p>
        </p:txBody>
      </p:sp>
      <p:sp>
        <p:nvSpPr>
          <p:cNvPr id="12" name="Shape 9"/>
          <p:cNvSpPr/>
          <p:nvPr/>
        </p:nvSpPr>
        <p:spPr>
          <a:xfrm>
            <a:off x="4440784" y="2011680"/>
            <a:ext cx="3310128" cy="1481328"/>
          </a:xfrm>
          <a:prstGeom prst="roundRect">
            <a:avLst>
              <a:gd name="adj" fmla="val 3704"/>
            </a:avLst>
          </a:prstGeom>
          <a:solidFill>
            <a:srgbClr val="F6EEF0"/>
          </a:solidFill>
          <a:ln w="9525">
            <a:solidFill>
              <a:srgbClr val="942838"/>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13" name="Text 10"/>
          <p:cNvSpPr txBox="1"/>
          <p:nvPr/>
        </p:nvSpPr>
        <p:spPr>
          <a:xfrm>
            <a:off x="4660240"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46</a:t>
            </a:r>
            <a:endParaRPr lang="en-US" sz="4600" dirty="0"/>
          </a:p>
        </p:txBody>
      </p:sp>
      <p:sp>
        <p:nvSpPr>
          <p:cNvPr id="14" name="Text 11"/>
          <p:cNvSpPr txBox="1"/>
          <p:nvPr/>
        </p:nvSpPr>
        <p:spPr>
          <a:xfrm>
            <a:off x="4660240"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after applying the rule</a:t>
            </a:r>
            <a:endParaRPr lang="en-US" sz="950" dirty="0"/>
          </a:p>
        </p:txBody>
      </p:sp>
      <p:sp>
        <p:nvSpPr>
          <p:cNvPr id="15" name="Shape 12"/>
          <p:cNvSpPr/>
          <p:nvPr/>
        </p:nvSpPr>
        <p:spPr>
          <a:xfrm>
            <a:off x="8104327" y="2011680"/>
            <a:ext cx="3310128" cy="1481328"/>
          </a:xfrm>
          <a:prstGeom prst="roundRect">
            <a:avLst>
              <a:gd name="adj" fmla="val 3704"/>
            </a:avLst>
          </a:prstGeom>
          <a:solidFill>
            <a:srgbClr val="F6EEF0"/>
          </a:solidFill>
          <a:ln w="9525">
            <a:solidFill>
              <a:srgbClr val="942838"/>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16" name="Text 13"/>
          <p:cNvSpPr txBox="1"/>
          <p:nvPr/>
        </p:nvSpPr>
        <p:spPr>
          <a:xfrm>
            <a:off x="8323783" y="2194560"/>
            <a:ext cx="2871216" cy="676656"/>
          </a:xfrm>
          <a:prstGeom prst="rect">
            <a:avLst/>
          </a:prstGeom>
          <a:noFill/>
          <a:ln/>
        </p:spPr>
        <p:txBody>
          <a:bodyPr wrap="square" lIns="0" tIns="0" rIns="0" bIns="0" rtlCol="0" anchor="t"/>
          <a:lstStyle/>
          <a:p>
            <a:pPr algn="ctr" indent="0" marL="0">
              <a:buNone/>
            </a:pPr>
            <a:r>
              <a:rPr lang="en-US" sz="4600" spc="-180" kern="0" dirty="0">
                <a:solidFill>
                  <a:srgbClr val="942838"/>
                </a:solidFill>
                <a:latin typeface="Montserrat ExtraBold" pitchFamily="34" charset="0"/>
                <a:ea typeface="Montserrat ExtraBold" pitchFamily="34" charset="-122"/>
                <a:cs typeface="Montserrat ExtraBold" pitchFamily="34" charset="-120"/>
              </a:rPr>
              <a:t>78%</a:t>
            </a:r>
            <a:endParaRPr lang="en-US" sz="4600" dirty="0"/>
          </a:p>
        </p:txBody>
      </p:sp>
      <p:sp>
        <p:nvSpPr>
          <p:cNvPr id="17" name="Text 14"/>
          <p:cNvSpPr txBox="1"/>
          <p:nvPr/>
        </p:nvSpPr>
        <p:spPr>
          <a:xfrm>
            <a:off x="8323783" y="2907792"/>
            <a:ext cx="2871216" cy="512064"/>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than the report</a:t>
            </a:r>
            <a:endParaRPr lang="en-US" sz="950" dirty="0"/>
          </a:p>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implied — 163 absorbed</a:t>
            </a:r>
            <a:endParaRPr lang="en-US" sz="950" dirty="0"/>
          </a:p>
        </p:txBody>
      </p:sp>
      <p:sp>
        <p:nvSpPr>
          <p:cNvPr id="18" name="Text 15"/>
          <p:cNvSpPr txBox="1"/>
          <p:nvPr/>
        </p:nvSpPr>
        <p:spPr>
          <a:xfrm>
            <a:off x="777240" y="3803904"/>
            <a:ext cx="64008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IN KEVLAR’S REPORT</a:t>
            </a:r>
            <a:endParaRPr lang="en-US" sz="850" dirty="0"/>
          </a:p>
        </p:txBody>
      </p:sp>
      <p:pic>
        <p:nvPicPr>
          <p:cNvPr id="19" name="Image 1" descr="/home/user/ai/assets/gen/chart-consolidation.png">    </p:cNvPr>
          <p:cNvPicPr>
            <a:picLocks noChangeAspect="1"/>
          </p:cNvPicPr>
          <p:nvPr/>
        </p:nvPicPr>
        <p:blipFill>
          <a:blip r:embed="rId2"/>
          <a:stretch>
            <a:fillRect/>
          </a:stretch>
        </p:blipFill>
        <p:spPr>
          <a:xfrm>
            <a:off x="777240" y="4096512"/>
            <a:ext cx="10637215" cy="1221498"/>
          </a:xfrm>
          <a:prstGeom prst="rect">
            <a:avLst/>
          </a:prstGeom>
        </p:spPr>
      </p:pic>
      <p:sp>
        <p:nvSpPr>
          <p:cNvPr id="20" name="Text 16"/>
          <p:cNvSpPr txBox="1"/>
          <p:nvPr/>
        </p:nvSpPr>
        <p:spPr>
          <a:xfrm>
            <a:off x="777240" y="5409450"/>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46 opened as tickets</a:t>
            </a:r>
            <a:endParaRPr lang="en-US" sz="1150" dirty="0"/>
          </a:p>
        </p:txBody>
      </p:sp>
      <p:sp>
        <p:nvSpPr>
          <p:cNvPr id="21" name="Text 17"/>
          <p:cNvSpPr txBox="1"/>
          <p:nvPr/>
        </p:nvSpPr>
        <p:spPr>
          <a:xfrm>
            <a:off x="5928055" y="5409450"/>
            <a:ext cx="54864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163 absorbed by a higher build already being installed</a:t>
            </a:r>
            <a:endParaRPr lang="en-US" sz="1150" dirty="0"/>
          </a:p>
        </p:txBody>
      </p:sp>
      <p:sp>
        <p:nvSpPr>
          <p:cNvPr id="22" name="Text 18"/>
          <p:cNvSpPr txBox="1"/>
          <p:nvPr/>
        </p:nvSpPr>
        <p:spPr>
          <a:xfrm>
            <a:off x="777240" y="5852160"/>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Zero coverage loss</a:t>
            </a:r>
            <a:pPr indent="0" marL="0">
              <a:buNone/>
            </a:pPr>
            <a:r>
              <a:rPr lang="en-US" sz="1150" dirty="0">
                <a:solidFill>
                  <a:srgbClr val="6E7175"/>
                </a:solidFill>
                <a:latin typeface="Montserrat" pitchFamily="34" charset="0"/>
                <a:ea typeface="Montserrat" pitchFamily="34" charset="-122"/>
                <a:cs typeface="Montserrat" pitchFamily="34" charset="-120"/>
              </a:rPr>
              <a:t>  —  verified across all 2,658 host-and-product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73152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Today these four systems each hold one piece of the story, and someone stitches them together by hand. A single view would close that gap.</a:t>
            </a:r>
            <a:endParaRPr lang="en-US" sz="1250" dirty="0"/>
          </a:p>
        </p:txBody>
      </p:sp>
      <p:sp>
        <p:nvSpPr>
          <p:cNvPr id="10" name="Shape 7"/>
          <p:cNvSpPr/>
          <p:nvPr/>
        </p:nvSpPr>
        <p:spPr>
          <a:xfrm>
            <a:off x="795528" y="3118104"/>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172968"/>
            <a:ext cx="73152" cy="73152"/>
          </a:xfrm>
          <a:prstGeom prst="ellipse">
            <a:avLst/>
          </a:prstGeom>
          <a:solidFill>
            <a:srgbClr val="942838"/>
          </a:solidFill>
          <a:ln/>
        </p:spPr>
      </p:sp>
      <p:sp>
        <p:nvSpPr>
          <p:cNvPr id="12" name="Shape 9"/>
          <p:cNvSpPr/>
          <p:nvPr/>
        </p:nvSpPr>
        <p:spPr>
          <a:xfrm>
            <a:off x="882396" y="3319272"/>
            <a:ext cx="10973" cy="457200"/>
          </a:xfrm>
          <a:prstGeom prst="rect">
            <a:avLst/>
          </a:prstGeom>
          <a:solidFill>
            <a:srgbClr val="C9C6C4"/>
          </a:solidFill>
          <a:ln/>
        </p:spPr>
      </p:sp>
      <p:sp>
        <p:nvSpPr>
          <p:cNvPr id="13" name="Text 10"/>
          <p:cNvSpPr txBox="1"/>
          <p:nvPr/>
        </p:nvSpPr>
        <p:spPr>
          <a:xfrm>
            <a:off x="1143000" y="305409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31012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776472"/>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831336"/>
            <a:ext cx="73152" cy="73152"/>
          </a:xfrm>
          <a:prstGeom prst="ellipse">
            <a:avLst/>
          </a:prstGeom>
          <a:solidFill>
            <a:srgbClr val="942838"/>
          </a:solidFill>
          <a:ln/>
        </p:spPr>
      </p:sp>
      <p:sp>
        <p:nvSpPr>
          <p:cNvPr id="17" name="Shape 14"/>
          <p:cNvSpPr/>
          <p:nvPr/>
        </p:nvSpPr>
        <p:spPr>
          <a:xfrm>
            <a:off x="882396" y="3977640"/>
            <a:ext cx="10973" cy="457200"/>
          </a:xfrm>
          <a:prstGeom prst="rect">
            <a:avLst/>
          </a:prstGeom>
          <a:solidFill>
            <a:srgbClr val="C9C6C4"/>
          </a:solidFill>
          <a:ln/>
        </p:spPr>
      </p:sp>
      <p:sp>
        <p:nvSpPr>
          <p:cNvPr id="18" name="Text 15"/>
          <p:cNvSpPr txBox="1"/>
          <p:nvPr/>
        </p:nvSpPr>
        <p:spPr>
          <a:xfrm>
            <a:off x="1143000" y="371246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96849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434840"/>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489704"/>
            <a:ext cx="73152" cy="73152"/>
          </a:xfrm>
          <a:prstGeom prst="ellipse">
            <a:avLst/>
          </a:prstGeom>
          <a:solidFill>
            <a:srgbClr val="942838"/>
          </a:solidFill>
          <a:ln/>
        </p:spPr>
      </p:sp>
      <p:sp>
        <p:nvSpPr>
          <p:cNvPr id="22" name="Shape 19"/>
          <p:cNvSpPr/>
          <p:nvPr/>
        </p:nvSpPr>
        <p:spPr>
          <a:xfrm>
            <a:off x="882396" y="4636008"/>
            <a:ext cx="10973" cy="457200"/>
          </a:xfrm>
          <a:prstGeom prst="rect">
            <a:avLst/>
          </a:prstGeom>
          <a:solidFill>
            <a:srgbClr val="C9C6C4"/>
          </a:solidFill>
          <a:ln/>
        </p:spPr>
      </p:sp>
      <p:sp>
        <p:nvSpPr>
          <p:cNvPr id="23" name="Text 20"/>
          <p:cNvSpPr txBox="1"/>
          <p:nvPr/>
        </p:nvSpPr>
        <p:spPr>
          <a:xfrm>
            <a:off x="1143000" y="437083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62686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5093208"/>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5148072"/>
            <a:ext cx="73152" cy="73152"/>
          </a:xfrm>
          <a:prstGeom prst="ellipse">
            <a:avLst/>
          </a:prstGeom>
          <a:solidFill>
            <a:srgbClr val="942838"/>
          </a:solidFill>
          <a:ln/>
        </p:spPr>
      </p:sp>
      <p:sp>
        <p:nvSpPr>
          <p:cNvPr id="27" name="Text 24"/>
          <p:cNvSpPr txBox="1"/>
          <p:nvPr/>
        </p:nvSpPr>
        <p:spPr>
          <a:xfrm>
            <a:off x="1143000" y="502920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528523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541264"/>
            <a:ext cx="4160520" cy="566928"/>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499063"/>
          </a:xfrm>
          <a:prstGeom prst="rect">
            <a:avLst/>
          </a:prstGeom>
        </p:spPr>
      </p:pic>
      <p:sp>
        <p:nvSpPr>
          <p:cNvPr id="31" name="Text 27"/>
          <p:cNvSpPr txBox="1"/>
          <p:nvPr/>
        </p:nvSpPr>
        <p:spPr>
          <a:xfrm>
            <a:off x="5358384" y="574848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926080"/>
            <a:ext cx="4754880" cy="475488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658368"/>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SUMMARY</a:t>
            </a:r>
            <a:endParaRPr lang="en-US" sz="1000" dirty="0"/>
          </a:p>
        </p:txBody>
      </p:sp>
      <p:sp>
        <p:nvSpPr>
          <p:cNvPr id="6" name="Text 1"/>
          <p:cNvSpPr txBox="1"/>
          <p:nvPr/>
        </p:nvSpPr>
        <p:spPr>
          <a:xfrm>
            <a:off x="777240" y="987552"/>
            <a:ext cx="9509760" cy="1133856"/>
          </a:xfrm>
          <a:prstGeom prst="rect">
            <a:avLst/>
          </a:prstGeom>
          <a:noFill/>
          <a:ln/>
        </p:spPr>
        <p:txBody>
          <a:bodyPr wrap="square" lIns="0" tIns="0" rIns="0" bIns="0" rtlCol="0" anchor="t"/>
          <a:lstStyle/>
          <a:p>
            <a:pPr indent="0" marL="0">
              <a:lnSpc>
                <a:spcPct val="102000"/>
              </a:lnSpc>
              <a:buNone/>
            </a:pPr>
            <a:r>
              <a:rPr lang="en-US" sz="3200" spc="-80" kern="0" dirty="0">
                <a:solidFill>
                  <a:srgbClr val="FFFFFF"/>
                </a:solidFill>
                <a:latin typeface="Montserrat ExtraBold" pitchFamily="34" charset="0"/>
                <a:ea typeface="Montserrat ExtraBold" pitchFamily="34" charset="-122"/>
                <a:cs typeface="Montserrat ExtraBold" pitchFamily="34" charset="-120"/>
              </a:rPr>
              <a:t>Not just a good intern for my team —</a:t>
            </a:r>
            <a:endParaRPr lang="en-US" sz="3200" dirty="0"/>
          </a:p>
          <a:p>
            <a:pPr indent="0" marL="0">
              <a:lnSpc>
                <a:spcPct val="102000"/>
              </a:lnSpc>
              <a:buNone/>
            </a:pPr>
            <a:r>
              <a:rPr lang="en-US" sz="3200" spc="-80" kern="0" dirty="0">
                <a:solidFill>
                  <a:srgbClr val="FFFFFF"/>
                </a:solidFill>
                <a:latin typeface="Montserrat ExtraBold" pitchFamily="34" charset="0"/>
                <a:ea typeface="Montserrat ExtraBold" pitchFamily="34" charset="-122"/>
                <a:cs typeface="Montserrat ExtraBold" pitchFamily="34" charset="-120"/>
              </a:rPr>
              <a:t>for the company</a:t>
            </a:r>
            <a:endParaRPr lang="en-US" sz="3200" dirty="0"/>
          </a:p>
        </p:txBody>
      </p:sp>
      <p:sp>
        <p:nvSpPr>
          <p:cNvPr id="7" name="Shape 2"/>
          <p:cNvSpPr/>
          <p:nvPr/>
        </p:nvSpPr>
        <p:spPr>
          <a:xfrm>
            <a:off x="777240" y="2249424"/>
            <a:ext cx="640080" cy="50292"/>
          </a:xfrm>
          <a:prstGeom prst="rect">
            <a:avLst/>
          </a:prstGeom>
          <a:solidFill>
            <a:srgbClr val="FFFFFF"/>
          </a:solidFill>
          <a:ln/>
        </p:spPr>
      </p:sp>
      <p:sp>
        <p:nvSpPr>
          <p:cNvPr id="8" name="Shape 3"/>
          <p:cNvSpPr/>
          <p:nvPr/>
        </p:nvSpPr>
        <p:spPr>
          <a:xfrm>
            <a:off x="777240" y="2615184"/>
            <a:ext cx="5175504" cy="1280160"/>
          </a:xfrm>
          <a:prstGeom prst="roundRect">
            <a:avLst>
              <a:gd name="adj" fmla="val 4286"/>
            </a:avLst>
          </a:prstGeom>
          <a:solidFill>
            <a:srgbClr val="FFFFFF">
              <a:alpha val="12000"/>
            </a:srgbClr>
          </a:solidFill>
          <a:ln w="9525">
            <a:solidFill>
              <a:srgbClr val="CA949C"/>
            </a:solidFill>
            <a:prstDash val="solid"/>
          </a:ln>
        </p:spPr>
      </p:sp>
      <p:sp>
        <p:nvSpPr>
          <p:cNvPr id="9" name="Shape 4"/>
          <p:cNvSpPr/>
          <p:nvPr/>
        </p:nvSpPr>
        <p:spPr>
          <a:xfrm>
            <a:off x="777240" y="2615184"/>
            <a:ext cx="45720" cy="1280160"/>
          </a:xfrm>
          <a:prstGeom prst="rect">
            <a:avLst/>
          </a:prstGeom>
          <a:solidFill>
            <a:srgbClr val="FFFFFF"/>
          </a:solidFill>
          <a:ln/>
        </p:spPr>
      </p:sp>
      <p:sp>
        <p:nvSpPr>
          <p:cNvPr id="10" name="Text 5"/>
          <p:cNvSpPr txBox="1"/>
          <p:nvPr/>
        </p:nvSpPr>
        <p:spPr>
          <a:xfrm>
            <a:off x="1033272" y="2816352"/>
            <a:ext cx="4663440" cy="274320"/>
          </a:xfrm>
          <a:prstGeom prst="rect">
            <a:avLst/>
          </a:prstGeom>
          <a:noFill/>
          <a:ln/>
        </p:spPr>
        <p:txBody>
          <a:bodyPr wrap="square" lIns="0" tIns="0" rIns="0" bIns="0" rtlCol="0" anchor="t"/>
          <a:lstStyle/>
          <a:p>
            <a:pPr indent="0" marL="0">
              <a:buNone/>
            </a:pPr>
            <a:r>
              <a:rPr lang="en-US" sz="1350" dirty="0">
                <a:solidFill>
                  <a:srgbClr val="FFFFFF"/>
                </a:solidFill>
                <a:latin typeface="Montserrat SemiBold" pitchFamily="34" charset="0"/>
                <a:ea typeface="Montserrat SemiBold" pitchFamily="34" charset="-122"/>
                <a:cs typeface="Montserrat SemiBold" pitchFamily="34" charset="-120"/>
              </a:rPr>
              <a:t>Left tools behind, not just results</a:t>
            </a:r>
            <a:endParaRPr lang="en-US" sz="1350" dirty="0"/>
          </a:p>
        </p:txBody>
      </p:sp>
      <p:sp>
        <p:nvSpPr>
          <p:cNvPr id="11" name="Text 6"/>
          <p:cNvSpPr txBox="1"/>
          <p:nvPr/>
        </p:nvSpPr>
        <p:spPr>
          <a:xfrm>
            <a:off x="1033272" y="3127248"/>
            <a:ext cx="4663440" cy="603504"/>
          </a:xfrm>
          <a:prstGeom prst="rect">
            <a:avLst/>
          </a:prstGeom>
          <a:noFill/>
          <a:ln/>
        </p:spPr>
        <p:txBody>
          <a:bodyPr wrap="square" lIns="0" tIns="0" rIns="0" bIns="0" rtlCol="0" anchor="t"/>
          <a:lstStyle/>
          <a:p>
            <a:pPr indent="0" marL="0">
              <a:lnSpc>
                <a:spcPct val="120000"/>
              </a:lnSpc>
              <a:buNone/>
            </a:pPr>
            <a:r>
              <a:rPr lang="en-US" sz="1100" dirty="0">
                <a:solidFill>
                  <a:srgbClr val="E4C9CE"/>
                </a:solidFill>
                <a:latin typeface="Montserrat" pitchFamily="34" charset="0"/>
                <a:ea typeface="Montserrat" pitchFamily="34" charset="-122"/>
                <a:cs typeface="Montserrat" pitchFamily="34" charset="-120"/>
              </a:rPr>
              <a:t>The scripts and frameworks I built are still in use by the team after I go.</a:t>
            </a:r>
            <a:endParaRPr lang="en-US" sz="1100" dirty="0"/>
          </a:p>
        </p:txBody>
      </p:sp>
      <p:sp>
        <p:nvSpPr>
          <p:cNvPr id="12" name="Shape 7"/>
          <p:cNvSpPr/>
          <p:nvPr/>
        </p:nvSpPr>
        <p:spPr>
          <a:xfrm>
            <a:off x="6236208" y="2615184"/>
            <a:ext cx="5175504" cy="1280160"/>
          </a:xfrm>
          <a:prstGeom prst="roundRect">
            <a:avLst>
              <a:gd name="adj" fmla="val 4286"/>
            </a:avLst>
          </a:prstGeom>
          <a:solidFill>
            <a:srgbClr val="FFFFFF">
              <a:alpha val="12000"/>
            </a:srgbClr>
          </a:solidFill>
          <a:ln w="9525">
            <a:solidFill>
              <a:srgbClr val="CA949C"/>
            </a:solidFill>
            <a:prstDash val="solid"/>
          </a:ln>
        </p:spPr>
      </p:sp>
      <p:sp>
        <p:nvSpPr>
          <p:cNvPr id="13" name="Shape 8"/>
          <p:cNvSpPr/>
          <p:nvPr/>
        </p:nvSpPr>
        <p:spPr>
          <a:xfrm>
            <a:off x="6236208" y="2615184"/>
            <a:ext cx="45720" cy="1280160"/>
          </a:xfrm>
          <a:prstGeom prst="rect">
            <a:avLst/>
          </a:prstGeom>
          <a:solidFill>
            <a:srgbClr val="FFFFFF"/>
          </a:solidFill>
          <a:ln/>
        </p:spPr>
      </p:sp>
      <p:sp>
        <p:nvSpPr>
          <p:cNvPr id="14" name="Text 9"/>
          <p:cNvSpPr txBox="1"/>
          <p:nvPr/>
        </p:nvSpPr>
        <p:spPr>
          <a:xfrm>
            <a:off x="6492240" y="2816352"/>
            <a:ext cx="4663440" cy="274320"/>
          </a:xfrm>
          <a:prstGeom prst="rect">
            <a:avLst/>
          </a:prstGeom>
          <a:noFill/>
          <a:ln/>
        </p:spPr>
        <p:txBody>
          <a:bodyPr wrap="square" lIns="0" tIns="0" rIns="0" bIns="0" rtlCol="0" anchor="t"/>
          <a:lstStyle/>
          <a:p>
            <a:pPr indent="0" marL="0">
              <a:buNone/>
            </a:pPr>
            <a:r>
              <a:rPr lang="en-US" sz="1350" dirty="0">
                <a:solidFill>
                  <a:srgbClr val="FFFFFF"/>
                </a:solidFill>
                <a:latin typeface="Montserrat SemiBold" pitchFamily="34" charset="0"/>
                <a:ea typeface="Montserrat SemiBold" pitchFamily="34" charset="-122"/>
                <a:cs typeface="Montserrat SemiBold" pitchFamily="34" charset="-120"/>
              </a:rPr>
              <a:t>Worked across team lines</a:t>
            </a:r>
            <a:endParaRPr lang="en-US" sz="1350" dirty="0"/>
          </a:p>
        </p:txBody>
      </p:sp>
      <p:sp>
        <p:nvSpPr>
          <p:cNvPr id="15" name="Text 10"/>
          <p:cNvSpPr txBox="1"/>
          <p:nvPr/>
        </p:nvSpPr>
        <p:spPr>
          <a:xfrm>
            <a:off x="6492240" y="3127248"/>
            <a:ext cx="4663440" cy="603504"/>
          </a:xfrm>
          <a:prstGeom prst="rect">
            <a:avLst/>
          </a:prstGeom>
          <a:noFill/>
          <a:ln/>
        </p:spPr>
        <p:txBody>
          <a:bodyPr wrap="square" lIns="0" tIns="0" rIns="0" bIns="0" rtlCol="0" anchor="t"/>
          <a:lstStyle/>
          <a:p>
            <a:pPr indent="0" marL="0">
              <a:lnSpc>
                <a:spcPct val="120000"/>
              </a:lnSpc>
              <a:buNone/>
            </a:pPr>
            <a:r>
              <a:rPr lang="en-US" sz="1100" dirty="0">
                <a:solidFill>
                  <a:srgbClr val="E4C9CE"/>
                </a:solidFill>
                <a:latin typeface="Montserrat" pitchFamily="34" charset="0"/>
                <a:ea typeface="Montserrat" pitchFamily="34" charset="-122"/>
                <a:cs typeface="Montserrat" pitchFamily="34" charset="-120"/>
              </a:rPr>
              <a:t>Vulnerability Management, Application Security and Network Security — plus Cloud Operations and Development.</a:t>
            </a:r>
            <a:endParaRPr lang="en-US" sz="1100" dirty="0"/>
          </a:p>
        </p:txBody>
      </p:sp>
      <p:sp>
        <p:nvSpPr>
          <p:cNvPr id="16" name="Shape 11"/>
          <p:cNvSpPr/>
          <p:nvPr/>
        </p:nvSpPr>
        <p:spPr>
          <a:xfrm>
            <a:off x="777240" y="4133088"/>
            <a:ext cx="5175504" cy="1280160"/>
          </a:xfrm>
          <a:prstGeom prst="roundRect">
            <a:avLst>
              <a:gd name="adj" fmla="val 4286"/>
            </a:avLst>
          </a:prstGeom>
          <a:solidFill>
            <a:srgbClr val="FFFFFF">
              <a:alpha val="12000"/>
            </a:srgbClr>
          </a:solidFill>
          <a:ln w="9525">
            <a:solidFill>
              <a:srgbClr val="CA949C"/>
            </a:solidFill>
            <a:prstDash val="solid"/>
          </a:ln>
        </p:spPr>
      </p:sp>
      <p:sp>
        <p:nvSpPr>
          <p:cNvPr id="17" name="Shape 12"/>
          <p:cNvSpPr/>
          <p:nvPr/>
        </p:nvSpPr>
        <p:spPr>
          <a:xfrm>
            <a:off x="777240" y="4133088"/>
            <a:ext cx="45720" cy="1280160"/>
          </a:xfrm>
          <a:prstGeom prst="rect">
            <a:avLst/>
          </a:prstGeom>
          <a:solidFill>
            <a:srgbClr val="FFFFFF"/>
          </a:solidFill>
          <a:ln/>
        </p:spPr>
      </p:sp>
      <p:sp>
        <p:nvSpPr>
          <p:cNvPr id="18" name="Text 13"/>
          <p:cNvSpPr txBox="1"/>
          <p:nvPr/>
        </p:nvSpPr>
        <p:spPr>
          <a:xfrm>
            <a:off x="1033272" y="4334256"/>
            <a:ext cx="4663440" cy="274320"/>
          </a:xfrm>
          <a:prstGeom prst="rect">
            <a:avLst/>
          </a:prstGeom>
          <a:noFill/>
          <a:ln/>
        </p:spPr>
        <p:txBody>
          <a:bodyPr wrap="square" lIns="0" tIns="0" rIns="0" bIns="0" rtlCol="0" anchor="t"/>
          <a:lstStyle/>
          <a:p>
            <a:pPr indent="0" marL="0">
              <a:buNone/>
            </a:pPr>
            <a:r>
              <a:rPr lang="en-US" sz="1350" dirty="0">
                <a:solidFill>
                  <a:srgbClr val="FFFFFF"/>
                </a:solidFill>
                <a:latin typeface="Montserrat SemiBold" pitchFamily="34" charset="0"/>
                <a:ea typeface="Montserrat SemiBold" pitchFamily="34" charset="-122"/>
                <a:cs typeface="Montserrat SemiBold" pitchFamily="34" charset="-120"/>
              </a:rPr>
              <a:t>Built proof, not opinions</a:t>
            </a:r>
            <a:endParaRPr lang="en-US" sz="1350" dirty="0"/>
          </a:p>
        </p:txBody>
      </p:sp>
      <p:sp>
        <p:nvSpPr>
          <p:cNvPr id="19" name="Text 14"/>
          <p:cNvSpPr txBox="1"/>
          <p:nvPr/>
        </p:nvSpPr>
        <p:spPr>
          <a:xfrm>
            <a:off x="1033272" y="4645152"/>
            <a:ext cx="4663440" cy="603504"/>
          </a:xfrm>
          <a:prstGeom prst="rect">
            <a:avLst/>
          </a:prstGeom>
          <a:noFill/>
          <a:ln/>
        </p:spPr>
        <p:txBody>
          <a:bodyPr wrap="square" lIns="0" tIns="0" rIns="0" bIns="0" rtlCol="0" anchor="t"/>
          <a:lstStyle/>
          <a:p>
            <a:pPr indent="0" marL="0">
              <a:lnSpc>
                <a:spcPct val="120000"/>
              </a:lnSpc>
              <a:buNone/>
            </a:pPr>
            <a:r>
              <a:rPr lang="en-US" sz="1100" dirty="0">
                <a:solidFill>
                  <a:srgbClr val="E4C9CE"/>
                </a:solidFill>
                <a:latin typeface="Montserrat" pitchFamily="34" charset="0"/>
                <a:ea typeface="Montserrat" pitchFamily="34" charset="-122"/>
                <a:cs typeface="Montserrat" pitchFamily="34" charset="-120"/>
              </a:rPr>
              <a:t>Every number here is either measured and independently checked, or clearly labelled as an estimate.</a:t>
            </a:r>
            <a:endParaRPr lang="en-US" sz="1100" dirty="0"/>
          </a:p>
        </p:txBody>
      </p:sp>
      <p:sp>
        <p:nvSpPr>
          <p:cNvPr id="20" name="Shape 15"/>
          <p:cNvSpPr/>
          <p:nvPr/>
        </p:nvSpPr>
        <p:spPr>
          <a:xfrm>
            <a:off x="6236208" y="4133088"/>
            <a:ext cx="5175504" cy="1280160"/>
          </a:xfrm>
          <a:prstGeom prst="roundRect">
            <a:avLst>
              <a:gd name="adj" fmla="val 4286"/>
            </a:avLst>
          </a:prstGeom>
          <a:solidFill>
            <a:srgbClr val="FFFFFF">
              <a:alpha val="12000"/>
            </a:srgbClr>
          </a:solidFill>
          <a:ln w="9525">
            <a:solidFill>
              <a:srgbClr val="CA949C"/>
            </a:solidFill>
            <a:prstDash val="solid"/>
          </a:ln>
        </p:spPr>
      </p:sp>
      <p:sp>
        <p:nvSpPr>
          <p:cNvPr id="21" name="Shape 16"/>
          <p:cNvSpPr/>
          <p:nvPr/>
        </p:nvSpPr>
        <p:spPr>
          <a:xfrm>
            <a:off x="6236208" y="4133088"/>
            <a:ext cx="45720" cy="1280160"/>
          </a:xfrm>
          <a:prstGeom prst="rect">
            <a:avLst/>
          </a:prstGeom>
          <a:solidFill>
            <a:srgbClr val="FFFFFF"/>
          </a:solidFill>
          <a:ln/>
        </p:spPr>
      </p:sp>
      <p:sp>
        <p:nvSpPr>
          <p:cNvPr id="22" name="Text 17"/>
          <p:cNvSpPr txBox="1"/>
          <p:nvPr/>
        </p:nvSpPr>
        <p:spPr>
          <a:xfrm>
            <a:off x="6492240" y="4334256"/>
            <a:ext cx="4663440" cy="274320"/>
          </a:xfrm>
          <a:prstGeom prst="rect">
            <a:avLst/>
          </a:prstGeom>
          <a:noFill/>
          <a:ln/>
        </p:spPr>
        <p:txBody>
          <a:bodyPr wrap="square" lIns="0" tIns="0" rIns="0" bIns="0" rtlCol="0" anchor="t"/>
          <a:lstStyle/>
          <a:p>
            <a:pPr indent="0" marL="0">
              <a:buNone/>
            </a:pPr>
            <a:r>
              <a:rPr lang="en-US" sz="1350" dirty="0">
                <a:solidFill>
                  <a:srgbClr val="FFFFFF"/>
                </a:solidFill>
                <a:latin typeface="Montserrat SemiBold" pitchFamily="34" charset="0"/>
                <a:ea typeface="Montserrat SemiBold" pitchFamily="34" charset="-122"/>
                <a:cs typeface="Montserrat SemiBold" pitchFamily="34" charset="-120"/>
              </a:rPr>
              <a:t>Built to scale beyond one team</a:t>
            </a:r>
            <a:endParaRPr lang="en-US" sz="1350" dirty="0"/>
          </a:p>
        </p:txBody>
      </p:sp>
      <p:sp>
        <p:nvSpPr>
          <p:cNvPr id="23" name="Text 18"/>
          <p:cNvSpPr txBox="1"/>
          <p:nvPr/>
        </p:nvSpPr>
        <p:spPr>
          <a:xfrm>
            <a:off x="6492240" y="4645152"/>
            <a:ext cx="4663440" cy="603504"/>
          </a:xfrm>
          <a:prstGeom prst="rect">
            <a:avLst/>
          </a:prstGeom>
          <a:noFill/>
          <a:ln/>
        </p:spPr>
        <p:txBody>
          <a:bodyPr wrap="square" lIns="0" tIns="0" rIns="0" bIns="0" rtlCol="0" anchor="t"/>
          <a:lstStyle/>
          <a:p>
            <a:pPr indent="0" marL="0">
              <a:lnSpc>
                <a:spcPct val="120000"/>
              </a:lnSpc>
              <a:buNone/>
            </a:pPr>
            <a:r>
              <a:rPr lang="en-US" sz="1100" dirty="0">
                <a:solidFill>
                  <a:srgbClr val="E4C9CE"/>
                </a:solidFill>
                <a:latin typeface="Montserrat" pitchFamily="34" charset="0"/>
                <a:ea typeface="Montserrat" pitchFamily="34" charset="-122"/>
                <a:cs typeface="Montserrat" pitchFamily="34" charset="-120"/>
              </a:rPr>
              <a:t>Each project was designed so another group can pick it up and run it.</a:t>
            </a:r>
            <a:endParaRPr lang="en-US" sz="1100" dirty="0"/>
          </a:p>
        </p:txBody>
      </p:sp>
      <p:sp>
        <p:nvSpPr>
          <p:cNvPr id="24" name="Text 19"/>
          <p:cNvSpPr txBox="1"/>
          <p:nvPr/>
        </p:nvSpPr>
        <p:spPr>
          <a:xfrm>
            <a:off x="777240" y="5614416"/>
            <a:ext cx="6949440" cy="329184"/>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Thank you — happy to take questions.</a:t>
            </a:r>
            <a:endParaRPr lang="en-US" sz="1600" dirty="0"/>
          </a:p>
        </p:txBody>
      </p:sp>
      <p:sp>
        <p:nvSpPr>
          <p:cNvPr id="25" name="Text 20"/>
          <p:cNvSpPr txBox="1"/>
          <p:nvPr/>
        </p:nvSpPr>
        <p:spPr>
          <a:xfrm>
            <a:off x="777240" y="5980176"/>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6" name="Text 21"/>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SUMMARY</a:t>
            </a:r>
            <a:endParaRPr lang="en-US" sz="850" dirty="0"/>
          </a:p>
        </p:txBody>
      </p:sp>
      <p:sp>
        <p:nvSpPr>
          <p:cNvPr id="27" name="Text 22"/>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23</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2026-07-27T23:28:19Z</dcterms:created>
  <dcterms:modified xsi:type="dcterms:W3CDTF">2026-07-27T23:28:19Z</dcterms:modified>
</cp:coreProperties>
</file>