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security folks. The short version for everyone else: I tried to make the tool report a clean result it had not earned, and it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PROVING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I tried to catch it lying, and it held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security tool that quietly reports "clean" when it actually failed is worse than no tool at all. So I tested the failure paths, not just the happy path.</a:t>
            </a:r>
            <a:endParaRPr lang="en-US" sz="1400" dirty="0"/>
          </a:p>
        </p:txBody>
      </p:sp>
      <p:sp>
        <p:nvSpPr>
          <p:cNvPr id="10" name="Text 7"/>
          <p:cNvSpPr txBox="1"/>
          <p:nvPr/>
        </p:nvSpPr>
        <p:spPr>
          <a:xfrm>
            <a:off x="777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733</a:t>
            </a:r>
            <a:endParaRPr lang="en-US" sz="4000" dirty="0"/>
          </a:p>
        </p:txBody>
      </p:sp>
      <p:sp>
        <p:nvSpPr>
          <p:cNvPr id="11" name="Text 8"/>
          <p:cNvSpPr txBox="1"/>
          <p:nvPr/>
        </p:nvSpPr>
        <p:spPr>
          <a:xfrm>
            <a:off x="777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read from a real</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project's lockfile</a:t>
            </a:r>
            <a:endParaRPr lang="en-US" sz="950" dirty="0"/>
          </a:p>
        </p:txBody>
      </p:sp>
      <p:sp>
        <p:nvSpPr>
          <p:cNvPr id="12" name="Text 9"/>
          <p:cNvSpPr txBox="1"/>
          <p:nvPr/>
        </p:nvSpPr>
        <p:spPr>
          <a:xfrm>
            <a:off x="3063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2</a:t>
            </a:r>
            <a:endParaRPr lang="en-US" sz="4000" dirty="0"/>
          </a:p>
        </p:txBody>
      </p:sp>
      <p:sp>
        <p:nvSpPr>
          <p:cNvPr id="13" name="Text 10"/>
          <p:cNvSpPr txBox="1"/>
          <p:nvPr/>
        </p:nvSpPr>
        <p:spPr>
          <a:xfrm>
            <a:off x="3063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real bugs found in my own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code, and fixed</a:t>
            </a:r>
            <a:endParaRPr lang="en-US" sz="950" dirty="0"/>
          </a:p>
        </p:txBody>
      </p:sp>
      <p:sp>
        <p:nvSpPr>
          <p:cNvPr id="14" name="Shape 11"/>
          <p:cNvSpPr/>
          <p:nvPr/>
        </p:nvSpPr>
        <p:spPr>
          <a:xfrm>
            <a:off x="777240" y="3858768"/>
            <a:ext cx="4114800" cy="10973"/>
          </a:xfrm>
          <a:prstGeom prst="rect">
            <a:avLst/>
          </a:prstGeom>
          <a:solidFill>
            <a:srgbClr val="E6E4E2"/>
          </a:solidFill>
          <a:ln/>
        </p:spPr>
      </p:sp>
      <p:sp>
        <p:nvSpPr>
          <p:cNvPr id="15" name="Text 12"/>
          <p:cNvSpPr txBox="1"/>
          <p:nvPr/>
        </p:nvSpPr>
        <p:spPr>
          <a:xfrm>
            <a:off x="777240" y="4041648"/>
            <a:ext cx="4023360"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The bugs are the interesting part: one was an honesty bug — a "can't prove" result was being described as if the flaw had been confirmed absent. Exactly the failure the tool exists to prevent.</a:t>
            </a:r>
            <a:endParaRPr lang="en-US" sz="1100" dirty="0"/>
          </a:p>
        </p:txBody>
      </p:sp>
      <p:sp>
        <p:nvSpPr>
          <p:cNvPr id="16" name="Text 13"/>
          <p:cNvSpPr txBox="1"/>
          <p:nvPr/>
        </p:nvSpPr>
        <p:spPr>
          <a:xfrm>
            <a:off x="5358384" y="2432304"/>
            <a:ext cx="60560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TESTED</a:t>
            </a:r>
            <a:endParaRPr lang="en-US" sz="850" dirty="0"/>
          </a:p>
        </p:txBody>
      </p:sp>
      <p:sp>
        <p:nvSpPr>
          <p:cNvPr id="17" name="Shape 14"/>
          <p:cNvSpPr/>
          <p:nvPr/>
        </p:nvSpPr>
        <p:spPr>
          <a:xfrm>
            <a:off x="5358384" y="2779776"/>
            <a:ext cx="45720" cy="182880"/>
          </a:xfrm>
          <a:prstGeom prst="rect">
            <a:avLst/>
          </a:prstGeom>
          <a:solidFill>
            <a:srgbClr val="942838"/>
          </a:solidFill>
          <a:ln/>
        </p:spPr>
      </p:sp>
      <p:sp>
        <p:nvSpPr>
          <p:cNvPr id="18" name="Text 15"/>
          <p:cNvSpPr txBox="1"/>
          <p:nvPr/>
        </p:nvSpPr>
        <p:spPr>
          <a:xfrm>
            <a:off x="5541264" y="272491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Tested end to end, not just reviewed</a:t>
            </a:r>
            <a:endParaRPr lang="en-US" sz="1200" dirty="0"/>
          </a:p>
        </p:txBody>
      </p:sp>
      <p:sp>
        <p:nvSpPr>
          <p:cNvPr id="19" name="Text 16"/>
          <p:cNvSpPr txBox="1"/>
          <p:nvPr/>
        </p:nvSpPr>
        <p:spPr>
          <a:xfrm>
            <a:off x="5541264" y="298094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Ran the whole pipeline against a real open-source project and read all 733 packages out of its lockfile.</a:t>
            </a:r>
            <a:endParaRPr lang="en-US" sz="1100" dirty="0"/>
          </a:p>
        </p:txBody>
      </p:sp>
      <p:sp>
        <p:nvSpPr>
          <p:cNvPr id="20" name="Shape 17"/>
          <p:cNvSpPr/>
          <p:nvPr/>
        </p:nvSpPr>
        <p:spPr>
          <a:xfrm>
            <a:off x="5358384" y="3648456"/>
            <a:ext cx="45720" cy="182880"/>
          </a:xfrm>
          <a:prstGeom prst="rect">
            <a:avLst/>
          </a:prstGeom>
          <a:solidFill>
            <a:srgbClr val="942838"/>
          </a:solidFill>
          <a:ln/>
        </p:spPr>
      </p:sp>
      <p:sp>
        <p:nvSpPr>
          <p:cNvPr id="21" name="Text 18"/>
          <p:cNvSpPr txBox="1"/>
          <p:nvPr/>
        </p:nvSpPr>
        <p:spPr>
          <a:xfrm>
            <a:off x="5541264" y="359359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failed loudly, which is the point</a:t>
            </a:r>
            <a:endParaRPr lang="en-US" sz="1200" dirty="0"/>
          </a:p>
        </p:txBody>
      </p:sp>
      <p:sp>
        <p:nvSpPr>
          <p:cNvPr id="22" name="Text 19"/>
          <p:cNvSpPr txBox="1"/>
          <p:nvPr/>
        </p:nvSpPr>
        <p:spPr>
          <a:xfrm>
            <a:off x="5541264" y="384962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When the company network blocked the flaw-database lookup, SCAN reported an error instead of reporting "clean."</a:t>
            </a:r>
            <a:endParaRPr lang="en-US" sz="1100" dirty="0"/>
          </a:p>
        </p:txBody>
      </p:sp>
      <p:sp>
        <p:nvSpPr>
          <p:cNvPr id="23" name="Shape 20"/>
          <p:cNvSpPr/>
          <p:nvPr/>
        </p:nvSpPr>
        <p:spPr>
          <a:xfrm>
            <a:off x="5358384" y="4517136"/>
            <a:ext cx="45720" cy="182880"/>
          </a:xfrm>
          <a:prstGeom prst="rect">
            <a:avLst/>
          </a:prstGeom>
          <a:solidFill>
            <a:srgbClr val="942838"/>
          </a:solidFill>
          <a:ln/>
        </p:spPr>
      </p:sp>
      <p:sp>
        <p:nvSpPr>
          <p:cNvPr id="24" name="Text 21"/>
          <p:cNvSpPr txBox="1"/>
          <p:nvPr/>
        </p:nvSpPr>
        <p:spPr>
          <a:xfrm>
            <a:off x="5541264" y="446227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refused to guess</a:t>
            </a:r>
            <a:endParaRPr lang="en-US" sz="1200" dirty="0"/>
          </a:p>
        </p:txBody>
      </p:sp>
      <p:sp>
        <p:nvSpPr>
          <p:cNvPr id="25" name="Text 22"/>
          <p:cNvSpPr txBox="1"/>
          <p:nvPr/>
        </p:nvSpPr>
        <p:spPr>
          <a:xfrm>
            <a:off x="5541264" y="471830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Forced onto its weakest analysis method, REACH answered "can't prove" rather than calling anything safe.</a:t>
            </a:r>
            <a:endParaRPr lang="en-US" sz="1100" dirty="0"/>
          </a:p>
        </p:txBody>
      </p:sp>
      <p:sp>
        <p:nvSpPr>
          <p:cNvPr id="26" name="Shape 23"/>
          <p:cNvSpPr/>
          <p:nvPr/>
        </p:nvSpPr>
        <p:spPr>
          <a:xfrm>
            <a:off x="5358384" y="5385816"/>
            <a:ext cx="45720" cy="182880"/>
          </a:xfrm>
          <a:prstGeom prst="rect">
            <a:avLst/>
          </a:prstGeom>
          <a:solidFill>
            <a:srgbClr val="942838"/>
          </a:solidFill>
          <a:ln/>
        </p:spPr>
      </p:sp>
      <p:sp>
        <p:nvSpPr>
          <p:cNvPr id="27" name="Text 24"/>
          <p:cNvSpPr txBox="1"/>
          <p:nvPr/>
        </p:nvSpPr>
        <p:spPr>
          <a:xfrm>
            <a:off x="5541264" y="533095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The safety rails hold</a:t>
            </a:r>
            <a:endParaRPr lang="en-US" sz="1200" dirty="0"/>
          </a:p>
        </p:txBody>
      </p:sp>
      <p:sp>
        <p:nvSpPr>
          <p:cNvPr id="28" name="Text 25"/>
          <p:cNvSpPr txBox="1"/>
          <p:nvPr/>
        </p:nvSpPr>
        <p:spPr>
          <a:xfrm>
            <a:off x="5541264" y="558698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FIX refused to run without explicit approval, and refused to touch a protected branch even once approved.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pipeline is built and its safety rails are tested. Three things still need a real run before I would call it finished.</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Unblock the live lookups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company security proxy presents a malformed certificate that modern security libraries correctly reject, so the lookups fail. The real fix is an inspection bypass. Meanwhile I built the workaround: the scan splits in two, so the lookup can run from an unblocked network.</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Read code structure, not just text</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Reachability currently falls back to searching text. With the right tooling present it reads the code's actual structure, which is far more accurate. That still needs a real run.</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the parts that judge risk are built and tested. The parts that depend on the corporate network are not proven yet.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313405207375865e+79" dist="3.2835130184396625e+78" dir="5.484237660094465e+92">
              <a:srgbClr val="959092">
                <a:alpha val="2.2e+9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ONE FACT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r>
          <p:cNvPicPr>
            <a:picLocks noChangeAspect="1"/>
          </p:cNvPicPr>
          <p:nvPr/>
        </p:nvPicPr>
        <p:blipFill>
          <a:blip r:embed="rId2"/>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5" name="Text 11"/>
          <p:cNvSpPr txBox="1"/>
          <p:nvPr/>
        </p:nvSpPr>
        <p:spPr>
          <a:xfrm>
            <a:off x="7882128" y="3182112"/>
            <a:ext cx="1097280" cy="566928"/>
          </a:xfrm>
          <a:prstGeom prst="rect">
            <a:avLst/>
          </a:prstGeom>
          <a:noFill/>
          <a:ln/>
        </p:spPr>
        <p:txBody>
          <a:bodyPr wrap="square" lIns="0" tIns="0" rIns="0" bIns="0" rtlCol="0" anchor="t"/>
          <a:lstStyle/>
          <a:p>
            <a:pPr indent="0" marL="0">
              <a:buNone/>
            </a:pPr>
            <a:r>
              <a:rPr lang="en-US" sz="3600" spc="-140" kern="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8" name="Text 14"/>
          <p:cNvSpPr txBox="1"/>
          <p:nvPr/>
        </p:nvSpPr>
        <p:spPr>
          <a:xfrm>
            <a:off x="7882128" y="4151376"/>
            <a:ext cx="1097280" cy="566928"/>
          </a:xfrm>
          <a:prstGeom prst="rect">
            <a:avLst/>
          </a:prstGeom>
          <a:noFill/>
          <a:ln/>
        </p:spPr>
        <p:txBody>
          <a:bodyPr wrap="square" lIns="0" tIns="0" rIns="0" bIns="0" rtlCol="0" anchor="t"/>
          <a:lstStyle/>
          <a:p>
            <a:pPr indent="0" marL="0">
              <a:buNone/>
            </a:pPr>
            <a:r>
              <a:rPr lang="en-US" sz="3600" spc="-140" kern="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r>
          <p:cNvPicPr>
            <a:picLocks noChangeAspect="1"/>
          </p:cNvPicPr>
          <p:nvPr/>
        </p:nvPicPr>
        <p:blipFill>
          <a:blip r:embed="rId3"/>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r>
          <p:cNvPicPr>
            <a:picLocks noChangeAspect="1"/>
          </p:cNvPicPr>
          <p:nvPr/>
        </p:nvPicPr>
        <p:blipFill>
          <a:blip r:embed="rId2"/>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2" name="Text 8"/>
          <p:cNvSpPr txBox="1"/>
          <p:nvPr/>
        </p:nvSpPr>
        <p:spPr>
          <a:xfrm>
            <a:off x="7242048" y="2688336"/>
            <a:ext cx="3879799"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indent="0" marL="0">
              <a:buNone/>
            </a:pPr>
            <a:r>
              <a:rPr lang="en-US" sz="22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7" name="Text 13"/>
          <p:cNvSpPr txBox="1"/>
          <p:nvPr/>
        </p:nvSpPr>
        <p:spPr>
          <a:xfrm>
            <a:off x="960120"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1" name="Text 17"/>
          <p:cNvSpPr txBox="1"/>
          <p:nvPr/>
        </p:nvSpPr>
        <p:spPr>
          <a:xfrm>
            <a:off x="3676802"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5" name="Text 21"/>
          <p:cNvSpPr txBox="1"/>
          <p:nvPr/>
        </p:nvSpPr>
        <p:spPr>
          <a:xfrm>
            <a:off x="6393485"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29" name="Text 25"/>
          <p:cNvSpPr txBox="1"/>
          <p:nvPr/>
        </p:nvSpPr>
        <p:spPr>
          <a:xfrm>
            <a:off x="9110167"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SAME FACT AGAIN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3" name="Text 10"/>
          <p:cNvSpPr txBox="1"/>
          <p:nvPr/>
        </p:nvSpPr>
        <p:spPr>
          <a:xfrm>
            <a:off x="1051560" y="2852928"/>
            <a:ext cx="5029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March patch</a:t>
            </a:r>
            <a:pPr indent="0" marL="0">
              <a:buNone/>
            </a:pP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June patch</a:t>
            </a:r>
            <a:pPr indent="0" marL="0">
              <a:buNone/>
            </a:pP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indent="0" marL="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pPr indent="0" marL="0">
              <a:buNone/>
            </a:pP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indent="0" marL="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22" name="Text 19"/>
          <p:cNvSpPr txBox="1"/>
          <p:nvPr/>
        </p:nvSpPr>
        <p:spPr>
          <a:xfrm>
            <a:off x="689457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25" name="Text 22"/>
          <p:cNvSpPr txBox="1"/>
          <p:nvPr/>
        </p:nvSpPr>
        <p:spPr>
          <a:xfrm>
            <a:off x="851702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28" name="Text 25"/>
          <p:cNvSpPr txBox="1"/>
          <p:nvPr/>
        </p:nvSpPr>
        <p:spPr>
          <a:xfrm>
            <a:off x="10139477"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r>
          <p:cNvPicPr>
            <a:picLocks noChangeAspect="1"/>
          </p:cNvPicPr>
          <p:nvPr/>
        </p:nvPicPr>
        <p:blipFill>
          <a:blip r:embed="rId2"/>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pPr indent="0" marL="0">
              <a:buNone/>
            </a:pP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412480" y="-548640"/>
            <a:ext cx="4937760" cy="493776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76656"/>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69264"/>
            <a:ext cx="9509760" cy="749808"/>
          </a:xfrm>
          <a:prstGeom prst="rect">
            <a:avLst/>
          </a:prstGeom>
          <a:noFill/>
          <a:ln/>
        </p:spPr>
        <p:txBody>
          <a:bodyPr wrap="square" lIns="0" tIns="0" rIns="0" bIns="0" rtlCol="0" anchor="t"/>
          <a:lstStyle/>
          <a:p>
            <a:pPr indent="0" marL="0">
              <a:buNone/>
            </a:pPr>
            <a:r>
              <a:rPr lang="en-US" sz="3600" spc="-90" kern="0" dirty="0">
                <a:solidFill>
                  <a:srgbClr val="FFFFFF"/>
                </a:solidFill>
                <a:latin typeface="Montserrat ExtraBold" pitchFamily="34" charset="0"/>
                <a:ea typeface="Montserrat ExtraBold" pitchFamily="34" charset="-122"/>
                <a:cs typeface="Montserrat ExtraBold" pitchFamily="34" charset="-120"/>
              </a:rPr>
              <a:t>What this means for Stewart</a:t>
            </a:r>
            <a:endParaRPr lang="en-US" sz="3600" dirty="0"/>
          </a:p>
        </p:txBody>
      </p:sp>
      <p:sp>
        <p:nvSpPr>
          <p:cNvPr id="7" name="Shape 2"/>
          <p:cNvSpPr/>
          <p:nvPr/>
        </p:nvSpPr>
        <p:spPr>
          <a:xfrm>
            <a:off x="777240" y="1810512"/>
            <a:ext cx="640080" cy="50292"/>
          </a:xfrm>
          <a:prstGeom prst="rect">
            <a:avLst/>
          </a:prstGeom>
          <a:solidFill>
            <a:srgbClr val="FFFFFF"/>
          </a:solidFill>
          <a:ln/>
        </p:spPr>
      </p:sp>
      <p:sp>
        <p:nvSpPr>
          <p:cNvPr id="8" name="Text 3"/>
          <p:cNvSpPr txBox="1"/>
          <p:nvPr/>
        </p:nvSpPr>
        <p:spPr>
          <a:xfrm>
            <a:off x="777240" y="2029968"/>
            <a:ext cx="10241280" cy="310896"/>
          </a:xfrm>
          <a:prstGeom prst="rect">
            <a:avLst/>
          </a:prstGeom>
          <a:noFill/>
          <a:ln/>
        </p:spPr>
        <p:txBody>
          <a:bodyPr wrap="square" lIns="0" tIns="0" rIns="0" bIns="0" rtlCol="0" anchor="t"/>
          <a:lstStyle/>
          <a:p>
            <a:pPr indent="0" marL="0">
              <a:buNone/>
            </a:pPr>
            <a:r>
              <a:rPr lang="en-US" sz="1400" dirty="0">
                <a:solidFill>
                  <a:srgbClr val="DAB4BA"/>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9" name="Text 4"/>
          <p:cNvSpPr txBox="1"/>
          <p:nvPr/>
        </p:nvSpPr>
        <p:spPr>
          <a:xfrm>
            <a:off x="777240" y="2542032"/>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01</a:t>
            </a:r>
            <a:endParaRPr lang="en-US" sz="2400" dirty="0"/>
          </a:p>
        </p:txBody>
      </p:sp>
      <p:sp>
        <p:nvSpPr>
          <p:cNvPr id="10" name="Text 5"/>
          <p:cNvSpPr txBox="1"/>
          <p:nvPr/>
        </p:nvSpPr>
        <p:spPr>
          <a:xfrm>
            <a:off x="1527048" y="2487168"/>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1" name="Text 6"/>
          <p:cNvSpPr txBox="1"/>
          <p:nvPr/>
        </p:nvSpPr>
        <p:spPr>
          <a:xfrm>
            <a:off x="1527048" y="2706624"/>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2" name="Text 7"/>
          <p:cNvSpPr txBox="1"/>
          <p:nvPr/>
        </p:nvSpPr>
        <p:spPr>
          <a:xfrm>
            <a:off x="4882896" y="2651760"/>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13" name="Shape 8"/>
          <p:cNvSpPr/>
          <p:nvPr/>
        </p:nvSpPr>
        <p:spPr>
          <a:xfrm>
            <a:off x="5486400" y="2432304"/>
            <a:ext cx="5928055" cy="914400"/>
          </a:xfrm>
          <a:prstGeom prst="roundRect">
            <a:avLst>
              <a:gd name="adj" fmla="val 5000"/>
            </a:avLst>
          </a:prstGeom>
          <a:solidFill>
            <a:srgbClr val="FFFFFF"/>
          </a:solidFill>
          <a:ln/>
          <a:effectLst>
            <a:outerShdw sx="100000" sy="100000" kx="0" ky="0" algn="bl" rotWithShape="0" blurRad="2580640000" dist="645160000" dir="324000000000">
              <a:srgbClr val="5D1923">
                <a:alpha val="3400000000"/>
              </a:srgbClr>
            </a:outerShdw>
          </a:effectLst>
        </p:spPr>
      </p:sp>
      <p:sp>
        <p:nvSpPr>
          <p:cNvPr id="14" name="Shape 9"/>
          <p:cNvSpPr/>
          <p:nvPr/>
        </p:nvSpPr>
        <p:spPr>
          <a:xfrm>
            <a:off x="5486400" y="2432304"/>
            <a:ext cx="45720" cy="914400"/>
          </a:xfrm>
          <a:prstGeom prst="rect">
            <a:avLst/>
          </a:prstGeom>
          <a:solidFill>
            <a:srgbClr val="942838"/>
          </a:solidFill>
          <a:ln/>
        </p:spPr>
      </p:sp>
      <p:sp>
        <p:nvSpPr>
          <p:cNvPr id="15" name="Text 10"/>
          <p:cNvSpPr txBox="1"/>
          <p:nvPr/>
        </p:nvSpPr>
        <p:spPr>
          <a:xfrm>
            <a:off x="5724144" y="2560320"/>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6" name="Text 11"/>
          <p:cNvSpPr txBox="1"/>
          <p:nvPr/>
        </p:nvSpPr>
        <p:spPr>
          <a:xfrm>
            <a:off x="5724144" y="2779776"/>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7" name="Text 12"/>
          <p:cNvSpPr txBox="1"/>
          <p:nvPr/>
        </p:nvSpPr>
        <p:spPr>
          <a:xfrm>
            <a:off x="777240" y="3621024"/>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02</a:t>
            </a:r>
            <a:endParaRPr lang="en-US" sz="2400" dirty="0"/>
          </a:p>
        </p:txBody>
      </p:sp>
      <p:sp>
        <p:nvSpPr>
          <p:cNvPr id="18" name="Text 13"/>
          <p:cNvSpPr txBox="1"/>
          <p:nvPr/>
        </p:nvSpPr>
        <p:spPr>
          <a:xfrm>
            <a:off x="1527048" y="3566160"/>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9" name="Text 14"/>
          <p:cNvSpPr txBox="1"/>
          <p:nvPr/>
        </p:nvSpPr>
        <p:spPr>
          <a:xfrm>
            <a:off x="1527048" y="3785616"/>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5"/>
          <p:cNvSpPr txBox="1"/>
          <p:nvPr/>
        </p:nvSpPr>
        <p:spPr>
          <a:xfrm>
            <a:off x="4882896" y="3730752"/>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1" name="Shape 16"/>
          <p:cNvSpPr/>
          <p:nvPr/>
        </p:nvSpPr>
        <p:spPr>
          <a:xfrm>
            <a:off x="5486400" y="3511296"/>
            <a:ext cx="5928055" cy="914400"/>
          </a:xfrm>
          <a:prstGeom prst="roundRect">
            <a:avLst>
              <a:gd name="adj" fmla="val 5000"/>
            </a:avLst>
          </a:prstGeom>
          <a:solidFill>
            <a:srgbClr val="FFFFFF"/>
          </a:solidFill>
          <a:ln/>
          <a:effectLst>
            <a:outerShdw sx="100000" sy="100000" kx="0" ky="0" algn="bl" rotWithShape="0" blurRad="32774128000000" dist="8193532000000" dir="19440000000000000">
              <a:srgbClr val="5D1923">
                <a:alpha val="340000000000000"/>
              </a:srgbClr>
            </a:outerShdw>
          </a:effectLst>
        </p:spPr>
      </p:sp>
      <p:sp>
        <p:nvSpPr>
          <p:cNvPr id="22" name="Shape 17"/>
          <p:cNvSpPr/>
          <p:nvPr/>
        </p:nvSpPr>
        <p:spPr>
          <a:xfrm>
            <a:off x="5486400" y="3511296"/>
            <a:ext cx="45720" cy="914400"/>
          </a:xfrm>
          <a:prstGeom prst="rect">
            <a:avLst/>
          </a:prstGeom>
          <a:solidFill>
            <a:srgbClr val="942838"/>
          </a:solidFill>
          <a:ln/>
        </p:spPr>
      </p:sp>
      <p:sp>
        <p:nvSpPr>
          <p:cNvPr id="23" name="Text 18"/>
          <p:cNvSpPr txBox="1"/>
          <p:nvPr/>
        </p:nvSpPr>
        <p:spPr>
          <a:xfrm>
            <a:off x="5724144" y="3639312"/>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4" name="Text 19"/>
          <p:cNvSpPr txBox="1"/>
          <p:nvPr/>
        </p:nvSpPr>
        <p:spPr>
          <a:xfrm>
            <a:off x="5724144" y="3858768"/>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and its safety rails tested — five stages, and 5,675 packages scanned in production by an earlier version.</a:t>
            </a:r>
            <a:endParaRPr lang="en-US" sz="1150" dirty="0"/>
          </a:p>
        </p:txBody>
      </p:sp>
      <p:sp>
        <p:nvSpPr>
          <p:cNvPr id="25" name="Text 20"/>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03</a:t>
            </a:r>
            <a:endParaRPr lang="en-US" sz="2400" dirty="0"/>
          </a:p>
        </p:txBody>
      </p:sp>
      <p:sp>
        <p:nvSpPr>
          <p:cNvPr id="26" name="Text 21"/>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27" name="Text 22"/>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8" name="Text 23"/>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9" name="Shape 24"/>
          <p:cNvSpPr/>
          <p:nvPr/>
        </p:nvSpPr>
        <p:spPr>
          <a:xfrm>
            <a:off x="5486400" y="4590288"/>
            <a:ext cx="5928055" cy="914400"/>
          </a:xfrm>
          <a:prstGeom prst="roundRect">
            <a:avLst>
              <a:gd name="adj" fmla="val 5000"/>
            </a:avLst>
          </a:prstGeom>
          <a:solidFill>
            <a:srgbClr val="FFFFFF"/>
          </a:solidFill>
          <a:ln/>
          <a:effectLst>
            <a:outerShdw sx="100000" sy="100000" kx="0" ky="0" algn="bl" rotWithShape="0" blurRad="416231425600000000" dist="104057856400000000" dir="1.1664e+21">
              <a:srgbClr val="5D1923">
                <a:alpha val="34000000000000000000"/>
              </a:srgbClr>
            </a:outerShdw>
          </a:effectLst>
        </p:spPr>
      </p:sp>
      <p:sp>
        <p:nvSpPr>
          <p:cNvPr id="30" name="Shape 25"/>
          <p:cNvSpPr/>
          <p:nvPr/>
        </p:nvSpPr>
        <p:spPr>
          <a:xfrm>
            <a:off x="5486400" y="4590288"/>
            <a:ext cx="45720" cy="914400"/>
          </a:xfrm>
          <a:prstGeom prst="rect">
            <a:avLst/>
          </a:prstGeom>
          <a:solidFill>
            <a:srgbClr val="942838"/>
          </a:solidFill>
          <a:ln/>
        </p:spPr>
      </p:sp>
      <p:sp>
        <p:nvSpPr>
          <p:cNvPr id="31" name="Text 26"/>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2" name="Text 27"/>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3" name="Text 28"/>
          <p:cNvSpPr txBox="1"/>
          <p:nvPr/>
        </p:nvSpPr>
        <p:spPr>
          <a:xfrm>
            <a:off x="777240" y="5833872"/>
            <a:ext cx="10637215" cy="310896"/>
          </a:xfrm>
          <a:prstGeom prst="rect">
            <a:avLst/>
          </a:prstGeom>
          <a:noFill/>
          <a:ln/>
        </p:spPr>
        <p:txBody>
          <a:bodyPr wrap="square" lIns="0" tIns="0" rIns="0" bIns="0" rtlCol="0" anchor="t"/>
          <a:lstStyle/>
          <a:p>
            <a:pPr indent="0" marL="0">
              <a:buNone/>
            </a:pPr>
            <a:r>
              <a:rPr lang="en-US" sz="1300" dirty="0">
                <a:solidFill>
                  <a:srgbClr val="FFFFFF"/>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300" dirty="0"/>
          </a:p>
        </p:txBody>
      </p:sp>
      <p:sp>
        <p:nvSpPr>
          <p:cNvPr id="34" name="Text 29"/>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35" name="Text 30"/>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2026-07-28T15:42:05Z</dcterms:created>
  <dcterms:modified xsi:type="dcterms:W3CDTF">2026-07-28T15:42:05Z</dcterms:modified>
</cp:coreProperties>
</file>