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-822960"/>
            <a:ext cx="6035040" cy="6035040"/>
          </a:xfrm>
          <a:prstGeom prst="rect">
            <a:avLst/>
          </a:prstGeom>
        </p:spPr>
      </p:pic>
      <p:pic>
        <p:nvPicPr>
          <p:cNvPr id="4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6928"/>
            <a:ext cx="2194560" cy="221404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777240" y="23042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STEWART TITLE  ·  INFORMATION SECURITY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777240" y="2633472"/>
            <a:ext cx="8595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5000" spc="-10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Security Analyst</a:t>
            </a:r>
            <a:endParaRPr lang="en-US" sz="5000" dirty="0"/>
          </a:p>
          <a:p>
            <a:pPr indent="0" marL="0">
              <a:lnSpc>
                <a:spcPct val="96000"/>
              </a:lnSpc>
              <a:buNone/>
            </a:pPr>
            <a:r>
              <a:rPr lang="en-US" sz="5000" spc="-10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Internship</a:t>
            </a:r>
            <a:endParaRPr lang="en-US" sz="5000" dirty="0"/>
          </a:p>
        </p:txBody>
      </p:sp>
      <p:sp>
        <p:nvSpPr>
          <p:cNvPr id="7" name="Shape 2"/>
          <p:cNvSpPr/>
          <p:nvPr/>
        </p:nvSpPr>
        <p:spPr>
          <a:xfrm>
            <a:off x="777240" y="4370832"/>
            <a:ext cx="713232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3"/>
          <p:cNvSpPr txBox="1"/>
          <p:nvPr/>
        </p:nvSpPr>
        <p:spPr>
          <a:xfrm>
            <a:off x="777240" y="464515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Jair Maldonado</a:t>
            </a:r>
            <a:endParaRPr lang="en-US" sz="1900" dirty="0"/>
          </a:p>
        </p:txBody>
      </p:sp>
      <p:sp>
        <p:nvSpPr>
          <p:cNvPr id="9" name="Text 4"/>
          <p:cNvSpPr txBox="1"/>
          <p:nvPr/>
        </p:nvSpPr>
        <p:spPr>
          <a:xfrm>
            <a:off x="777240" y="5029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30" kern="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Exit Presentation  ·  Summer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CONTENTS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What I will walk through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TABLE OF CONTENTS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02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12140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1618488" y="210312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About Me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5989320" y="213969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I am and where I am headed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7240" y="2596896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27934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1618488" y="277520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Internship Overview</a:t>
            </a:r>
            <a:endParaRPr lang="en-US" sz="1550" dirty="0"/>
          </a:p>
        </p:txBody>
      </p:sp>
      <p:sp>
        <p:nvSpPr>
          <p:cNvPr id="15" name="Text 12"/>
          <p:cNvSpPr txBox="1"/>
          <p:nvPr/>
        </p:nvSpPr>
        <p:spPr>
          <a:xfrm>
            <a:off x="5989320" y="28117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rotations across the security team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77240" y="3268980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77240" y="346557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1618488" y="34472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Image Management Program</a:t>
            </a:r>
            <a:endParaRPr lang="en-US" sz="1550" dirty="0"/>
          </a:p>
        </p:txBody>
      </p:sp>
      <p:sp>
        <p:nvSpPr>
          <p:cNvPr id="19" name="Text 16"/>
          <p:cNvSpPr txBox="1"/>
          <p:nvPr/>
        </p:nvSpPr>
        <p:spPr>
          <a:xfrm>
            <a:off x="5989320" y="348386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Securing every machine before it ships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77240" y="394106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77240" y="413766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04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1618488" y="411937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5989320" y="415594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Defending against supply-chain attacks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77240" y="4613148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77240" y="4809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05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1618488" y="479145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1550" dirty="0"/>
          </a:p>
        </p:txBody>
      </p:sp>
      <p:sp>
        <p:nvSpPr>
          <p:cNvPr id="27" name="Text 24"/>
          <p:cNvSpPr txBox="1"/>
          <p:nvPr/>
        </p:nvSpPr>
        <p:spPr>
          <a:xfrm>
            <a:off x="5989320" y="482803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hours of manual lookup to seconds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77240" y="5285232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77240" y="548182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06</a:t>
            </a:r>
            <a:endParaRPr lang="en-US" sz="2100" dirty="0"/>
          </a:p>
        </p:txBody>
      </p:sp>
      <p:sp>
        <p:nvSpPr>
          <p:cNvPr id="30" name="Text 27"/>
          <p:cNvSpPr txBox="1"/>
          <p:nvPr/>
        </p:nvSpPr>
        <p:spPr>
          <a:xfrm>
            <a:off x="1618488" y="546354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Summary</a:t>
            </a:r>
            <a:endParaRPr lang="en-US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5989320" y="550011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this means for Stewart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-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343400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40080" y="3931920"/>
            <a:ext cx="3840480" cy="3840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1371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ABOUT ME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173736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spc="-7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Jair Maldonado</a:t>
            </a:r>
            <a:endParaRPr lang="en-US" sz="3300" dirty="0"/>
          </a:p>
        </p:txBody>
      </p:sp>
      <p:sp>
        <p:nvSpPr>
          <p:cNvPr id="6" name="Shape 2"/>
          <p:cNvSpPr/>
          <p:nvPr/>
        </p:nvSpPr>
        <p:spPr>
          <a:xfrm>
            <a:off x="777240" y="3127248"/>
            <a:ext cx="54864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77240" y="33649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E4C9CE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Security Analyst Intern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120640" y="868680"/>
            <a:ext cx="62938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BACKGROUND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120640" y="1298448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POSITION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5120640" y="1545336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Security Analyst Intern — Information Security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120640" y="2084832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120640" y="2240280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SCHOOL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5120640" y="2487168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Studying cybersecurity, with a focus on offensive security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120640" y="3026664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120640" y="3182112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BACKGROUND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5120640" y="3429000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Hands-on security work across vulnerability management, application security, and network security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120640" y="3968496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120640" y="4123944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CERTIFICATIONS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5120640" y="4370832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Working toward the PWPA and PJPT practical certifications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120640" y="4910328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120640" y="5065776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CAREER DIRECTION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5120640" y="5312664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Penetration testing — finding weaknesses before an attacker does</a:t>
            </a:r>
            <a:endParaRPr lang="en-US" sz="1250" dirty="0"/>
          </a:p>
        </p:txBody>
      </p:sp>
      <p:pic>
        <p:nvPicPr>
          <p:cNvPr id="23" name="Image 2" descr="/home/user/ai/assets/gen/logo-r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120640" y="6181344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51206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ABOUT ME</a:t>
            </a:r>
            <a:endParaRPr lang="en-US" sz="850" dirty="0"/>
          </a:p>
        </p:txBody>
      </p:sp>
      <p:sp>
        <p:nvSpPr>
          <p:cNvPr id="26" name="Text 21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INTERNSHIP OVERVIEW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Three rotations across the security team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INTERNSHIP OVERVIEW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04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883664"/>
            <a:ext cx="9052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 moved through three different areas of Information Security. Each rotation produced one project.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852928"/>
            <a:ext cx="10637215" cy="10973"/>
          </a:xfrm>
          <a:prstGeom prst="rect">
            <a:avLst/>
          </a:prstGeom>
          <a:solidFill>
            <a:srgbClr val="C9C6C4"/>
          </a:solidFill>
          <a:ln/>
        </p:spPr>
      </p:sp>
      <p:sp>
        <p:nvSpPr>
          <p:cNvPr id="11" name="Shape 8"/>
          <p:cNvSpPr/>
          <p:nvPr/>
        </p:nvSpPr>
        <p:spPr>
          <a:xfrm>
            <a:off x="1033272" y="2756916"/>
            <a:ext cx="201168" cy="201168"/>
          </a:xfrm>
          <a:prstGeom prst="ellipse">
            <a:avLst/>
          </a:prstGeom>
          <a:solidFill>
            <a:srgbClr val="94283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" y="3310128"/>
            <a:ext cx="331012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77800" dist="44450" dir="5400000">
              <a:srgbClr val="959092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77240" y="3310128"/>
            <a:ext cx="33101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88136" y="35661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5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088136" y="4041648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Vulnerability Management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88136" y="4462272"/>
            <a:ext cx="26883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Finding known weaknesses across company machines and making sure they actually get fixed.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696816" y="2756916"/>
            <a:ext cx="201168" cy="201168"/>
          </a:xfrm>
          <a:prstGeom prst="ellipse">
            <a:avLst/>
          </a:prstGeom>
          <a:solidFill>
            <a:srgbClr val="94283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40784" y="3310128"/>
            <a:ext cx="331012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258060000" dist="564515000" dir="324000000000">
              <a:srgbClr val="959092">
                <a:alpha val="220000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440784" y="3310128"/>
            <a:ext cx="33101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751680" y="35661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5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4751680" y="4041648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Application Security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4751680" y="4462272"/>
            <a:ext cx="26883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Checking the software we build and the outside code we rely on for weaknesses.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360359" y="2756916"/>
            <a:ext cx="201168" cy="201168"/>
          </a:xfrm>
          <a:prstGeom prst="ellipse">
            <a:avLst/>
          </a:prstGeom>
          <a:solidFill>
            <a:srgbClr val="94283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104327" y="3310128"/>
            <a:ext cx="331012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8677362000000" dist="7169340500000" dir="19440000000000000">
              <a:srgbClr val="959092">
                <a:alpha val="22000000000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104327" y="3310128"/>
            <a:ext cx="33101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415223" y="35661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5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415223" y="4041648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Network Security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415223" y="4462272"/>
            <a:ext cx="26883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Protecting how machines talk to each other, and what is allowed in and out.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65760"/>
            <a:ext cx="5120640" cy="51206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766560" y="566928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0" spc="-800" kern="0" dirty="0">
                <a:solidFill>
                  <a:srgbClr val="B9737E">
                    <a:alpha val="38000"/>
                  </a:srgbClr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3957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27432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100" spc="-9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Image Management Program</a:t>
            </a:r>
            <a:endParaRPr lang="en-US" sz="4100" dirty="0"/>
          </a:p>
        </p:txBody>
      </p:sp>
      <p:sp>
        <p:nvSpPr>
          <p:cNvPr id="7" name="Shape 3"/>
          <p:cNvSpPr/>
          <p:nvPr/>
        </p:nvSpPr>
        <p:spPr>
          <a:xfrm>
            <a:off x="777240" y="4114800"/>
            <a:ext cx="640080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Defining the security tools every new machine must carry — and who owns installing them.</a:t>
            </a:r>
            <a:endParaRPr lang="en-US" sz="1400" dirty="0"/>
          </a:p>
        </p:txBody>
      </p:sp>
      <p:pic>
        <p:nvPicPr>
          <p:cNvPr id="9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  ·  THE PROBLEM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Nine required tools. No process to install them.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IMAGE MANAGEMENT PROGRAM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06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029968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</a:t>
            </a:r>
            <a:pPr indent="0" marL="0">
              <a:buNone/>
            </a:pPr>
            <a:r>
              <a:rPr lang="en-US" sz="14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Golden Image</a:t>
            </a:r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is the standard template every new virtual machine is built from — set it up once, and every machine created afterwards inherits it.</a:t>
            </a:r>
            <a:endParaRPr lang="en-US" sz="1400" dirty="0"/>
          </a:p>
        </p:txBody>
      </p:sp>
      <p:pic>
        <p:nvPicPr>
          <p:cNvPr id="10" name="Image 1" descr="/home/user/ai/assets/gen/iso-mach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05456"/>
            <a:ext cx="3108960" cy="30175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94360" y="5577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Each layer is security tooling the image should carry before it is ever deployed.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4224528" y="2578608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NINE REQUIRED TOOLS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4224528" y="29260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14300" dist="25400" dir="5400000">
              <a:srgbClr val="959092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224528" y="29260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398264" y="29992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Tenable Nessus Agent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620256" y="29260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451610000" dist="322580000" dir="324000000000">
              <a:srgbClr val="959092">
                <a:alpha val="160000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620256" y="29260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793992" y="29992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CrowdStrike Falcon Sensor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9015984" y="29260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8435447000000" dist="4096766000000" dir="19440000000000000">
              <a:srgbClr val="959092">
                <a:alpha val="16000000000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9015984" y="29260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189720" y="29992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Netskope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224528" y="36118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34130176900000000" dist="52028928200000000" dir="1.1664e+21">
              <a:srgbClr val="959092">
                <a:alpha val="1600000000000000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224528" y="36118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4398264" y="36850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Cribl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6620256" y="36118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.97345324663e+21" dist="660767388140000000000" dir="6.9984e+25">
              <a:srgbClr val="959092">
                <a:alpha val="1.6e+24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6620256" y="36118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793992" y="36850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Splunk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9015984" y="36118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3.7762856232201e+25" dist="8.391745829378e+24" dir="4.19904e+30">
              <a:srgbClr val="959092">
                <a:alpha val="1.6e+29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9015984" y="36118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189720" y="36850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ThreatLocker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4224528" y="42976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4.795882741489527e+29" dist="1.0657517203310059e+29" dir="2.519424e+35">
              <a:srgbClr val="959092">
                <a:alpha val="1.6e+34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4224528" y="42976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4398264" y="43708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Proofpoint DLP Agent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6620256" y="42976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6.090771081691699e+33" dist="1.3535046848203775e+33" dir="1.5116544e+40">
              <a:srgbClr val="959092">
                <a:alpha val="1.6e+39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6620256" y="42976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6793992" y="43708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SCCM Agent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9015984" y="42976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7.735279273748459e+37" dist="1.7189509497218795e+37" dir="9.069926400000001e+44">
              <a:srgbClr val="959092">
                <a:alpha val="1.6e+44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9015984" y="42976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9189720" y="43708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ControlUp Agent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4224528" y="5029200"/>
            <a:ext cx="7187184" cy="841248"/>
          </a:xfrm>
          <a:prstGeom prst="roundRect">
            <a:avLst>
              <a:gd name="adj" fmla="val 5435"/>
            </a:avLst>
          </a:prstGeom>
          <a:solidFill>
            <a:srgbClr val="F6EEF0"/>
          </a:solidFill>
          <a:ln/>
        </p:spPr>
      </p:sp>
      <p:sp>
        <p:nvSpPr>
          <p:cNvPr id="41" name="Shape 37"/>
          <p:cNvSpPr/>
          <p:nvPr/>
        </p:nvSpPr>
        <p:spPr>
          <a:xfrm>
            <a:off x="4224528" y="5029200"/>
            <a:ext cx="50292" cy="841248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4443984" y="5157216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ACTUAL GAP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4443984" y="53949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dedicated process exists yet for installing these tools onto cloud images before deployment. My job was to define it.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  ·  WHAT I BUILT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Building the process from scratch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IMAGE MANAGEMENT PROGRAM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07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56816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My role was to coordinate and bridge teams — define what is required, name who owns it, and get it signed off. I did not build or provision the machines myself.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615184"/>
            <a:ext cx="3310128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364202497400000000" dist="91050624350000000" dir="1.1664e+21">
              <a:srgbClr val="959092">
                <a:alpha val="2200000000000000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88136" y="2926080"/>
            <a:ext cx="658368" cy="658368"/>
          </a:xfrm>
          <a:prstGeom prst="roundRect">
            <a:avLst>
              <a:gd name="adj" fmla="val 8333"/>
            </a:avLst>
          </a:prstGeom>
          <a:solidFill>
            <a:srgbClr val="F6EEF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88136" y="2926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1088136" y="3749040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Define the Tools</a:t>
            </a:r>
            <a:endParaRPr lang="en-US" sz="1550" dirty="0"/>
          </a:p>
        </p:txBody>
      </p:sp>
      <p:sp>
        <p:nvSpPr>
          <p:cNvPr id="14" name="Text 11"/>
          <p:cNvSpPr txBox="1"/>
          <p:nvPr/>
        </p:nvSpPr>
        <p:spPr>
          <a:xfrm>
            <a:off x="1088136" y="4151376"/>
            <a:ext cx="2688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Agree on exactly which security tools belong on every image — nine of them.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062908" y="3438144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4440784" y="2615184"/>
            <a:ext cx="3310128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4.62537171698e+21" dist="1.156342929245e+21" dir="6.9984e+25">
              <a:srgbClr val="959092">
                <a:alpha val="2.2e+24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751680" y="2926080"/>
            <a:ext cx="658368" cy="658368"/>
          </a:xfrm>
          <a:prstGeom prst="roundRect">
            <a:avLst>
              <a:gd name="adj" fmla="val 8333"/>
            </a:avLst>
          </a:prstGeom>
          <a:solidFill>
            <a:srgbClr val="F6EEF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751680" y="2926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1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0" y="3749040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Define the Owners</a:t>
            </a:r>
            <a:endParaRPr lang="en-US" sz="1550" dirty="0"/>
          </a:p>
        </p:txBody>
      </p:sp>
      <p:sp>
        <p:nvSpPr>
          <p:cNvPr id="20" name="Text 17"/>
          <p:cNvSpPr txBox="1"/>
          <p:nvPr/>
        </p:nvSpPr>
        <p:spPr>
          <a:xfrm>
            <a:off x="4751680" y="4151376"/>
            <a:ext cx="2688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Name the team responsible for installing and maintaining each one.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7726451" y="3438144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19"/>
          <p:cNvSpPr/>
          <p:nvPr/>
        </p:nvSpPr>
        <p:spPr>
          <a:xfrm>
            <a:off x="8104327" y="2615184"/>
            <a:ext cx="3310128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5.8742220805646e+25" dist="1.46855552014115e+25" dir="4.19904e+30">
              <a:srgbClr val="959092">
                <a:alpha val="2.2e+29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415223" y="2926080"/>
            <a:ext cx="658368" cy="658368"/>
          </a:xfrm>
          <a:prstGeom prst="roundRect">
            <a:avLst>
              <a:gd name="adj" fmla="val 8333"/>
            </a:avLst>
          </a:prstGeom>
          <a:solidFill>
            <a:srgbClr val="F6EEF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415223" y="2926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8415223" y="3749040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Get It Adopted</a:t>
            </a:r>
            <a:endParaRPr lang="en-US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8415223" y="4151376"/>
            <a:ext cx="2688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 that into a written framework the company formally signs off on.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77240" y="5138928"/>
            <a:ext cx="10637215" cy="859536"/>
          </a:xfrm>
          <a:prstGeom prst="roundRect">
            <a:avLst>
              <a:gd name="adj" fmla="val 6383"/>
            </a:avLst>
          </a:prstGeom>
          <a:solidFill>
            <a:srgbClr val="2B2D30"/>
          </a:solidFill>
          <a:ln/>
          <a:effectLst>
            <a:outerShdw sx="100000" sy="100000" kx="0" ky="0" algn="bl" rotWithShape="0" blurRad="9.823804677660543e+41" dist="2.183067706146787e+41" dir="5.44195584e+49">
              <a:srgbClr val="959092">
                <a:alpha val="1.6e+49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1069848" y="5285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D9A3A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DELIVERED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069848" y="5522976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written Roles &amp; Responsibilities framework — drafted, staged for review, and set for formal adoption once the policy manager returns in Q4.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  ·  WHAT COMES NEXT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From a drafted framework to a standing process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IMAGE MANAGEMENT PROGRAM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08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751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The framework exists on paper. Turning it into something the company runs without me is the next stretch.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615184"/>
            <a:ext cx="3356762" cy="2304288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7.460262042317042e+29" dist="1.8650655105792604e+29" dir="2.519424e+35">
              <a:srgbClr val="959092">
                <a:alpha val="2.2e+34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2615184"/>
            <a:ext cx="3356762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88136" y="288950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pc="-3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088136" y="3291840"/>
            <a:ext cx="27349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Formal adoption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088136" y="3730752"/>
            <a:ext cx="273497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framework is drafted and staged for review. It goes for sign-off once the policy manager returns in Q4.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417466" y="2615184"/>
            <a:ext cx="3356762" cy="2304288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9.474532793742643e+33" dist="2.3686331984356606e+33" dir="1.5116544e+40">
              <a:srgbClr val="959092">
                <a:alpha val="2.2e+39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417466" y="2615184"/>
            <a:ext cx="3356762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728362" y="288950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pc="-3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4728362" y="3291840"/>
            <a:ext cx="27349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Owners take it from here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728362" y="3730752"/>
            <a:ext cx="273497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Each named team picks up the tool it owns, so responsibility sits with the people who can act on it.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057693" y="2615184"/>
            <a:ext cx="3356762" cy="2304288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.2032656648053156e+38" dist="3.008164162013289e+37" dir="9.069926400000001e+44">
              <a:srgbClr val="959092">
                <a:alpha val="2.2e+44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057693" y="2615184"/>
            <a:ext cx="3356762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368589" y="288950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pc="-3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8368589" y="3291840"/>
            <a:ext cx="27349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Check before deploy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368589" y="3730752"/>
            <a:ext cx="273497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natural next step is a check that a newly built image actually carries all nine tools before it goes live.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" y="52303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honest status:</a:t>
            </a:r>
            <a:pPr indent="0" marL="0">
              <a:buNone/>
            </a:pPr>
            <a:r>
              <a:rPr lang="en-US" sz="11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drafted and staged for review, not yet formally adopted. The decision sits with the policy manager in Q4.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65760"/>
            <a:ext cx="5120640" cy="51206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766560" y="566928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0" spc="-800" kern="0" dirty="0">
                <a:solidFill>
                  <a:srgbClr val="B9737E">
                    <a:alpha val="38000"/>
                  </a:srgbClr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3957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27432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100" spc="-9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AEGIS — Supply-Chain Defense</a:t>
            </a:r>
            <a:endParaRPr lang="en-US" sz="4100" dirty="0"/>
          </a:p>
        </p:txBody>
      </p:sp>
      <p:sp>
        <p:nvSpPr>
          <p:cNvPr id="7" name="Shape 3"/>
          <p:cNvSpPr/>
          <p:nvPr/>
        </p:nvSpPr>
        <p:spPr>
          <a:xfrm>
            <a:off x="777240" y="4114800"/>
            <a:ext cx="640080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Catching risky code hidden inside the open-source packages our software depends on.</a:t>
            </a:r>
            <a:endParaRPr lang="en-US" sz="1400" dirty="0"/>
          </a:p>
        </p:txBody>
      </p:sp>
      <p:pic>
        <p:nvPicPr>
          <p:cNvPr id="9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  ·  THE PROBLEM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One poisoned package reaches everyone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10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751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In a supply-chain attack, an attacker hides malicious code inside a legitimate, widely-used open-source package. Everyone who installs it inherits the compromise — including us. Real campaigns in 2025 and 2026 worked exactly this way, including a self-spreading family that reused each victim to infect the next.</a:t>
            </a:r>
            <a:endParaRPr lang="en-US" sz="1400" dirty="0"/>
          </a:p>
        </p:txBody>
      </p:sp>
      <p:pic>
        <p:nvPicPr>
          <p:cNvPr id="10" name="Image 1" descr="/home/user/ai/assets/gen/supply-ch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798064"/>
            <a:ext cx="9875520" cy="28803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8523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43464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Attacker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2365370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43464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Poisoned package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4587362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43464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Public registry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8024043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43464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Every project that installs it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777240" y="5138928"/>
            <a:ext cx="10637215" cy="859536"/>
          </a:xfrm>
          <a:prstGeom prst="roundRect">
            <a:avLst>
              <a:gd name="adj" fmla="val 6383"/>
            </a:avLst>
          </a:prstGeom>
          <a:solidFill>
            <a:srgbClr val="F6EEF0"/>
          </a:solidFill>
          <a:ln/>
        </p:spPr>
      </p:sp>
      <p:sp>
        <p:nvSpPr>
          <p:cNvPr id="16" name="Shape 12"/>
          <p:cNvSpPr/>
          <p:nvPr/>
        </p:nvSpPr>
        <p:spPr>
          <a:xfrm>
            <a:off x="777240" y="5138928"/>
            <a:ext cx="50292" cy="859536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1014984" y="527608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WHY EXISTING TOOLS WERE NOT ENOUGH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1014984" y="5513832"/>
            <a:ext cx="10134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Most scanners only say "you have a known flaw." They do not say whether our own code actually uses the flawed part — so teams cannot tell what is urgent and what is noise.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  ·  WHAT I BUILT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 scanner that checks if the flaw is reachable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11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011680"/>
            <a:ext cx="3931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spc="-2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5,675</a:t>
            </a:r>
            <a:endParaRPr lang="en-US" sz="7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1455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packages scanned in production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by an earlier version of the tool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95528" y="3749040"/>
            <a:ext cx="109728" cy="109728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33272" y="3675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Reachability, not just presence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33272" y="393192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 "you have a flawed package" but "your code actually calls the flawed part".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95528" y="4572000"/>
            <a:ext cx="109728" cy="109728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3272" y="449884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Three honest answers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33272" y="475488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Reachable, no call site found, or can't prove. They are never collapsed together into a single "safe".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95528" y="5394960"/>
            <a:ext cx="109728" cy="109728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33272" y="5321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Unknown is never "safe"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557784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If the tool cannot tell, it says so. It never reports a clean result it has not earned.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175504" y="2066544"/>
            <a:ext cx="6238951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.528147394302751e+42" dist="3.8203684857568774e+41" dir="5.44195584e+49">
              <a:srgbClr val="959092">
                <a:alpha val="2.2e+49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486400" y="2322576"/>
            <a:ext cx="56171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PACKAGES SCANNED PER RUN  ·  EARLIER VERSION</a:t>
            </a:r>
            <a:endParaRPr lang="en-US" sz="850" dirty="0"/>
          </a:p>
        </p:txBody>
      </p:sp>
      <p:pic>
        <p:nvPicPr>
          <p:cNvPr id="22" name="Image 1" descr="/home/user/ai/assets/gen/chart-packag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633472"/>
            <a:ext cx="5763463" cy="326090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  ·  HOW IT WORKS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Five stages. Only one can change anything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12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77240" y="1865376"/>
            <a:ext cx="10637215" cy="530352"/>
          </a:xfrm>
          <a:prstGeom prst="roundRect">
            <a:avLst>
              <a:gd name="adj" fmla="val 10345"/>
            </a:avLst>
          </a:prstGeom>
          <a:solidFill>
            <a:srgbClr val="F6EEF0"/>
          </a:solidFill>
          <a:ln/>
        </p:spPr>
      </p:sp>
      <p:sp>
        <p:nvSpPr>
          <p:cNvPr id="10" name="Shape 7"/>
          <p:cNvSpPr/>
          <p:nvPr/>
        </p:nvSpPr>
        <p:spPr>
          <a:xfrm>
            <a:off x="777240" y="1865376"/>
            <a:ext cx="50292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14984" y="2039112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CORE RULE   </a:t>
            </a:r>
            <a:pPr indent="0" marL="0">
              <a:buNone/>
            </a:pPr>
            <a:r>
              <a:rPr lang="en-US" sz="12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Unknown is never reported as safe. If AEGIS cannot tell, it says so.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596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STAGES 00–03   ·   RUN AUTOMATICALLY, READ ONLY — NOTHING IS CHANGED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777240" y="2798064"/>
            <a:ext cx="2412416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.9407471907644937e+46" dist="4.851867976911234e+45" dir="3.2651735040000005e+54">
              <a:srgbClr val="959092">
                <a:alpha val="2.2e+54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77240" y="2798064"/>
            <a:ext cx="2412416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6696" y="296265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4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00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96696" y="3200400"/>
            <a:ext cx="197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spc="3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SCAN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996696" y="3529584"/>
            <a:ext cx="19735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Checks every package version the project installs — its "lockfile" — against public records of known flaws.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996696" y="4261104"/>
            <a:ext cx="197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6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Checks public databases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3235376" y="3656686"/>
            <a:ext cx="146304" cy="20117"/>
          </a:xfrm>
          <a:prstGeom prst="rect">
            <a:avLst/>
          </a:prstGeom>
          <a:solidFill>
            <a:srgbClr val="43464A"/>
          </a:solidFill>
          <a:ln/>
        </p:spPr>
      </p:sp>
      <p:sp>
        <p:nvSpPr>
          <p:cNvPr id="20" name="Shape 17"/>
          <p:cNvSpPr/>
          <p:nvPr/>
        </p:nvSpPr>
        <p:spPr>
          <a:xfrm rot="5400000">
            <a:off x="3381680" y="3607308"/>
            <a:ext cx="91440" cy="118872"/>
          </a:xfrm>
          <a:prstGeom prst="triangle">
            <a:avLst/>
          </a:prstGeom>
          <a:solidFill>
            <a:srgbClr val="43464A"/>
          </a:solidFill>
          <a:ln/>
        </p:spPr>
      </p:sp>
      <p:sp>
        <p:nvSpPr>
          <p:cNvPr id="21" name="Shape 18"/>
          <p:cNvSpPr/>
          <p:nvPr/>
        </p:nvSpPr>
        <p:spPr>
          <a:xfrm>
            <a:off x="3518840" y="2798064"/>
            <a:ext cx="2412416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.464748932270907e+50" dist="6.161872330677268e+49" dir="1.9591041024000004e+59">
              <a:srgbClr val="959092">
                <a:alpha val="2.2e+59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518840" y="2798064"/>
            <a:ext cx="2412416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738296" y="296265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4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738296" y="3200400"/>
            <a:ext cx="197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spc="3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REACH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3738296" y="3529584"/>
            <a:ext cx="19735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Looks inside our own code for a real call to the flawed part, and says which of the three answers it found.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3738296" y="4261104"/>
            <a:ext cx="197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6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Stays offline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976976" y="3656686"/>
            <a:ext cx="146304" cy="20117"/>
          </a:xfrm>
          <a:prstGeom prst="rect">
            <a:avLst/>
          </a:prstGeom>
          <a:solidFill>
            <a:srgbClr val="43464A"/>
          </a:solidFill>
          <a:ln/>
        </p:spPr>
      </p:sp>
      <p:sp>
        <p:nvSpPr>
          <p:cNvPr id="28" name="Shape 25"/>
          <p:cNvSpPr/>
          <p:nvPr/>
        </p:nvSpPr>
        <p:spPr>
          <a:xfrm rot="5400000">
            <a:off x="6123280" y="3607308"/>
            <a:ext cx="91440" cy="118872"/>
          </a:xfrm>
          <a:prstGeom prst="triangle">
            <a:avLst/>
          </a:prstGeom>
          <a:solidFill>
            <a:srgbClr val="43464A"/>
          </a:solidFill>
          <a:ln/>
        </p:spPr>
      </p:sp>
      <p:sp>
        <p:nvSpPr>
          <p:cNvPr id="29" name="Shape 26"/>
          <p:cNvSpPr/>
          <p:nvPr/>
        </p:nvSpPr>
        <p:spPr>
          <a:xfrm>
            <a:off x="6260440" y="2798064"/>
            <a:ext cx="2412416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3.1302311439840524e+54" dist="7.825577859960131e+53" dir="1.1754624614400003e+64">
              <a:srgbClr val="959092">
                <a:alpha val="2.2e+64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260440" y="2798064"/>
            <a:ext cx="2412416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479896" y="296265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4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479896" y="3200400"/>
            <a:ext cx="197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spc="3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BLAST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479896" y="3529584"/>
            <a:ext cx="19735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reachable findings only: how much sits downstream, and whether it runs in production or only in tests.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479896" y="4261104"/>
            <a:ext cx="197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6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Stays offline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8718575" y="3656686"/>
            <a:ext cx="146304" cy="20117"/>
          </a:xfrm>
          <a:prstGeom prst="rect">
            <a:avLst/>
          </a:prstGeom>
          <a:solidFill>
            <a:srgbClr val="43464A"/>
          </a:solidFill>
          <a:ln/>
        </p:spPr>
      </p:sp>
      <p:sp>
        <p:nvSpPr>
          <p:cNvPr id="36" name="Shape 33"/>
          <p:cNvSpPr/>
          <p:nvPr/>
        </p:nvSpPr>
        <p:spPr>
          <a:xfrm rot="5400000">
            <a:off x="8864879" y="3607308"/>
            <a:ext cx="91440" cy="118872"/>
          </a:xfrm>
          <a:prstGeom prst="triangle">
            <a:avLst/>
          </a:prstGeom>
          <a:solidFill>
            <a:srgbClr val="43464A"/>
          </a:solidFill>
          <a:ln/>
        </p:spPr>
      </p:sp>
      <p:sp>
        <p:nvSpPr>
          <p:cNvPr id="37" name="Shape 34"/>
          <p:cNvSpPr/>
          <p:nvPr/>
        </p:nvSpPr>
        <p:spPr>
          <a:xfrm>
            <a:off x="9002039" y="2798064"/>
            <a:ext cx="2412416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3.9753935528597466e+58" dist="9.938483882149366e+57" dir="7.052774768640002e+68">
              <a:srgbClr val="959092">
                <a:alpha val="2.2e+69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9002039" y="2798064"/>
            <a:ext cx="2412416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221495" y="296265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4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9221495" y="3200400"/>
            <a:ext cx="197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spc="3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REGRESS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9221495" y="3529584"/>
            <a:ext cx="19735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well tested the affected files are, and how risky the upgrade looks — kept as two separate measures.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9221495" y="4261104"/>
            <a:ext cx="197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6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Stays offline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10198189" y="4553712"/>
            <a:ext cx="20117" cy="82296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44" name="Shape 41"/>
          <p:cNvSpPr/>
          <p:nvPr/>
        </p:nvSpPr>
        <p:spPr>
          <a:xfrm rot="10800000">
            <a:off x="10162527" y="4636008"/>
            <a:ext cx="91440" cy="118872"/>
          </a:xfrm>
          <a:prstGeom prst="triangle">
            <a:avLst/>
          </a:prstGeom>
          <a:solidFill>
            <a:srgbClr val="94283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7830807" y="464515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ONLY IF YOU ASK</a:t>
            </a:r>
            <a:endParaRPr lang="en-US" sz="850" dirty="0"/>
          </a:p>
        </p:txBody>
      </p:sp>
      <p:sp>
        <p:nvSpPr>
          <p:cNvPr id="46" name="Shape 43"/>
          <p:cNvSpPr/>
          <p:nvPr/>
        </p:nvSpPr>
        <p:spPr>
          <a:xfrm>
            <a:off x="777240" y="4773168"/>
            <a:ext cx="10637215" cy="1133856"/>
          </a:xfrm>
          <a:prstGeom prst="roundRect">
            <a:avLst>
              <a:gd name="adj" fmla="val 4839"/>
            </a:avLst>
          </a:prstGeom>
          <a:solidFill>
            <a:srgbClr val="2B2D30"/>
          </a:solidFill>
          <a:ln/>
          <a:effectLst>
            <a:outerShdw sx="100000" sy="100000" kx="0" ky="0" algn="bl" rotWithShape="0" blurRad="1.247623194062889e+46" dist="2.7724959868064195e+45" dir="3.2651735040000005e+54">
              <a:srgbClr val="959092">
                <a:alpha val="1.6e+54"/>
              </a:srgbClr>
            </a:outerShdw>
          </a:effectLst>
        </p:spPr>
      </p:sp>
      <p:sp>
        <p:nvSpPr>
          <p:cNvPr id="47" name="Text 44"/>
          <p:cNvSpPr txBox="1"/>
          <p:nvPr/>
        </p:nvSpPr>
        <p:spPr>
          <a:xfrm>
            <a:off x="1088136" y="49743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D9A3A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STAGE 04</a:t>
            </a:r>
            <a:endParaRPr lang="en-US" sz="850" dirty="0"/>
          </a:p>
        </p:txBody>
      </p:sp>
      <p:sp>
        <p:nvSpPr>
          <p:cNvPr id="48" name="Text 45"/>
          <p:cNvSpPr txBox="1"/>
          <p:nvPr/>
        </p:nvSpPr>
        <p:spPr>
          <a:xfrm>
            <a:off x="1088136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spc="3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FIX</a:t>
            </a:r>
            <a:endParaRPr lang="en-US" sz="2200" dirty="0"/>
          </a:p>
        </p:txBody>
      </p:sp>
      <p:sp>
        <p:nvSpPr>
          <p:cNvPr id="49" name="Text 46"/>
          <p:cNvSpPr txBox="1"/>
          <p:nvPr/>
        </p:nvSpPr>
        <p:spPr>
          <a:xfrm>
            <a:off x="2880360" y="4992624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ED9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Runs only when you ask for it by name. Builds a fix plan and works one step at a time.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6355080" y="4956048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9A3A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574536" y="495604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Every step needs explicit human approval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6355080" y="5221224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9A3A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—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6574536" y="522122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Refuses to touch a protected branch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6355080" y="5486400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9A3A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—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574536" y="548640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Never merges, and never marks its own work resolved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  ·  PROVING IT WORKS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I tried to catch it lying, and it held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13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56816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security tool that quietly reports "clean" when it actually failed is worse than no tool at all. So I tested the failure paths, not just the happy path.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487168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spc="-14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733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12724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packages read from a real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project's lockfile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3063240" y="2487168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spc="-14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312724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real bugs found in my own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code, and fixed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77240" y="3858768"/>
            <a:ext cx="4114800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7240" y="4041648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bugs are the interesting part: one was an honesty bug — a "can't prove" result was being described as if the flaw had been confirmed absent. Exactly the failure the tool exists to prevent.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358384" y="2432304"/>
            <a:ext cx="6056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WHAT I ACTUALLY TESTED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358384" y="2779776"/>
            <a:ext cx="45720" cy="18288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541264" y="2724912"/>
            <a:ext cx="5873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Tested end to end, not just reviewed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541264" y="2980944"/>
            <a:ext cx="5836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Ran the whole pipeline against a real open-source project and read all 733 packages out of its lockfile.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358384" y="3648456"/>
            <a:ext cx="45720" cy="18288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41264" y="3593592"/>
            <a:ext cx="5873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It failed loudly, which is the point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541264" y="3849624"/>
            <a:ext cx="5836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When the company network blocked the flaw-database lookup, SCAN reported an error instead of reporting "clean."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358384" y="4517136"/>
            <a:ext cx="45720" cy="18288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541264" y="4462272"/>
            <a:ext cx="5873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It refused to guess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541264" y="4718304"/>
            <a:ext cx="5836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Forced onto its weakest analysis method, REACH answered "can't prove" rather than calling anything safe.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358384" y="5385816"/>
            <a:ext cx="45720" cy="18288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541264" y="5330952"/>
            <a:ext cx="58731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safety rails hold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541264" y="5586984"/>
            <a:ext cx="5836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FIX refused to run without explicit approval, and refused to touch a protected branch even once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  ·  WHAT COMES NEXT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What is still open, and how I would close it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14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751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The pipeline is built and its safety rails are tested. Three things still need a real run before I would call it finished.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523744"/>
            <a:ext cx="3356762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5.048749812131878e+62" dist="1.2621874530329695e+62" dir="4.2316648611840007e+73">
              <a:srgbClr val="959092">
                <a:alpha val="2.2e+74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2523744"/>
            <a:ext cx="3356762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88136" y="279806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pc="-3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088136" y="3182112"/>
            <a:ext cx="27349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Unblock the live lookups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088136" y="3822192"/>
            <a:ext cx="273497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company security proxy presents a malformed certificate that modern security libraries correctly reject, so the lookups fail. The real fix is an inspection bypass. Meanwhile I built the workaround: the scan splits in two, so the lookup can run from an unblocked network.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417466" y="2523744"/>
            <a:ext cx="3356762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6.411912261407485e+66" dist="1.6029780653518713e+66" dir="2.5389989167104004e+78">
              <a:srgbClr val="959092">
                <a:alpha val="2.2000000000000002e+79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417466" y="2523744"/>
            <a:ext cx="3356762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728362" y="279806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pc="-3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4728362" y="3182112"/>
            <a:ext cx="27349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Read code structure, not just text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4728362" y="3822192"/>
            <a:ext cx="273497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Reachability currently falls back to searching text. With the right tooling present it reads the code's actual structure, which is far more accurate. That still needs a real run.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057693" y="2523744"/>
            <a:ext cx="3356762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8.143128571987506e+70" dist="2.0357821429968766e+70" dir="1.5233993500262402e+83">
              <a:srgbClr val="959092">
                <a:alpha val="2.2000000000000003e+84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057693" y="2523744"/>
            <a:ext cx="3356762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368589" y="279806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pc="-3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8368589" y="3182112"/>
            <a:ext cx="27349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Get it into other people's hands</a:t>
            </a:r>
            <a:endParaRPr lang="en-US" sz="1450" dirty="0"/>
          </a:p>
        </p:txBody>
      </p:sp>
      <p:sp>
        <p:nvSpPr>
          <p:cNvPr id="24" name="Text 21"/>
          <p:cNvSpPr txBox="1"/>
          <p:nvPr/>
        </p:nvSpPr>
        <p:spPr>
          <a:xfrm>
            <a:off x="8368589" y="3822192"/>
            <a:ext cx="273497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Packaged as a plugin so a developer can install it with one command. The install flow itself has not been run start to finish yet.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" y="58338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Said plainly:</a:t>
            </a:r>
            <a:pPr indent="0" marL="0">
              <a:buNone/>
            </a:pPr>
            <a:r>
              <a:rPr lang="en-US" sz="11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the parts that judge risk are built and tested. The parts that depend on the corporate network are not proven yet.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65760"/>
            <a:ext cx="5120640" cy="51206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766560" y="566928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0" spc="-800" kern="0" dirty="0">
                <a:solidFill>
                  <a:srgbClr val="B9737E">
                    <a:alpha val="38000"/>
                  </a:srgbClr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3957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27432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100" spc="-9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CVE-to-Patch Automation</a:t>
            </a:r>
            <a:endParaRPr lang="en-US" sz="4100" dirty="0"/>
          </a:p>
        </p:txBody>
      </p:sp>
      <p:sp>
        <p:nvSpPr>
          <p:cNvPr id="7" name="Shape 3"/>
          <p:cNvSpPr/>
          <p:nvPr/>
        </p:nvSpPr>
        <p:spPr>
          <a:xfrm>
            <a:off x="777240" y="4114800"/>
            <a:ext cx="640080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Turning a manual, one-at-a-time patch lookup into a job that finishes in seconds.</a:t>
            </a:r>
            <a:endParaRPr lang="en-US" sz="1400" dirty="0"/>
          </a:p>
        </p:txBody>
      </p:sp>
      <p:pic>
        <p:nvPicPr>
          <p:cNvPr id="9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THE PROBLEM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Every flaw needed its own patch, found by hand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16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157984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spc="-2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117</a:t>
            </a:r>
            <a:endParaRPr lang="en-US" sz="7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34670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known flaws flagged this cycle,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each needing its own specific patch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77240" y="3968496"/>
            <a:ext cx="566928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4169664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Kevlar is the tool the team uses to track which machines are exposed to which flaw.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0" y="2139696"/>
            <a:ext cx="6385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WHAT A "KNOWN FLAW" IS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0" y="2395728"/>
            <a:ext cx="638525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publicly published weakness in software that attackers already know about. Each one has a matching fix released by the vendor.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029200" y="3182112"/>
            <a:ext cx="638525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29200" y="3438144"/>
            <a:ext cx="6385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WHY IT IS SLOW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5029200" y="3694176"/>
            <a:ext cx="638525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Finding the right fix means searching the vendor's patch catalogue for that exact flaw, on that exact software version — then repeating it.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029200" y="4480560"/>
            <a:ext cx="638525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9" name="Shape 16"/>
          <p:cNvSpPr/>
          <p:nvPr/>
        </p:nvSpPr>
        <p:spPr>
          <a:xfrm>
            <a:off x="5029200" y="4773168"/>
            <a:ext cx="6385255" cy="1207008"/>
          </a:xfrm>
          <a:prstGeom prst="roundRect">
            <a:avLst>
              <a:gd name="adj" fmla="val 4545"/>
            </a:avLst>
          </a:prstGeom>
          <a:solidFill>
            <a:srgbClr val="2B2D30"/>
          </a:solidFill>
          <a:ln/>
          <a:effectLst>
            <a:outerShdw sx="100000" sy="100000" kx="0" ky="0" algn="bl" rotWithShape="0" blurRad="1.5844814564598688e+50" dist="3.5210699032441527e+49" dir="1.9591041024000004e+59">
              <a:srgbClr val="959092">
                <a:alpha val="1.6e+59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5303520" y="49377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D9A3A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BEFORE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5303520" y="5230368"/>
            <a:ext cx="58366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spc="-8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18+ min</a:t>
            </a:r>
            <a:pPr indent="0" marL="0">
              <a:buNone/>
            </a:pPr>
            <a:r>
              <a:rPr lang="en-US" sz="1300" dirty="0">
                <a:solidFill>
                  <a:srgbClr val="DED9D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  of analyst time, every cycle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5303520" y="5687568"/>
            <a:ext cx="58366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4BBB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None of it automated — 0% matched without a person doing the searching.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THE RESULT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From hours of manual lookup to seconds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17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5681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 built a script that searches Microsoft's official patch catalogue automatically and returns the exact fix for each flaw.</a:t>
            </a:r>
            <a:endParaRPr lang="en-US" sz="1400" dirty="0"/>
          </a:p>
        </p:txBody>
      </p:sp>
      <p:pic>
        <p:nvPicPr>
          <p:cNvPr id="10" name="Image 1" descr="/home/user/ai/assets/gen/chart-m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87168"/>
            <a:ext cx="5852160" cy="3251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" y="58115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Share of the 117 flaws matched to their correct patch automatically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7315200" y="2432304"/>
            <a:ext cx="409925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.0341773286424134e+75" dist="2.5854433216060334e+74" dir="9.14039610015744e+87">
              <a:srgbClr val="959092">
                <a:alpha val="2.2000000000000003e+89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589520" y="2606040"/>
            <a:ext cx="35506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spc="-9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117/117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589520" y="3081528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flaws matched to the correct patch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315200" y="3675888"/>
            <a:ext cx="409925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.313405207375865e+79" dist="3.2835130184396625e+78" dir="5.484237660094465e+92">
              <a:srgbClr val="959092">
                <a:alpha val="2.2e+94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589520" y="3849624"/>
            <a:ext cx="35506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spc="-9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~12 sec</a:t>
            </a:r>
            <a:endParaRPr lang="en-US" sz="2700" dirty="0"/>
          </a:p>
        </p:txBody>
      </p:sp>
      <p:sp>
        <p:nvSpPr>
          <p:cNvPr id="17" name="Text 13"/>
          <p:cNvSpPr txBox="1"/>
          <p:nvPr/>
        </p:nvSpPr>
        <p:spPr>
          <a:xfrm>
            <a:off x="7589520" y="4325112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runtime, start to finish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315200" y="4919472"/>
            <a:ext cx="4099255" cy="1097280"/>
          </a:xfrm>
          <a:prstGeom prst="roundRect">
            <a:avLst>
              <a:gd name="adj" fmla="val 5000"/>
            </a:avLst>
          </a:prstGeom>
          <a:solidFill>
            <a:srgbClr val="F6EEF0"/>
          </a:solidFill>
          <a:ln w="9525">
            <a:solidFill>
              <a:srgbClr val="942838"/>
            </a:solidFill>
            <a:prstDash val="solid"/>
          </a:ln>
          <a:effectLst>
            <a:outerShdw sx="100000" sy="100000" kx="0" ky="0" algn="bl" rotWithShape="0" blurRad="1.6680246133673485e+83" dist="4.170061533418371e+82" dir="3.2905425960566786e+97">
              <a:srgbClr val="959092">
                <a:alpha val="2.2000000000000003e+99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589520" y="5093208"/>
            <a:ext cx="35506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spc="-9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29/29</a:t>
            </a:r>
            <a:endParaRPr lang="en-US" sz="2700" dirty="0"/>
          </a:p>
        </p:txBody>
      </p:sp>
      <p:sp>
        <p:nvSpPr>
          <p:cNvPr id="20" name="Text 16"/>
          <p:cNvSpPr txBox="1"/>
          <p:nvPr/>
        </p:nvSpPr>
        <p:spPr>
          <a:xfrm>
            <a:off x="7589520" y="5568696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independently spot-checked and confirmed correct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GOING DEEPER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Matching the flaws was only half the job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18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77240" y="2029968"/>
            <a:ext cx="5175504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.1183912589765324e+87" dist="5.295978147441331e+86" dir="1.9743255576340073e+102">
              <a:srgbClr val="959092">
                <a:alpha val="2.2000000000000003e+104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088136" y="2304288"/>
            <a:ext cx="4553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WHY 209 IS NOT 117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1088136" y="2578608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spc="-10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117</a:t>
            </a:r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 flaws  →  </a:t>
            </a:r>
            <a:pPr indent="0" marL="0">
              <a:buNone/>
            </a:pPr>
            <a:r>
              <a:rPr lang="en-US" sz="3000" spc="-10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209</a:t>
            </a:r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 fix-actions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088136" y="3108960"/>
            <a:ext cx="4553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After matching, I cross-referenced against Kevlar's real per-machine tracking data. One flaw can need patching on many machines, and one patch can fix several flaws — so the real count of individual fix-actions across the fleet was 209.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36208" y="2029968"/>
            <a:ext cx="5175504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.6903568989001962e+91" dist="6.7258922472504905e+90" dir="1.1845953345804043e+107">
              <a:srgbClr val="959092">
                <a:alpha val="2.2000000000000003e+109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547104" y="2304288"/>
            <a:ext cx="4553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RULE THAT COLLAPSES IT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547104" y="2578608"/>
            <a:ext cx="4553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7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Newest patch wins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6547104" y="3108960"/>
            <a:ext cx="4553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Windows patches supersede each other — the newest one already contains every older fix for that software. So we keep only the newest patch for each machine-and-software pair. It silently covers the rest, with nothing left unpatched.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46817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FULL CHAIN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777240" y="4992624"/>
            <a:ext cx="2487168" cy="932688"/>
          </a:xfrm>
          <a:prstGeom prst="roundRect">
            <a:avLst>
              <a:gd name="adj" fmla="val 5882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01600" dist="50800" dir="5400000">
              <a:srgbClr val="FFFFFF">
                <a:alpha val="7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60120" y="513892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spc="-9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117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923544" y="55961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flaws matched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3196285" y="5248656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600" dirty="0"/>
          </a:p>
        </p:txBody>
      </p:sp>
      <p:sp>
        <p:nvSpPr>
          <p:cNvPr id="22" name="Shape 19"/>
          <p:cNvSpPr/>
          <p:nvPr/>
        </p:nvSpPr>
        <p:spPr>
          <a:xfrm>
            <a:off x="3493922" y="4992624"/>
            <a:ext cx="2487168" cy="932688"/>
          </a:xfrm>
          <a:prstGeom prst="roundRect">
            <a:avLst>
              <a:gd name="adj" fmla="val 5882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290320000" dist="645160000" dir="324000000000">
              <a:srgbClr val="FFFFFF">
                <a:alpha val="750000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3676802" y="513892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spc="-9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209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3640226" y="55961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real fix-actions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912968" y="5248656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600" dirty="0"/>
          </a:p>
        </p:txBody>
      </p:sp>
      <p:sp>
        <p:nvSpPr>
          <p:cNvPr id="26" name="Shape 23"/>
          <p:cNvSpPr/>
          <p:nvPr/>
        </p:nvSpPr>
        <p:spPr>
          <a:xfrm>
            <a:off x="6210605" y="4992624"/>
            <a:ext cx="2487168" cy="932688"/>
          </a:xfrm>
          <a:prstGeom prst="roundRect">
            <a:avLst>
              <a:gd name="adj" fmla="val 5882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6387064000000" dist="8193532000000" dir="19440000000000000">
              <a:srgbClr val="FFFFFF">
                <a:alpha val="75000000000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6393485" y="513892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spc="12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RULE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6356909" y="55961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newest patch only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629650" y="5248656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600" dirty="0"/>
          </a:p>
        </p:txBody>
      </p:sp>
      <p:sp>
        <p:nvSpPr>
          <p:cNvPr id="30" name="Shape 27"/>
          <p:cNvSpPr/>
          <p:nvPr/>
        </p:nvSpPr>
        <p:spPr>
          <a:xfrm>
            <a:off x="8927287" y="4992624"/>
            <a:ext cx="2487168" cy="932688"/>
          </a:xfrm>
          <a:prstGeom prst="roundRect">
            <a:avLst>
              <a:gd name="adj" fmla="val 5882"/>
            </a:avLst>
          </a:prstGeom>
          <a:solidFill>
            <a:srgbClr val="942838"/>
          </a:solidFill>
          <a:ln w="9525">
            <a:solidFill>
              <a:srgbClr val="942838"/>
            </a:solidFill>
            <a:prstDash val="solid"/>
          </a:ln>
          <a:effectLst>
            <a:outerShdw sx="100000" sy="100000" kx="0" ky="0" algn="bl" rotWithShape="0" blurRad="203200" dist="50800" dir="5400000">
              <a:srgbClr val="5D1923">
                <a:alpha val="34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9110167" y="513892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spc="-9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46</a:t>
            </a:r>
            <a:endParaRPr lang="en-US" sz="2600" dirty="0"/>
          </a:p>
        </p:txBody>
      </p:sp>
      <p:sp>
        <p:nvSpPr>
          <p:cNvPr id="32" name="Text 29"/>
          <p:cNvSpPr txBox="1"/>
          <p:nvPr/>
        </p:nvSpPr>
        <p:spPr>
          <a:xfrm>
            <a:off x="9073591" y="55961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E4C9CE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tickets opened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THE PAYOFF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209 fix-actions became 46 tickets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19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77240" y="2011680"/>
            <a:ext cx="3310128" cy="1481328"/>
          </a:xfrm>
          <a:prstGeom prst="roundRect">
            <a:avLst>
              <a:gd name="adj" fmla="val 3704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3.416753261603249e+95" dist="8.541883154008123e+94" dir="7.107572007482426e+111">
              <a:srgbClr val="959092">
                <a:alpha val="2.2000000000000003e+114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996696" y="2194560"/>
            <a:ext cx="28712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spc="-18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209</a:t>
            </a:r>
            <a:endParaRPr lang="en-US" sz="4600" dirty="0"/>
          </a:p>
        </p:txBody>
      </p:sp>
      <p:sp>
        <p:nvSpPr>
          <p:cNvPr id="11" name="Text 8"/>
          <p:cNvSpPr txBox="1"/>
          <p:nvPr/>
        </p:nvSpPr>
        <p:spPr>
          <a:xfrm>
            <a:off x="996696" y="2907792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individual fix-actions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identified across the fleet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440784" y="2011680"/>
            <a:ext cx="3310128" cy="1481328"/>
          </a:xfrm>
          <a:prstGeom prst="roundRect">
            <a:avLst>
              <a:gd name="adj" fmla="val 3704"/>
            </a:avLst>
          </a:prstGeom>
          <a:solidFill>
            <a:srgbClr val="F6EEF0"/>
          </a:solidFill>
          <a:ln w="9525">
            <a:solidFill>
              <a:srgbClr val="942838"/>
            </a:solidFill>
            <a:prstDash val="solid"/>
          </a:ln>
          <a:effectLst>
            <a:outerShdw sx="100000" sy="100000" kx="0" ky="0" algn="bl" rotWithShape="0" blurRad="4.3392766422361264e+99" dist="1.0848191605590316e+99" dir="4.2645432044894554e+116">
              <a:srgbClr val="959092">
                <a:alpha val="2.2000000000000005e+119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660240" y="2194560"/>
            <a:ext cx="28712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spc="-18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46</a:t>
            </a:r>
            <a:endParaRPr lang="en-US" sz="4600" dirty="0"/>
          </a:p>
        </p:txBody>
      </p:sp>
      <p:sp>
        <p:nvSpPr>
          <p:cNvPr id="14" name="Text 11"/>
          <p:cNvSpPr txBox="1"/>
          <p:nvPr/>
        </p:nvSpPr>
        <p:spPr>
          <a:xfrm>
            <a:off x="4660240" y="2907792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tickets actually opened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after consolidation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04327" y="2011680"/>
            <a:ext cx="3310128" cy="1481328"/>
          </a:xfrm>
          <a:prstGeom prst="roundRect">
            <a:avLst>
              <a:gd name="adj" fmla="val 3704"/>
            </a:avLst>
          </a:prstGeom>
          <a:solidFill>
            <a:srgbClr val="F6EEF0"/>
          </a:solidFill>
          <a:ln w="9525">
            <a:solidFill>
              <a:srgbClr val="942838"/>
            </a:solidFill>
            <a:prstDash val="solid"/>
          </a:ln>
          <a:effectLst>
            <a:outerShdw sx="100000" sy="100000" kx="0" ky="0" algn="bl" rotWithShape="0" blurRad="5.510881335639881e+103" dist="1.3777203339099702e+103" dir="2.5587259226936733e+121">
              <a:srgbClr val="959092">
                <a:alpha val="2.2000000000000006e+124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323783" y="2194560"/>
            <a:ext cx="28712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spc="-18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78%</a:t>
            </a:r>
            <a:endParaRPr lang="en-US" sz="4600" dirty="0"/>
          </a:p>
        </p:txBody>
      </p:sp>
      <p:sp>
        <p:nvSpPr>
          <p:cNvPr id="17" name="Text 14"/>
          <p:cNvSpPr txBox="1"/>
          <p:nvPr/>
        </p:nvSpPr>
        <p:spPr>
          <a:xfrm>
            <a:off x="8323783" y="2907792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fewer tickets for the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team to work through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803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EVERY SQUARE IS ONE REAL FIX-ACTION</a:t>
            </a:r>
            <a:endParaRPr lang="en-US" sz="850" dirty="0"/>
          </a:p>
        </p:txBody>
      </p:sp>
      <p:pic>
        <p:nvPicPr>
          <p:cNvPr id="19" name="Image 1" descr="/home/user/ai/assets/gen/chart-consolid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096512"/>
            <a:ext cx="10637215" cy="122149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77240" y="540945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46 opened as tickets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5928055" y="540945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163 absorbed by a newer patch already being installed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777240" y="585216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Zero coverage loss</a:t>
            </a:r>
            <a:pPr indent="0" marL="0">
              <a:buNone/>
            </a:pPr>
            <a:r>
              <a:rPr lang="en-US" sz="11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—  verified across 2,658 machine-and-software combinations.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WHAT COMES NEXT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Four systems, one screen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20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011680"/>
            <a:ext cx="4160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 these four systems each hold one piece of the story, and someone has to stitch them together by hand. The next step is a single view where the whole path is visible at once.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95528" y="3118104"/>
            <a:ext cx="182880" cy="182880"/>
          </a:xfrm>
          <a:prstGeom prst="ellipse">
            <a:avLst/>
          </a:prstGeom>
          <a:solidFill>
            <a:srgbClr val="F6EEF0"/>
          </a:solidFill>
          <a:ln w="19050">
            <a:solidFill>
              <a:srgbClr val="94283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50392" y="3172968"/>
            <a:ext cx="73152" cy="73152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2" name="Shape 9"/>
          <p:cNvSpPr/>
          <p:nvPr/>
        </p:nvSpPr>
        <p:spPr>
          <a:xfrm>
            <a:off x="882396" y="3319272"/>
            <a:ext cx="10973" cy="457200"/>
          </a:xfrm>
          <a:prstGeom prst="rect">
            <a:avLst/>
          </a:prstGeom>
          <a:solidFill>
            <a:srgbClr val="C9C6C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43000" y="3054096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Tenable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finds the flaw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95528" y="3776472"/>
            <a:ext cx="182880" cy="182880"/>
          </a:xfrm>
          <a:prstGeom prst="ellipse">
            <a:avLst/>
          </a:prstGeom>
          <a:solidFill>
            <a:srgbClr val="F6EEF0"/>
          </a:solidFill>
          <a:ln w="19050">
            <a:solidFill>
              <a:srgbClr val="94283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0392" y="3831336"/>
            <a:ext cx="73152" cy="73152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7" name="Shape 14"/>
          <p:cNvSpPr/>
          <p:nvPr/>
        </p:nvSpPr>
        <p:spPr>
          <a:xfrm>
            <a:off x="882396" y="3977640"/>
            <a:ext cx="10973" cy="457200"/>
          </a:xfrm>
          <a:prstGeom prst="rect">
            <a:avLst/>
          </a:prstGeom>
          <a:solidFill>
            <a:srgbClr val="C9C6C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143000" y="371246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Kevlar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9684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tracks which machines are exposed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95528" y="4434840"/>
            <a:ext cx="182880" cy="182880"/>
          </a:xfrm>
          <a:prstGeom prst="ellipse">
            <a:avLst/>
          </a:prstGeom>
          <a:solidFill>
            <a:srgbClr val="F6EEF0"/>
          </a:solidFill>
          <a:ln w="19050">
            <a:solidFill>
              <a:srgbClr val="94283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50392" y="4489704"/>
            <a:ext cx="73152" cy="73152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22" name="Shape 19"/>
          <p:cNvSpPr/>
          <p:nvPr/>
        </p:nvSpPr>
        <p:spPr>
          <a:xfrm>
            <a:off x="882396" y="4636008"/>
            <a:ext cx="10973" cy="457200"/>
          </a:xfrm>
          <a:prstGeom prst="rect">
            <a:avLst/>
          </a:prstGeom>
          <a:solidFill>
            <a:srgbClr val="C9C6C4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143000" y="437083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ServiceNow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" y="46268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opens the ticket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95528" y="5093208"/>
            <a:ext cx="182880" cy="182880"/>
          </a:xfrm>
          <a:prstGeom prst="ellipse">
            <a:avLst/>
          </a:prstGeom>
          <a:solidFill>
            <a:srgbClr val="F6EEF0"/>
          </a:solidFill>
          <a:ln w="19050">
            <a:solidFill>
              <a:srgbClr val="94283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50392" y="5148072"/>
            <a:ext cx="73152" cy="73152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143000" y="502920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Wiz</a:t>
            </a:r>
            <a:endParaRPr lang="en-US" sz="1350" dirty="0"/>
          </a:p>
        </p:txBody>
      </p:sp>
      <p:sp>
        <p:nvSpPr>
          <p:cNvPr id="28" name="Text 25"/>
          <p:cNvSpPr txBox="1"/>
          <p:nvPr/>
        </p:nvSpPr>
        <p:spPr>
          <a:xfrm>
            <a:off x="1143000" y="52852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confirms the machine is real and reachable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5632704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Flaw found → fix identified → ticket opened → patch confirmed, all in one place.</a:t>
            </a:r>
            <a:endParaRPr lang="en-US" sz="1100" dirty="0"/>
          </a:p>
        </p:txBody>
      </p:sp>
      <p:pic>
        <p:nvPicPr>
          <p:cNvPr id="30" name="Image 1" descr="/home/user/ai/assets/gen/dashboard-m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4" y="2103120"/>
            <a:ext cx="6056071" cy="3499063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358384" y="5748487"/>
            <a:ext cx="60560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C9C6C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Concept — not a live system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2926080"/>
            <a:ext cx="4754880" cy="4754880"/>
          </a:xfrm>
          <a:prstGeom prst="rect">
            <a:avLst/>
          </a:prstGeom>
        </p:spPr>
      </p:pic>
      <p:pic>
        <p:nvPicPr>
          <p:cNvPr id="4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8535" y="457200"/>
            <a:ext cx="1645920" cy="166053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777240" y="6583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SUMMARY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777240" y="987552"/>
            <a:ext cx="95097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spc="-8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Not just a good intern for my team —</a:t>
            </a:r>
            <a:endParaRPr lang="en-US" sz="3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200" spc="-8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for the company</a:t>
            </a:r>
            <a:endParaRPr lang="en-US" sz="3200" dirty="0"/>
          </a:p>
        </p:txBody>
      </p:sp>
      <p:sp>
        <p:nvSpPr>
          <p:cNvPr id="7" name="Shape 2"/>
          <p:cNvSpPr/>
          <p:nvPr/>
        </p:nvSpPr>
        <p:spPr>
          <a:xfrm>
            <a:off x="777240" y="2249424"/>
            <a:ext cx="640080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3"/>
          <p:cNvSpPr/>
          <p:nvPr/>
        </p:nvSpPr>
        <p:spPr>
          <a:xfrm>
            <a:off x="777240" y="2615184"/>
            <a:ext cx="5175504" cy="1280160"/>
          </a:xfrm>
          <a:prstGeom prst="roundRect">
            <a:avLst>
              <a:gd name="adj" fmla="val 428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CA949C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777240" y="2615184"/>
            <a:ext cx="457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1033272" y="28163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Left tools behind, not just results</a:t>
            </a:r>
            <a:endParaRPr lang="en-US" sz="1350" dirty="0"/>
          </a:p>
        </p:txBody>
      </p:sp>
      <p:sp>
        <p:nvSpPr>
          <p:cNvPr id="11" name="Text 6"/>
          <p:cNvSpPr txBox="1"/>
          <p:nvPr/>
        </p:nvSpPr>
        <p:spPr>
          <a:xfrm>
            <a:off x="1033272" y="312724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C9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scripts and frameworks I built are still in use by the team after I go.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6236208" y="2615184"/>
            <a:ext cx="5175504" cy="1280160"/>
          </a:xfrm>
          <a:prstGeom prst="roundRect">
            <a:avLst>
              <a:gd name="adj" fmla="val 428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CA949C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36208" y="2615184"/>
            <a:ext cx="457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6492240" y="28163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Worked across team lines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6492240" y="312724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C9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Vulnerability Management, Application Security and Network Security — plus Cloud Operations and Development.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777240" y="4133088"/>
            <a:ext cx="5175504" cy="1280160"/>
          </a:xfrm>
          <a:prstGeom prst="roundRect">
            <a:avLst>
              <a:gd name="adj" fmla="val 428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CA949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4133088"/>
            <a:ext cx="457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033272" y="433425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Built proof, not opinions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1033272" y="4645152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C9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number in this deck was independently checked before I put it on a slide.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236208" y="4133088"/>
            <a:ext cx="5175504" cy="1280160"/>
          </a:xfrm>
          <a:prstGeom prst="roundRect">
            <a:avLst>
              <a:gd name="adj" fmla="val 428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CA949C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236208" y="4133088"/>
            <a:ext cx="457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6492240" y="433425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Built to scale beyond one team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6492240" y="4645152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C9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Each project was designed so another group can pick it up and run it.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777240" y="5614416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Thank you — happy to take questions.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777240" y="5980176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30" kern="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Next up: the PWPA and PJPT certifications, heading toward penetration testing.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SUMMARY</a:t>
            </a:r>
            <a:endParaRPr lang="en-US" sz="850" dirty="0"/>
          </a:p>
        </p:txBody>
      </p:sp>
      <p:sp>
        <p:nvSpPr>
          <p:cNvPr id="27" name="Text 22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Stewart Title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Security Analyst Internship — Exit Presentation</dc:title>
  <dc:subject>PptxGenJS Presentation</dc:subject>
  <dc:creator>Jair Maldonado</dc:creator>
  <cp:lastModifiedBy>Jair Maldonado</cp:lastModifiedBy>
  <cp:revision>1</cp:revision>
  <dcterms:created xsi:type="dcterms:W3CDTF">2026-07-27T17:03:44Z</dcterms:created>
  <dcterms:modified xsi:type="dcterms:W3CDTF">2026-07-27T17:03:44Z</dcterms:modified>
</cp:coreProperties>
</file>