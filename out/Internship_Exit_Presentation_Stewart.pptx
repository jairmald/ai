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take one thing from this: three separate problems, three working solutions, and I can show the evidence for each. The detail follows — feel free to tune in 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Golden Image is the template every new virtual machine is built from. Set it up once and every machine after that inherits it. Q: Does this slow down provisioning? — No. The tools go into the image itself, so a machine built from it is already compliant on first boot.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When does this actually get adopted? — Q4, when the policy manager returns. It is drafted and staged for sign-off now, not adopted. Q: Who owns the rollout? — The infrastructure security team; each named team owns its own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version: someone poisons a popular free software package, and everyone who installs it gets the poison too. It has happened repeatedly in the last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Can AEGIS catch zero-days? — No. It catches publicly known flaws in open-source dependencies. Zero-days need different tooling entirely. Q: What about false positives? — Every finding it labels reachable is a real code path; anything it cannot confirm is labelled "can't prove", never "safe". I have not measured a false-positive rate, so I am not going to quote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split: stages 00 to 03 only read. They cannot edit a file, open a pull request or touch a branch, so running AEGIS on a repository can never break it. Stage 04 is the only one that writes, and it will not start without someone asking for it. Q: What stops it running away with a fix? — It does one approved step at a time, refuses protected branches, never merges, and never marks its own work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last line: 28 findings became one upgrade. Q: You said two could not be ruled out — so the tool failed on those? — No, and it costs nothing here. AEGIS has a hand-curated list of about nine packages where the exact dangerous function is documented; Angular is not on it yet, so it can confirm the app uses the package but not that the vulnerable function specifically is called. It said so instead of calling them safe. All three findings are the same Angular version bump, so the decision is identical either way. Q: Would you ship that upgrade? — Yes: it is in-range, non-breaking, and the repo's test suite runs, so it can be proven before it merges. Q: Was anything confirmed reachable? — No. Nothing was confirmed reachable and nothing was confirmed reaching production. Q: How do you know the 25 are really clear? — Read with a real code parser, not a text search, so it is a structural answer rather than string matching. Earlier, testing against an open-source project, I also found and fixed two bugs in my own code — one where a "can't prove" result was being described as a confirmed 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Who maintains this after I leave? — The Vulnerability Management team. It is packaged as a plugin so it installs with one command, though that install flow still needs a real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Why 117 and not more? — Because that is the filtered set: high or critical severity AND directly affecting business operations. It is not a sample and it is not everything Kevlar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~17.5 hour baseline is a reasoned estimate at 8-10 minutes per flaw, not a stopwatch measurement. Say so if asked. If precision matters, have an analyst time a sample of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Were all 117 validated? — 29 were independently spot-checked and all 29 were correct. One entry, CVE-2025-47827, is double-classified in the Kevlar export (IGEL OS and Windows). That is a data-quality issue upstream, not a bug in the script, but worth flagging to whoever owns the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chain if asked: 2,658 real host-and-product assignments, which Kevlar groups into 209 KB Priority rows, which the highest-fixed-build rule collapses to 46 tickets. The 78% is measured against Kevlar's 209, not against the 117.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Will this integrate with Jira? — The data is ready. The integration depends on a workflow decision with the team that owns ticketing. The scripts work today without it; the dashboard is the optional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png">    </p:cNvPr>
          <p:cNvPicPr>
            <a:picLocks noChangeAspect="1"/>
          </p:cNvPicPr>
          <p:nvPr/>
        </p:nvPicPr>
        <p:blipFill>
          <a:blip r:embed="rId2"/>
          <a:stretch>
            <a:fillRect/>
          </a:stretch>
        </p:blipFill>
        <p:spPr>
          <a:xfrm>
            <a:off x="7040880" y="-822960"/>
            <a:ext cx="6035040" cy="60350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777240" y="566928"/>
            <a:ext cx="2194560" cy="221404"/>
          </a:xfrm>
          <a:prstGeom prst="rect">
            <a:avLst/>
          </a:prstGeom>
        </p:spPr>
      </p:pic>
      <p:sp>
        <p:nvSpPr>
          <p:cNvPr id="5" name="Text 0"/>
          <p:cNvSpPr txBox="1"/>
          <p:nvPr/>
        </p:nvSpPr>
        <p:spPr>
          <a:xfrm>
            <a:off x="777240" y="2304288"/>
            <a:ext cx="82296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STEWART TITLE  ·  INFORMATION SECURITY</a:t>
            </a:r>
            <a:endParaRPr lang="en-US" sz="1000" dirty="0"/>
          </a:p>
        </p:txBody>
      </p:sp>
      <p:sp>
        <p:nvSpPr>
          <p:cNvPr id="6" name="Text 1"/>
          <p:cNvSpPr txBox="1"/>
          <p:nvPr/>
        </p:nvSpPr>
        <p:spPr>
          <a:xfrm>
            <a:off x="777240" y="2633472"/>
            <a:ext cx="8595360" cy="1600200"/>
          </a:xfrm>
          <a:prstGeom prst="rect">
            <a:avLst/>
          </a:prstGeom>
          <a:noFill/>
          <a:ln/>
        </p:spPr>
        <p:txBody>
          <a:bodyPr wrap="square" lIns="0" tIns="0" rIns="0" bIns="0" rtlCol="0" anchor="t"/>
          <a:lstStyle/>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Information Security</a:t>
            </a:r>
            <a:endParaRPr lang="en-US" sz="5000" dirty="0"/>
          </a:p>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Analyst Internship</a:t>
            </a:r>
            <a:endParaRPr lang="en-US" sz="5000" dirty="0"/>
          </a:p>
        </p:txBody>
      </p:sp>
      <p:sp>
        <p:nvSpPr>
          <p:cNvPr id="7" name="Shape 2"/>
          <p:cNvSpPr/>
          <p:nvPr/>
        </p:nvSpPr>
        <p:spPr>
          <a:xfrm>
            <a:off x="777240" y="4370832"/>
            <a:ext cx="713232" cy="54864"/>
          </a:xfrm>
          <a:prstGeom prst="rect">
            <a:avLst/>
          </a:prstGeom>
          <a:solidFill>
            <a:srgbClr val="FFFFFF"/>
          </a:solidFill>
          <a:ln/>
        </p:spPr>
      </p:sp>
      <p:sp>
        <p:nvSpPr>
          <p:cNvPr id="8" name="Text 3"/>
          <p:cNvSpPr txBox="1"/>
          <p:nvPr/>
        </p:nvSpPr>
        <p:spPr>
          <a:xfrm>
            <a:off x="777240" y="4645152"/>
            <a:ext cx="6400800" cy="365760"/>
          </a:xfrm>
          <a:prstGeom prst="rect">
            <a:avLst/>
          </a:prstGeom>
          <a:noFill/>
          <a:ln/>
        </p:spPr>
        <p:txBody>
          <a:bodyPr wrap="square" lIns="0" tIns="0" rIns="0" bIns="0" rtlCol="0" anchor="t"/>
          <a:lstStyle/>
          <a:p>
            <a:pPr indent="0" marL="0">
              <a:buNone/>
            </a:pPr>
            <a:r>
              <a:rPr lang="en-US" sz="1900" dirty="0">
                <a:solidFill>
                  <a:srgbClr val="FFFFFF"/>
                </a:solidFill>
                <a:latin typeface="Montserrat SemiBold" pitchFamily="34" charset="0"/>
                <a:ea typeface="Montserrat SemiBold" pitchFamily="34" charset="-122"/>
                <a:cs typeface="Montserrat SemiBold" pitchFamily="34" charset="-120"/>
              </a:rPr>
              <a:t>Jair Maldonado</a:t>
            </a:r>
            <a:endParaRPr lang="en-US" sz="1900" dirty="0"/>
          </a:p>
        </p:txBody>
      </p:sp>
      <p:sp>
        <p:nvSpPr>
          <p:cNvPr id="9" name="Text 4"/>
          <p:cNvSpPr txBox="1"/>
          <p:nvPr/>
        </p:nvSpPr>
        <p:spPr>
          <a:xfrm>
            <a:off x="777240" y="5029200"/>
            <a:ext cx="6400800" cy="274320"/>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Exit Presentation  ·  Summer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CONTENTS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 will walk through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TABLE OF CONTENTS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02</a:t>
            </a:r>
            <a:endParaRPr lang="en-US" sz="850" dirty="0"/>
          </a:p>
        </p:txBody>
      </p:sp>
      <p:sp>
        <p:nvSpPr>
          <p:cNvPr id="9" name="Text 6"/>
          <p:cNvSpPr txBox="1"/>
          <p:nvPr/>
        </p:nvSpPr>
        <p:spPr>
          <a:xfrm>
            <a:off x="777240" y="212140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0" name="Text 7"/>
          <p:cNvSpPr txBox="1"/>
          <p:nvPr/>
        </p:nvSpPr>
        <p:spPr>
          <a:xfrm>
            <a:off x="1618488" y="210312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About Me</a:t>
            </a:r>
            <a:endParaRPr lang="en-US" sz="1550" dirty="0"/>
          </a:p>
        </p:txBody>
      </p:sp>
      <p:sp>
        <p:nvSpPr>
          <p:cNvPr id="11" name="Text 8"/>
          <p:cNvSpPr txBox="1"/>
          <p:nvPr/>
        </p:nvSpPr>
        <p:spPr>
          <a:xfrm>
            <a:off x="5989320" y="213969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Who I am and where I am headed</a:t>
            </a:r>
            <a:endParaRPr lang="en-US" sz="1100" dirty="0"/>
          </a:p>
        </p:txBody>
      </p:sp>
      <p:sp>
        <p:nvSpPr>
          <p:cNvPr id="12" name="Shape 9"/>
          <p:cNvSpPr/>
          <p:nvPr/>
        </p:nvSpPr>
        <p:spPr>
          <a:xfrm>
            <a:off x="777240" y="2596896"/>
            <a:ext cx="10637215" cy="10973"/>
          </a:xfrm>
          <a:prstGeom prst="rect">
            <a:avLst/>
          </a:prstGeom>
          <a:solidFill>
            <a:srgbClr val="E6E4E2"/>
          </a:solidFill>
          <a:ln/>
        </p:spPr>
      </p:sp>
      <p:sp>
        <p:nvSpPr>
          <p:cNvPr id="13" name="Text 10"/>
          <p:cNvSpPr txBox="1"/>
          <p:nvPr/>
        </p:nvSpPr>
        <p:spPr>
          <a:xfrm>
            <a:off x="777240" y="2793492"/>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4" name="Text 11"/>
          <p:cNvSpPr txBox="1"/>
          <p:nvPr/>
        </p:nvSpPr>
        <p:spPr>
          <a:xfrm>
            <a:off x="1618488" y="2775204"/>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Internship Overview</a:t>
            </a:r>
            <a:endParaRPr lang="en-US" sz="1550" dirty="0"/>
          </a:p>
        </p:txBody>
      </p:sp>
      <p:sp>
        <p:nvSpPr>
          <p:cNvPr id="15" name="Text 12"/>
          <p:cNvSpPr txBox="1"/>
          <p:nvPr/>
        </p:nvSpPr>
        <p:spPr>
          <a:xfrm>
            <a:off x="5989320" y="2811780"/>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Three rotations across the security team</a:t>
            </a:r>
            <a:endParaRPr lang="en-US" sz="1100" dirty="0"/>
          </a:p>
        </p:txBody>
      </p:sp>
      <p:sp>
        <p:nvSpPr>
          <p:cNvPr id="16" name="Shape 13"/>
          <p:cNvSpPr/>
          <p:nvPr/>
        </p:nvSpPr>
        <p:spPr>
          <a:xfrm>
            <a:off x="777240" y="3268980"/>
            <a:ext cx="10637215" cy="10973"/>
          </a:xfrm>
          <a:prstGeom prst="rect">
            <a:avLst/>
          </a:prstGeom>
          <a:solidFill>
            <a:srgbClr val="E6E4E2"/>
          </a:solidFill>
          <a:ln/>
        </p:spPr>
      </p:sp>
      <p:sp>
        <p:nvSpPr>
          <p:cNvPr id="17" name="Text 14"/>
          <p:cNvSpPr txBox="1"/>
          <p:nvPr/>
        </p:nvSpPr>
        <p:spPr>
          <a:xfrm>
            <a:off x="777240" y="3465576"/>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18" name="Text 15"/>
          <p:cNvSpPr txBox="1"/>
          <p:nvPr/>
        </p:nvSpPr>
        <p:spPr>
          <a:xfrm>
            <a:off x="1618488" y="3447288"/>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Image Management Program</a:t>
            </a:r>
            <a:endParaRPr lang="en-US" sz="1550" dirty="0"/>
          </a:p>
        </p:txBody>
      </p:sp>
      <p:sp>
        <p:nvSpPr>
          <p:cNvPr id="19" name="Text 16"/>
          <p:cNvSpPr txBox="1"/>
          <p:nvPr/>
        </p:nvSpPr>
        <p:spPr>
          <a:xfrm>
            <a:off x="5989320" y="3483864"/>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Making sure every new machine starts secure</a:t>
            </a:r>
            <a:endParaRPr lang="en-US" sz="1100" dirty="0"/>
          </a:p>
        </p:txBody>
      </p:sp>
      <p:sp>
        <p:nvSpPr>
          <p:cNvPr id="20" name="Shape 17"/>
          <p:cNvSpPr/>
          <p:nvPr/>
        </p:nvSpPr>
        <p:spPr>
          <a:xfrm>
            <a:off x="777240" y="3941064"/>
            <a:ext cx="10637215" cy="10973"/>
          </a:xfrm>
          <a:prstGeom prst="rect">
            <a:avLst/>
          </a:prstGeom>
          <a:solidFill>
            <a:srgbClr val="E6E4E2"/>
          </a:solidFill>
          <a:ln/>
        </p:spPr>
      </p:sp>
      <p:sp>
        <p:nvSpPr>
          <p:cNvPr id="21" name="Text 18"/>
          <p:cNvSpPr txBox="1"/>
          <p:nvPr/>
        </p:nvSpPr>
        <p:spPr>
          <a:xfrm>
            <a:off x="777240" y="4137660"/>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04</a:t>
            </a:r>
            <a:endParaRPr lang="en-US" sz="2100" dirty="0"/>
          </a:p>
        </p:txBody>
      </p:sp>
      <p:sp>
        <p:nvSpPr>
          <p:cNvPr id="22" name="Text 19"/>
          <p:cNvSpPr txBox="1"/>
          <p:nvPr/>
        </p:nvSpPr>
        <p:spPr>
          <a:xfrm>
            <a:off x="1618488" y="4119372"/>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AEGIS</a:t>
            </a:r>
            <a:endParaRPr lang="en-US" sz="1550" dirty="0"/>
          </a:p>
        </p:txBody>
      </p:sp>
      <p:sp>
        <p:nvSpPr>
          <p:cNvPr id="23" name="Text 20"/>
          <p:cNvSpPr txBox="1"/>
          <p:nvPr/>
        </p:nvSpPr>
        <p:spPr>
          <a:xfrm>
            <a:off x="5989320" y="4155948"/>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Catching supply-chain attacks before they reach us</a:t>
            </a:r>
            <a:endParaRPr lang="en-US" sz="1100" dirty="0"/>
          </a:p>
        </p:txBody>
      </p:sp>
      <p:sp>
        <p:nvSpPr>
          <p:cNvPr id="24" name="Shape 21"/>
          <p:cNvSpPr/>
          <p:nvPr/>
        </p:nvSpPr>
        <p:spPr>
          <a:xfrm>
            <a:off x="777240" y="4613148"/>
            <a:ext cx="10637215" cy="10973"/>
          </a:xfrm>
          <a:prstGeom prst="rect">
            <a:avLst/>
          </a:prstGeom>
          <a:solidFill>
            <a:srgbClr val="E6E4E2"/>
          </a:solidFill>
          <a:ln/>
        </p:spPr>
      </p:sp>
      <p:sp>
        <p:nvSpPr>
          <p:cNvPr id="25" name="Text 22"/>
          <p:cNvSpPr txBox="1"/>
          <p:nvPr/>
        </p:nvSpPr>
        <p:spPr>
          <a:xfrm>
            <a:off x="777240" y="4809744"/>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05</a:t>
            </a:r>
            <a:endParaRPr lang="en-US" sz="2100" dirty="0"/>
          </a:p>
        </p:txBody>
      </p:sp>
      <p:sp>
        <p:nvSpPr>
          <p:cNvPr id="26" name="Text 23"/>
          <p:cNvSpPr txBox="1"/>
          <p:nvPr/>
        </p:nvSpPr>
        <p:spPr>
          <a:xfrm>
            <a:off x="1618488" y="4791456"/>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CVE-to-Patch Automation</a:t>
            </a:r>
            <a:endParaRPr lang="en-US" sz="1550" dirty="0"/>
          </a:p>
        </p:txBody>
      </p:sp>
      <p:sp>
        <p:nvSpPr>
          <p:cNvPr id="27" name="Text 24"/>
          <p:cNvSpPr txBox="1"/>
          <p:nvPr/>
        </p:nvSpPr>
        <p:spPr>
          <a:xfrm>
            <a:off x="5989320" y="4828032"/>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Turning two days of patch work into twelve seconds</a:t>
            </a:r>
            <a:endParaRPr lang="en-US" sz="1100" dirty="0"/>
          </a:p>
        </p:txBody>
      </p:sp>
      <p:sp>
        <p:nvSpPr>
          <p:cNvPr id="28" name="Shape 25"/>
          <p:cNvSpPr/>
          <p:nvPr/>
        </p:nvSpPr>
        <p:spPr>
          <a:xfrm>
            <a:off x="777240" y="5285232"/>
            <a:ext cx="10637215" cy="10973"/>
          </a:xfrm>
          <a:prstGeom prst="rect">
            <a:avLst/>
          </a:prstGeom>
          <a:solidFill>
            <a:srgbClr val="E6E4E2"/>
          </a:solidFill>
          <a:ln/>
        </p:spPr>
      </p:sp>
      <p:sp>
        <p:nvSpPr>
          <p:cNvPr id="29" name="Text 26"/>
          <p:cNvSpPr txBox="1"/>
          <p:nvPr/>
        </p:nvSpPr>
        <p:spPr>
          <a:xfrm>
            <a:off x="777240" y="548182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06</a:t>
            </a:r>
            <a:endParaRPr lang="en-US" sz="2100" dirty="0"/>
          </a:p>
        </p:txBody>
      </p:sp>
      <p:sp>
        <p:nvSpPr>
          <p:cNvPr id="30" name="Text 27"/>
          <p:cNvSpPr txBox="1"/>
          <p:nvPr/>
        </p:nvSpPr>
        <p:spPr>
          <a:xfrm>
            <a:off x="1618488" y="546354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Summary</a:t>
            </a:r>
            <a:endParaRPr lang="en-US" sz="1550" dirty="0"/>
          </a:p>
        </p:txBody>
      </p:sp>
      <p:sp>
        <p:nvSpPr>
          <p:cNvPr id="31" name="Text 28"/>
          <p:cNvSpPr txBox="1"/>
          <p:nvPr/>
        </p:nvSpPr>
        <p:spPr>
          <a:xfrm>
            <a:off x="5989320" y="550011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What this means for Stewart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ai/assets/gen/panel-red-left.png">    </p:cNvPr>
          <p:cNvPicPr>
            <a:picLocks noChangeAspect="1"/>
          </p:cNvPicPr>
          <p:nvPr/>
        </p:nvPicPr>
        <p:blipFill>
          <a:blip r:embed="rId1"/>
          <a:stretch>
            <a:fillRect/>
          </a:stretch>
        </p:blipFill>
        <p:spPr>
          <a:xfrm>
            <a:off x="0" y="0"/>
            <a:ext cx="4343400"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640080" y="3931920"/>
            <a:ext cx="3840480" cy="3840480"/>
          </a:xfrm>
          <a:prstGeom prst="rect">
            <a:avLst/>
          </a:prstGeom>
        </p:spPr>
      </p:pic>
      <p:sp>
        <p:nvSpPr>
          <p:cNvPr id="4" name="Text 0"/>
          <p:cNvSpPr txBox="1"/>
          <p:nvPr/>
        </p:nvSpPr>
        <p:spPr>
          <a:xfrm>
            <a:off x="777240" y="1371600"/>
            <a:ext cx="310896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ABOUT ME</a:t>
            </a:r>
            <a:endParaRPr lang="en-US" sz="1000" dirty="0"/>
          </a:p>
        </p:txBody>
      </p:sp>
      <p:sp>
        <p:nvSpPr>
          <p:cNvPr id="5" name="Text 1"/>
          <p:cNvSpPr txBox="1"/>
          <p:nvPr/>
        </p:nvSpPr>
        <p:spPr>
          <a:xfrm>
            <a:off x="777240" y="1737360"/>
            <a:ext cx="3291840" cy="1371600"/>
          </a:xfrm>
          <a:prstGeom prst="rect">
            <a:avLst/>
          </a:prstGeom>
          <a:noFill/>
          <a:ln/>
        </p:spPr>
        <p:txBody>
          <a:bodyPr wrap="square" lIns="0" tIns="0" rIns="0" bIns="0" rtlCol="0" anchor="t"/>
          <a:lstStyle/>
          <a:p>
            <a:pPr indent="0" marL="0">
              <a:lnSpc>
                <a:spcPct val="98000"/>
              </a:lnSpc>
              <a:buNone/>
            </a:pPr>
            <a:r>
              <a:rPr lang="en-US" sz="3300" spc="-70" kern="0" dirty="0">
                <a:solidFill>
                  <a:srgbClr val="FFFFFF"/>
                </a:solidFill>
                <a:latin typeface="Montserrat ExtraBold" pitchFamily="34" charset="0"/>
                <a:ea typeface="Montserrat ExtraBold" pitchFamily="34" charset="-122"/>
                <a:cs typeface="Montserrat ExtraBold" pitchFamily="34" charset="-120"/>
              </a:rPr>
              <a:t>Jair Maldonado</a:t>
            </a:r>
            <a:endParaRPr lang="en-US" sz="3300" dirty="0"/>
          </a:p>
        </p:txBody>
      </p:sp>
      <p:sp>
        <p:nvSpPr>
          <p:cNvPr id="6" name="Shape 2"/>
          <p:cNvSpPr/>
          <p:nvPr/>
        </p:nvSpPr>
        <p:spPr>
          <a:xfrm>
            <a:off x="777240" y="3127248"/>
            <a:ext cx="548640" cy="45720"/>
          </a:xfrm>
          <a:prstGeom prst="rect">
            <a:avLst/>
          </a:prstGeom>
          <a:solidFill>
            <a:srgbClr val="FFFFFF"/>
          </a:solidFill>
          <a:ln/>
        </p:spPr>
      </p:sp>
      <p:sp>
        <p:nvSpPr>
          <p:cNvPr id="7" name="Text 3"/>
          <p:cNvSpPr txBox="1"/>
          <p:nvPr/>
        </p:nvSpPr>
        <p:spPr>
          <a:xfrm>
            <a:off x="777240" y="3364992"/>
            <a:ext cx="3200400" cy="548640"/>
          </a:xfrm>
          <a:prstGeom prst="rect">
            <a:avLst/>
          </a:prstGeom>
          <a:noFill/>
          <a:ln/>
        </p:spPr>
        <p:txBody>
          <a:bodyPr wrap="square" lIns="0" tIns="0" rIns="0" bIns="0" rtlCol="0" anchor="t"/>
          <a:lstStyle/>
          <a:p>
            <a:pPr indent="0" marL="0">
              <a:lnSpc>
                <a:spcPct val="120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Information Security Analyst Intern</a:t>
            </a:r>
            <a:endParaRPr lang="en-US" sz="950" dirty="0"/>
          </a:p>
        </p:txBody>
      </p:sp>
      <p:sp>
        <p:nvSpPr>
          <p:cNvPr id="8" name="Text 4"/>
          <p:cNvSpPr txBox="1"/>
          <p:nvPr/>
        </p:nvSpPr>
        <p:spPr>
          <a:xfrm>
            <a:off x="5120640" y="868680"/>
            <a:ext cx="6293815" cy="237744"/>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BACKGROUND</a:t>
            </a:r>
            <a:endParaRPr lang="en-US" sz="1000" dirty="0"/>
          </a:p>
        </p:txBody>
      </p:sp>
      <p:sp>
        <p:nvSpPr>
          <p:cNvPr id="9" name="Text 5"/>
          <p:cNvSpPr txBox="1"/>
          <p:nvPr/>
        </p:nvSpPr>
        <p:spPr>
          <a:xfrm>
            <a:off x="5120640" y="1298448"/>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POSITION</a:t>
            </a:r>
            <a:endParaRPr lang="en-US" sz="850" dirty="0"/>
          </a:p>
        </p:txBody>
      </p:sp>
      <p:sp>
        <p:nvSpPr>
          <p:cNvPr id="10" name="Text 6"/>
          <p:cNvSpPr txBox="1"/>
          <p:nvPr/>
        </p:nvSpPr>
        <p:spPr>
          <a:xfrm>
            <a:off x="5120640" y="1545336"/>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Information Security Analyst Intern</a:t>
            </a:r>
            <a:endParaRPr lang="en-US" sz="1250" dirty="0"/>
          </a:p>
        </p:txBody>
      </p:sp>
      <p:sp>
        <p:nvSpPr>
          <p:cNvPr id="11" name="Shape 7"/>
          <p:cNvSpPr/>
          <p:nvPr/>
        </p:nvSpPr>
        <p:spPr>
          <a:xfrm>
            <a:off x="5120640" y="2084832"/>
            <a:ext cx="6293815" cy="10973"/>
          </a:xfrm>
          <a:prstGeom prst="rect">
            <a:avLst/>
          </a:prstGeom>
          <a:solidFill>
            <a:srgbClr val="E6E4E2"/>
          </a:solidFill>
          <a:ln/>
        </p:spPr>
      </p:sp>
      <p:sp>
        <p:nvSpPr>
          <p:cNvPr id="12" name="Text 8"/>
          <p:cNvSpPr txBox="1"/>
          <p:nvPr/>
        </p:nvSpPr>
        <p:spPr>
          <a:xfrm>
            <a:off x="5120640" y="2240280"/>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SCHOOL</a:t>
            </a:r>
            <a:endParaRPr lang="en-US" sz="850" dirty="0"/>
          </a:p>
        </p:txBody>
      </p:sp>
      <p:sp>
        <p:nvSpPr>
          <p:cNvPr id="13" name="Text 9"/>
          <p:cNvSpPr txBox="1"/>
          <p:nvPr/>
        </p:nvSpPr>
        <p:spPr>
          <a:xfrm>
            <a:off x="5120640" y="2487168"/>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Studying cybersecurity, with a focus on offensive security</a:t>
            </a:r>
            <a:endParaRPr lang="en-US" sz="1250" dirty="0"/>
          </a:p>
        </p:txBody>
      </p:sp>
      <p:sp>
        <p:nvSpPr>
          <p:cNvPr id="14" name="Shape 10"/>
          <p:cNvSpPr/>
          <p:nvPr/>
        </p:nvSpPr>
        <p:spPr>
          <a:xfrm>
            <a:off x="5120640" y="3026664"/>
            <a:ext cx="6293815" cy="10973"/>
          </a:xfrm>
          <a:prstGeom prst="rect">
            <a:avLst/>
          </a:prstGeom>
          <a:solidFill>
            <a:srgbClr val="E6E4E2"/>
          </a:solidFill>
          <a:ln/>
        </p:spPr>
      </p:sp>
      <p:sp>
        <p:nvSpPr>
          <p:cNvPr id="15" name="Text 11"/>
          <p:cNvSpPr txBox="1"/>
          <p:nvPr/>
        </p:nvSpPr>
        <p:spPr>
          <a:xfrm>
            <a:off x="5120640" y="3182112"/>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BACKGROUND</a:t>
            </a:r>
            <a:endParaRPr lang="en-US" sz="850" dirty="0"/>
          </a:p>
        </p:txBody>
      </p:sp>
      <p:sp>
        <p:nvSpPr>
          <p:cNvPr id="16" name="Text 12"/>
          <p:cNvSpPr txBox="1"/>
          <p:nvPr/>
        </p:nvSpPr>
        <p:spPr>
          <a:xfrm>
            <a:off x="5120640" y="3429000"/>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Hands-on security work across vulnerability management, application security, and network security</a:t>
            </a:r>
            <a:endParaRPr lang="en-US" sz="1250" dirty="0"/>
          </a:p>
        </p:txBody>
      </p:sp>
      <p:sp>
        <p:nvSpPr>
          <p:cNvPr id="17" name="Shape 13"/>
          <p:cNvSpPr/>
          <p:nvPr/>
        </p:nvSpPr>
        <p:spPr>
          <a:xfrm>
            <a:off x="5120640" y="3968496"/>
            <a:ext cx="6293815" cy="10973"/>
          </a:xfrm>
          <a:prstGeom prst="rect">
            <a:avLst/>
          </a:prstGeom>
          <a:solidFill>
            <a:srgbClr val="E6E4E2"/>
          </a:solidFill>
          <a:ln/>
        </p:spPr>
      </p:sp>
      <p:sp>
        <p:nvSpPr>
          <p:cNvPr id="18" name="Text 14"/>
          <p:cNvSpPr txBox="1"/>
          <p:nvPr/>
        </p:nvSpPr>
        <p:spPr>
          <a:xfrm>
            <a:off x="5120640" y="4123944"/>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CERTIFICATIONS</a:t>
            </a:r>
            <a:endParaRPr lang="en-US" sz="850" dirty="0"/>
          </a:p>
        </p:txBody>
      </p:sp>
      <p:sp>
        <p:nvSpPr>
          <p:cNvPr id="19" name="Text 15"/>
          <p:cNvSpPr txBox="1"/>
          <p:nvPr/>
        </p:nvSpPr>
        <p:spPr>
          <a:xfrm>
            <a:off x="5120640" y="4370832"/>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Working toward the PWPA and PJPT practical certifications</a:t>
            </a:r>
            <a:endParaRPr lang="en-US" sz="1250" dirty="0"/>
          </a:p>
        </p:txBody>
      </p:sp>
      <p:sp>
        <p:nvSpPr>
          <p:cNvPr id="20" name="Shape 16"/>
          <p:cNvSpPr/>
          <p:nvPr/>
        </p:nvSpPr>
        <p:spPr>
          <a:xfrm>
            <a:off x="5120640" y="4910328"/>
            <a:ext cx="6293815" cy="10973"/>
          </a:xfrm>
          <a:prstGeom prst="rect">
            <a:avLst/>
          </a:prstGeom>
          <a:solidFill>
            <a:srgbClr val="E6E4E2"/>
          </a:solidFill>
          <a:ln/>
        </p:spPr>
      </p:sp>
      <p:sp>
        <p:nvSpPr>
          <p:cNvPr id="21" name="Text 17"/>
          <p:cNvSpPr txBox="1"/>
          <p:nvPr/>
        </p:nvSpPr>
        <p:spPr>
          <a:xfrm>
            <a:off x="5120640" y="5065776"/>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CAREER DIRECTION</a:t>
            </a:r>
            <a:endParaRPr lang="en-US" sz="850" dirty="0"/>
          </a:p>
        </p:txBody>
      </p:sp>
      <p:sp>
        <p:nvSpPr>
          <p:cNvPr id="22" name="Text 18"/>
          <p:cNvSpPr txBox="1"/>
          <p:nvPr/>
        </p:nvSpPr>
        <p:spPr>
          <a:xfrm>
            <a:off x="5120640" y="5312664"/>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Penetration testing — finding weaknesses before an attacker does</a:t>
            </a:r>
            <a:endParaRPr lang="en-US" sz="1250" dirty="0"/>
          </a:p>
        </p:txBody>
      </p:sp>
      <p:pic>
        <p:nvPicPr>
          <p:cNvPr id="23" name="Image 2" descr="/home/user/ai/assets/gen/logo-red.png">    </p:cNvPr>
          <p:cNvPicPr>
            <a:picLocks noChangeAspect="1"/>
          </p:cNvPicPr>
          <p:nvPr/>
        </p:nvPicPr>
        <p:blipFill>
          <a:blip r:embed="rId3"/>
          <a:stretch>
            <a:fillRect/>
          </a:stretch>
        </p:blipFill>
        <p:spPr>
          <a:xfrm>
            <a:off x="9768535" y="457200"/>
            <a:ext cx="1645920" cy="166053"/>
          </a:xfrm>
          <a:prstGeom prst="rect">
            <a:avLst/>
          </a:prstGeom>
        </p:spPr>
      </p:pic>
      <p:sp>
        <p:nvSpPr>
          <p:cNvPr id="24" name="Shape 19"/>
          <p:cNvSpPr/>
          <p:nvPr/>
        </p:nvSpPr>
        <p:spPr>
          <a:xfrm>
            <a:off x="5120640" y="6181344"/>
            <a:ext cx="6293815" cy="10973"/>
          </a:xfrm>
          <a:prstGeom prst="rect">
            <a:avLst/>
          </a:prstGeom>
          <a:solidFill>
            <a:srgbClr val="E6E4E2"/>
          </a:solidFill>
          <a:ln/>
        </p:spPr>
      </p:sp>
      <p:sp>
        <p:nvSpPr>
          <p:cNvPr id="25" name="Text 20"/>
          <p:cNvSpPr txBox="1"/>
          <p:nvPr/>
        </p:nvSpPr>
        <p:spPr>
          <a:xfrm>
            <a:off x="51206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ABOUT ME</a:t>
            </a:r>
            <a:endParaRPr lang="en-US" sz="850" dirty="0"/>
          </a:p>
        </p:txBody>
      </p:sp>
      <p:sp>
        <p:nvSpPr>
          <p:cNvPr id="26" name="Text 21"/>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INTERNSHIP OVERVIEW</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rotations across the security team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INTERNSHIP OVERVIEW</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04</a:t>
            </a:r>
            <a:endParaRPr lang="en-US" sz="850" dirty="0"/>
          </a:p>
        </p:txBody>
      </p:sp>
      <p:sp>
        <p:nvSpPr>
          <p:cNvPr id="9" name="Text 6"/>
          <p:cNvSpPr txBox="1"/>
          <p:nvPr/>
        </p:nvSpPr>
        <p:spPr>
          <a:xfrm>
            <a:off x="777240" y="1883664"/>
            <a:ext cx="90525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moved through three different areas of Information Security. Each rotation produced one project.</a:t>
            </a:r>
            <a:endParaRPr lang="en-US" sz="1400" dirty="0"/>
          </a:p>
        </p:txBody>
      </p:sp>
      <p:sp>
        <p:nvSpPr>
          <p:cNvPr id="10" name="Shape 7"/>
          <p:cNvSpPr/>
          <p:nvPr/>
        </p:nvSpPr>
        <p:spPr>
          <a:xfrm>
            <a:off x="777240" y="2852928"/>
            <a:ext cx="10637215" cy="10973"/>
          </a:xfrm>
          <a:prstGeom prst="rect">
            <a:avLst/>
          </a:prstGeom>
          <a:solidFill>
            <a:srgbClr val="C9C6C4"/>
          </a:solidFill>
          <a:ln/>
        </p:spPr>
      </p:sp>
      <p:sp>
        <p:nvSpPr>
          <p:cNvPr id="11" name="Shape 8"/>
          <p:cNvSpPr/>
          <p:nvPr/>
        </p:nvSpPr>
        <p:spPr>
          <a:xfrm>
            <a:off x="1033272" y="2756916"/>
            <a:ext cx="201168" cy="201168"/>
          </a:xfrm>
          <a:prstGeom prst="ellipse">
            <a:avLst/>
          </a:prstGeom>
          <a:solidFill>
            <a:srgbClr val="942838"/>
          </a:solidFill>
          <a:ln w="25400">
            <a:solidFill>
              <a:srgbClr val="FFFFFF"/>
            </a:solidFill>
            <a:prstDash val="solid"/>
          </a:ln>
        </p:spPr>
      </p:sp>
      <p:sp>
        <p:nvSpPr>
          <p:cNvPr id="12" name="Shape 9"/>
          <p:cNvSpPr/>
          <p:nvPr/>
        </p:nvSpPr>
        <p:spPr>
          <a:xfrm>
            <a:off x="777240"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177800" dist="44450" dir="5400000">
              <a:srgbClr val="959092">
                <a:alpha val="22000"/>
              </a:srgbClr>
            </a:outerShdw>
          </a:effectLst>
        </p:spPr>
      </p:sp>
      <p:sp>
        <p:nvSpPr>
          <p:cNvPr id="13" name="Shape 10"/>
          <p:cNvSpPr/>
          <p:nvPr/>
        </p:nvSpPr>
        <p:spPr>
          <a:xfrm>
            <a:off x="777240" y="3310128"/>
            <a:ext cx="3310128" cy="50292"/>
          </a:xfrm>
          <a:prstGeom prst="rect">
            <a:avLst/>
          </a:prstGeom>
          <a:solidFill>
            <a:srgbClr val="942838"/>
          </a:solidFill>
          <a:ln/>
        </p:spPr>
      </p:sp>
      <p:sp>
        <p:nvSpPr>
          <p:cNvPr id="14" name="Text 11"/>
          <p:cNvSpPr txBox="1"/>
          <p:nvPr/>
        </p:nvSpPr>
        <p:spPr>
          <a:xfrm>
            <a:off x="1088136"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01</a:t>
            </a:r>
            <a:endParaRPr lang="en-US" sz="2400" dirty="0"/>
          </a:p>
        </p:txBody>
      </p:sp>
      <p:sp>
        <p:nvSpPr>
          <p:cNvPr id="15" name="Text 12"/>
          <p:cNvSpPr txBox="1"/>
          <p:nvPr/>
        </p:nvSpPr>
        <p:spPr>
          <a:xfrm>
            <a:off x="1088136"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Vulnerability Management</a:t>
            </a:r>
            <a:endParaRPr lang="en-US" sz="1500" dirty="0"/>
          </a:p>
        </p:txBody>
      </p:sp>
      <p:sp>
        <p:nvSpPr>
          <p:cNvPr id="16" name="Text 13"/>
          <p:cNvSpPr txBox="1"/>
          <p:nvPr/>
        </p:nvSpPr>
        <p:spPr>
          <a:xfrm>
            <a:off x="1088136"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Finding known weaknesses across company machines and making sure they actually get fixed.</a:t>
            </a:r>
            <a:endParaRPr lang="en-US" sz="1100" dirty="0"/>
          </a:p>
        </p:txBody>
      </p:sp>
      <p:sp>
        <p:nvSpPr>
          <p:cNvPr id="17" name="Shape 14"/>
          <p:cNvSpPr/>
          <p:nvPr/>
        </p:nvSpPr>
        <p:spPr>
          <a:xfrm>
            <a:off x="4696816" y="2756916"/>
            <a:ext cx="201168" cy="201168"/>
          </a:xfrm>
          <a:prstGeom prst="ellipse">
            <a:avLst/>
          </a:prstGeom>
          <a:solidFill>
            <a:srgbClr val="942838"/>
          </a:solidFill>
          <a:ln w="25400">
            <a:solidFill>
              <a:srgbClr val="FFFFFF"/>
            </a:solidFill>
            <a:prstDash val="solid"/>
          </a:ln>
        </p:spPr>
      </p:sp>
      <p:sp>
        <p:nvSpPr>
          <p:cNvPr id="18" name="Shape 15"/>
          <p:cNvSpPr/>
          <p:nvPr/>
        </p:nvSpPr>
        <p:spPr>
          <a:xfrm>
            <a:off x="4440784"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258060000" dist="564515000" dir="324000000000">
              <a:srgbClr val="959092">
                <a:alpha val="2200000000"/>
              </a:srgbClr>
            </a:outerShdw>
          </a:effectLst>
        </p:spPr>
      </p:sp>
      <p:sp>
        <p:nvSpPr>
          <p:cNvPr id="19" name="Shape 16"/>
          <p:cNvSpPr/>
          <p:nvPr/>
        </p:nvSpPr>
        <p:spPr>
          <a:xfrm>
            <a:off x="4440784" y="3310128"/>
            <a:ext cx="3310128" cy="50292"/>
          </a:xfrm>
          <a:prstGeom prst="rect">
            <a:avLst/>
          </a:prstGeom>
          <a:solidFill>
            <a:srgbClr val="942838"/>
          </a:solidFill>
          <a:ln/>
        </p:spPr>
      </p:sp>
      <p:sp>
        <p:nvSpPr>
          <p:cNvPr id="20" name="Text 17"/>
          <p:cNvSpPr txBox="1"/>
          <p:nvPr/>
        </p:nvSpPr>
        <p:spPr>
          <a:xfrm>
            <a:off x="4751680"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02</a:t>
            </a:r>
            <a:endParaRPr lang="en-US" sz="2400" dirty="0"/>
          </a:p>
        </p:txBody>
      </p:sp>
      <p:sp>
        <p:nvSpPr>
          <p:cNvPr id="21" name="Text 18"/>
          <p:cNvSpPr txBox="1"/>
          <p:nvPr/>
        </p:nvSpPr>
        <p:spPr>
          <a:xfrm>
            <a:off x="4751680"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Application Security</a:t>
            </a:r>
            <a:endParaRPr lang="en-US" sz="1500" dirty="0"/>
          </a:p>
        </p:txBody>
      </p:sp>
      <p:sp>
        <p:nvSpPr>
          <p:cNvPr id="22" name="Text 19"/>
          <p:cNvSpPr txBox="1"/>
          <p:nvPr/>
        </p:nvSpPr>
        <p:spPr>
          <a:xfrm>
            <a:off x="4751680"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Checking the software we build and the outside code we rely on for weaknesses.</a:t>
            </a:r>
            <a:endParaRPr lang="en-US" sz="1100" dirty="0"/>
          </a:p>
        </p:txBody>
      </p:sp>
      <p:sp>
        <p:nvSpPr>
          <p:cNvPr id="23" name="Shape 20"/>
          <p:cNvSpPr/>
          <p:nvPr/>
        </p:nvSpPr>
        <p:spPr>
          <a:xfrm>
            <a:off x="8360359" y="2756916"/>
            <a:ext cx="201168" cy="201168"/>
          </a:xfrm>
          <a:prstGeom prst="ellipse">
            <a:avLst/>
          </a:prstGeom>
          <a:solidFill>
            <a:srgbClr val="942838"/>
          </a:solidFill>
          <a:ln w="25400">
            <a:solidFill>
              <a:srgbClr val="FFFFFF"/>
            </a:solidFill>
            <a:prstDash val="solid"/>
          </a:ln>
        </p:spPr>
      </p:sp>
      <p:sp>
        <p:nvSpPr>
          <p:cNvPr id="24" name="Shape 21"/>
          <p:cNvSpPr/>
          <p:nvPr/>
        </p:nvSpPr>
        <p:spPr>
          <a:xfrm>
            <a:off x="8104327"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8677362000000" dist="7169340500000" dir="19440000000000000">
              <a:srgbClr val="959092">
                <a:alpha val="220000000000000"/>
              </a:srgbClr>
            </a:outerShdw>
          </a:effectLst>
        </p:spPr>
      </p:sp>
      <p:sp>
        <p:nvSpPr>
          <p:cNvPr id="25" name="Shape 22"/>
          <p:cNvSpPr/>
          <p:nvPr/>
        </p:nvSpPr>
        <p:spPr>
          <a:xfrm>
            <a:off x="8104327" y="3310128"/>
            <a:ext cx="3310128" cy="50292"/>
          </a:xfrm>
          <a:prstGeom prst="rect">
            <a:avLst/>
          </a:prstGeom>
          <a:solidFill>
            <a:srgbClr val="942838"/>
          </a:solidFill>
          <a:ln/>
        </p:spPr>
      </p:sp>
      <p:sp>
        <p:nvSpPr>
          <p:cNvPr id="26" name="Text 23"/>
          <p:cNvSpPr txBox="1"/>
          <p:nvPr/>
        </p:nvSpPr>
        <p:spPr>
          <a:xfrm>
            <a:off x="8415223"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03</a:t>
            </a:r>
            <a:endParaRPr lang="en-US" sz="2400" dirty="0"/>
          </a:p>
        </p:txBody>
      </p:sp>
      <p:sp>
        <p:nvSpPr>
          <p:cNvPr id="27" name="Text 24"/>
          <p:cNvSpPr txBox="1"/>
          <p:nvPr/>
        </p:nvSpPr>
        <p:spPr>
          <a:xfrm>
            <a:off x="8415223"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Network Security</a:t>
            </a:r>
            <a:endParaRPr lang="en-US" sz="1500" dirty="0"/>
          </a:p>
        </p:txBody>
      </p:sp>
      <p:sp>
        <p:nvSpPr>
          <p:cNvPr id="28" name="Text 25"/>
          <p:cNvSpPr txBox="1"/>
          <p:nvPr/>
        </p:nvSpPr>
        <p:spPr>
          <a:xfrm>
            <a:off x="8415223"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Protecting how machines talk to each other, and what is allowed in and out.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EXECUTIVE SUMMARY</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problems, three working solutions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EXECUTIVE SUMMARY</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05</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One from each rotation. Three separate gaps, three things the team keeps using — then the detail on each.</a:t>
            </a:r>
            <a:endParaRPr lang="en-US" sz="1400" dirty="0"/>
          </a:p>
        </p:txBody>
      </p:sp>
      <p:sp>
        <p:nvSpPr>
          <p:cNvPr id="10" name="Text 7"/>
          <p:cNvSpPr txBox="1"/>
          <p:nvPr/>
        </p:nvSpPr>
        <p:spPr>
          <a:xfrm>
            <a:off x="777240" y="2487168"/>
            <a:ext cx="3200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PROBLEM</a:t>
            </a:r>
            <a:endParaRPr lang="en-US" sz="850" dirty="0"/>
          </a:p>
        </p:txBody>
      </p:sp>
      <p:sp>
        <p:nvSpPr>
          <p:cNvPr id="11" name="Text 8"/>
          <p:cNvSpPr txBox="1"/>
          <p:nvPr/>
        </p:nvSpPr>
        <p:spPr>
          <a:xfrm>
            <a:off x="4224528" y="2487168"/>
            <a:ext cx="36576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BUILT</a:t>
            </a:r>
            <a:endParaRPr lang="en-US" sz="850" dirty="0"/>
          </a:p>
        </p:txBody>
      </p:sp>
      <p:sp>
        <p:nvSpPr>
          <p:cNvPr id="12" name="Text 9"/>
          <p:cNvSpPr txBox="1"/>
          <p:nvPr/>
        </p:nvSpPr>
        <p:spPr>
          <a:xfrm>
            <a:off x="8101584" y="2487168"/>
            <a:ext cx="3312871"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PROOF</a:t>
            </a:r>
            <a:endParaRPr lang="en-US" sz="850" dirty="0"/>
          </a:p>
        </p:txBody>
      </p:sp>
      <p:sp>
        <p:nvSpPr>
          <p:cNvPr id="13" name="Shape 10"/>
          <p:cNvSpPr/>
          <p:nvPr/>
        </p:nvSpPr>
        <p:spPr>
          <a:xfrm>
            <a:off x="777240" y="2743200"/>
            <a:ext cx="10637215" cy="10973"/>
          </a:xfrm>
          <a:prstGeom prst="rect">
            <a:avLst/>
          </a:prstGeom>
          <a:solidFill>
            <a:srgbClr val="E6E4E2"/>
          </a:solidFill>
          <a:ln/>
        </p:spPr>
      </p:sp>
      <p:sp>
        <p:nvSpPr>
          <p:cNvPr id="14" name="Text 11"/>
          <p:cNvSpPr txBox="1"/>
          <p:nvPr/>
        </p:nvSpPr>
        <p:spPr>
          <a:xfrm>
            <a:off x="777240" y="2889504"/>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New machines could ship without the security tools they need.</a:t>
            </a:r>
            <a:endParaRPr lang="en-US" sz="1100" dirty="0"/>
          </a:p>
        </p:txBody>
      </p:sp>
      <p:sp>
        <p:nvSpPr>
          <p:cNvPr id="15" name="Text 12"/>
          <p:cNvSpPr txBox="1"/>
          <p:nvPr/>
        </p:nvSpPr>
        <p:spPr>
          <a:xfrm>
            <a:off x="4224528" y="2889504"/>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written framework naming all nine required tools and who owns each.</a:t>
            </a:r>
            <a:endParaRPr lang="en-US" sz="1100" dirty="0"/>
          </a:p>
        </p:txBody>
      </p:sp>
      <p:sp>
        <p:nvSpPr>
          <p:cNvPr id="16" name="Shape 13"/>
          <p:cNvSpPr/>
          <p:nvPr/>
        </p:nvSpPr>
        <p:spPr>
          <a:xfrm>
            <a:off x="7918704" y="2779776"/>
            <a:ext cx="3495751" cy="859536"/>
          </a:xfrm>
          <a:prstGeom prst="roundRect">
            <a:avLst>
              <a:gd name="adj" fmla="val 5319"/>
            </a:avLst>
          </a:prstGeom>
          <a:solidFill>
            <a:srgbClr val="F6EEF0"/>
          </a:solidFill>
          <a:ln/>
        </p:spPr>
      </p:sp>
      <p:sp>
        <p:nvSpPr>
          <p:cNvPr id="17" name="Text 14"/>
          <p:cNvSpPr txBox="1"/>
          <p:nvPr/>
        </p:nvSpPr>
        <p:spPr>
          <a:xfrm>
            <a:off x="8101584" y="2779776"/>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Drafted and staged for Q4 sign-off</a:t>
            </a:r>
            <a:endParaRPr lang="en-US" sz="1100" dirty="0"/>
          </a:p>
        </p:txBody>
      </p:sp>
      <p:sp>
        <p:nvSpPr>
          <p:cNvPr id="18" name="Shape 15"/>
          <p:cNvSpPr/>
          <p:nvPr/>
        </p:nvSpPr>
        <p:spPr>
          <a:xfrm>
            <a:off x="777240" y="3858768"/>
            <a:ext cx="10637215" cy="10973"/>
          </a:xfrm>
          <a:prstGeom prst="rect">
            <a:avLst/>
          </a:prstGeom>
          <a:solidFill>
            <a:srgbClr val="E6E4E2"/>
          </a:solidFill>
          <a:ln/>
        </p:spPr>
      </p:sp>
      <p:sp>
        <p:nvSpPr>
          <p:cNvPr id="19" name="Text 16"/>
          <p:cNvSpPr txBox="1"/>
          <p:nvPr/>
        </p:nvSpPr>
        <p:spPr>
          <a:xfrm>
            <a:off x="777240" y="4023360"/>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Attackers hide malicious code inside the open-source packages we depend on.</a:t>
            </a:r>
            <a:endParaRPr lang="en-US" sz="1100" dirty="0"/>
          </a:p>
        </p:txBody>
      </p:sp>
      <p:sp>
        <p:nvSpPr>
          <p:cNvPr id="20" name="Text 17"/>
          <p:cNvSpPr txBox="1"/>
          <p:nvPr/>
        </p:nvSpPr>
        <p:spPr>
          <a:xfrm>
            <a:off x="4224528" y="4023360"/>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AEGIS — a scanner that checks whether our code actually reaches the flaw.</a:t>
            </a:r>
            <a:endParaRPr lang="en-US" sz="1100" dirty="0"/>
          </a:p>
        </p:txBody>
      </p:sp>
      <p:sp>
        <p:nvSpPr>
          <p:cNvPr id="21" name="Shape 18"/>
          <p:cNvSpPr/>
          <p:nvPr/>
        </p:nvSpPr>
        <p:spPr>
          <a:xfrm>
            <a:off x="7918704" y="3913632"/>
            <a:ext cx="3495751" cy="859536"/>
          </a:xfrm>
          <a:prstGeom prst="roundRect">
            <a:avLst>
              <a:gd name="adj" fmla="val 5319"/>
            </a:avLst>
          </a:prstGeom>
          <a:solidFill>
            <a:srgbClr val="F6EEF0"/>
          </a:solidFill>
          <a:ln/>
        </p:spPr>
      </p:sp>
      <p:sp>
        <p:nvSpPr>
          <p:cNvPr id="22" name="Text 19"/>
          <p:cNvSpPr txBox="1"/>
          <p:nvPr/>
        </p:nvSpPr>
        <p:spPr>
          <a:xfrm>
            <a:off x="8101584" y="3913632"/>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1,518 packages scanned in a real Stewart repository, down to one upgrade</a:t>
            </a:r>
            <a:endParaRPr lang="en-US" sz="1100" dirty="0"/>
          </a:p>
        </p:txBody>
      </p:sp>
      <p:sp>
        <p:nvSpPr>
          <p:cNvPr id="23" name="Shape 20"/>
          <p:cNvSpPr/>
          <p:nvPr/>
        </p:nvSpPr>
        <p:spPr>
          <a:xfrm>
            <a:off x="777240" y="4992624"/>
            <a:ext cx="10637215" cy="10973"/>
          </a:xfrm>
          <a:prstGeom prst="rect">
            <a:avLst/>
          </a:prstGeom>
          <a:solidFill>
            <a:srgbClr val="E6E4E2"/>
          </a:solidFill>
          <a:ln/>
        </p:spPr>
      </p:sp>
      <p:sp>
        <p:nvSpPr>
          <p:cNvPr id="24" name="Text 21"/>
          <p:cNvSpPr txBox="1"/>
          <p:nvPr/>
        </p:nvSpPr>
        <p:spPr>
          <a:xfrm>
            <a:off x="777240" y="5157216"/>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Matching every tracked flaw to its patch took about two days of analyst time.</a:t>
            </a:r>
            <a:endParaRPr lang="en-US" sz="1100" dirty="0"/>
          </a:p>
        </p:txBody>
      </p:sp>
      <p:sp>
        <p:nvSpPr>
          <p:cNvPr id="25" name="Text 22"/>
          <p:cNvSpPr txBox="1"/>
          <p:nvPr/>
        </p:nvSpPr>
        <p:spPr>
          <a:xfrm>
            <a:off x="4224528" y="5157216"/>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script that does the matching automatically, then consolidates the result.</a:t>
            </a:r>
            <a:endParaRPr lang="en-US" sz="1100" dirty="0"/>
          </a:p>
        </p:txBody>
      </p:sp>
      <p:sp>
        <p:nvSpPr>
          <p:cNvPr id="26" name="Shape 23"/>
          <p:cNvSpPr/>
          <p:nvPr/>
        </p:nvSpPr>
        <p:spPr>
          <a:xfrm>
            <a:off x="7918704" y="5047488"/>
            <a:ext cx="3495751" cy="859536"/>
          </a:xfrm>
          <a:prstGeom prst="roundRect">
            <a:avLst>
              <a:gd name="adj" fmla="val 5319"/>
            </a:avLst>
          </a:prstGeom>
          <a:solidFill>
            <a:srgbClr val="F6EEF0"/>
          </a:solidFill>
          <a:ln/>
        </p:spPr>
      </p:sp>
      <p:sp>
        <p:nvSpPr>
          <p:cNvPr id="27" name="Text 24"/>
          <p:cNvSpPr txBox="1"/>
          <p:nvPr/>
        </p:nvSpPr>
        <p:spPr>
          <a:xfrm>
            <a:off x="8101584" y="5047488"/>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117 matched in ~12 sec; 209 rows became 46 tickets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01</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01</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Image Management Program</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Making sure every new machine ships with the security tools it needs — and that nobody can skip the step.</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01</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Nine required tools. No process to install them.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07</a:t>
            </a:r>
            <a:endParaRPr lang="en-US" sz="850" dirty="0"/>
          </a:p>
        </p:txBody>
      </p:sp>
      <p:sp>
        <p:nvSpPr>
          <p:cNvPr id="9" name="Text 6"/>
          <p:cNvSpPr txBox="1"/>
          <p:nvPr/>
        </p:nvSpPr>
        <p:spPr>
          <a:xfrm>
            <a:off x="777240" y="2029968"/>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A </a:t>
            </a:r>
            <a:pPr indent="0" marL="0">
              <a:buNone/>
            </a:pPr>
            <a:r>
              <a:rPr lang="en-US" sz="1400" dirty="0">
                <a:solidFill>
                  <a:srgbClr val="2B2D30"/>
                </a:solidFill>
                <a:latin typeface="Montserrat SemiBold" pitchFamily="34" charset="0"/>
                <a:ea typeface="Montserrat SemiBold" pitchFamily="34" charset="-122"/>
                <a:cs typeface="Montserrat SemiBold" pitchFamily="34" charset="-120"/>
              </a:rPr>
              <a:t>Golden Image</a:t>
            </a:r>
            <a:pPr indent="0" marL="0">
              <a:buNone/>
            </a:pPr>
            <a:r>
              <a:rPr lang="en-US" sz="1400" dirty="0">
                <a:solidFill>
                  <a:srgbClr val="6E7175"/>
                </a:solidFill>
                <a:latin typeface="Montserrat Medium" pitchFamily="34" charset="0"/>
                <a:ea typeface="Montserrat Medium" pitchFamily="34" charset="-122"/>
                <a:cs typeface="Montserrat Medium" pitchFamily="34" charset="-120"/>
              </a:rPr>
              <a:t> is the standard template every new virtual machine is built from — set it up once, and every machine created afterwards inherits it.</a:t>
            </a:r>
            <a:endParaRPr lang="en-US" sz="1400" dirty="0"/>
          </a:p>
        </p:txBody>
      </p:sp>
      <p:pic>
        <p:nvPicPr>
          <p:cNvPr id="10" name="Image 1" descr="/home/user/ai/assets/gen/iso-machine.png">    </p:cNvPr>
          <p:cNvPicPr>
            <a:picLocks noChangeAspect="1"/>
          </p:cNvPicPr>
          <p:nvPr/>
        </p:nvPicPr>
        <p:blipFill>
          <a:blip r:embed="rId2"/>
          <a:stretch>
            <a:fillRect/>
          </a:stretch>
        </p:blipFill>
        <p:spPr>
          <a:xfrm>
            <a:off x="640080" y="2505456"/>
            <a:ext cx="3108960" cy="3017520"/>
          </a:xfrm>
          <a:prstGeom prst="rect">
            <a:avLst/>
          </a:prstGeom>
        </p:spPr>
      </p:pic>
      <p:sp>
        <p:nvSpPr>
          <p:cNvPr id="11" name="Text 7"/>
          <p:cNvSpPr txBox="1"/>
          <p:nvPr/>
        </p:nvSpPr>
        <p:spPr>
          <a:xfrm>
            <a:off x="594360" y="5577840"/>
            <a:ext cx="3200400"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Each layer is security tooling the image should carry before it is ever deployed.</a:t>
            </a:r>
            <a:endParaRPr lang="en-US" sz="950" dirty="0"/>
          </a:p>
        </p:txBody>
      </p:sp>
      <p:sp>
        <p:nvSpPr>
          <p:cNvPr id="12" name="Text 8"/>
          <p:cNvSpPr txBox="1"/>
          <p:nvPr/>
        </p:nvSpPr>
        <p:spPr>
          <a:xfrm>
            <a:off x="4224528" y="2578608"/>
            <a:ext cx="7223760"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NINE REQUIRED TOOLS</a:t>
            </a:r>
            <a:endParaRPr lang="en-US" sz="850" dirty="0"/>
          </a:p>
        </p:txBody>
      </p:sp>
      <p:sp>
        <p:nvSpPr>
          <p:cNvPr id="13" name="Shape 9"/>
          <p:cNvSpPr/>
          <p:nvPr/>
        </p:nvSpPr>
        <p:spPr>
          <a:xfrm>
            <a:off x="4224528"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14300" dist="25400" dir="5400000">
              <a:srgbClr val="959092">
                <a:alpha val="16000"/>
              </a:srgbClr>
            </a:outerShdw>
          </a:effectLst>
        </p:spPr>
      </p:sp>
      <p:sp>
        <p:nvSpPr>
          <p:cNvPr id="14" name="Shape 10"/>
          <p:cNvSpPr/>
          <p:nvPr/>
        </p:nvSpPr>
        <p:spPr>
          <a:xfrm>
            <a:off x="4224528" y="2926080"/>
            <a:ext cx="45720" cy="530352"/>
          </a:xfrm>
          <a:prstGeom prst="rect">
            <a:avLst/>
          </a:prstGeom>
          <a:solidFill>
            <a:srgbClr val="942838"/>
          </a:solidFill>
          <a:ln/>
        </p:spPr>
      </p:sp>
      <p:sp>
        <p:nvSpPr>
          <p:cNvPr id="15" name="Text 11"/>
          <p:cNvSpPr txBox="1"/>
          <p:nvPr/>
        </p:nvSpPr>
        <p:spPr>
          <a:xfrm>
            <a:off x="4398264"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Tenable Nessus Agent</a:t>
            </a:r>
            <a:endParaRPr lang="en-US" sz="1050" dirty="0"/>
          </a:p>
        </p:txBody>
      </p:sp>
      <p:sp>
        <p:nvSpPr>
          <p:cNvPr id="16" name="Shape 12"/>
          <p:cNvSpPr/>
          <p:nvPr/>
        </p:nvSpPr>
        <p:spPr>
          <a:xfrm>
            <a:off x="6620256"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451610000" dist="322580000" dir="324000000000">
              <a:srgbClr val="959092">
                <a:alpha val="1600000000"/>
              </a:srgbClr>
            </a:outerShdw>
          </a:effectLst>
        </p:spPr>
      </p:sp>
      <p:sp>
        <p:nvSpPr>
          <p:cNvPr id="17" name="Shape 13"/>
          <p:cNvSpPr/>
          <p:nvPr/>
        </p:nvSpPr>
        <p:spPr>
          <a:xfrm>
            <a:off x="6620256" y="2926080"/>
            <a:ext cx="45720" cy="530352"/>
          </a:xfrm>
          <a:prstGeom prst="rect">
            <a:avLst/>
          </a:prstGeom>
          <a:solidFill>
            <a:srgbClr val="942838"/>
          </a:solidFill>
          <a:ln/>
        </p:spPr>
      </p:sp>
      <p:sp>
        <p:nvSpPr>
          <p:cNvPr id="18" name="Text 14"/>
          <p:cNvSpPr txBox="1"/>
          <p:nvPr/>
        </p:nvSpPr>
        <p:spPr>
          <a:xfrm>
            <a:off x="6793992"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CrowdStrike Falcon Sensor</a:t>
            </a:r>
            <a:endParaRPr lang="en-US" sz="1050" dirty="0"/>
          </a:p>
        </p:txBody>
      </p:sp>
      <p:sp>
        <p:nvSpPr>
          <p:cNvPr id="19" name="Shape 15"/>
          <p:cNvSpPr/>
          <p:nvPr/>
        </p:nvSpPr>
        <p:spPr>
          <a:xfrm>
            <a:off x="9015984"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8435447000000" dist="4096766000000" dir="19440000000000000">
              <a:srgbClr val="959092">
                <a:alpha val="160000000000000"/>
              </a:srgbClr>
            </a:outerShdw>
          </a:effectLst>
        </p:spPr>
      </p:sp>
      <p:sp>
        <p:nvSpPr>
          <p:cNvPr id="20" name="Shape 16"/>
          <p:cNvSpPr/>
          <p:nvPr/>
        </p:nvSpPr>
        <p:spPr>
          <a:xfrm>
            <a:off x="9015984" y="2926080"/>
            <a:ext cx="45720" cy="530352"/>
          </a:xfrm>
          <a:prstGeom prst="rect">
            <a:avLst/>
          </a:prstGeom>
          <a:solidFill>
            <a:srgbClr val="942838"/>
          </a:solidFill>
          <a:ln/>
        </p:spPr>
      </p:sp>
      <p:sp>
        <p:nvSpPr>
          <p:cNvPr id="21" name="Text 17"/>
          <p:cNvSpPr txBox="1"/>
          <p:nvPr/>
        </p:nvSpPr>
        <p:spPr>
          <a:xfrm>
            <a:off x="9189720"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Netskope</a:t>
            </a:r>
            <a:endParaRPr lang="en-US" sz="1050" dirty="0"/>
          </a:p>
        </p:txBody>
      </p:sp>
      <p:sp>
        <p:nvSpPr>
          <p:cNvPr id="22" name="Shape 18"/>
          <p:cNvSpPr/>
          <p:nvPr/>
        </p:nvSpPr>
        <p:spPr>
          <a:xfrm>
            <a:off x="4224528"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34130176900000000" dist="52028928200000000" dir="1.1664e+21">
              <a:srgbClr val="959092">
                <a:alpha val="16000000000000000000"/>
              </a:srgbClr>
            </a:outerShdw>
          </a:effectLst>
        </p:spPr>
      </p:sp>
      <p:sp>
        <p:nvSpPr>
          <p:cNvPr id="23" name="Shape 19"/>
          <p:cNvSpPr/>
          <p:nvPr/>
        </p:nvSpPr>
        <p:spPr>
          <a:xfrm>
            <a:off x="4224528" y="3611880"/>
            <a:ext cx="45720" cy="530352"/>
          </a:xfrm>
          <a:prstGeom prst="rect">
            <a:avLst/>
          </a:prstGeom>
          <a:solidFill>
            <a:srgbClr val="942838"/>
          </a:solidFill>
          <a:ln/>
        </p:spPr>
      </p:sp>
      <p:sp>
        <p:nvSpPr>
          <p:cNvPr id="24" name="Text 20"/>
          <p:cNvSpPr txBox="1"/>
          <p:nvPr/>
        </p:nvSpPr>
        <p:spPr>
          <a:xfrm>
            <a:off x="4398264"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Cribl</a:t>
            </a:r>
            <a:endParaRPr lang="en-US" sz="1050" dirty="0"/>
          </a:p>
        </p:txBody>
      </p:sp>
      <p:sp>
        <p:nvSpPr>
          <p:cNvPr id="25" name="Shape 21"/>
          <p:cNvSpPr/>
          <p:nvPr/>
        </p:nvSpPr>
        <p:spPr>
          <a:xfrm>
            <a:off x="6620256"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97345324663e+21" dist="660767388140000000000" dir="6.9984e+25">
              <a:srgbClr val="959092">
                <a:alpha val="1.6e+24"/>
              </a:srgbClr>
            </a:outerShdw>
          </a:effectLst>
        </p:spPr>
      </p:sp>
      <p:sp>
        <p:nvSpPr>
          <p:cNvPr id="26" name="Shape 22"/>
          <p:cNvSpPr/>
          <p:nvPr/>
        </p:nvSpPr>
        <p:spPr>
          <a:xfrm>
            <a:off x="6620256" y="3611880"/>
            <a:ext cx="45720" cy="530352"/>
          </a:xfrm>
          <a:prstGeom prst="rect">
            <a:avLst/>
          </a:prstGeom>
          <a:solidFill>
            <a:srgbClr val="942838"/>
          </a:solidFill>
          <a:ln/>
        </p:spPr>
      </p:sp>
      <p:sp>
        <p:nvSpPr>
          <p:cNvPr id="27" name="Text 23"/>
          <p:cNvSpPr txBox="1"/>
          <p:nvPr/>
        </p:nvSpPr>
        <p:spPr>
          <a:xfrm>
            <a:off x="6793992"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Splunk</a:t>
            </a:r>
            <a:endParaRPr lang="en-US" sz="1050" dirty="0"/>
          </a:p>
        </p:txBody>
      </p:sp>
      <p:sp>
        <p:nvSpPr>
          <p:cNvPr id="28" name="Shape 24"/>
          <p:cNvSpPr/>
          <p:nvPr/>
        </p:nvSpPr>
        <p:spPr>
          <a:xfrm>
            <a:off x="9015984"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3.7762856232201e+25" dist="8.391745829378e+24" dir="4.19904e+30">
              <a:srgbClr val="959092">
                <a:alpha val="1.6e+29"/>
              </a:srgbClr>
            </a:outerShdw>
          </a:effectLst>
        </p:spPr>
      </p:sp>
      <p:sp>
        <p:nvSpPr>
          <p:cNvPr id="29" name="Shape 25"/>
          <p:cNvSpPr/>
          <p:nvPr/>
        </p:nvSpPr>
        <p:spPr>
          <a:xfrm>
            <a:off x="9015984" y="3611880"/>
            <a:ext cx="45720" cy="530352"/>
          </a:xfrm>
          <a:prstGeom prst="rect">
            <a:avLst/>
          </a:prstGeom>
          <a:solidFill>
            <a:srgbClr val="942838"/>
          </a:solidFill>
          <a:ln/>
        </p:spPr>
      </p:sp>
      <p:sp>
        <p:nvSpPr>
          <p:cNvPr id="30" name="Text 26"/>
          <p:cNvSpPr txBox="1"/>
          <p:nvPr/>
        </p:nvSpPr>
        <p:spPr>
          <a:xfrm>
            <a:off x="9189720"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ThreatLocker</a:t>
            </a:r>
            <a:endParaRPr lang="en-US" sz="1050" dirty="0"/>
          </a:p>
        </p:txBody>
      </p:sp>
      <p:sp>
        <p:nvSpPr>
          <p:cNvPr id="31" name="Shape 27"/>
          <p:cNvSpPr/>
          <p:nvPr/>
        </p:nvSpPr>
        <p:spPr>
          <a:xfrm>
            <a:off x="4224528"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4.795882741489527e+29" dist="1.0657517203310059e+29" dir="2.519424e+35">
              <a:srgbClr val="959092">
                <a:alpha val="1.6e+34"/>
              </a:srgbClr>
            </a:outerShdw>
          </a:effectLst>
        </p:spPr>
      </p:sp>
      <p:sp>
        <p:nvSpPr>
          <p:cNvPr id="32" name="Shape 28"/>
          <p:cNvSpPr/>
          <p:nvPr/>
        </p:nvSpPr>
        <p:spPr>
          <a:xfrm>
            <a:off x="4224528" y="4297680"/>
            <a:ext cx="45720" cy="530352"/>
          </a:xfrm>
          <a:prstGeom prst="rect">
            <a:avLst/>
          </a:prstGeom>
          <a:solidFill>
            <a:srgbClr val="942838"/>
          </a:solidFill>
          <a:ln/>
        </p:spPr>
      </p:sp>
      <p:sp>
        <p:nvSpPr>
          <p:cNvPr id="33" name="Text 29"/>
          <p:cNvSpPr txBox="1"/>
          <p:nvPr/>
        </p:nvSpPr>
        <p:spPr>
          <a:xfrm>
            <a:off x="4398264"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Proofpoint DLP Agent</a:t>
            </a:r>
            <a:endParaRPr lang="en-US" sz="1050" dirty="0"/>
          </a:p>
        </p:txBody>
      </p:sp>
      <p:sp>
        <p:nvSpPr>
          <p:cNvPr id="34" name="Shape 30"/>
          <p:cNvSpPr/>
          <p:nvPr/>
        </p:nvSpPr>
        <p:spPr>
          <a:xfrm>
            <a:off x="6620256"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6.090771081691699e+33" dist="1.3535046848203775e+33" dir="1.5116544e+40">
              <a:srgbClr val="959092">
                <a:alpha val="1.6e+39"/>
              </a:srgbClr>
            </a:outerShdw>
          </a:effectLst>
        </p:spPr>
      </p:sp>
      <p:sp>
        <p:nvSpPr>
          <p:cNvPr id="35" name="Shape 31"/>
          <p:cNvSpPr/>
          <p:nvPr/>
        </p:nvSpPr>
        <p:spPr>
          <a:xfrm>
            <a:off x="6620256" y="4297680"/>
            <a:ext cx="45720" cy="530352"/>
          </a:xfrm>
          <a:prstGeom prst="rect">
            <a:avLst/>
          </a:prstGeom>
          <a:solidFill>
            <a:srgbClr val="942838"/>
          </a:solidFill>
          <a:ln/>
        </p:spPr>
      </p:sp>
      <p:sp>
        <p:nvSpPr>
          <p:cNvPr id="36" name="Text 32"/>
          <p:cNvSpPr txBox="1"/>
          <p:nvPr/>
        </p:nvSpPr>
        <p:spPr>
          <a:xfrm>
            <a:off x="6793992"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SCCM Agent</a:t>
            </a:r>
            <a:endParaRPr lang="en-US" sz="1050" dirty="0"/>
          </a:p>
        </p:txBody>
      </p:sp>
      <p:sp>
        <p:nvSpPr>
          <p:cNvPr id="37" name="Shape 33"/>
          <p:cNvSpPr/>
          <p:nvPr/>
        </p:nvSpPr>
        <p:spPr>
          <a:xfrm>
            <a:off x="9015984"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7.735279273748459e+37" dist="1.7189509497218795e+37" dir="9.069926400000001e+44">
              <a:srgbClr val="959092">
                <a:alpha val="1.6e+44"/>
              </a:srgbClr>
            </a:outerShdw>
          </a:effectLst>
        </p:spPr>
      </p:sp>
      <p:sp>
        <p:nvSpPr>
          <p:cNvPr id="38" name="Shape 34"/>
          <p:cNvSpPr/>
          <p:nvPr/>
        </p:nvSpPr>
        <p:spPr>
          <a:xfrm>
            <a:off x="9015984" y="4297680"/>
            <a:ext cx="45720" cy="530352"/>
          </a:xfrm>
          <a:prstGeom prst="rect">
            <a:avLst/>
          </a:prstGeom>
          <a:solidFill>
            <a:srgbClr val="942838"/>
          </a:solidFill>
          <a:ln/>
        </p:spPr>
      </p:sp>
      <p:sp>
        <p:nvSpPr>
          <p:cNvPr id="39" name="Text 35"/>
          <p:cNvSpPr txBox="1"/>
          <p:nvPr/>
        </p:nvSpPr>
        <p:spPr>
          <a:xfrm>
            <a:off x="9189720"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ControlUp Agent</a:t>
            </a:r>
            <a:endParaRPr lang="en-US" sz="1050" dirty="0"/>
          </a:p>
        </p:txBody>
      </p:sp>
      <p:sp>
        <p:nvSpPr>
          <p:cNvPr id="40" name="Text 36"/>
          <p:cNvSpPr txBox="1"/>
          <p:nvPr/>
        </p:nvSpPr>
        <p:spPr>
          <a:xfrm>
            <a:off x="4224528" y="4864608"/>
            <a:ext cx="7187184" cy="384048"/>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No single tool catches everything. Together they cover threat detection, web filtering, logging, vulnerability scanning, data-loss prevention, patch delivery and session visibility.</a:t>
            </a:r>
            <a:endParaRPr lang="en-US" sz="1100" dirty="0"/>
          </a:p>
        </p:txBody>
      </p:sp>
      <p:sp>
        <p:nvSpPr>
          <p:cNvPr id="41" name="Shape 37"/>
          <p:cNvSpPr/>
          <p:nvPr/>
        </p:nvSpPr>
        <p:spPr>
          <a:xfrm>
            <a:off x="4224528" y="5303520"/>
            <a:ext cx="7187184" cy="841248"/>
          </a:xfrm>
          <a:prstGeom prst="roundRect">
            <a:avLst>
              <a:gd name="adj" fmla="val 5435"/>
            </a:avLst>
          </a:prstGeom>
          <a:solidFill>
            <a:srgbClr val="F6EEF0"/>
          </a:solidFill>
          <a:ln/>
        </p:spPr>
      </p:sp>
      <p:sp>
        <p:nvSpPr>
          <p:cNvPr id="42" name="Shape 38"/>
          <p:cNvSpPr/>
          <p:nvPr/>
        </p:nvSpPr>
        <p:spPr>
          <a:xfrm>
            <a:off x="4224528" y="5303520"/>
            <a:ext cx="50292" cy="841248"/>
          </a:xfrm>
          <a:prstGeom prst="rect">
            <a:avLst/>
          </a:prstGeom>
          <a:solidFill>
            <a:srgbClr val="942838"/>
          </a:solidFill>
          <a:ln/>
        </p:spPr>
      </p:sp>
      <p:sp>
        <p:nvSpPr>
          <p:cNvPr id="43" name="Text 39"/>
          <p:cNvSpPr txBox="1"/>
          <p:nvPr/>
        </p:nvSpPr>
        <p:spPr>
          <a:xfrm>
            <a:off x="4443984" y="5431536"/>
            <a:ext cx="676656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ACTUAL GAP</a:t>
            </a:r>
            <a:endParaRPr lang="en-US" sz="850" dirty="0"/>
          </a:p>
        </p:txBody>
      </p:sp>
      <p:sp>
        <p:nvSpPr>
          <p:cNvPr id="44" name="Text 40"/>
          <p:cNvSpPr txBox="1"/>
          <p:nvPr/>
        </p:nvSpPr>
        <p:spPr>
          <a:xfrm>
            <a:off x="4443984" y="5669280"/>
            <a:ext cx="6766560" cy="402336"/>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No dedicated process exists yet for installing these tools onto cloud images before deployment. My job was to define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Building the process from scratch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08</a:t>
            </a:r>
            <a:endParaRPr lang="en-US" sz="850" dirty="0"/>
          </a:p>
        </p:txBody>
      </p:sp>
      <p:sp>
        <p:nvSpPr>
          <p:cNvPr id="9" name="Text 6"/>
          <p:cNvSpPr txBox="1"/>
          <p:nvPr/>
        </p:nvSpPr>
        <p:spPr>
          <a:xfrm>
            <a:off x="777240" y="1956816"/>
            <a:ext cx="969264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My role was to coordinate and bridge teams — define what is required, name who owns it, and get it signed off. I did not build or provision the machines myself.</a:t>
            </a:r>
            <a:endParaRPr lang="en-US" sz="1400" dirty="0"/>
          </a:p>
        </p:txBody>
      </p:sp>
      <p:sp>
        <p:nvSpPr>
          <p:cNvPr id="10" name="Shape 7"/>
          <p:cNvSpPr/>
          <p:nvPr/>
        </p:nvSpPr>
        <p:spPr>
          <a:xfrm>
            <a:off x="777240"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364202497400000000" dist="91050624350000000" dir="1.1664e+21">
              <a:srgbClr val="959092">
                <a:alpha val="22000000000000000000"/>
              </a:srgbClr>
            </a:outerShdw>
          </a:effectLst>
        </p:spPr>
      </p:sp>
      <p:sp>
        <p:nvSpPr>
          <p:cNvPr id="11" name="Shape 8"/>
          <p:cNvSpPr/>
          <p:nvPr/>
        </p:nvSpPr>
        <p:spPr>
          <a:xfrm>
            <a:off x="1088136" y="2926080"/>
            <a:ext cx="658368" cy="658368"/>
          </a:xfrm>
          <a:prstGeom prst="roundRect">
            <a:avLst>
              <a:gd name="adj" fmla="val 8333"/>
            </a:avLst>
          </a:prstGeom>
          <a:solidFill>
            <a:srgbClr val="F6EEF0"/>
          </a:solidFill>
          <a:ln/>
        </p:spPr>
      </p:sp>
      <p:sp>
        <p:nvSpPr>
          <p:cNvPr id="12" name="Text 9"/>
          <p:cNvSpPr txBox="1"/>
          <p:nvPr/>
        </p:nvSpPr>
        <p:spPr>
          <a:xfrm>
            <a:off x="1088136"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3" name="Text 10"/>
          <p:cNvSpPr txBox="1"/>
          <p:nvPr/>
        </p:nvSpPr>
        <p:spPr>
          <a:xfrm>
            <a:off x="1088136"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Tools</a:t>
            </a:r>
            <a:endParaRPr lang="en-US" sz="1550" dirty="0"/>
          </a:p>
        </p:txBody>
      </p:sp>
      <p:sp>
        <p:nvSpPr>
          <p:cNvPr id="14" name="Text 11"/>
          <p:cNvSpPr txBox="1"/>
          <p:nvPr/>
        </p:nvSpPr>
        <p:spPr>
          <a:xfrm>
            <a:off x="1088136"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Agree on exactly which security tools belong on every image — nine of them.</a:t>
            </a:r>
            <a:endParaRPr lang="en-US" sz="1100" dirty="0"/>
          </a:p>
        </p:txBody>
      </p:sp>
      <p:sp>
        <p:nvSpPr>
          <p:cNvPr id="15" name="Text 12"/>
          <p:cNvSpPr txBox="1"/>
          <p:nvPr/>
        </p:nvSpPr>
        <p:spPr>
          <a:xfrm>
            <a:off x="4062908"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16" name="Shape 13"/>
          <p:cNvSpPr/>
          <p:nvPr/>
        </p:nvSpPr>
        <p:spPr>
          <a:xfrm>
            <a:off x="4440784"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4.62537171698e+21" dist="1.156342929245e+21" dir="6.9984e+25">
              <a:srgbClr val="959092">
                <a:alpha val="2.2e+24"/>
              </a:srgbClr>
            </a:outerShdw>
          </a:effectLst>
        </p:spPr>
      </p:sp>
      <p:sp>
        <p:nvSpPr>
          <p:cNvPr id="17" name="Shape 14"/>
          <p:cNvSpPr/>
          <p:nvPr/>
        </p:nvSpPr>
        <p:spPr>
          <a:xfrm>
            <a:off x="4751680" y="2926080"/>
            <a:ext cx="658368" cy="658368"/>
          </a:xfrm>
          <a:prstGeom prst="roundRect">
            <a:avLst>
              <a:gd name="adj" fmla="val 8333"/>
            </a:avLst>
          </a:prstGeom>
          <a:solidFill>
            <a:srgbClr val="F6EEF0"/>
          </a:solidFill>
          <a:ln/>
        </p:spPr>
      </p:sp>
      <p:sp>
        <p:nvSpPr>
          <p:cNvPr id="18" name="Text 15"/>
          <p:cNvSpPr txBox="1"/>
          <p:nvPr/>
        </p:nvSpPr>
        <p:spPr>
          <a:xfrm>
            <a:off x="4751680"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9" name="Text 16"/>
          <p:cNvSpPr txBox="1"/>
          <p:nvPr/>
        </p:nvSpPr>
        <p:spPr>
          <a:xfrm>
            <a:off x="4751680"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Owners</a:t>
            </a:r>
            <a:endParaRPr lang="en-US" sz="1550" dirty="0"/>
          </a:p>
        </p:txBody>
      </p:sp>
      <p:sp>
        <p:nvSpPr>
          <p:cNvPr id="20" name="Text 17"/>
          <p:cNvSpPr txBox="1"/>
          <p:nvPr/>
        </p:nvSpPr>
        <p:spPr>
          <a:xfrm>
            <a:off x="4751680"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Name the team responsible for installing and maintaining each one.</a:t>
            </a:r>
            <a:endParaRPr lang="en-US" sz="1100" dirty="0"/>
          </a:p>
        </p:txBody>
      </p:sp>
      <p:sp>
        <p:nvSpPr>
          <p:cNvPr id="21" name="Text 18"/>
          <p:cNvSpPr txBox="1"/>
          <p:nvPr/>
        </p:nvSpPr>
        <p:spPr>
          <a:xfrm>
            <a:off x="7726451"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22" name="Shape 19"/>
          <p:cNvSpPr/>
          <p:nvPr/>
        </p:nvSpPr>
        <p:spPr>
          <a:xfrm>
            <a:off x="8104327"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5.8742220805646e+25" dist="1.46855552014115e+25" dir="4.19904e+30">
              <a:srgbClr val="959092">
                <a:alpha val="2.2e+29"/>
              </a:srgbClr>
            </a:outerShdw>
          </a:effectLst>
        </p:spPr>
      </p:sp>
      <p:sp>
        <p:nvSpPr>
          <p:cNvPr id="23" name="Shape 20"/>
          <p:cNvSpPr/>
          <p:nvPr/>
        </p:nvSpPr>
        <p:spPr>
          <a:xfrm>
            <a:off x="8415223" y="2926080"/>
            <a:ext cx="658368" cy="658368"/>
          </a:xfrm>
          <a:prstGeom prst="roundRect">
            <a:avLst>
              <a:gd name="adj" fmla="val 8333"/>
            </a:avLst>
          </a:prstGeom>
          <a:solidFill>
            <a:srgbClr val="F6EEF0"/>
          </a:solidFill>
          <a:ln/>
        </p:spPr>
      </p:sp>
      <p:sp>
        <p:nvSpPr>
          <p:cNvPr id="24" name="Text 21"/>
          <p:cNvSpPr txBox="1"/>
          <p:nvPr/>
        </p:nvSpPr>
        <p:spPr>
          <a:xfrm>
            <a:off x="8415223"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25" name="Text 22"/>
          <p:cNvSpPr txBox="1"/>
          <p:nvPr/>
        </p:nvSpPr>
        <p:spPr>
          <a:xfrm>
            <a:off x="8415223"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Get It Adopted</a:t>
            </a:r>
            <a:endParaRPr lang="en-US" sz="1550" dirty="0"/>
          </a:p>
        </p:txBody>
      </p:sp>
      <p:sp>
        <p:nvSpPr>
          <p:cNvPr id="26" name="Text 23"/>
          <p:cNvSpPr txBox="1"/>
          <p:nvPr/>
        </p:nvSpPr>
        <p:spPr>
          <a:xfrm>
            <a:off x="8415223"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Turn that into a written framework the company formally signs off on.</a:t>
            </a:r>
            <a:endParaRPr lang="en-US" sz="1100" dirty="0"/>
          </a:p>
        </p:txBody>
      </p:sp>
      <p:sp>
        <p:nvSpPr>
          <p:cNvPr id="27" name="Shape 24"/>
          <p:cNvSpPr/>
          <p:nvPr/>
        </p:nvSpPr>
        <p:spPr>
          <a:xfrm>
            <a:off x="777240" y="5138928"/>
            <a:ext cx="10637215" cy="859536"/>
          </a:xfrm>
          <a:prstGeom prst="roundRect">
            <a:avLst>
              <a:gd name="adj" fmla="val 6383"/>
            </a:avLst>
          </a:prstGeom>
          <a:solidFill>
            <a:srgbClr val="2B2D30"/>
          </a:solidFill>
          <a:ln/>
          <a:effectLst>
            <a:outerShdw sx="100000" sy="100000" kx="0" ky="0" algn="bl" rotWithShape="0" blurRad="9.823804677660543e+41" dist="2.183067706146787e+41" dir="5.44195584e+49">
              <a:srgbClr val="959092">
                <a:alpha val="1.6e+49"/>
              </a:srgbClr>
            </a:outerShdw>
          </a:effectLst>
        </p:spPr>
      </p:sp>
      <p:sp>
        <p:nvSpPr>
          <p:cNvPr id="28" name="Text 25"/>
          <p:cNvSpPr txBox="1"/>
          <p:nvPr/>
        </p:nvSpPr>
        <p:spPr>
          <a:xfrm>
            <a:off x="1069848" y="5285232"/>
            <a:ext cx="18288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DELIVERED</a:t>
            </a:r>
            <a:endParaRPr lang="en-US" sz="850" dirty="0"/>
          </a:p>
        </p:txBody>
      </p:sp>
      <p:sp>
        <p:nvSpPr>
          <p:cNvPr id="29" name="Text 26"/>
          <p:cNvSpPr txBox="1"/>
          <p:nvPr/>
        </p:nvSpPr>
        <p:spPr>
          <a:xfrm>
            <a:off x="1069848" y="5522976"/>
            <a:ext cx="10051999" cy="36576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Montserrat" pitchFamily="34" charset="0"/>
                <a:ea typeface="Montserrat" pitchFamily="34" charset="-122"/>
                <a:cs typeface="Montserrat" pitchFamily="34" charset="-120"/>
              </a:rPr>
              <a:t>A written Roles &amp; Responsibilities framework — drafted, staged for review, and set for formal adoption once the policy manager returns in Q4.</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 drafted framework to a standing process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09</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The framework exists on paper. Turning it into something the company runs without me is the next stretch.</a:t>
            </a:r>
            <a:endParaRPr lang="en-US" sz="1400" dirty="0"/>
          </a:p>
        </p:txBody>
      </p:sp>
      <p:sp>
        <p:nvSpPr>
          <p:cNvPr id="10" name="Shape 7"/>
          <p:cNvSpPr/>
          <p:nvPr/>
        </p:nvSpPr>
        <p:spPr>
          <a:xfrm>
            <a:off x="777240"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7.460262042317042e+29" dist="1.8650655105792604e+29" dir="2.519424e+35">
              <a:srgbClr val="959092">
                <a:alpha val="2.2e+34"/>
              </a:srgbClr>
            </a:outerShdw>
          </a:effectLst>
        </p:spPr>
      </p:sp>
      <p:sp>
        <p:nvSpPr>
          <p:cNvPr id="11" name="Shape 8"/>
          <p:cNvSpPr/>
          <p:nvPr/>
        </p:nvSpPr>
        <p:spPr>
          <a:xfrm>
            <a:off x="777240" y="2615184"/>
            <a:ext cx="3356762" cy="45720"/>
          </a:xfrm>
          <a:prstGeom prst="rect">
            <a:avLst/>
          </a:prstGeom>
          <a:solidFill>
            <a:srgbClr val="942838"/>
          </a:solidFill>
          <a:ln/>
        </p:spPr>
      </p:sp>
      <p:sp>
        <p:nvSpPr>
          <p:cNvPr id="12" name="Text 9"/>
          <p:cNvSpPr txBox="1"/>
          <p:nvPr/>
        </p:nvSpPr>
        <p:spPr>
          <a:xfrm>
            <a:off x="1088136"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Formal adoption</a:t>
            </a:r>
            <a:endParaRPr lang="en-US" sz="1500" dirty="0"/>
          </a:p>
        </p:txBody>
      </p:sp>
      <p:sp>
        <p:nvSpPr>
          <p:cNvPr id="14" name="Text 11"/>
          <p:cNvSpPr txBox="1"/>
          <p:nvPr/>
        </p:nvSpPr>
        <p:spPr>
          <a:xfrm>
            <a:off x="1088136"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framework is drafted and staged for review. It goes for sign-off once the policy manager returns in Q4.</a:t>
            </a:r>
            <a:endParaRPr lang="en-US" sz="1100" dirty="0"/>
          </a:p>
        </p:txBody>
      </p:sp>
      <p:sp>
        <p:nvSpPr>
          <p:cNvPr id="15" name="Shape 12"/>
          <p:cNvSpPr/>
          <p:nvPr/>
        </p:nvSpPr>
        <p:spPr>
          <a:xfrm>
            <a:off x="4417466"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9.474532793742643e+33" dist="2.3686331984356606e+33" dir="1.5116544e+40">
              <a:srgbClr val="959092">
                <a:alpha val="2.2e+39"/>
              </a:srgbClr>
            </a:outerShdw>
          </a:effectLst>
        </p:spPr>
      </p:sp>
      <p:sp>
        <p:nvSpPr>
          <p:cNvPr id="16" name="Shape 13"/>
          <p:cNvSpPr/>
          <p:nvPr/>
        </p:nvSpPr>
        <p:spPr>
          <a:xfrm>
            <a:off x="4417466" y="2615184"/>
            <a:ext cx="3356762" cy="45720"/>
          </a:xfrm>
          <a:prstGeom prst="rect">
            <a:avLst/>
          </a:prstGeom>
          <a:solidFill>
            <a:srgbClr val="942838"/>
          </a:solidFill>
          <a:ln/>
        </p:spPr>
      </p:sp>
      <p:sp>
        <p:nvSpPr>
          <p:cNvPr id="17" name="Text 14"/>
          <p:cNvSpPr txBox="1"/>
          <p:nvPr/>
        </p:nvSpPr>
        <p:spPr>
          <a:xfrm>
            <a:off x="4728362"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Owners take it from here</a:t>
            </a:r>
            <a:endParaRPr lang="en-US" sz="1500" dirty="0"/>
          </a:p>
        </p:txBody>
      </p:sp>
      <p:sp>
        <p:nvSpPr>
          <p:cNvPr id="19" name="Text 16"/>
          <p:cNvSpPr txBox="1"/>
          <p:nvPr/>
        </p:nvSpPr>
        <p:spPr>
          <a:xfrm>
            <a:off x="4728362"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Each named team picks up the tool it owns, so responsibility sits with the people who can act on it.</a:t>
            </a:r>
            <a:endParaRPr lang="en-US" sz="1100" dirty="0"/>
          </a:p>
        </p:txBody>
      </p:sp>
      <p:sp>
        <p:nvSpPr>
          <p:cNvPr id="20" name="Shape 17"/>
          <p:cNvSpPr/>
          <p:nvPr/>
        </p:nvSpPr>
        <p:spPr>
          <a:xfrm>
            <a:off x="8057693"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1.2032656648053156e+38" dist="3.008164162013289e+37" dir="9.069926400000001e+44">
              <a:srgbClr val="959092">
                <a:alpha val="2.2e+44"/>
              </a:srgbClr>
            </a:outerShdw>
          </a:effectLst>
        </p:spPr>
      </p:sp>
      <p:sp>
        <p:nvSpPr>
          <p:cNvPr id="21" name="Shape 18"/>
          <p:cNvSpPr/>
          <p:nvPr/>
        </p:nvSpPr>
        <p:spPr>
          <a:xfrm>
            <a:off x="8057693" y="2615184"/>
            <a:ext cx="3356762" cy="45720"/>
          </a:xfrm>
          <a:prstGeom prst="rect">
            <a:avLst/>
          </a:prstGeom>
          <a:solidFill>
            <a:srgbClr val="942838"/>
          </a:solidFill>
          <a:ln/>
        </p:spPr>
      </p:sp>
      <p:sp>
        <p:nvSpPr>
          <p:cNvPr id="22" name="Text 19"/>
          <p:cNvSpPr txBox="1"/>
          <p:nvPr/>
        </p:nvSpPr>
        <p:spPr>
          <a:xfrm>
            <a:off x="8368589"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Check before deploy</a:t>
            </a:r>
            <a:endParaRPr lang="en-US" sz="1500" dirty="0"/>
          </a:p>
        </p:txBody>
      </p:sp>
      <p:sp>
        <p:nvSpPr>
          <p:cNvPr id="24" name="Text 21"/>
          <p:cNvSpPr txBox="1"/>
          <p:nvPr/>
        </p:nvSpPr>
        <p:spPr>
          <a:xfrm>
            <a:off x="8368589"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natural next step is a check that a newly built image actually carries all nine tools before it goes live.</a:t>
            </a:r>
            <a:endParaRPr lang="en-US" sz="1100" dirty="0"/>
          </a:p>
        </p:txBody>
      </p:sp>
      <p:sp>
        <p:nvSpPr>
          <p:cNvPr id="25" name="Text 22"/>
          <p:cNvSpPr txBox="1"/>
          <p:nvPr/>
        </p:nvSpPr>
        <p:spPr>
          <a:xfrm>
            <a:off x="777240" y="5230368"/>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The honest status:</a:t>
            </a:r>
            <a:pPr indent="0" marL="0">
              <a:buNone/>
            </a:pPr>
            <a:r>
              <a:rPr lang="en-US" sz="1150" dirty="0">
                <a:solidFill>
                  <a:srgbClr val="6E7175"/>
                </a:solidFill>
                <a:latin typeface="Montserrat" pitchFamily="34" charset="0"/>
                <a:ea typeface="Montserrat" pitchFamily="34" charset="-122"/>
                <a:cs typeface="Montserrat" pitchFamily="34" charset="-120"/>
              </a:rPr>
              <a:t>  drafted and staged for review, not yet formally adopted. The decision sits with the policy manager in Q4.</a:t>
            </a:r>
            <a:endParaRPr lang="en-US" sz="1150" dirty="0"/>
          </a:p>
        </p:txBody>
      </p:sp>
      <p:sp>
        <p:nvSpPr>
          <p:cNvPr id="26" name="Text 23"/>
          <p:cNvSpPr txBox="1"/>
          <p:nvPr/>
        </p:nvSpPr>
        <p:spPr>
          <a:xfrm>
            <a:off x="777240" y="5577840"/>
            <a:ext cx="10637215" cy="274320"/>
          </a:xfrm>
          <a:prstGeom prst="rect">
            <a:avLst/>
          </a:prstGeom>
          <a:noFill/>
          <a:ln/>
        </p:spPr>
        <p:txBody>
          <a:bodyPr wrap="square" lIns="0" tIns="0" rIns="0" bIns="0" rtlCol="0" anchor="t"/>
          <a:lstStyle/>
          <a:p>
            <a:pPr indent="0" marL="0">
              <a:buNone/>
            </a:pPr>
            <a:r>
              <a:rPr lang="en-US" sz="1100" dirty="0">
                <a:solidFill>
                  <a:srgbClr val="942838"/>
                </a:solidFill>
                <a:latin typeface="Montserrat" pitchFamily="34" charset="0"/>
                <a:ea typeface="Montserrat" pitchFamily="34" charset="-122"/>
                <a:cs typeface="Montserrat" pitchFamily="34" charset="-120"/>
              </a:rPr>
              <a:t>It also closes an audit gap: once adopted, we can show that every new machine met a defined security baseline before it was deployed.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02</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02</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AEGIS — Supply-Chain Defense</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Catching risky code hidden inside the open-source packages our software depends on.</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02</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One poisoned package reaches everyone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11</a:t>
            </a:r>
            <a:endParaRPr lang="en-US" sz="850" dirty="0"/>
          </a:p>
        </p:txBody>
      </p:sp>
      <p:sp>
        <p:nvSpPr>
          <p:cNvPr id="9" name="Text 6"/>
          <p:cNvSpPr txBox="1"/>
          <p:nvPr/>
        </p:nvSpPr>
        <p:spPr>
          <a:xfrm>
            <a:off x="777240" y="1975104"/>
            <a:ext cx="10424160" cy="566928"/>
          </a:xfrm>
          <a:prstGeom prst="rect">
            <a:avLst/>
          </a:prstGeom>
          <a:noFill/>
          <a:ln/>
        </p:spPr>
        <p:txBody>
          <a:bodyPr wrap="square" lIns="0" tIns="0" rIns="0" bIns="0" rtlCol="0" anchor="t"/>
          <a:lstStyle/>
          <a:p>
            <a:pPr indent="0" marL="0">
              <a:lnSpc>
                <a:spcPct val="122000"/>
              </a:lnSpc>
              <a:buNone/>
            </a:pPr>
            <a:r>
              <a:rPr lang="en-US" sz="1400" dirty="0">
                <a:solidFill>
                  <a:srgbClr val="6E7175"/>
                </a:solidFill>
                <a:latin typeface="Montserrat Medium" pitchFamily="34" charset="0"/>
                <a:ea typeface="Montserrat Medium" pitchFamily="34" charset="-122"/>
                <a:cs typeface="Montserrat Medium" pitchFamily="34" charset="-120"/>
              </a:rPr>
              <a:t>In a supply-chain attack, an attacker hides malicious code inside a legitimate open-source package. Everyone who installs it inherits the compromise — including us. Real campaigns in 2025 and 2026 worked this way.</a:t>
            </a:r>
            <a:endParaRPr lang="en-US" sz="1400" dirty="0"/>
          </a:p>
        </p:txBody>
      </p:sp>
      <p:pic>
        <p:nvPicPr>
          <p:cNvPr id="10" name="Image 1" descr="/home/user/ai/assets/gen/supply-chain.png">    </p:cNvPr>
          <p:cNvPicPr>
            <a:picLocks noChangeAspect="1"/>
          </p:cNvPicPr>
          <p:nvPr/>
        </p:nvPicPr>
        <p:blipFill>
          <a:blip r:embed="rId2"/>
          <a:stretch>
            <a:fillRect/>
          </a:stretch>
        </p:blipFill>
        <p:spPr>
          <a:xfrm>
            <a:off x="2209648" y="2633472"/>
            <a:ext cx="7772400" cy="2266950"/>
          </a:xfrm>
          <a:prstGeom prst="rect">
            <a:avLst/>
          </a:prstGeom>
        </p:spPr>
      </p:pic>
      <p:sp>
        <p:nvSpPr>
          <p:cNvPr id="11" name="Text 7"/>
          <p:cNvSpPr txBox="1"/>
          <p:nvPr/>
        </p:nvSpPr>
        <p:spPr>
          <a:xfrm>
            <a:off x="1441552" y="4662678"/>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Attacker</a:t>
            </a:r>
            <a:endParaRPr lang="en-US" sz="950" dirty="0"/>
          </a:p>
        </p:txBody>
      </p:sp>
      <p:sp>
        <p:nvSpPr>
          <p:cNvPr id="12" name="Text 8"/>
          <p:cNvSpPr txBox="1"/>
          <p:nvPr/>
        </p:nvSpPr>
        <p:spPr>
          <a:xfrm>
            <a:off x="2887218" y="4662678"/>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Poisoned package</a:t>
            </a:r>
            <a:endParaRPr lang="en-US" sz="950" dirty="0"/>
          </a:p>
        </p:txBody>
      </p:sp>
      <p:sp>
        <p:nvSpPr>
          <p:cNvPr id="13" name="Text 9"/>
          <p:cNvSpPr txBox="1"/>
          <p:nvPr/>
        </p:nvSpPr>
        <p:spPr>
          <a:xfrm>
            <a:off x="4636008" y="4662678"/>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Public registry</a:t>
            </a:r>
            <a:endParaRPr lang="en-US" sz="950" dirty="0"/>
          </a:p>
        </p:txBody>
      </p:sp>
      <p:sp>
        <p:nvSpPr>
          <p:cNvPr id="14" name="Text 10"/>
          <p:cNvSpPr txBox="1"/>
          <p:nvPr/>
        </p:nvSpPr>
        <p:spPr>
          <a:xfrm>
            <a:off x="7340803" y="4662678"/>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Every project that installs it</a:t>
            </a:r>
            <a:endParaRPr lang="en-US" sz="950" dirty="0"/>
          </a:p>
        </p:txBody>
      </p:sp>
      <p:sp>
        <p:nvSpPr>
          <p:cNvPr id="15" name="Shape 11"/>
          <p:cNvSpPr/>
          <p:nvPr/>
        </p:nvSpPr>
        <p:spPr>
          <a:xfrm>
            <a:off x="777240" y="5340096"/>
            <a:ext cx="10637215" cy="786384"/>
          </a:xfrm>
          <a:prstGeom prst="roundRect">
            <a:avLst>
              <a:gd name="adj" fmla="val 6977"/>
            </a:avLst>
          </a:prstGeom>
          <a:solidFill>
            <a:srgbClr val="F6EEF0"/>
          </a:solidFill>
          <a:ln/>
        </p:spPr>
      </p:sp>
      <p:sp>
        <p:nvSpPr>
          <p:cNvPr id="16" name="Shape 12"/>
          <p:cNvSpPr/>
          <p:nvPr/>
        </p:nvSpPr>
        <p:spPr>
          <a:xfrm>
            <a:off x="777240" y="5340096"/>
            <a:ext cx="50292" cy="786384"/>
          </a:xfrm>
          <a:prstGeom prst="rect">
            <a:avLst/>
          </a:prstGeom>
          <a:solidFill>
            <a:srgbClr val="942838"/>
          </a:solidFill>
          <a:ln/>
        </p:spPr>
      </p:sp>
      <p:sp>
        <p:nvSpPr>
          <p:cNvPr id="17" name="Text 13"/>
          <p:cNvSpPr txBox="1"/>
          <p:nvPr/>
        </p:nvSpPr>
        <p:spPr>
          <a:xfrm>
            <a:off x="1014984" y="5458968"/>
            <a:ext cx="7315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WHY EXISTING TOOLS WERE NOT ENOUGH</a:t>
            </a:r>
            <a:endParaRPr lang="en-US" sz="850" dirty="0"/>
          </a:p>
        </p:txBody>
      </p:sp>
      <p:sp>
        <p:nvSpPr>
          <p:cNvPr id="18" name="Text 14"/>
          <p:cNvSpPr txBox="1"/>
          <p:nvPr/>
        </p:nvSpPr>
        <p:spPr>
          <a:xfrm>
            <a:off x="1014984" y="5678424"/>
            <a:ext cx="10134295" cy="384048"/>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Most scanners cry wolf: "you have 500 flaws." But our code never touches most of them, so nobody can tell what is urgent. AEGIS separates signal from noise by checking whether our code actually calls the vulnerable part.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A scanner that checks if the flaw is reachable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12</a:t>
            </a:r>
            <a:endParaRPr lang="en-US" sz="850" dirty="0"/>
          </a:p>
        </p:txBody>
      </p:sp>
      <p:sp>
        <p:nvSpPr>
          <p:cNvPr id="9" name="Text 6"/>
          <p:cNvSpPr txBox="1"/>
          <p:nvPr/>
        </p:nvSpPr>
        <p:spPr>
          <a:xfrm>
            <a:off x="777240" y="1975104"/>
            <a:ext cx="104241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Knowing a flawed package is installed is not the same as knowing you are exposed.</a:t>
            </a:r>
            <a:endParaRPr lang="en-US" sz="1400" dirty="0"/>
          </a:p>
        </p:txBody>
      </p:sp>
      <p:sp>
        <p:nvSpPr>
          <p:cNvPr id="10" name="Text 7"/>
          <p:cNvSpPr txBox="1"/>
          <p:nvPr/>
        </p:nvSpPr>
        <p:spPr>
          <a:xfrm>
            <a:off x="777240" y="2487168"/>
            <a:ext cx="36576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THE SHIFT</a:t>
            </a:r>
            <a:endParaRPr lang="en-US" sz="850" dirty="0"/>
          </a:p>
        </p:txBody>
      </p:sp>
      <p:sp>
        <p:nvSpPr>
          <p:cNvPr id="11" name="Shape 8"/>
          <p:cNvSpPr/>
          <p:nvPr/>
        </p:nvSpPr>
        <p:spPr>
          <a:xfrm>
            <a:off x="777240" y="2743200"/>
            <a:ext cx="4937760" cy="960120"/>
          </a:xfrm>
          <a:prstGeom prst="roundRect">
            <a:avLst>
              <a:gd name="adj" fmla="val 5714"/>
            </a:avLst>
          </a:prstGeom>
          <a:solidFill>
            <a:srgbClr val="F5F4F3"/>
          </a:solidFill>
          <a:ln/>
        </p:spPr>
      </p:sp>
      <p:sp>
        <p:nvSpPr>
          <p:cNvPr id="12" name="Shape 9"/>
          <p:cNvSpPr/>
          <p:nvPr/>
        </p:nvSpPr>
        <p:spPr>
          <a:xfrm>
            <a:off x="777240" y="2743200"/>
            <a:ext cx="50292" cy="960120"/>
          </a:xfrm>
          <a:prstGeom prst="rect">
            <a:avLst/>
          </a:prstGeom>
          <a:solidFill>
            <a:srgbClr val="C9C6C4"/>
          </a:solidFill>
          <a:ln/>
        </p:spPr>
      </p:sp>
      <p:sp>
        <p:nvSpPr>
          <p:cNvPr id="13" name="Text 10"/>
          <p:cNvSpPr txBox="1"/>
          <p:nvPr/>
        </p:nvSpPr>
        <p:spPr>
          <a:xfrm>
            <a:off x="1014984" y="2862072"/>
            <a:ext cx="3108960" cy="182880"/>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MOST SCANNERS</a:t>
            </a:r>
            <a:endParaRPr lang="en-US" sz="850" dirty="0"/>
          </a:p>
        </p:txBody>
      </p:sp>
      <p:sp>
        <p:nvSpPr>
          <p:cNvPr id="14" name="Text 11"/>
          <p:cNvSpPr txBox="1"/>
          <p:nvPr/>
        </p:nvSpPr>
        <p:spPr>
          <a:xfrm>
            <a:off x="1014984" y="3063240"/>
            <a:ext cx="4480560" cy="237744"/>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"This package has a known flaw."</a:t>
            </a:r>
            <a:endParaRPr lang="en-US" sz="1250" dirty="0"/>
          </a:p>
        </p:txBody>
      </p:sp>
      <p:sp>
        <p:nvSpPr>
          <p:cNvPr id="15" name="Text 12"/>
          <p:cNvSpPr txBox="1"/>
          <p:nvPr/>
        </p:nvSpPr>
        <p:spPr>
          <a:xfrm>
            <a:off x="1014984" y="3319272"/>
            <a:ext cx="4480560" cy="329184"/>
          </a:xfrm>
          <a:prstGeom prst="rect">
            <a:avLst/>
          </a:prstGeom>
          <a:noFill/>
          <a:ln/>
        </p:spPr>
        <p:txBody>
          <a:bodyPr wrap="square" lIns="0" tIns="0" rIns="0" bIns="0" rtlCol="0" anchor="t"/>
          <a:lstStyle/>
          <a:p>
            <a:pPr indent="0" marL="0">
              <a:lnSpc>
                <a:spcPct val="116000"/>
              </a:lnSpc>
              <a:buNone/>
            </a:pPr>
            <a:r>
              <a:rPr lang="en-US" sz="950" dirty="0">
                <a:solidFill>
                  <a:srgbClr val="43464A"/>
                </a:solidFill>
                <a:latin typeface="Montserrat" pitchFamily="34" charset="0"/>
                <a:ea typeface="Montserrat" pitchFamily="34" charset="-122"/>
                <a:cs typeface="Montserrat" pitchFamily="34" charset="-120"/>
              </a:rPr>
              <a:t>True, but the list runs to hundreds and everything on it looks equally urgent.</a:t>
            </a:r>
            <a:endParaRPr lang="en-US" sz="950" dirty="0"/>
          </a:p>
        </p:txBody>
      </p:sp>
      <p:sp>
        <p:nvSpPr>
          <p:cNvPr id="16" name="Shape 13"/>
          <p:cNvSpPr/>
          <p:nvPr/>
        </p:nvSpPr>
        <p:spPr>
          <a:xfrm>
            <a:off x="777240" y="3977640"/>
            <a:ext cx="4937760" cy="960120"/>
          </a:xfrm>
          <a:prstGeom prst="roundRect">
            <a:avLst>
              <a:gd name="adj" fmla="val 5714"/>
            </a:avLst>
          </a:prstGeom>
          <a:solidFill>
            <a:srgbClr val="F6EEF0"/>
          </a:solidFill>
          <a:ln/>
        </p:spPr>
      </p:sp>
      <p:sp>
        <p:nvSpPr>
          <p:cNvPr id="17" name="Shape 14"/>
          <p:cNvSpPr/>
          <p:nvPr/>
        </p:nvSpPr>
        <p:spPr>
          <a:xfrm>
            <a:off x="777240" y="3977640"/>
            <a:ext cx="50292" cy="960120"/>
          </a:xfrm>
          <a:prstGeom prst="rect">
            <a:avLst/>
          </a:prstGeom>
          <a:solidFill>
            <a:srgbClr val="942838"/>
          </a:solidFill>
          <a:ln/>
        </p:spPr>
      </p:sp>
      <p:sp>
        <p:nvSpPr>
          <p:cNvPr id="18" name="Text 15"/>
          <p:cNvSpPr txBox="1"/>
          <p:nvPr/>
        </p:nvSpPr>
        <p:spPr>
          <a:xfrm>
            <a:off x="1014984" y="4096512"/>
            <a:ext cx="310896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AEGIS</a:t>
            </a:r>
            <a:endParaRPr lang="en-US" sz="850" dirty="0"/>
          </a:p>
        </p:txBody>
      </p:sp>
      <p:sp>
        <p:nvSpPr>
          <p:cNvPr id="19" name="Text 16"/>
          <p:cNvSpPr txBox="1"/>
          <p:nvPr/>
        </p:nvSpPr>
        <p:spPr>
          <a:xfrm>
            <a:off x="1014984" y="4297680"/>
            <a:ext cx="4480560" cy="237744"/>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"Does our code actually call the flawed part?"</a:t>
            </a:r>
            <a:endParaRPr lang="en-US" sz="1250" dirty="0"/>
          </a:p>
        </p:txBody>
      </p:sp>
      <p:sp>
        <p:nvSpPr>
          <p:cNvPr id="20" name="Text 17"/>
          <p:cNvSpPr txBox="1"/>
          <p:nvPr/>
        </p:nvSpPr>
        <p:spPr>
          <a:xfrm>
            <a:off x="1014984" y="4553712"/>
            <a:ext cx="4480560" cy="329184"/>
          </a:xfrm>
          <a:prstGeom prst="rect">
            <a:avLst/>
          </a:prstGeom>
          <a:noFill/>
          <a:ln/>
        </p:spPr>
        <p:txBody>
          <a:bodyPr wrap="square" lIns="0" tIns="0" rIns="0" bIns="0" rtlCol="0" anchor="t"/>
          <a:lstStyle/>
          <a:p>
            <a:pPr indent="0" marL="0">
              <a:lnSpc>
                <a:spcPct val="116000"/>
              </a:lnSpc>
              <a:buNone/>
            </a:pPr>
            <a:r>
              <a:rPr lang="en-US" sz="950" dirty="0">
                <a:solidFill>
                  <a:srgbClr val="43464A"/>
                </a:solidFill>
                <a:latin typeface="Montserrat" pitchFamily="34" charset="0"/>
                <a:ea typeface="Montserrat" pitchFamily="34" charset="-122"/>
                <a:cs typeface="Montserrat" pitchFamily="34" charset="-120"/>
              </a:rPr>
              <a:t>The list collapses to the few that can genuinely be reached — and those get worked first.</a:t>
            </a:r>
            <a:endParaRPr lang="en-US" sz="950" dirty="0"/>
          </a:p>
        </p:txBody>
      </p:sp>
      <p:sp>
        <p:nvSpPr>
          <p:cNvPr id="21" name="Shape 18"/>
          <p:cNvSpPr/>
          <p:nvPr/>
        </p:nvSpPr>
        <p:spPr>
          <a:xfrm>
            <a:off x="3232404" y="3730752"/>
            <a:ext cx="27432" cy="100584"/>
          </a:xfrm>
          <a:prstGeom prst="rect">
            <a:avLst/>
          </a:prstGeom>
          <a:solidFill>
            <a:srgbClr val="C9C6C4"/>
          </a:solidFill>
          <a:ln/>
        </p:spPr>
      </p:sp>
      <p:sp>
        <p:nvSpPr>
          <p:cNvPr id="22" name="Shape 19"/>
          <p:cNvSpPr/>
          <p:nvPr/>
        </p:nvSpPr>
        <p:spPr>
          <a:xfrm rot="10800000">
            <a:off x="3200400" y="3831336"/>
            <a:ext cx="91440" cy="118872"/>
          </a:xfrm>
          <a:prstGeom prst="triangle">
            <a:avLst/>
          </a:prstGeom>
          <a:solidFill>
            <a:srgbClr val="C9C6C4"/>
          </a:solidFill>
          <a:ln/>
        </p:spPr>
      </p:sp>
      <p:sp>
        <p:nvSpPr>
          <p:cNvPr id="23" name="Shape 20"/>
          <p:cNvSpPr/>
          <p:nvPr/>
        </p:nvSpPr>
        <p:spPr>
          <a:xfrm>
            <a:off x="777240" y="5230368"/>
            <a:ext cx="4937760" cy="10973"/>
          </a:xfrm>
          <a:prstGeom prst="rect">
            <a:avLst/>
          </a:prstGeom>
          <a:solidFill>
            <a:srgbClr val="E6E4E2"/>
          </a:solidFill>
          <a:ln/>
        </p:spPr>
      </p:sp>
      <p:sp>
        <p:nvSpPr>
          <p:cNvPr id="24" name="Text 21"/>
          <p:cNvSpPr txBox="1"/>
          <p:nvPr/>
        </p:nvSpPr>
        <p:spPr>
          <a:xfrm>
            <a:off x="777240" y="5376672"/>
            <a:ext cx="3657600" cy="182880"/>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PROVEN AT SCALE</a:t>
            </a:r>
            <a:endParaRPr lang="en-US" sz="850" dirty="0"/>
          </a:p>
        </p:txBody>
      </p:sp>
      <p:sp>
        <p:nvSpPr>
          <p:cNvPr id="25" name="Text 22"/>
          <p:cNvSpPr txBox="1"/>
          <p:nvPr/>
        </p:nvSpPr>
        <p:spPr>
          <a:xfrm>
            <a:off x="777240" y="5577840"/>
            <a:ext cx="1371600" cy="384048"/>
          </a:xfrm>
          <a:prstGeom prst="rect">
            <a:avLst/>
          </a:prstGeom>
          <a:noFill/>
          <a:ln/>
        </p:spPr>
        <p:txBody>
          <a:bodyPr wrap="square" lIns="0" tIns="0" rIns="0" bIns="0" rtlCol="0" anchor="t"/>
          <a:lstStyle/>
          <a:p>
            <a:pPr indent="0" marL="0">
              <a:buNone/>
            </a:pPr>
            <a:r>
              <a:rPr lang="en-US" sz="2400" spc="-60" kern="0" dirty="0">
                <a:solidFill>
                  <a:srgbClr val="942838"/>
                </a:solidFill>
                <a:latin typeface="Montserrat ExtraBold" pitchFamily="34" charset="0"/>
                <a:ea typeface="Montserrat ExtraBold" pitchFamily="34" charset="-122"/>
                <a:cs typeface="Montserrat ExtraBold" pitchFamily="34" charset="-120"/>
              </a:rPr>
              <a:t>5,675</a:t>
            </a:r>
            <a:endParaRPr lang="en-US" sz="2400" dirty="0"/>
          </a:p>
        </p:txBody>
      </p:sp>
      <p:sp>
        <p:nvSpPr>
          <p:cNvPr id="26" name="Text 23"/>
          <p:cNvSpPr txBox="1"/>
          <p:nvPr/>
        </p:nvSpPr>
        <p:spPr>
          <a:xfrm>
            <a:off x="2240280" y="5596128"/>
            <a:ext cx="3474720" cy="384048"/>
          </a:xfrm>
          <a:prstGeom prst="rect">
            <a:avLst/>
          </a:prstGeom>
          <a:noFill/>
          <a:ln/>
        </p:spPr>
        <p:txBody>
          <a:bodyPr wrap="square" lIns="0" tIns="0" rIns="0" bIns="0" rtlCol="0" anchor="t"/>
          <a:lstStyle/>
          <a:p>
            <a:pPr indent="0" marL="0">
              <a:lnSpc>
                <a:spcPct val="120000"/>
              </a:lnSpc>
              <a:buNone/>
            </a:pPr>
            <a:r>
              <a:rPr lang="en-US" sz="1000" dirty="0">
                <a:solidFill>
                  <a:srgbClr val="6E7175"/>
                </a:solidFill>
                <a:latin typeface="Montserrat" pitchFamily="34" charset="0"/>
                <a:ea typeface="Montserrat" pitchFamily="34" charset="-122"/>
                <a:cs typeface="Montserrat" pitchFamily="34" charset="-120"/>
              </a:rPr>
              <a:t>packages read in a single production run,</a:t>
            </a:r>
            <a:endParaRPr lang="en-US" sz="1000" dirty="0"/>
          </a:p>
          <a:p>
            <a:pPr indent="0" marL="0">
              <a:lnSpc>
                <a:spcPct val="120000"/>
              </a:lnSpc>
              <a:buNone/>
            </a:pPr>
            <a:r>
              <a:rPr lang="en-US" sz="1000" dirty="0">
                <a:solidFill>
                  <a:srgbClr val="6E7175"/>
                </a:solidFill>
                <a:latin typeface="Montserrat" pitchFamily="34" charset="0"/>
                <a:ea typeface="Montserrat" pitchFamily="34" charset="-122"/>
                <a:cs typeface="Montserrat" pitchFamily="34" charset="-120"/>
              </a:rPr>
              <a:t>by an earlier version of the tool.</a:t>
            </a:r>
            <a:endParaRPr lang="en-US" sz="1000" dirty="0"/>
          </a:p>
        </p:txBody>
      </p:sp>
      <p:sp>
        <p:nvSpPr>
          <p:cNvPr id="27" name="Text 24"/>
          <p:cNvSpPr txBox="1"/>
          <p:nvPr/>
        </p:nvSpPr>
        <p:spPr>
          <a:xfrm>
            <a:off x="6062472" y="2487168"/>
            <a:ext cx="5351983"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THREE HONEST ANSWERS  ·  NEVER COLLAPSED INTO ONE "SAFE"</a:t>
            </a:r>
            <a:endParaRPr lang="en-US" sz="850" dirty="0"/>
          </a:p>
        </p:txBody>
      </p:sp>
      <p:sp>
        <p:nvSpPr>
          <p:cNvPr id="28" name="Shape 25"/>
          <p:cNvSpPr/>
          <p:nvPr/>
        </p:nvSpPr>
        <p:spPr>
          <a:xfrm>
            <a:off x="6062472" y="2743200"/>
            <a:ext cx="5351983" cy="960120"/>
          </a:xfrm>
          <a:prstGeom prst="roundRect">
            <a:avLst>
              <a:gd name="adj" fmla="val 5714"/>
            </a:avLst>
          </a:prstGeom>
          <a:solidFill>
            <a:srgbClr val="FFFFFF"/>
          </a:solidFill>
          <a:ln w="9525">
            <a:solidFill>
              <a:srgbClr val="E6E4E2"/>
            </a:solidFill>
            <a:prstDash val="solid"/>
          </a:ln>
          <a:effectLst>
            <a:outerShdw sx="100000" sy="100000" kx="0" ky="0" algn="bl" rotWithShape="0" blurRad="1.528147394302751e+42" dist="3.8203684857568774e+41" dir="5.44195584e+49">
              <a:srgbClr val="959092">
                <a:alpha val="2.2e+49"/>
              </a:srgbClr>
            </a:outerShdw>
          </a:effectLst>
        </p:spPr>
      </p:sp>
      <p:sp>
        <p:nvSpPr>
          <p:cNvPr id="29" name="Shape 26"/>
          <p:cNvSpPr/>
          <p:nvPr/>
        </p:nvSpPr>
        <p:spPr>
          <a:xfrm>
            <a:off x="6062472" y="2743200"/>
            <a:ext cx="50292" cy="960120"/>
          </a:xfrm>
          <a:prstGeom prst="rect">
            <a:avLst/>
          </a:prstGeom>
          <a:solidFill>
            <a:srgbClr val="942838"/>
          </a:solidFill>
          <a:ln/>
        </p:spPr>
      </p:sp>
      <p:sp>
        <p:nvSpPr>
          <p:cNvPr id="30" name="Text 27"/>
          <p:cNvSpPr txBox="1"/>
          <p:nvPr/>
        </p:nvSpPr>
        <p:spPr>
          <a:xfrm>
            <a:off x="6318504" y="2889504"/>
            <a:ext cx="4894783" cy="237744"/>
          </a:xfrm>
          <a:prstGeom prst="rect">
            <a:avLst/>
          </a:prstGeom>
          <a:noFill/>
          <a:ln/>
        </p:spPr>
        <p:txBody>
          <a:bodyPr wrap="square" lIns="0" tIns="0" rIns="0" bIns="0" rtlCol="0" anchor="t"/>
          <a:lstStyle/>
          <a:p>
            <a:pPr indent="0" marL="0">
              <a:buNone/>
            </a:pPr>
            <a:r>
              <a:rPr lang="en-US" sz="1300" spc="40" kern="0" dirty="0">
                <a:solidFill>
                  <a:srgbClr val="2B2D30"/>
                </a:solidFill>
                <a:latin typeface="Montserrat ExtraBold" pitchFamily="34" charset="0"/>
                <a:ea typeface="Montserrat ExtraBold" pitchFamily="34" charset="-122"/>
                <a:cs typeface="Montserrat ExtraBold" pitchFamily="34" charset="-120"/>
              </a:rPr>
              <a:t>REACHABLE</a:t>
            </a:r>
            <a:endParaRPr lang="en-US" sz="1300" dirty="0"/>
          </a:p>
        </p:txBody>
      </p:sp>
      <p:sp>
        <p:nvSpPr>
          <p:cNvPr id="31" name="Text 28"/>
          <p:cNvSpPr txBox="1"/>
          <p:nvPr/>
        </p:nvSpPr>
        <p:spPr>
          <a:xfrm>
            <a:off x="6318504" y="3172968"/>
            <a:ext cx="4839919" cy="420624"/>
          </a:xfrm>
          <a:prstGeom prst="rect">
            <a:avLst/>
          </a:prstGeom>
          <a:noFill/>
          <a:ln/>
        </p:spPr>
        <p:txBody>
          <a:bodyPr wrap="square" lIns="0" tIns="0" rIns="0" bIns="0" rtlCol="0" anchor="t"/>
          <a:lstStyle/>
          <a:p>
            <a:pPr indent="0" marL="0">
              <a:lnSpc>
                <a:spcPct val="116000"/>
              </a:lnSpc>
              <a:buNone/>
            </a:pPr>
            <a:r>
              <a:rPr lang="en-US" sz="950" dirty="0">
                <a:solidFill>
                  <a:srgbClr val="6E7175"/>
                </a:solidFill>
                <a:latin typeface="Montserrat" pitchFamily="34" charset="0"/>
                <a:ea typeface="Montserrat" pitchFamily="34" charset="-122"/>
                <a:cs typeface="Montserrat" pitchFamily="34" charset="-120"/>
              </a:rPr>
              <a:t>Our code does call the vulnerable part. This one is real exposure, and it gets worked.</a:t>
            </a:r>
            <a:endParaRPr lang="en-US" sz="950" dirty="0"/>
          </a:p>
        </p:txBody>
      </p:sp>
      <p:sp>
        <p:nvSpPr>
          <p:cNvPr id="32" name="Shape 29"/>
          <p:cNvSpPr/>
          <p:nvPr/>
        </p:nvSpPr>
        <p:spPr>
          <a:xfrm>
            <a:off x="6062472" y="3813048"/>
            <a:ext cx="5351983" cy="960120"/>
          </a:xfrm>
          <a:prstGeom prst="roundRect">
            <a:avLst>
              <a:gd name="adj" fmla="val 5714"/>
            </a:avLst>
          </a:prstGeom>
          <a:solidFill>
            <a:srgbClr val="FFFFFF"/>
          </a:solidFill>
          <a:ln w="9525">
            <a:solidFill>
              <a:srgbClr val="E6E4E2"/>
            </a:solidFill>
            <a:prstDash val="solid"/>
          </a:ln>
          <a:effectLst>
            <a:outerShdw sx="100000" sy="100000" kx="0" ky="0" algn="bl" rotWithShape="0" blurRad="1.9407471907644937e+46" dist="4.851867976911234e+45" dir="3.2651735040000005e+54">
              <a:srgbClr val="959092">
                <a:alpha val="2.2e+54"/>
              </a:srgbClr>
            </a:outerShdw>
          </a:effectLst>
        </p:spPr>
      </p:sp>
      <p:sp>
        <p:nvSpPr>
          <p:cNvPr id="33" name="Shape 30"/>
          <p:cNvSpPr/>
          <p:nvPr/>
        </p:nvSpPr>
        <p:spPr>
          <a:xfrm>
            <a:off x="6062472" y="3813048"/>
            <a:ext cx="50292" cy="960120"/>
          </a:xfrm>
          <a:prstGeom prst="rect">
            <a:avLst/>
          </a:prstGeom>
          <a:solidFill>
            <a:srgbClr val="C9C6C4"/>
          </a:solidFill>
          <a:ln/>
        </p:spPr>
      </p:sp>
      <p:sp>
        <p:nvSpPr>
          <p:cNvPr id="34" name="Text 31"/>
          <p:cNvSpPr txBox="1"/>
          <p:nvPr/>
        </p:nvSpPr>
        <p:spPr>
          <a:xfrm>
            <a:off x="6318504" y="3959352"/>
            <a:ext cx="4894783" cy="237744"/>
          </a:xfrm>
          <a:prstGeom prst="rect">
            <a:avLst/>
          </a:prstGeom>
          <a:noFill/>
          <a:ln/>
        </p:spPr>
        <p:txBody>
          <a:bodyPr wrap="square" lIns="0" tIns="0" rIns="0" bIns="0" rtlCol="0" anchor="t"/>
          <a:lstStyle/>
          <a:p>
            <a:pPr indent="0" marL="0">
              <a:buNone/>
            </a:pPr>
            <a:r>
              <a:rPr lang="en-US" sz="1300" spc="40" kern="0" dirty="0">
                <a:solidFill>
                  <a:srgbClr val="2B2D30"/>
                </a:solidFill>
                <a:latin typeface="Montserrat ExtraBold" pitchFamily="34" charset="0"/>
                <a:ea typeface="Montserrat ExtraBold" pitchFamily="34" charset="-122"/>
                <a:cs typeface="Montserrat ExtraBold" pitchFamily="34" charset="-120"/>
              </a:rPr>
              <a:t>NO CALL SITE FOUND</a:t>
            </a:r>
            <a:endParaRPr lang="en-US" sz="1300" dirty="0"/>
          </a:p>
        </p:txBody>
      </p:sp>
      <p:sp>
        <p:nvSpPr>
          <p:cNvPr id="35" name="Text 32"/>
          <p:cNvSpPr txBox="1"/>
          <p:nvPr/>
        </p:nvSpPr>
        <p:spPr>
          <a:xfrm>
            <a:off x="6318504" y="4242816"/>
            <a:ext cx="4839919" cy="420624"/>
          </a:xfrm>
          <a:prstGeom prst="rect">
            <a:avLst/>
          </a:prstGeom>
          <a:noFill/>
          <a:ln/>
        </p:spPr>
        <p:txBody>
          <a:bodyPr wrap="square" lIns="0" tIns="0" rIns="0" bIns="0" rtlCol="0" anchor="t"/>
          <a:lstStyle/>
          <a:p>
            <a:pPr indent="0" marL="0">
              <a:lnSpc>
                <a:spcPct val="116000"/>
              </a:lnSpc>
              <a:buNone/>
            </a:pPr>
            <a:r>
              <a:rPr lang="en-US" sz="950" dirty="0">
                <a:solidFill>
                  <a:srgbClr val="6E7175"/>
                </a:solidFill>
                <a:latin typeface="Montserrat" pitchFamily="34" charset="0"/>
                <a:ea typeface="Montserrat" pitchFamily="34" charset="-122"/>
                <a:cs typeface="Montserrat" pitchFamily="34" charset="-120"/>
              </a:rPr>
              <a:t>Nothing in our code reaches it. Read with a real code parser rather than a text search, so it is a confident answer.</a:t>
            </a:r>
            <a:endParaRPr lang="en-US" sz="950" dirty="0"/>
          </a:p>
        </p:txBody>
      </p:sp>
      <p:sp>
        <p:nvSpPr>
          <p:cNvPr id="36" name="Shape 33"/>
          <p:cNvSpPr/>
          <p:nvPr/>
        </p:nvSpPr>
        <p:spPr>
          <a:xfrm>
            <a:off x="6062472" y="4882896"/>
            <a:ext cx="5351983" cy="960120"/>
          </a:xfrm>
          <a:prstGeom prst="roundRect">
            <a:avLst>
              <a:gd name="adj" fmla="val 5714"/>
            </a:avLst>
          </a:prstGeom>
          <a:solidFill>
            <a:srgbClr val="FFFFFF"/>
          </a:solidFill>
          <a:ln w="9525">
            <a:solidFill>
              <a:srgbClr val="E6E4E2"/>
            </a:solidFill>
            <a:prstDash val="solid"/>
          </a:ln>
          <a:effectLst>
            <a:outerShdw sx="100000" sy="100000" kx="0" ky="0" algn="bl" rotWithShape="0" blurRad="2.464748932270907e+50" dist="6.161872330677268e+49" dir="1.9591041024000004e+59">
              <a:srgbClr val="959092">
                <a:alpha val="2.2e+59"/>
              </a:srgbClr>
            </a:outerShdw>
          </a:effectLst>
        </p:spPr>
      </p:sp>
      <p:sp>
        <p:nvSpPr>
          <p:cNvPr id="37" name="Shape 34"/>
          <p:cNvSpPr/>
          <p:nvPr/>
        </p:nvSpPr>
        <p:spPr>
          <a:xfrm>
            <a:off x="6062472" y="4882896"/>
            <a:ext cx="50292" cy="960120"/>
          </a:xfrm>
          <a:prstGeom prst="rect">
            <a:avLst/>
          </a:prstGeom>
          <a:solidFill>
            <a:srgbClr val="43464A"/>
          </a:solidFill>
          <a:ln/>
        </p:spPr>
      </p:sp>
      <p:sp>
        <p:nvSpPr>
          <p:cNvPr id="38" name="Text 35"/>
          <p:cNvSpPr txBox="1"/>
          <p:nvPr/>
        </p:nvSpPr>
        <p:spPr>
          <a:xfrm>
            <a:off x="6318504" y="5029200"/>
            <a:ext cx="4894783" cy="237744"/>
          </a:xfrm>
          <a:prstGeom prst="rect">
            <a:avLst/>
          </a:prstGeom>
          <a:noFill/>
          <a:ln/>
        </p:spPr>
        <p:txBody>
          <a:bodyPr wrap="square" lIns="0" tIns="0" rIns="0" bIns="0" rtlCol="0" anchor="t"/>
          <a:lstStyle/>
          <a:p>
            <a:pPr indent="0" marL="0">
              <a:buNone/>
            </a:pPr>
            <a:r>
              <a:rPr lang="en-US" sz="1300" spc="40" kern="0" dirty="0">
                <a:solidFill>
                  <a:srgbClr val="2B2D30"/>
                </a:solidFill>
                <a:latin typeface="Montserrat ExtraBold" pitchFamily="34" charset="0"/>
                <a:ea typeface="Montserrat ExtraBold" pitchFamily="34" charset="-122"/>
                <a:cs typeface="Montserrat ExtraBold" pitchFamily="34" charset="-120"/>
              </a:rPr>
              <a:t>CAN'T PROVE</a:t>
            </a:r>
            <a:endParaRPr lang="en-US" sz="1300" dirty="0"/>
          </a:p>
        </p:txBody>
      </p:sp>
      <p:sp>
        <p:nvSpPr>
          <p:cNvPr id="39" name="Text 36"/>
          <p:cNvSpPr txBox="1"/>
          <p:nvPr/>
        </p:nvSpPr>
        <p:spPr>
          <a:xfrm>
            <a:off x="6318504" y="5312664"/>
            <a:ext cx="4839919" cy="420624"/>
          </a:xfrm>
          <a:prstGeom prst="rect">
            <a:avLst/>
          </a:prstGeom>
          <a:noFill/>
          <a:ln/>
        </p:spPr>
        <p:txBody>
          <a:bodyPr wrap="square" lIns="0" tIns="0" rIns="0" bIns="0" rtlCol="0" anchor="t"/>
          <a:lstStyle/>
          <a:p>
            <a:pPr indent="0" marL="0">
              <a:lnSpc>
                <a:spcPct val="116000"/>
              </a:lnSpc>
              <a:buNone/>
            </a:pPr>
            <a:r>
              <a:rPr lang="en-US" sz="950" dirty="0">
                <a:solidFill>
                  <a:srgbClr val="6E7175"/>
                </a:solidFill>
                <a:latin typeface="Montserrat" pitchFamily="34" charset="0"/>
                <a:ea typeface="Montserrat" pitchFamily="34" charset="-122"/>
                <a:cs typeface="Montserrat" pitchFamily="34" charset="-120"/>
              </a:rPr>
              <a:t>The tool cannot be certain either way — so it says exactly that, and a person makes the call.</a:t>
            </a:r>
            <a:endParaRPr lang="en-US" sz="950" dirty="0"/>
          </a:p>
        </p:txBody>
      </p:sp>
      <p:sp>
        <p:nvSpPr>
          <p:cNvPr id="40" name="Text 37"/>
          <p:cNvSpPr txBox="1"/>
          <p:nvPr/>
        </p:nvSpPr>
        <p:spPr>
          <a:xfrm>
            <a:off x="6062472" y="5943600"/>
            <a:ext cx="5351983" cy="237744"/>
          </a:xfrm>
          <a:prstGeom prst="rect">
            <a:avLst/>
          </a:prstGeom>
          <a:noFill/>
          <a:ln/>
        </p:spPr>
        <p:txBody>
          <a:bodyPr wrap="square" lIns="0" tIns="0" rIns="0" bIns="0" rtlCol="0" anchor="t"/>
          <a:lstStyle/>
          <a:p>
            <a:pPr indent="0" marL="0">
              <a:buNone/>
            </a:pPr>
            <a:r>
              <a:rPr lang="en-US" sz="1050" dirty="0">
                <a:solidFill>
                  <a:srgbClr val="43464A"/>
                </a:solidFill>
                <a:latin typeface="Montserrat SemiBold" pitchFamily="34" charset="0"/>
                <a:ea typeface="Montserrat SemiBold" pitchFamily="34" charset="-122"/>
                <a:cs typeface="Montserrat SemiBold" pitchFamily="34" charset="-120"/>
              </a:rPr>
              <a:t>The third answer is why the other two can be trusted.</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HOW IT WORKS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Five stages. Only one can change anything</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13</a:t>
            </a:r>
            <a:endParaRPr lang="en-US" sz="850" dirty="0"/>
          </a:p>
        </p:txBody>
      </p:sp>
      <p:sp>
        <p:nvSpPr>
          <p:cNvPr id="9" name="Shape 6"/>
          <p:cNvSpPr/>
          <p:nvPr/>
        </p:nvSpPr>
        <p:spPr>
          <a:xfrm>
            <a:off x="777240" y="1865376"/>
            <a:ext cx="10637215" cy="530352"/>
          </a:xfrm>
          <a:prstGeom prst="roundRect">
            <a:avLst>
              <a:gd name="adj" fmla="val 10345"/>
            </a:avLst>
          </a:prstGeom>
          <a:solidFill>
            <a:srgbClr val="F6EEF0"/>
          </a:solidFill>
          <a:ln/>
        </p:spPr>
      </p:sp>
      <p:sp>
        <p:nvSpPr>
          <p:cNvPr id="10" name="Shape 7"/>
          <p:cNvSpPr/>
          <p:nvPr/>
        </p:nvSpPr>
        <p:spPr>
          <a:xfrm>
            <a:off x="777240" y="1865376"/>
            <a:ext cx="50292" cy="530352"/>
          </a:xfrm>
          <a:prstGeom prst="rect">
            <a:avLst/>
          </a:prstGeom>
          <a:solidFill>
            <a:srgbClr val="942838"/>
          </a:solidFill>
          <a:ln/>
        </p:spPr>
      </p:sp>
      <p:sp>
        <p:nvSpPr>
          <p:cNvPr id="11" name="Text 8"/>
          <p:cNvSpPr txBox="1"/>
          <p:nvPr/>
        </p:nvSpPr>
        <p:spPr>
          <a:xfrm>
            <a:off x="1014984" y="2039112"/>
            <a:ext cx="10180015" cy="274320"/>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CORE RULE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reported as safe. If AEGIS cannot tell, it says so.</a:t>
            </a:r>
            <a:endParaRPr lang="en-US" sz="900" dirty="0"/>
          </a:p>
        </p:txBody>
      </p:sp>
      <p:sp>
        <p:nvSpPr>
          <p:cNvPr id="12" name="Text 9"/>
          <p:cNvSpPr txBox="1"/>
          <p:nvPr/>
        </p:nvSpPr>
        <p:spPr>
          <a:xfrm>
            <a:off x="777240" y="2596896"/>
            <a:ext cx="82296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STAGES 00–03   ·   RUN AUTOMATICALLY, READ ONLY — NOTHING IS CHANGED</a:t>
            </a:r>
            <a:endParaRPr lang="en-US" sz="850" dirty="0"/>
          </a:p>
        </p:txBody>
      </p:sp>
      <p:sp>
        <p:nvSpPr>
          <p:cNvPr id="13" name="Shape 10"/>
          <p:cNvSpPr/>
          <p:nvPr/>
        </p:nvSpPr>
        <p:spPr>
          <a:xfrm>
            <a:off x="7772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1302311439840524e+54" dist="7.825577859960131e+53" dir="1.1754624614400003e+64">
              <a:srgbClr val="959092">
                <a:alpha val="2.2e+64"/>
              </a:srgbClr>
            </a:outerShdw>
          </a:effectLst>
        </p:spPr>
      </p:sp>
      <p:sp>
        <p:nvSpPr>
          <p:cNvPr id="14" name="Shape 11"/>
          <p:cNvSpPr/>
          <p:nvPr/>
        </p:nvSpPr>
        <p:spPr>
          <a:xfrm>
            <a:off x="777240" y="2798064"/>
            <a:ext cx="2412416" cy="45720"/>
          </a:xfrm>
          <a:prstGeom prst="rect">
            <a:avLst/>
          </a:prstGeom>
          <a:solidFill>
            <a:srgbClr val="942838"/>
          </a:solidFill>
          <a:ln/>
        </p:spPr>
      </p:sp>
      <p:sp>
        <p:nvSpPr>
          <p:cNvPr id="15" name="Text 12"/>
          <p:cNvSpPr txBox="1"/>
          <p:nvPr/>
        </p:nvSpPr>
        <p:spPr>
          <a:xfrm>
            <a:off x="9966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00</a:t>
            </a:r>
            <a:endParaRPr lang="en-US" sz="1300" dirty="0"/>
          </a:p>
        </p:txBody>
      </p:sp>
      <p:sp>
        <p:nvSpPr>
          <p:cNvPr id="16" name="Text 13"/>
          <p:cNvSpPr txBox="1"/>
          <p:nvPr/>
        </p:nvSpPr>
        <p:spPr>
          <a:xfrm>
            <a:off x="9966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SCAN</a:t>
            </a:r>
            <a:endParaRPr lang="en-US" sz="1600" dirty="0"/>
          </a:p>
        </p:txBody>
      </p:sp>
      <p:sp>
        <p:nvSpPr>
          <p:cNvPr id="17" name="Text 14"/>
          <p:cNvSpPr txBox="1"/>
          <p:nvPr/>
        </p:nvSpPr>
        <p:spPr>
          <a:xfrm>
            <a:off x="9966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every package version the project installs — its "lockfile" — against public records of known flaws.</a:t>
            </a:r>
            <a:endParaRPr lang="en-US" sz="950" dirty="0"/>
          </a:p>
        </p:txBody>
      </p:sp>
      <p:sp>
        <p:nvSpPr>
          <p:cNvPr id="18" name="Text 15"/>
          <p:cNvSpPr txBox="1"/>
          <p:nvPr/>
        </p:nvSpPr>
        <p:spPr>
          <a:xfrm>
            <a:off x="9966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Checks public flaw records</a:t>
            </a:r>
            <a:endParaRPr lang="en-US" sz="850" dirty="0"/>
          </a:p>
        </p:txBody>
      </p:sp>
      <p:sp>
        <p:nvSpPr>
          <p:cNvPr id="19" name="Shape 16"/>
          <p:cNvSpPr/>
          <p:nvPr/>
        </p:nvSpPr>
        <p:spPr>
          <a:xfrm>
            <a:off x="3235376" y="3656686"/>
            <a:ext cx="146304" cy="20117"/>
          </a:xfrm>
          <a:prstGeom prst="rect">
            <a:avLst/>
          </a:prstGeom>
          <a:solidFill>
            <a:srgbClr val="43464A"/>
          </a:solidFill>
          <a:ln/>
        </p:spPr>
      </p:sp>
      <p:sp>
        <p:nvSpPr>
          <p:cNvPr id="20" name="Shape 17"/>
          <p:cNvSpPr/>
          <p:nvPr/>
        </p:nvSpPr>
        <p:spPr>
          <a:xfrm rot="5400000">
            <a:off x="3381680" y="3607308"/>
            <a:ext cx="91440" cy="118872"/>
          </a:xfrm>
          <a:prstGeom prst="triangle">
            <a:avLst/>
          </a:prstGeom>
          <a:solidFill>
            <a:srgbClr val="43464A"/>
          </a:solidFill>
          <a:ln/>
        </p:spPr>
      </p:sp>
      <p:sp>
        <p:nvSpPr>
          <p:cNvPr id="21" name="Shape 18"/>
          <p:cNvSpPr/>
          <p:nvPr/>
        </p:nvSpPr>
        <p:spPr>
          <a:xfrm>
            <a:off x="35188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9753935528597466e+58" dist="9.938483882149366e+57" dir="7.052774768640002e+68">
              <a:srgbClr val="959092">
                <a:alpha val="2.2e+69"/>
              </a:srgbClr>
            </a:outerShdw>
          </a:effectLst>
        </p:spPr>
      </p:sp>
      <p:sp>
        <p:nvSpPr>
          <p:cNvPr id="22" name="Shape 19"/>
          <p:cNvSpPr/>
          <p:nvPr/>
        </p:nvSpPr>
        <p:spPr>
          <a:xfrm>
            <a:off x="3518840" y="2798064"/>
            <a:ext cx="2412416" cy="45720"/>
          </a:xfrm>
          <a:prstGeom prst="rect">
            <a:avLst/>
          </a:prstGeom>
          <a:solidFill>
            <a:srgbClr val="942838"/>
          </a:solidFill>
          <a:ln/>
        </p:spPr>
      </p:sp>
      <p:sp>
        <p:nvSpPr>
          <p:cNvPr id="23" name="Text 20"/>
          <p:cNvSpPr txBox="1"/>
          <p:nvPr/>
        </p:nvSpPr>
        <p:spPr>
          <a:xfrm>
            <a:off x="37382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01</a:t>
            </a:r>
            <a:endParaRPr lang="en-US" sz="1300" dirty="0"/>
          </a:p>
        </p:txBody>
      </p:sp>
      <p:sp>
        <p:nvSpPr>
          <p:cNvPr id="24" name="Text 21"/>
          <p:cNvSpPr txBox="1"/>
          <p:nvPr/>
        </p:nvSpPr>
        <p:spPr>
          <a:xfrm>
            <a:off x="37382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REACH</a:t>
            </a:r>
            <a:endParaRPr lang="en-US" sz="1600" dirty="0"/>
          </a:p>
        </p:txBody>
      </p:sp>
      <p:sp>
        <p:nvSpPr>
          <p:cNvPr id="25" name="Text 22"/>
          <p:cNvSpPr txBox="1"/>
          <p:nvPr/>
        </p:nvSpPr>
        <p:spPr>
          <a:xfrm>
            <a:off x="37382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Finds whether our own code calls the vulnerable part — and answers reachable, no call site, or can't prove.</a:t>
            </a:r>
            <a:endParaRPr lang="en-US" sz="950" dirty="0"/>
          </a:p>
        </p:txBody>
      </p:sp>
      <p:sp>
        <p:nvSpPr>
          <p:cNvPr id="26" name="Text 23"/>
          <p:cNvSpPr txBox="1"/>
          <p:nvPr/>
        </p:nvSpPr>
        <p:spPr>
          <a:xfrm>
            <a:off x="37382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27" name="Shape 24"/>
          <p:cNvSpPr/>
          <p:nvPr/>
        </p:nvSpPr>
        <p:spPr>
          <a:xfrm>
            <a:off x="5976976" y="3656686"/>
            <a:ext cx="146304" cy="20117"/>
          </a:xfrm>
          <a:prstGeom prst="rect">
            <a:avLst/>
          </a:prstGeom>
          <a:solidFill>
            <a:srgbClr val="43464A"/>
          </a:solidFill>
          <a:ln/>
        </p:spPr>
      </p:sp>
      <p:sp>
        <p:nvSpPr>
          <p:cNvPr id="28" name="Shape 25"/>
          <p:cNvSpPr/>
          <p:nvPr/>
        </p:nvSpPr>
        <p:spPr>
          <a:xfrm rot="5400000">
            <a:off x="6123280" y="3607308"/>
            <a:ext cx="91440" cy="118872"/>
          </a:xfrm>
          <a:prstGeom prst="triangle">
            <a:avLst/>
          </a:prstGeom>
          <a:solidFill>
            <a:srgbClr val="43464A"/>
          </a:solidFill>
          <a:ln/>
        </p:spPr>
      </p:sp>
      <p:sp>
        <p:nvSpPr>
          <p:cNvPr id="29" name="Shape 26"/>
          <p:cNvSpPr/>
          <p:nvPr/>
        </p:nvSpPr>
        <p:spPr>
          <a:xfrm>
            <a:off x="62604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5.048749812131878e+62" dist="1.2621874530329695e+62" dir="4.2316648611840007e+73">
              <a:srgbClr val="959092">
                <a:alpha val="2.2e+74"/>
              </a:srgbClr>
            </a:outerShdw>
          </a:effectLst>
        </p:spPr>
      </p:sp>
      <p:sp>
        <p:nvSpPr>
          <p:cNvPr id="30" name="Shape 27"/>
          <p:cNvSpPr/>
          <p:nvPr/>
        </p:nvSpPr>
        <p:spPr>
          <a:xfrm>
            <a:off x="6260440" y="2798064"/>
            <a:ext cx="2412416" cy="45720"/>
          </a:xfrm>
          <a:prstGeom prst="rect">
            <a:avLst/>
          </a:prstGeom>
          <a:solidFill>
            <a:srgbClr val="942838"/>
          </a:solidFill>
          <a:ln/>
        </p:spPr>
      </p:sp>
      <p:sp>
        <p:nvSpPr>
          <p:cNvPr id="31" name="Text 28"/>
          <p:cNvSpPr txBox="1"/>
          <p:nvPr/>
        </p:nvSpPr>
        <p:spPr>
          <a:xfrm>
            <a:off x="64798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02</a:t>
            </a:r>
            <a:endParaRPr lang="en-US" sz="1300" dirty="0"/>
          </a:p>
        </p:txBody>
      </p:sp>
      <p:sp>
        <p:nvSpPr>
          <p:cNvPr id="32" name="Text 29"/>
          <p:cNvSpPr txBox="1"/>
          <p:nvPr/>
        </p:nvSpPr>
        <p:spPr>
          <a:xfrm>
            <a:off x="64798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BLAST</a:t>
            </a:r>
            <a:endParaRPr lang="en-US" sz="1600" dirty="0"/>
          </a:p>
        </p:txBody>
      </p:sp>
      <p:sp>
        <p:nvSpPr>
          <p:cNvPr id="33" name="Text 30"/>
          <p:cNvSpPr txBox="1"/>
          <p:nvPr/>
        </p:nvSpPr>
        <p:spPr>
          <a:xfrm>
            <a:off x="64798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Measures how much could be affected — how much of the codebase sits downstream, and whether it runs in production.</a:t>
            </a:r>
            <a:endParaRPr lang="en-US" sz="950" dirty="0"/>
          </a:p>
        </p:txBody>
      </p:sp>
      <p:sp>
        <p:nvSpPr>
          <p:cNvPr id="34" name="Text 31"/>
          <p:cNvSpPr txBox="1"/>
          <p:nvPr/>
        </p:nvSpPr>
        <p:spPr>
          <a:xfrm>
            <a:off x="64798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35" name="Shape 32"/>
          <p:cNvSpPr/>
          <p:nvPr/>
        </p:nvSpPr>
        <p:spPr>
          <a:xfrm>
            <a:off x="8718575" y="3656686"/>
            <a:ext cx="146304" cy="20117"/>
          </a:xfrm>
          <a:prstGeom prst="rect">
            <a:avLst/>
          </a:prstGeom>
          <a:solidFill>
            <a:srgbClr val="43464A"/>
          </a:solidFill>
          <a:ln/>
        </p:spPr>
      </p:sp>
      <p:sp>
        <p:nvSpPr>
          <p:cNvPr id="36" name="Shape 33"/>
          <p:cNvSpPr/>
          <p:nvPr/>
        </p:nvSpPr>
        <p:spPr>
          <a:xfrm rot="5400000">
            <a:off x="8864879" y="3607308"/>
            <a:ext cx="91440" cy="118872"/>
          </a:xfrm>
          <a:prstGeom prst="triangle">
            <a:avLst/>
          </a:prstGeom>
          <a:solidFill>
            <a:srgbClr val="43464A"/>
          </a:solidFill>
          <a:ln/>
        </p:spPr>
      </p:sp>
      <p:sp>
        <p:nvSpPr>
          <p:cNvPr id="37" name="Shape 34"/>
          <p:cNvSpPr/>
          <p:nvPr/>
        </p:nvSpPr>
        <p:spPr>
          <a:xfrm>
            <a:off x="9002039"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6.411912261407485e+66" dist="1.6029780653518713e+66" dir="2.5389989167104004e+78">
              <a:srgbClr val="959092">
                <a:alpha val="2.2000000000000002e+79"/>
              </a:srgbClr>
            </a:outerShdw>
          </a:effectLst>
        </p:spPr>
      </p:sp>
      <p:sp>
        <p:nvSpPr>
          <p:cNvPr id="38" name="Shape 35"/>
          <p:cNvSpPr/>
          <p:nvPr/>
        </p:nvSpPr>
        <p:spPr>
          <a:xfrm>
            <a:off x="9002039" y="2798064"/>
            <a:ext cx="2412416" cy="45720"/>
          </a:xfrm>
          <a:prstGeom prst="rect">
            <a:avLst/>
          </a:prstGeom>
          <a:solidFill>
            <a:srgbClr val="942838"/>
          </a:solidFill>
          <a:ln/>
        </p:spPr>
      </p:sp>
      <p:sp>
        <p:nvSpPr>
          <p:cNvPr id="39" name="Text 36"/>
          <p:cNvSpPr txBox="1"/>
          <p:nvPr/>
        </p:nvSpPr>
        <p:spPr>
          <a:xfrm>
            <a:off x="9221495"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03</a:t>
            </a:r>
            <a:endParaRPr lang="en-US" sz="1300" dirty="0"/>
          </a:p>
        </p:txBody>
      </p:sp>
      <p:sp>
        <p:nvSpPr>
          <p:cNvPr id="40" name="Text 37"/>
          <p:cNvSpPr txBox="1"/>
          <p:nvPr/>
        </p:nvSpPr>
        <p:spPr>
          <a:xfrm>
            <a:off x="9221495"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REGRESS</a:t>
            </a:r>
            <a:endParaRPr lang="en-US" sz="1600" dirty="0"/>
          </a:p>
        </p:txBody>
      </p:sp>
      <p:sp>
        <p:nvSpPr>
          <p:cNvPr id="41" name="Text 38"/>
          <p:cNvSpPr txBox="1"/>
          <p:nvPr/>
        </p:nvSpPr>
        <p:spPr>
          <a:xfrm>
            <a:off x="9221495"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whether the security fix could break something — test coverage and upgrade risk, kept separate.</a:t>
            </a:r>
            <a:endParaRPr lang="en-US" sz="950" dirty="0"/>
          </a:p>
        </p:txBody>
      </p:sp>
      <p:sp>
        <p:nvSpPr>
          <p:cNvPr id="42" name="Text 39"/>
          <p:cNvSpPr txBox="1"/>
          <p:nvPr/>
        </p:nvSpPr>
        <p:spPr>
          <a:xfrm>
            <a:off x="9221495"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43" name="Shape 40"/>
          <p:cNvSpPr/>
          <p:nvPr/>
        </p:nvSpPr>
        <p:spPr>
          <a:xfrm>
            <a:off x="10198189" y="4553712"/>
            <a:ext cx="20117" cy="82296"/>
          </a:xfrm>
          <a:prstGeom prst="rect">
            <a:avLst/>
          </a:prstGeom>
          <a:solidFill>
            <a:srgbClr val="942838"/>
          </a:solidFill>
          <a:ln/>
        </p:spPr>
      </p:sp>
      <p:sp>
        <p:nvSpPr>
          <p:cNvPr id="44" name="Shape 41"/>
          <p:cNvSpPr/>
          <p:nvPr/>
        </p:nvSpPr>
        <p:spPr>
          <a:xfrm rot="10800000">
            <a:off x="10162527" y="4636008"/>
            <a:ext cx="91440" cy="118872"/>
          </a:xfrm>
          <a:prstGeom prst="triangle">
            <a:avLst/>
          </a:prstGeom>
          <a:solidFill>
            <a:srgbClr val="942838"/>
          </a:solidFill>
          <a:ln/>
        </p:spPr>
      </p:sp>
      <p:sp>
        <p:nvSpPr>
          <p:cNvPr id="45" name="Text 42"/>
          <p:cNvSpPr txBox="1"/>
          <p:nvPr/>
        </p:nvSpPr>
        <p:spPr>
          <a:xfrm>
            <a:off x="7830807" y="4645152"/>
            <a:ext cx="2194560" cy="201168"/>
          </a:xfrm>
          <a:prstGeom prst="rect">
            <a:avLst/>
          </a:prstGeom>
          <a:noFill/>
          <a:ln/>
        </p:spPr>
        <p:txBody>
          <a:bodyPr wrap="square" lIns="0" tIns="0" rIns="0" bIns="0" rtlCol="0" anchor="t"/>
          <a:lstStyle/>
          <a:p>
            <a:pPr algn="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ONLY IF YOU ASK</a:t>
            </a:r>
            <a:endParaRPr lang="en-US" sz="850" dirty="0"/>
          </a:p>
        </p:txBody>
      </p:sp>
      <p:sp>
        <p:nvSpPr>
          <p:cNvPr id="46" name="Shape 43"/>
          <p:cNvSpPr/>
          <p:nvPr/>
        </p:nvSpPr>
        <p:spPr>
          <a:xfrm>
            <a:off x="777240" y="4773168"/>
            <a:ext cx="10637215" cy="1133856"/>
          </a:xfrm>
          <a:prstGeom prst="roundRect">
            <a:avLst>
              <a:gd name="adj" fmla="val 4839"/>
            </a:avLst>
          </a:prstGeom>
          <a:solidFill>
            <a:srgbClr val="2B2D30"/>
          </a:solidFill>
          <a:ln/>
          <a:effectLst>
            <a:outerShdw sx="100000" sy="100000" kx="0" ky="0" algn="bl" rotWithShape="0" blurRad="1.247623194062889e+46" dist="2.7724959868064195e+45" dir="3.2651735040000005e+54">
              <a:srgbClr val="959092">
                <a:alpha val="1.6e+54"/>
              </a:srgbClr>
            </a:outerShdw>
          </a:effectLst>
        </p:spPr>
      </p:sp>
      <p:sp>
        <p:nvSpPr>
          <p:cNvPr id="47" name="Text 44"/>
          <p:cNvSpPr txBox="1"/>
          <p:nvPr/>
        </p:nvSpPr>
        <p:spPr>
          <a:xfrm>
            <a:off x="1088136" y="4974336"/>
            <a:ext cx="146304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STAGE 04</a:t>
            </a:r>
            <a:endParaRPr lang="en-US" sz="850" dirty="0"/>
          </a:p>
        </p:txBody>
      </p:sp>
      <p:sp>
        <p:nvSpPr>
          <p:cNvPr id="48" name="Text 45"/>
          <p:cNvSpPr txBox="1"/>
          <p:nvPr/>
        </p:nvSpPr>
        <p:spPr>
          <a:xfrm>
            <a:off x="1088136" y="5212080"/>
            <a:ext cx="1828800" cy="365760"/>
          </a:xfrm>
          <a:prstGeom prst="rect">
            <a:avLst/>
          </a:prstGeom>
          <a:noFill/>
          <a:ln/>
        </p:spPr>
        <p:txBody>
          <a:bodyPr wrap="square" lIns="0" tIns="0" rIns="0" bIns="0" rtlCol="0" anchor="t"/>
          <a:lstStyle/>
          <a:p>
            <a:pPr indent="0" marL="0">
              <a:buNone/>
            </a:pPr>
            <a:r>
              <a:rPr lang="en-US" sz="2200" spc="30" kern="0" dirty="0">
                <a:solidFill>
                  <a:srgbClr val="FFFFFF"/>
                </a:solidFill>
                <a:latin typeface="Montserrat ExtraBold" pitchFamily="34" charset="0"/>
                <a:ea typeface="Montserrat ExtraBold" pitchFamily="34" charset="-122"/>
                <a:cs typeface="Montserrat ExtraBold" pitchFamily="34" charset="-120"/>
              </a:rPr>
              <a:t>FIX</a:t>
            </a:r>
            <a:endParaRPr lang="en-US" sz="2200" dirty="0"/>
          </a:p>
        </p:txBody>
      </p:sp>
      <p:sp>
        <p:nvSpPr>
          <p:cNvPr id="49" name="Text 46"/>
          <p:cNvSpPr txBox="1"/>
          <p:nvPr/>
        </p:nvSpPr>
        <p:spPr>
          <a:xfrm>
            <a:off x="2880360" y="4992624"/>
            <a:ext cx="3200400" cy="731520"/>
          </a:xfrm>
          <a:prstGeom prst="rect">
            <a:avLst/>
          </a:prstGeom>
          <a:noFill/>
          <a:ln/>
        </p:spPr>
        <p:txBody>
          <a:bodyPr wrap="square" lIns="0" tIns="0" rIns="0" bIns="0" rtlCol="0" anchor="t"/>
          <a:lstStyle/>
          <a:p>
            <a:pPr indent="0" marL="0">
              <a:lnSpc>
                <a:spcPct val="120000"/>
              </a:lnSpc>
              <a:buNone/>
            </a:pPr>
            <a:r>
              <a:rPr lang="en-US" sz="1000" dirty="0">
                <a:solidFill>
                  <a:srgbClr val="DED9DA"/>
                </a:solidFill>
                <a:latin typeface="Montserrat" pitchFamily="34" charset="0"/>
                <a:ea typeface="Montserrat" pitchFamily="34" charset="-122"/>
                <a:cs typeface="Montserrat" pitchFamily="34" charset="-120"/>
              </a:rPr>
              <a:t>Builds and tests the fix — only when you ask, and one approved step at a time.</a:t>
            </a:r>
            <a:endParaRPr lang="en-US" sz="1000" dirty="0"/>
          </a:p>
        </p:txBody>
      </p:sp>
      <p:sp>
        <p:nvSpPr>
          <p:cNvPr id="50" name="Text 47"/>
          <p:cNvSpPr txBox="1"/>
          <p:nvPr/>
        </p:nvSpPr>
        <p:spPr>
          <a:xfrm>
            <a:off x="6355080" y="4956048"/>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1" name="Text 48"/>
          <p:cNvSpPr txBox="1"/>
          <p:nvPr/>
        </p:nvSpPr>
        <p:spPr>
          <a:xfrm>
            <a:off x="6574536" y="4956048"/>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Every step needs explicit human approval</a:t>
            </a:r>
            <a:endParaRPr lang="en-US" sz="1050" dirty="0"/>
          </a:p>
        </p:txBody>
      </p:sp>
      <p:sp>
        <p:nvSpPr>
          <p:cNvPr id="52" name="Text 49"/>
          <p:cNvSpPr txBox="1"/>
          <p:nvPr/>
        </p:nvSpPr>
        <p:spPr>
          <a:xfrm>
            <a:off x="6355080" y="5221224"/>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3" name="Text 50"/>
          <p:cNvSpPr txBox="1"/>
          <p:nvPr/>
        </p:nvSpPr>
        <p:spPr>
          <a:xfrm>
            <a:off x="6574536" y="5221224"/>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Refuses to touch a protected branch</a:t>
            </a:r>
            <a:endParaRPr lang="en-US" sz="1050" dirty="0"/>
          </a:p>
        </p:txBody>
      </p:sp>
      <p:sp>
        <p:nvSpPr>
          <p:cNvPr id="54" name="Text 51"/>
          <p:cNvSpPr txBox="1"/>
          <p:nvPr/>
        </p:nvSpPr>
        <p:spPr>
          <a:xfrm>
            <a:off x="6355080" y="5486400"/>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5" name="Text 52"/>
          <p:cNvSpPr txBox="1"/>
          <p:nvPr/>
        </p:nvSpPr>
        <p:spPr>
          <a:xfrm>
            <a:off x="6574536" y="5486400"/>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Never merges, and never marks its own work resolved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A REAL RUN</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28 flagged. 25 need nothing. 3 are one upgrade.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14</a:t>
            </a:r>
            <a:endParaRPr lang="en-US" sz="850" dirty="0"/>
          </a:p>
        </p:txBody>
      </p:sp>
      <p:sp>
        <p:nvSpPr>
          <p:cNvPr id="9" name="Text 6"/>
          <p:cNvSpPr txBox="1"/>
          <p:nvPr/>
        </p:nvSpPr>
        <p:spPr>
          <a:xfrm>
            <a:off x="777240" y="1956816"/>
            <a:ext cx="104241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A read-only scan of the </a:t>
            </a:r>
            <a:pPr indent="0" marL="0">
              <a:buNone/>
            </a:pPr>
            <a:r>
              <a:rPr lang="en-US" sz="1400" dirty="0">
                <a:solidFill>
                  <a:srgbClr val="2B2D30"/>
                </a:solidFill>
                <a:latin typeface="Montserrat SemiBold" pitchFamily="34" charset="0"/>
                <a:ea typeface="Montserrat SemiBold" pitchFamily="34" charset="-122"/>
                <a:cs typeface="Montserrat SemiBold" pitchFamily="34" charset="-120"/>
              </a:rPr>
              <a:t>Stewart.STEPS.Frontend</a:t>
            </a:r>
            <a:pPr indent="0" marL="0">
              <a:buNone/>
            </a:pPr>
            <a:r>
              <a:rPr lang="en-US" sz="1400" dirty="0">
                <a:solidFill>
                  <a:srgbClr val="6E7175"/>
                </a:solidFill>
                <a:latin typeface="Montserrat Medium" pitchFamily="34" charset="0"/>
                <a:ea typeface="Montserrat Medium" pitchFamily="34" charset="-122"/>
                <a:cs typeface="Montserrat Medium" pitchFamily="34" charset="-120"/>
              </a:rPr>
              <a:t> repository. Real code, real flaws, pulled live.</a:t>
            </a:r>
            <a:endParaRPr lang="en-US" sz="1400" dirty="0"/>
          </a:p>
        </p:txBody>
      </p:sp>
      <p:sp>
        <p:nvSpPr>
          <p:cNvPr id="10" name="Shape 7"/>
          <p:cNvSpPr/>
          <p:nvPr/>
        </p:nvSpPr>
        <p:spPr>
          <a:xfrm>
            <a:off x="777240" y="2377440"/>
            <a:ext cx="3310128" cy="1060704"/>
          </a:xfrm>
          <a:prstGeom prst="roundRect">
            <a:avLst>
              <a:gd name="adj" fmla="val 5172"/>
            </a:avLst>
          </a:prstGeom>
          <a:solidFill>
            <a:srgbClr val="F5F4F3"/>
          </a:solidFill>
          <a:ln w="9525">
            <a:solidFill>
              <a:srgbClr val="E6E4E2"/>
            </a:solidFill>
            <a:prstDash val="solid"/>
          </a:ln>
          <a:effectLst>
            <a:outerShdw sx="100000" sy="100000" kx="0" ky="0" algn="bl" rotWithShape="0" blurRad="8.143128571987506e+70" dist="2.0357821429968766e+70" dir="1.5233993500262402e+83">
              <a:srgbClr val="959092">
                <a:alpha val="2.2000000000000003e+84"/>
              </a:srgbClr>
            </a:outerShdw>
          </a:effectLst>
        </p:spPr>
      </p:sp>
      <p:sp>
        <p:nvSpPr>
          <p:cNvPr id="11" name="Text 8"/>
          <p:cNvSpPr txBox="1"/>
          <p:nvPr/>
        </p:nvSpPr>
        <p:spPr>
          <a:xfrm>
            <a:off x="960120" y="2523744"/>
            <a:ext cx="2944368" cy="530352"/>
          </a:xfrm>
          <a:prstGeom prst="rect">
            <a:avLst/>
          </a:prstGeom>
          <a:noFill/>
          <a:ln/>
        </p:spPr>
        <p:txBody>
          <a:bodyPr wrap="square" lIns="0" tIns="0" rIns="0" bIns="0" rtlCol="0" anchor="t"/>
          <a:lstStyle/>
          <a:p>
            <a:pPr algn="ctr" indent="0" marL="0">
              <a:buNone/>
            </a:pPr>
            <a:r>
              <a:rPr lang="en-US" sz="3400" spc="-120" kern="0" dirty="0">
                <a:solidFill>
                  <a:srgbClr val="2B2D30"/>
                </a:solidFill>
                <a:latin typeface="Montserrat ExtraBold" pitchFamily="34" charset="0"/>
                <a:ea typeface="Montserrat ExtraBold" pitchFamily="34" charset="-122"/>
                <a:cs typeface="Montserrat ExtraBold" pitchFamily="34" charset="-120"/>
              </a:rPr>
              <a:t>1,518</a:t>
            </a:r>
            <a:endParaRPr lang="en-US" sz="3400" dirty="0"/>
          </a:p>
        </p:txBody>
      </p:sp>
      <p:sp>
        <p:nvSpPr>
          <p:cNvPr id="12" name="Text 9"/>
          <p:cNvSpPr txBox="1"/>
          <p:nvPr/>
        </p:nvSpPr>
        <p:spPr>
          <a:xfrm>
            <a:off x="960120" y="3090672"/>
            <a:ext cx="2944368" cy="256032"/>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packages scanned</a:t>
            </a:r>
            <a:endParaRPr lang="en-US" sz="950" dirty="0"/>
          </a:p>
        </p:txBody>
      </p:sp>
      <p:sp>
        <p:nvSpPr>
          <p:cNvPr id="13" name="Text 10"/>
          <p:cNvSpPr txBox="1"/>
          <p:nvPr/>
        </p:nvSpPr>
        <p:spPr>
          <a:xfrm>
            <a:off x="4081196" y="2706624"/>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14" name="Shape 11"/>
          <p:cNvSpPr/>
          <p:nvPr/>
        </p:nvSpPr>
        <p:spPr>
          <a:xfrm>
            <a:off x="4440784" y="2377440"/>
            <a:ext cx="3310128" cy="1060704"/>
          </a:xfrm>
          <a:prstGeom prst="roundRect">
            <a:avLst>
              <a:gd name="adj" fmla="val 5172"/>
            </a:avLst>
          </a:prstGeom>
          <a:solidFill>
            <a:srgbClr val="F5F4F3"/>
          </a:solidFill>
          <a:ln w="9525">
            <a:solidFill>
              <a:srgbClr val="E6E4E2"/>
            </a:solidFill>
            <a:prstDash val="solid"/>
          </a:ln>
          <a:effectLst>
            <a:outerShdw sx="100000" sy="100000" kx="0" ky="0" algn="bl" rotWithShape="0" blurRad="1.0341773286424134e+75" dist="2.5854433216060334e+74" dir="9.14039610015744e+87">
              <a:srgbClr val="959092">
                <a:alpha val="2.2000000000000003e+89"/>
              </a:srgbClr>
            </a:outerShdw>
          </a:effectLst>
        </p:spPr>
      </p:sp>
      <p:sp>
        <p:nvSpPr>
          <p:cNvPr id="15" name="Text 12"/>
          <p:cNvSpPr txBox="1"/>
          <p:nvPr/>
        </p:nvSpPr>
        <p:spPr>
          <a:xfrm>
            <a:off x="4623664" y="2523744"/>
            <a:ext cx="2944368" cy="530352"/>
          </a:xfrm>
          <a:prstGeom prst="rect">
            <a:avLst/>
          </a:prstGeom>
          <a:noFill/>
          <a:ln/>
        </p:spPr>
        <p:txBody>
          <a:bodyPr wrap="square" lIns="0" tIns="0" rIns="0" bIns="0" rtlCol="0" anchor="t"/>
          <a:lstStyle/>
          <a:p>
            <a:pPr algn="ctr" indent="0" marL="0">
              <a:buNone/>
            </a:pPr>
            <a:r>
              <a:rPr lang="en-US" sz="3400" spc="-120" kern="0" dirty="0">
                <a:solidFill>
                  <a:srgbClr val="2B2D30"/>
                </a:solidFill>
                <a:latin typeface="Montserrat ExtraBold" pitchFamily="34" charset="0"/>
                <a:ea typeface="Montserrat ExtraBold" pitchFamily="34" charset="-122"/>
                <a:cs typeface="Montserrat ExtraBold" pitchFamily="34" charset="-120"/>
              </a:rPr>
              <a:t>28</a:t>
            </a:r>
            <a:endParaRPr lang="en-US" sz="3400" dirty="0"/>
          </a:p>
        </p:txBody>
      </p:sp>
      <p:sp>
        <p:nvSpPr>
          <p:cNvPr id="16" name="Text 13"/>
          <p:cNvSpPr txBox="1"/>
          <p:nvPr/>
        </p:nvSpPr>
        <p:spPr>
          <a:xfrm>
            <a:off x="4623664" y="3090672"/>
            <a:ext cx="2944368" cy="256032"/>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carrying a known flaw</a:t>
            </a:r>
            <a:endParaRPr lang="en-US" sz="950" dirty="0"/>
          </a:p>
        </p:txBody>
      </p:sp>
      <p:sp>
        <p:nvSpPr>
          <p:cNvPr id="17" name="Text 14"/>
          <p:cNvSpPr txBox="1"/>
          <p:nvPr/>
        </p:nvSpPr>
        <p:spPr>
          <a:xfrm>
            <a:off x="7744739" y="2706624"/>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18" name="Shape 15"/>
          <p:cNvSpPr/>
          <p:nvPr/>
        </p:nvSpPr>
        <p:spPr>
          <a:xfrm>
            <a:off x="8104327" y="2377440"/>
            <a:ext cx="3310128" cy="1060704"/>
          </a:xfrm>
          <a:prstGeom prst="roundRect">
            <a:avLst>
              <a:gd name="adj" fmla="val 5172"/>
            </a:avLst>
          </a:prstGeom>
          <a:solidFill>
            <a:srgbClr val="F6EEF0"/>
          </a:solidFill>
          <a:ln w="9525">
            <a:solidFill>
              <a:srgbClr val="942838"/>
            </a:solidFill>
            <a:prstDash val="solid"/>
          </a:ln>
          <a:effectLst>
            <a:outerShdw sx="100000" sy="100000" kx="0" ky="0" algn="bl" rotWithShape="0" blurRad="1.313405207375865e+79" dist="3.2835130184396625e+78" dir="5.484237660094465e+92">
              <a:srgbClr val="959092">
                <a:alpha val="2.2e+94"/>
              </a:srgbClr>
            </a:outerShdw>
          </a:effectLst>
        </p:spPr>
      </p:sp>
      <p:sp>
        <p:nvSpPr>
          <p:cNvPr id="19" name="Text 16"/>
          <p:cNvSpPr txBox="1"/>
          <p:nvPr/>
        </p:nvSpPr>
        <p:spPr>
          <a:xfrm>
            <a:off x="8287207" y="2523744"/>
            <a:ext cx="2944368" cy="530352"/>
          </a:xfrm>
          <a:prstGeom prst="rect">
            <a:avLst/>
          </a:prstGeom>
          <a:noFill/>
          <a:ln/>
        </p:spPr>
        <p:txBody>
          <a:bodyPr wrap="square" lIns="0" tIns="0" rIns="0" bIns="0" rtlCol="0" anchor="t"/>
          <a:lstStyle/>
          <a:p>
            <a:pPr algn="ctr" indent="0" marL="0">
              <a:buNone/>
            </a:pPr>
            <a:r>
              <a:rPr lang="en-US" sz="3400" spc="-120" kern="0" dirty="0">
                <a:solidFill>
                  <a:srgbClr val="942838"/>
                </a:solidFill>
                <a:latin typeface="Montserrat ExtraBold" pitchFamily="34" charset="0"/>
                <a:ea typeface="Montserrat ExtraBold" pitchFamily="34" charset="-122"/>
                <a:cs typeface="Montserrat ExtraBold" pitchFamily="34" charset="-120"/>
              </a:rPr>
              <a:t>3</a:t>
            </a:r>
            <a:endParaRPr lang="en-US" sz="3400" dirty="0"/>
          </a:p>
        </p:txBody>
      </p:sp>
      <p:sp>
        <p:nvSpPr>
          <p:cNvPr id="20" name="Text 17"/>
          <p:cNvSpPr txBox="1"/>
          <p:nvPr/>
        </p:nvSpPr>
        <p:spPr>
          <a:xfrm>
            <a:off x="8287207" y="3090672"/>
            <a:ext cx="2944368" cy="256032"/>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left needing a decision</a:t>
            </a:r>
            <a:endParaRPr lang="en-US" sz="950" dirty="0"/>
          </a:p>
        </p:txBody>
      </p:sp>
      <p:sp>
        <p:nvSpPr>
          <p:cNvPr id="21" name="Text 18"/>
          <p:cNvSpPr txBox="1"/>
          <p:nvPr/>
        </p:nvSpPr>
        <p:spPr>
          <a:xfrm>
            <a:off x="777240" y="3675888"/>
            <a:ext cx="54864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WHAT THAT MEANS FOR THE TEAM</a:t>
            </a:r>
            <a:endParaRPr lang="en-US" sz="850" dirty="0"/>
          </a:p>
        </p:txBody>
      </p:sp>
      <p:sp>
        <p:nvSpPr>
          <p:cNvPr id="22" name="Shape 19"/>
          <p:cNvSpPr/>
          <p:nvPr/>
        </p:nvSpPr>
        <p:spPr>
          <a:xfrm>
            <a:off x="777240" y="3931920"/>
            <a:ext cx="3362858" cy="1298448"/>
          </a:xfrm>
          <a:prstGeom prst="roundRect">
            <a:avLst>
              <a:gd name="adj" fmla="val 4225"/>
            </a:avLst>
          </a:prstGeom>
          <a:solidFill>
            <a:srgbClr val="FFFFFF"/>
          </a:solidFill>
          <a:ln w="9525">
            <a:solidFill>
              <a:srgbClr val="E6E4E2"/>
            </a:solidFill>
            <a:prstDash val="solid"/>
          </a:ln>
          <a:effectLst>
            <a:outerShdw sx="100000" sy="100000" kx="0" ky="0" algn="bl" rotWithShape="0" blurRad="1.6680246133673485e+83" dist="4.170061533418371e+82" dir="3.2905425960566786e+97">
              <a:srgbClr val="959092">
                <a:alpha val="2.2000000000000003e+99"/>
              </a:srgbClr>
            </a:outerShdw>
          </a:effectLst>
        </p:spPr>
      </p:sp>
      <p:sp>
        <p:nvSpPr>
          <p:cNvPr id="23" name="Shape 20"/>
          <p:cNvSpPr/>
          <p:nvPr/>
        </p:nvSpPr>
        <p:spPr>
          <a:xfrm>
            <a:off x="777240" y="3931920"/>
            <a:ext cx="3362858" cy="45720"/>
          </a:xfrm>
          <a:prstGeom prst="rect">
            <a:avLst/>
          </a:prstGeom>
          <a:solidFill>
            <a:srgbClr val="C9C6C4"/>
          </a:solidFill>
          <a:ln/>
        </p:spPr>
      </p:sp>
      <p:sp>
        <p:nvSpPr>
          <p:cNvPr id="24" name="Text 21"/>
          <p:cNvSpPr txBox="1"/>
          <p:nvPr/>
        </p:nvSpPr>
        <p:spPr>
          <a:xfrm>
            <a:off x="1033272" y="4151376"/>
            <a:ext cx="2850794" cy="256032"/>
          </a:xfrm>
          <a:prstGeom prst="rect">
            <a:avLst/>
          </a:prstGeom>
          <a:noFill/>
          <a:ln/>
        </p:spPr>
        <p:txBody>
          <a:bodyPr wrap="square" lIns="0" tIns="0" rIns="0" bIns="0" rtlCol="0" anchor="t"/>
          <a:lstStyle/>
          <a:p>
            <a:pPr indent="0" marL="0">
              <a:buNone/>
            </a:pPr>
            <a:r>
              <a:rPr lang="en-US" sz="1450" spc="-20" kern="0" dirty="0">
                <a:solidFill>
                  <a:srgbClr val="2B2D30"/>
                </a:solidFill>
                <a:latin typeface="Montserrat ExtraBold" pitchFamily="34" charset="0"/>
                <a:ea typeface="Montserrat ExtraBold" pitchFamily="34" charset="-122"/>
                <a:cs typeface="Montserrat ExtraBold" pitchFamily="34" charset="-120"/>
              </a:rPr>
              <a:t>25 need nothing</a:t>
            </a:r>
            <a:endParaRPr lang="en-US" sz="1450" dirty="0"/>
          </a:p>
        </p:txBody>
      </p:sp>
      <p:sp>
        <p:nvSpPr>
          <p:cNvPr id="25" name="Text 22"/>
          <p:cNvSpPr txBox="1"/>
          <p:nvPr/>
        </p:nvSpPr>
        <p:spPr>
          <a:xfrm>
            <a:off x="1033272" y="4462272"/>
            <a:ext cx="2850794" cy="731520"/>
          </a:xfrm>
          <a:prstGeom prst="rect">
            <a:avLst/>
          </a:prstGeom>
          <a:noFill/>
          <a:ln/>
        </p:spPr>
        <p:txBody>
          <a:bodyPr wrap="square" lIns="0" tIns="0" rIns="0" bIns="0" rtlCol="0" anchor="t"/>
          <a:lstStyle/>
          <a:p>
            <a:pPr indent="0" marL="0">
              <a:lnSpc>
                <a:spcPct val="120000"/>
              </a:lnSpc>
              <a:buNone/>
            </a:pPr>
            <a:r>
              <a:rPr lang="en-US" sz="950" dirty="0">
                <a:solidFill>
                  <a:srgbClr val="6E7175"/>
                </a:solidFill>
                <a:latin typeface="Montserrat" pitchFamily="34" charset="0"/>
                <a:ea typeface="Montserrat" pitchFamily="34" charset="-122"/>
                <a:cs typeface="Montserrat" pitchFamily="34" charset="-120"/>
              </a:rPr>
              <a:t>Build and development tooling the app never calls. AEGIS read the code to establish that, so it is an answer rather than an assumption.</a:t>
            </a:r>
            <a:endParaRPr lang="en-US" sz="950" dirty="0"/>
          </a:p>
        </p:txBody>
      </p:sp>
      <p:sp>
        <p:nvSpPr>
          <p:cNvPr id="26" name="Shape 23"/>
          <p:cNvSpPr/>
          <p:nvPr/>
        </p:nvSpPr>
        <p:spPr>
          <a:xfrm>
            <a:off x="4414418" y="3931920"/>
            <a:ext cx="3362858" cy="1298448"/>
          </a:xfrm>
          <a:prstGeom prst="roundRect">
            <a:avLst>
              <a:gd name="adj" fmla="val 4225"/>
            </a:avLst>
          </a:prstGeom>
          <a:solidFill>
            <a:srgbClr val="FFFFFF"/>
          </a:solidFill>
          <a:ln w="9525">
            <a:solidFill>
              <a:srgbClr val="E6E4E2"/>
            </a:solidFill>
            <a:prstDash val="solid"/>
          </a:ln>
          <a:effectLst>
            <a:outerShdw sx="100000" sy="100000" kx="0" ky="0" algn="bl" rotWithShape="0" blurRad="2.1183912589765324e+87" dist="5.295978147441331e+86" dir="1.9743255576340073e+102">
              <a:srgbClr val="959092">
                <a:alpha val="2.2000000000000003e+104"/>
              </a:srgbClr>
            </a:outerShdw>
          </a:effectLst>
        </p:spPr>
      </p:sp>
      <p:sp>
        <p:nvSpPr>
          <p:cNvPr id="27" name="Shape 24"/>
          <p:cNvSpPr/>
          <p:nvPr/>
        </p:nvSpPr>
        <p:spPr>
          <a:xfrm>
            <a:off x="4414418" y="3931920"/>
            <a:ext cx="3362858" cy="45720"/>
          </a:xfrm>
          <a:prstGeom prst="rect">
            <a:avLst/>
          </a:prstGeom>
          <a:solidFill>
            <a:srgbClr val="942838"/>
          </a:solidFill>
          <a:ln/>
        </p:spPr>
      </p:sp>
      <p:sp>
        <p:nvSpPr>
          <p:cNvPr id="28" name="Text 25"/>
          <p:cNvSpPr txBox="1"/>
          <p:nvPr/>
        </p:nvSpPr>
        <p:spPr>
          <a:xfrm>
            <a:off x="4670450" y="4151376"/>
            <a:ext cx="2850794" cy="256032"/>
          </a:xfrm>
          <a:prstGeom prst="rect">
            <a:avLst/>
          </a:prstGeom>
          <a:noFill/>
          <a:ln/>
        </p:spPr>
        <p:txBody>
          <a:bodyPr wrap="square" lIns="0" tIns="0" rIns="0" bIns="0" rtlCol="0" anchor="t"/>
          <a:lstStyle/>
          <a:p>
            <a:pPr indent="0" marL="0">
              <a:buNone/>
            </a:pPr>
            <a:r>
              <a:rPr lang="en-US" sz="1450" spc="-20" kern="0" dirty="0">
                <a:solidFill>
                  <a:srgbClr val="2B2D30"/>
                </a:solidFill>
                <a:latin typeface="Montserrat ExtraBold" pitchFamily="34" charset="0"/>
                <a:ea typeface="Montserrat ExtraBold" pitchFamily="34" charset="-122"/>
                <a:cs typeface="Montserrat ExtraBold" pitchFamily="34" charset="-120"/>
              </a:rPr>
              <a:t>3 are one upgrade</a:t>
            </a:r>
            <a:endParaRPr lang="en-US" sz="1450" dirty="0"/>
          </a:p>
        </p:txBody>
      </p:sp>
      <p:sp>
        <p:nvSpPr>
          <p:cNvPr id="29" name="Text 26"/>
          <p:cNvSpPr txBox="1"/>
          <p:nvPr/>
        </p:nvSpPr>
        <p:spPr>
          <a:xfrm>
            <a:off x="4670450" y="4462272"/>
            <a:ext cx="2850794" cy="731520"/>
          </a:xfrm>
          <a:prstGeom prst="rect">
            <a:avLst/>
          </a:prstGeom>
          <a:noFill/>
          <a:ln/>
        </p:spPr>
        <p:txBody>
          <a:bodyPr wrap="square" lIns="0" tIns="0" rIns="0" bIns="0" rtlCol="0" anchor="t"/>
          <a:lstStyle/>
          <a:p>
            <a:pPr indent="0" marL="0">
              <a:lnSpc>
                <a:spcPct val="120000"/>
              </a:lnSpc>
              <a:buNone/>
            </a:pPr>
            <a:r>
              <a:rPr lang="en-US" sz="950" dirty="0">
                <a:solidFill>
                  <a:srgbClr val="6E7175"/>
                </a:solidFill>
                <a:latin typeface="Montserrat" pitchFamily="34" charset="0"/>
                <a:ea typeface="Montserrat" pitchFamily="34" charset="-122"/>
                <a:cs typeface="Montserrat" pitchFamily="34" charset="-120"/>
              </a:rPr>
              <a:t>All three are Angular, all three sit on version 20.3.18, and all three are fixed by moving to 20.3.22. One version bump, not three pieces of work.</a:t>
            </a:r>
            <a:endParaRPr lang="en-US" sz="950" dirty="0"/>
          </a:p>
        </p:txBody>
      </p:sp>
      <p:sp>
        <p:nvSpPr>
          <p:cNvPr id="30" name="Shape 27"/>
          <p:cNvSpPr/>
          <p:nvPr/>
        </p:nvSpPr>
        <p:spPr>
          <a:xfrm>
            <a:off x="8051597" y="3931920"/>
            <a:ext cx="3362858" cy="1298448"/>
          </a:xfrm>
          <a:prstGeom prst="roundRect">
            <a:avLst>
              <a:gd name="adj" fmla="val 4225"/>
            </a:avLst>
          </a:prstGeom>
          <a:solidFill>
            <a:srgbClr val="FFFFFF"/>
          </a:solidFill>
          <a:ln w="9525">
            <a:solidFill>
              <a:srgbClr val="E6E4E2"/>
            </a:solidFill>
            <a:prstDash val="solid"/>
          </a:ln>
          <a:effectLst>
            <a:outerShdw sx="100000" sy="100000" kx="0" ky="0" algn="bl" rotWithShape="0" blurRad="2.6903568989001962e+91" dist="6.7258922472504905e+90" dir="1.1845953345804043e+107">
              <a:srgbClr val="959092">
                <a:alpha val="2.2000000000000003e+109"/>
              </a:srgbClr>
            </a:outerShdw>
          </a:effectLst>
        </p:spPr>
      </p:sp>
      <p:sp>
        <p:nvSpPr>
          <p:cNvPr id="31" name="Shape 28"/>
          <p:cNvSpPr/>
          <p:nvPr/>
        </p:nvSpPr>
        <p:spPr>
          <a:xfrm>
            <a:off x="8051597" y="3931920"/>
            <a:ext cx="3362858" cy="45720"/>
          </a:xfrm>
          <a:prstGeom prst="rect">
            <a:avLst/>
          </a:prstGeom>
          <a:solidFill>
            <a:srgbClr val="43464A"/>
          </a:solidFill>
          <a:ln/>
        </p:spPr>
      </p:sp>
      <p:sp>
        <p:nvSpPr>
          <p:cNvPr id="32" name="Text 29"/>
          <p:cNvSpPr txBox="1"/>
          <p:nvPr/>
        </p:nvSpPr>
        <p:spPr>
          <a:xfrm>
            <a:off x="8307629" y="4151376"/>
            <a:ext cx="2850794" cy="256032"/>
          </a:xfrm>
          <a:prstGeom prst="rect">
            <a:avLst/>
          </a:prstGeom>
          <a:noFill/>
          <a:ln/>
        </p:spPr>
        <p:txBody>
          <a:bodyPr wrap="square" lIns="0" tIns="0" rIns="0" bIns="0" rtlCol="0" anchor="t"/>
          <a:lstStyle/>
          <a:p>
            <a:pPr indent="0" marL="0">
              <a:buNone/>
            </a:pPr>
            <a:r>
              <a:rPr lang="en-US" sz="1450" spc="-20" kern="0" dirty="0">
                <a:solidFill>
                  <a:srgbClr val="2B2D30"/>
                </a:solidFill>
                <a:latin typeface="Montserrat ExtraBold" pitchFamily="34" charset="0"/>
                <a:ea typeface="Montserrat ExtraBold" pitchFamily="34" charset="-122"/>
                <a:cs typeface="Montserrat ExtraBold" pitchFamily="34" charset="-120"/>
              </a:rPr>
              <a:t>Verified, not hoped for</a:t>
            </a:r>
            <a:endParaRPr lang="en-US" sz="1450" dirty="0"/>
          </a:p>
        </p:txBody>
      </p:sp>
      <p:sp>
        <p:nvSpPr>
          <p:cNvPr id="33" name="Text 30"/>
          <p:cNvSpPr txBox="1"/>
          <p:nvPr/>
        </p:nvSpPr>
        <p:spPr>
          <a:xfrm>
            <a:off x="8307629" y="4462272"/>
            <a:ext cx="2850794" cy="731520"/>
          </a:xfrm>
          <a:prstGeom prst="rect">
            <a:avLst/>
          </a:prstGeom>
          <a:noFill/>
          <a:ln/>
        </p:spPr>
        <p:txBody>
          <a:bodyPr wrap="square" lIns="0" tIns="0" rIns="0" bIns="0" rtlCol="0" anchor="t"/>
          <a:lstStyle/>
          <a:p>
            <a:pPr indent="0" marL="0">
              <a:lnSpc>
                <a:spcPct val="120000"/>
              </a:lnSpc>
              <a:buNone/>
            </a:pPr>
            <a:r>
              <a:rPr lang="en-US" sz="950" dirty="0">
                <a:solidFill>
                  <a:srgbClr val="6E7175"/>
                </a:solidFill>
                <a:latin typeface="Montserrat" pitchFamily="34" charset="0"/>
                <a:ea typeface="Montserrat" pitchFamily="34" charset="-122"/>
                <a:cs typeface="Montserrat" pitchFamily="34" charset="-120"/>
              </a:rPr>
              <a:t>The repository's own test suite runs, so the upgrade can be proven safe before it ships. Nothing on the list is a breaking change.</a:t>
            </a:r>
            <a:endParaRPr lang="en-US" sz="950" dirty="0"/>
          </a:p>
        </p:txBody>
      </p:sp>
      <p:sp>
        <p:nvSpPr>
          <p:cNvPr id="34" name="Shape 31"/>
          <p:cNvSpPr/>
          <p:nvPr/>
        </p:nvSpPr>
        <p:spPr>
          <a:xfrm>
            <a:off x="777240" y="5358384"/>
            <a:ext cx="10637215" cy="786384"/>
          </a:xfrm>
          <a:prstGeom prst="roundRect">
            <a:avLst>
              <a:gd name="adj" fmla="val 6977"/>
            </a:avLst>
          </a:prstGeom>
          <a:solidFill>
            <a:srgbClr val="F6EEF0"/>
          </a:solidFill>
          <a:ln/>
        </p:spPr>
      </p:sp>
      <p:sp>
        <p:nvSpPr>
          <p:cNvPr id="35" name="Shape 32"/>
          <p:cNvSpPr/>
          <p:nvPr/>
        </p:nvSpPr>
        <p:spPr>
          <a:xfrm>
            <a:off x="777240" y="5358384"/>
            <a:ext cx="50292" cy="786384"/>
          </a:xfrm>
          <a:prstGeom prst="rect">
            <a:avLst/>
          </a:prstGeom>
          <a:solidFill>
            <a:srgbClr val="942838"/>
          </a:solidFill>
          <a:ln/>
        </p:spPr>
      </p:sp>
      <p:sp>
        <p:nvSpPr>
          <p:cNvPr id="36" name="Text 33"/>
          <p:cNvSpPr txBox="1"/>
          <p:nvPr/>
        </p:nvSpPr>
        <p:spPr>
          <a:xfrm>
            <a:off x="1014984" y="5458968"/>
            <a:ext cx="10134295" cy="256032"/>
          </a:xfrm>
          <a:prstGeom prst="rect">
            <a:avLst/>
          </a:prstGeom>
          <a:noFill/>
          <a:ln/>
        </p:spPr>
        <p:txBody>
          <a:bodyPr wrap="square" lIns="0" tIns="0" rIns="0" bIns="0" rtlCol="0" anchor="t"/>
          <a:lstStyle/>
          <a:p>
            <a:pPr indent="0" marL="0">
              <a:buNone/>
            </a:pPr>
            <a:r>
              <a:rPr lang="en-US" sz="1300" dirty="0">
                <a:solidFill>
                  <a:srgbClr val="2B2D30"/>
                </a:solidFill>
                <a:latin typeface="Montserrat SemiBold" pitchFamily="34" charset="0"/>
                <a:ea typeface="Montserrat SemiBold" pitchFamily="34" charset="-122"/>
                <a:cs typeface="Montserrat SemiBold" pitchFamily="34" charset="-120"/>
              </a:rPr>
              <a:t>An ordinary scanner hands the team 28 findings to triage. This run handed them one upgrade.</a:t>
            </a:r>
            <a:endParaRPr lang="en-US" sz="1300" dirty="0"/>
          </a:p>
        </p:txBody>
      </p:sp>
      <p:sp>
        <p:nvSpPr>
          <p:cNvPr id="37" name="Text 34"/>
          <p:cNvSpPr txBox="1"/>
          <p:nvPr/>
        </p:nvSpPr>
        <p:spPr>
          <a:xfrm>
            <a:off x="1014984" y="5742432"/>
            <a:ext cx="10134295" cy="365760"/>
          </a:xfrm>
          <a:prstGeom prst="rect">
            <a:avLst/>
          </a:prstGeom>
          <a:noFill/>
          <a:ln/>
        </p:spPr>
        <p:txBody>
          <a:bodyPr wrap="square" lIns="0" tIns="0" rIns="0" bIns="0" rtlCol="0" anchor="t"/>
          <a:lstStyle/>
          <a:p>
            <a:pPr indent="0" marL="0">
              <a:lnSpc>
                <a:spcPct val="118000"/>
              </a:lnSpc>
              <a:buNone/>
            </a:pPr>
            <a:r>
              <a:rPr lang="en-US" sz="950" dirty="0">
                <a:solidFill>
                  <a:srgbClr val="43464A"/>
                </a:solidFill>
                <a:latin typeface="Montserrat" pitchFamily="34" charset="0"/>
                <a:ea typeface="Montserrat" pitchFamily="34" charset="-122"/>
                <a:cs typeface="Montserrat" pitchFamily="34" charset="-120"/>
              </a:rPr>
              <a:t>Two of the three could not be ruled out, and AEGIS kept them on the list rather than calling them safe — but the same upgrade covers them, so the caution costs nothing. None of the 28 appear on the US government's actively-exploited list.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is still open, and how I would close it</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15</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Built, safety-rail tested, and already run against a real repository. Three things would take it further.</a:t>
            </a:r>
            <a:endParaRPr lang="en-US" sz="1400" dirty="0"/>
          </a:p>
        </p:txBody>
      </p:sp>
      <p:sp>
        <p:nvSpPr>
          <p:cNvPr id="10" name="Shape 7"/>
          <p:cNvSpPr/>
          <p:nvPr/>
        </p:nvSpPr>
        <p:spPr>
          <a:xfrm>
            <a:off x="777240"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3.416753261603249e+95" dist="8.541883154008123e+94" dir="7.107572007482426e+111">
              <a:srgbClr val="959092">
                <a:alpha val="2.2000000000000003e+114"/>
              </a:srgbClr>
            </a:outerShdw>
          </a:effectLst>
        </p:spPr>
      </p:sp>
      <p:sp>
        <p:nvSpPr>
          <p:cNvPr id="11" name="Shape 8"/>
          <p:cNvSpPr/>
          <p:nvPr/>
        </p:nvSpPr>
        <p:spPr>
          <a:xfrm>
            <a:off x="777240" y="2523744"/>
            <a:ext cx="3356762" cy="45720"/>
          </a:xfrm>
          <a:prstGeom prst="rect">
            <a:avLst/>
          </a:prstGeom>
          <a:solidFill>
            <a:srgbClr val="942838"/>
          </a:solidFill>
          <a:ln/>
        </p:spPr>
      </p:sp>
      <p:sp>
        <p:nvSpPr>
          <p:cNvPr id="12" name="Text 9"/>
          <p:cNvSpPr txBox="1"/>
          <p:nvPr/>
        </p:nvSpPr>
        <p:spPr>
          <a:xfrm>
            <a:off x="1088136"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Teach it the framework packages</a:t>
            </a:r>
            <a:endParaRPr lang="en-US" sz="1450" dirty="0"/>
          </a:p>
        </p:txBody>
      </p:sp>
      <p:sp>
        <p:nvSpPr>
          <p:cNvPr id="14" name="Text 11"/>
          <p:cNvSpPr txBox="1"/>
          <p:nvPr/>
        </p:nvSpPr>
        <p:spPr>
          <a:xfrm>
            <a:off x="1088136"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AEGIS knows exactly which function is the dangerous one for about nine packages. Angular is not among them yet — which is why two findings came back "can't prove" instead of a straight answer. Extending that list turns those into a verdict.</a:t>
            </a:r>
            <a:endParaRPr lang="en-US" sz="1100" dirty="0"/>
          </a:p>
        </p:txBody>
      </p:sp>
      <p:sp>
        <p:nvSpPr>
          <p:cNvPr id="15" name="Shape 12"/>
          <p:cNvSpPr/>
          <p:nvPr/>
        </p:nvSpPr>
        <p:spPr>
          <a:xfrm>
            <a:off x="4417466"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4.3392766422361264e+99" dist="1.0848191605590316e+99" dir="4.2645432044894554e+116">
              <a:srgbClr val="959092">
                <a:alpha val="2.2000000000000005e+119"/>
              </a:srgbClr>
            </a:outerShdw>
          </a:effectLst>
        </p:spPr>
      </p:sp>
      <p:sp>
        <p:nvSpPr>
          <p:cNvPr id="16" name="Shape 13"/>
          <p:cNvSpPr/>
          <p:nvPr/>
        </p:nvSpPr>
        <p:spPr>
          <a:xfrm>
            <a:off x="4417466" y="2523744"/>
            <a:ext cx="3356762" cy="45720"/>
          </a:xfrm>
          <a:prstGeom prst="rect">
            <a:avLst/>
          </a:prstGeom>
          <a:solidFill>
            <a:srgbClr val="942838"/>
          </a:solidFill>
          <a:ln/>
        </p:spPr>
      </p:sp>
      <p:sp>
        <p:nvSpPr>
          <p:cNvPr id="17" name="Text 14"/>
          <p:cNvSpPr txBox="1"/>
          <p:nvPr/>
        </p:nvSpPr>
        <p:spPr>
          <a:xfrm>
            <a:off x="4728362"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Keep the live lookups working everywhere</a:t>
            </a:r>
            <a:endParaRPr lang="en-US" sz="1450" dirty="0"/>
          </a:p>
        </p:txBody>
      </p:sp>
      <p:sp>
        <p:nvSpPr>
          <p:cNvPr id="19" name="Text 16"/>
          <p:cNvSpPr txBox="1"/>
          <p:nvPr/>
        </p:nvSpPr>
        <p:spPr>
          <a:xfrm>
            <a:off x="4728362"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This run pulled real flaw data live. On networks where the security proxy inspects traffic it still fails, so the split-scan workaround stays until an inspection bypass is in place.</a:t>
            </a:r>
            <a:endParaRPr lang="en-US" sz="1100" dirty="0"/>
          </a:p>
        </p:txBody>
      </p:sp>
      <p:sp>
        <p:nvSpPr>
          <p:cNvPr id="20" name="Shape 17"/>
          <p:cNvSpPr/>
          <p:nvPr/>
        </p:nvSpPr>
        <p:spPr>
          <a:xfrm>
            <a:off x="8057693"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5.510881335639881e+103" dist="1.3777203339099702e+103" dir="2.5587259226936733e+121">
              <a:srgbClr val="959092">
                <a:alpha val="2.2000000000000006e+124"/>
              </a:srgbClr>
            </a:outerShdw>
          </a:effectLst>
        </p:spPr>
      </p:sp>
      <p:sp>
        <p:nvSpPr>
          <p:cNvPr id="21" name="Shape 18"/>
          <p:cNvSpPr/>
          <p:nvPr/>
        </p:nvSpPr>
        <p:spPr>
          <a:xfrm>
            <a:off x="8057693" y="2523744"/>
            <a:ext cx="3356762" cy="45720"/>
          </a:xfrm>
          <a:prstGeom prst="rect">
            <a:avLst/>
          </a:prstGeom>
          <a:solidFill>
            <a:srgbClr val="942838"/>
          </a:solidFill>
          <a:ln/>
        </p:spPr>
      </p:sp>
      <p:sp>
        <p:nvSpPr>
          <p:cNvPr id="22" name="Text 19"/>
          <p:cNvSpPr txBox="1"/>
          <p:nvPr/>
        </p:nvSpPr>
        <p:spPr>
          <a:xfrm>
            <a:off x="8368589"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Get it into other people's hands</a:t>
            </a:r>
            <a:endParaRPr lang="en-US" sz="1450" dirty="0"/>
          </a:p>
        </p:txBody>
      </p:sp>
      <p:sp>
        <p:nvSpPr>
          <p:cNvPr id="24" name="Text 21"/>
          <p:cNvSpPr txBox="1"/>
          <p:nvPr/>
        </p:nvSpPr>
        <p:spPr>
          <a:xfrm>
            <a:off x="8368589"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Packaged as a plugin so a developer can install it with one command. The install flow itself has not been run start to finish yet.</a:t>
            </a:r>
            <a:endParaRPr lang="en-US" sz="1100" dirty="0"/>
          </a:p>
        </p:txBody>
      </p:sp>
      <p:sp>
        <p:nvSpPr>
          <p:cNvPr id="25" name="Text 22"/>
          <p:cNvSpPr txBox="1"/>
          <p:nvPr/>
        </p:nvSpPr>
        <p:spPr>
          <a:xfrm>
            <a:off x="777240" y="5833872"/>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Said plainly:</a:t>
            </a:r>
            <a:pPr indent="0" marL="0">
              <a:buNone/>
            </a:pPr>
            <a:r>
              <a:rPr lang="en-US" sz="1150" dirty="0">
                <a:solidFill>
                  <a:srgbClr val="6E7175"/>
                </a:solidFill>
                <a:latin typeface="Montserrat" pitchFamily="34" charset="0"/>
                <a:ea typeface="Montserrat" pitchFamily="34" charset="-122"/>
                <a:cs typeface="Montserrat" pitchFamily="34" charset="-120"/>
              </a:rPr>
              <a:t>  it works, and it has been run for real. What is left is widening what it can answer with certainty, and getting it into other hands.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03</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03</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CVE-to-Patch Automation</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Turning a manual, one-at-a-time patch lookup into a job that finishes in seconds.</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03</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Every flaw needed its own patch, found by hand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17</a:t>
            </a:r>
            <a:endParaRPr lang="en-US" sz="850" dirty="0"/>
          </a:p>
        </p:txBody>
      </p:sp>
      <p:sp>
        <p:nvSpPr>
          <p:cNvPr id="9" name="Text 6"/>
          <p:cNvSpPr txBox="1"/>
          <p:nvPr/>
        </p:nvSpPr>
        <p:spPr>
          <a:xfrm>
            <a:off x="777240" y="2103120"/>
            <a:ext cx="3840480" cy="1133856"/>
          </a:xfrm>
          <a:prstGeom prst="rect">
            <a:avLst/>
          </a:prstGeom>
          <a:noFill/>
          <a:ln/>
        </p:spPr>
        <p:txBody>
          <a:bodyPr wrap="square" lIns="0" tIns="0" rIns="0" bIns="0" rtlCol="0" anchor="t"/>
          <a:lstStyle/>
          <a:p>
            <a:pPr algn="l" indent="0" marL="0">
              <a:buNone/>
            </a:pPr>
            <a:r>
              <a:rPr lang="en-US" sz="7200" spc="-250" kern="0" dirty="0">
                <a:solidFill>
                  <a:srgbClr val="942838"/>
                </a:solidFill>
                <a:latin typeface="Montserrat ExtraBold" pitchFamily="34" charset="0"/>
                <a:ea typeface="Montserrat ExtraBold" pitchFamily="34" charset="-122"/>
                <a:cs typeface="Montserrat ExtraBold" pitchFamily="34" charset="-120"/>
              </a:rPr>
              <a:t>117</a:t>
            </a:r>
            <a:endParaRPr lang="en-US" sz="7200" dirty="0"/>
          </a:p>
        </p:txBody>
      </p:sp>
      <p:sp>
        <p:nvSpPr>
          <p:cNvPr id="10" name="Text 7"/>
          <p:cNvSpPr txBox="1"/>
          <p:nvPr/>
        </p:nvSpPr>
        <p:spPr>
          <a:xfrm>
            <a:off x="777240" y="3236976"/>
            <a:ext cx="3840480" cy="457200"/>
          </a:xfrm>
          <a:prstGeom prst="rect">
            <a:avLst/>
          </a:prstGeom>
          <a:noFill/>
          <a:ln/>
        </p:spPr>
        <p:txBody>
          <a:bodyPr wrap="square" lIns="0" tIns="0" rIns="0" bIns="0" rtlCol="0" anchor="t"/>
          <a:lstStyle/>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high and critical flaws tracked</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this cycle, every one of them</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directly affecting the business</a:t>
            </a:r>
            <a:endParaRPr lang="en-US" sz="950" dirty="0"/>
          </a:p>
        </p:txBody>
      </p:sp>
      <p:sp>
        <p:nvSpPr>
          <p:cNvPr id="11" name="Shape 8"/>
          <p:cNvSpPr/>
          <p:nvPr/>
        </p:nvSpPr>
        <p:spPr>
          <a:xfrm>
            <a:off x="777240" y="4041648"/>
            <a:ext cx="566928" cy="45720"/>
          </a:xfrm>
          <a:prstGeom prst="rect">
            <a:avLst/>
          </a:prstGeom>
          <a:solidFill>
            <a:srgbClr val="942838"/>
          </a:solidFill>
          <a:ln/>
        </p:spPr>
      </p:sp>
      <p:sp>
        <p:nvSpPr>
          <p:cNvPr id="12" name="Text 9"/>
          <p:cNvSpPr txBox="1"/>
          <p:nvPr/>
        </p:nvSpPr>
        <p:spPr>
          <a:xfrm>
            <a:off x="777240" y="4242816"/>
            <a:ext cx="3703320" cy="1005840"/>
          </a:xfrm>
          <a:prstGeom prst="rect">
            <a:avLst/>
          </a:prstGeom>
          <a:noFill/>
          <a:ln/>
        </p:spPr>
        <p:txBody>
          <a:bodyPr wrap="square" lIns="0" tIns="0" rIns="0" bIns="0" rtlCol="0" anchor="t"/>
          <a:lstStyle/>
          <a:p>
            <a:pPr indent="0" marL="0">
              <a:lnSpc>
                <a:spcPct val="125000"/>
              </a:lnSpc>
              <a:buNone/>
            </a:pPr>
            <a:r>
              <a:rPr lang="en-US" sz="1100" dirty="0">
                <a:solidFill>
                  <a:srgbClr val="6E7175"/>
                </a:solidFill>
                <a:latin typeface="Montserrat" pitchFamily="34" charset="0"/>
                <a:ea typeface="Montserrat" pitchFamily="34" charset="-122"/>
                <a:cs typeface="Montserrat" pitchFamily="34" charset="-120"/>
              </a:rPr>
              <a:t>This is not a sample. Kevlar — the team's vulnerability tracker — flagged these because they met both bars: high or critical severity, and a direct effect on business operations.</a:t>
            </a:r>
            <a:endParaRPr lang="en-US" sz="1100" dirty="0"/>
          </a:p>
        </p:txBody>
      </p:sp>
      <p:sp>
        <p:nvSpPr>
          <p:cNvPr id="13" name="Text 10"/>
          <p:cNvSpPr txBox="1"/>
          <p:nvPr/>
        </p:nvSpPr>
        <p:spPr>
          <a:xfrm>
            <a:off x="5029200" y="2084832"/>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A "KNOWN FLAW" IS</a:t>
            </a:r>
            <a:endParaRPr lang="en-US" sz="850" dirty="0"/>
          </a:p>
        </p:txBody>
      </p:sp>
      <p:sp>
        <p:nvSpPr>
          <p:cNvPr id="14" name="Text 11"/>
          <p:cNvSpPr txBox="1"/>
          <p:nvPr/>
        </p:nvSpPr>
        <p:spPr>
          <a:xfrm>
            <a:off x="5029200" y="2340864"/>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A publicly published weakness in software that attackers already know about. Each one has a matching fix released by the vendor.</a:t>
            </a:r>
            <a:endParaRPr lang="en-US" sz="1250" dirty="0"/>
          </a:p>
        </p:txBody>
      </p:sp>
      <p:sp>
        <p:nvSpPr>
          <p:cNvPr id="15" name="Shape 12"/>
          <p:cNvSpPr/>
          <p:nvPr/>
        </p:nvSpPr>
        <p:spPr>
          <a:xfrm>
            <a:off x="5029200" y="3182112"/>
            <a:ext cx="6385255" cy="10973"/>
          </a:xfrm>
          <a:prstGeom prst="rect">
            <a:avLst/>
          </a:prstGeom>
          <a:solidFill>
            <a:srgbClr val="E6E4E2"/>
          </a:solidFill>
          <a:ln/>
        </p:spPr>
      </p:sp>
      <p:sp>
        <p:nvSpPr>
          <p:cNvPr id="16" name="Text 13"/>
          <p:cNvSpPr txBox="1"/>
          <p:nvPr/>
        </p:nvSpPr>
        <p:spPr>
          <a:xfrm>
            <a:off x="5029200" y="3419856"/>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BOTTLENECK</a:t>
            </a:r>
            <a:endParaRPr lang="en-US" sz="850" dirty="0"/>
          </a:p>
        </p:txBody>
      </p:sp>
      <p:sp>
        <p:nvSpPr>
          <p:cNvPr id="17" name="Text 14"/>
          <p:cNvSpPr txBox="1"/>
          <p:nvPr/>
        </p:nvSpPr>
        <p:spPr>
          <a:xfrm>
            <a:off x="5029200" y="3675888"/>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Microsoft publishes the flaw and the fix in separate documents. Someone has to cross-reference them by hand, once per flaw, then check it against the real machine list. Do that 117 times and it is two days of work.</a:t>
            </a:r>
            <a:endParaRPr lang="en-US" sz="1250" dirty="0"/>
          </a:p>
        </p:txBody>
      </p:sp>
      <p:sp>
        <p:nvSpPr>
          <p:cNvPr id="18" name="Shape 15"/>
          <p:cNvSpPr/>
          <p:nvPr/>
        </p:nvSpPr>
        <p:spPr>
          <a:xfrm>
            <a:off x="5029200" y="4517136"/>
            <a:ext cx="6385255" cy="10973"/>
          </a:xfrm>
          <a:prstGeom prst="rect">
            <a:avLst/>
          </a:prstGeom>
          <a:solidFill>
            <a:srgbClr val="E6E4E2"/>
          </a:solidFill>
          <a:ln/>
        </p:spPr>
      </p:sp>
      <p:sp>
        <p:nvSpPr>
          <p:cNvPr id="19" name="Shape 16"/>
          <p:cNvSpPr/>
          <p:nvPr/>
        </p:nvSpPr>
        <p:spPr>
          <a:xfrm>
            <a:off x="5029200" y="4700016"/>
            <a:ext cx="6385255" cy="1335024"/>
          </a:xfrm>
          <a:prstGeom prst="roundRect">
            <a:avLst>
              <a:gd name="adj" fmla="val 4110"/>
            </a:avLst>
          </a:prstGeom>
          <a:solidFill>
            <a:srgbClr val="2B2D30"/>
          </a:solidFill>
          <a:ln/>
          <a:effectLst>
            <a:outerShdw sx="100000" sy="100000" kx="0" ky="0" algn="bl" rotWithShape="0" blurRad="1.5844814564598688e+50" dist="3.5210699032441527e+49" dir="1.9591041024000004e+59">
              <a:srgbClr val="959092">
                <a:alpha val="1.6e+59"/>
              </a:srgbClr>
            </a:outerShdw>
          </a:effectLst>
        </p:spPr>
      </p:sp>
      <p:sp>
        <p:nvSpPr>
          <p:cNvPr id="20" name="Text 17"/>
          <p:cNvSpPr txBox="1"/>
          <p:nvPr/>
        </p:nvSpPr>
        <p:spPr>
          <a:xfrm>
            <a:off x="5303520" y="4846320"/>
            <a:ext cx="36576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BEFORE  ·  DOING IT BY HAND</a:t>
            </a:r>
            <a:endParaRPr lang="en-US" sz="850" dirty="0"/>
          </a:p>
        </p:txBody>
      </p:sp>
      <p:sp>
        <p:nvSpPr>
          <p:cNvPr id="21" name="Text 18"/>
          <p:cNvSpPr txBox="1"/>
          <p:nvPr/>
        </p:nvSpPr>
        <p:spPr>
          <a:xfrm>
            <a:off x="5303520" y="5120640"/>
            <a:ext cx="5836615" cy="402336"/>
          </a:xfrm>
          <a:prstGeom prst="rect">
            <a:avLst/>
          </a:prstGeom>
          <a:noFill/>
          <a:ln/>
        </p:spPr>
        <p:txBody>
          <a:bodyPr wrap="square" lIns="0" tIns="0" rIns="0" bIns="0" rtlCol="0" anchor="t"/>
          <a:lstStyle/>
          <a:p>
            <a:pPr indent="0" marL="0">
              <a:buNone/>
            </a:pPr>
            <a:r>
              <a:rPr lang="en-US" sz="2600" spc="-80" kern="0" dirty="0">
                <a:solidFill>
                  <a:srgbClr val="FFFFFF"/>
                </a:solidFill>
                <a:latin typeface="Montserrat ExtraBold" pitchFamily="34" charset="0"/>
                <a:ea typeface="Montserrat ExtraBold" pitchFamily="34" charset="-122"/>
                <a:cs typeface="Montserrat ExtraBold" pitchFamily="34" charset="-120"/>
              </a:rPr>
              <a:t>~17.5 hours</a:t>
            </a:r>
            <a:pPr indent="0" marL="0">
              <a:buNone/>
            </a:pPr>
            <a:r>
              <a:rPr lang="en-US" sz="1250" dirty="0">
                <a:solidFill>
                  <a:srgbClr val="DED9DA"/>
                </a:solidFill>
                <a:latin typeface="Montserrat Medium" pitchFamily="34" charset="0"/>
                <a:ea typeface="Montserrat Medium" pitchFamily="34" charset="-122"/>
                <a:cs typeface="Montserrat Medium" pitchFamily="34" charset="-120"/>
              </a:rPr>
              <a:t>   about 2 to 2.5 business days</a:t>
            </a:r>
            <a:endParaRPr lang="en-US" sz="2600" dirty="0"/>
          </a:p>
        </p:txBody>
      </p:sp>
      <p:sp>
        <p:nvSpPr>
          <p:cNvPr id="22" name="Text 19"/>
          <p:cNvSpPr txBox="1"/>
          <p:nvPr/>
        </p:nvSpPr>
        <p:spPr>
          <a:xfrm>
            <a:off x="5303520" y="5559552"/>
            <a:ext cx="5836615" cy="402336"/>
          </a:xfrm>
          <a:prstGeom prst="rect">
            <a:avLst/>
          </a:prstGeom>
          <a:noFill/>
          <a:ln/>
        </p:spPr>
        <p:txBody>
          <a:bodyPr wrap="square" lIns="0" tIns="0" rIns="0" bIns="0" rtlCol="0" anchor="t"/>
          <a:lstStyle/>
          <a:p>
            <a:pPr indent="0" marL="0">
              <a:lnSpc>
                <a:spcPct val="120000"/>
              </a:lnSpc>
              <a:buNone/>
            </a:pPr>
            <a:r>
              <a:rPr lang="en-US" sz="1000" dirty="0">
                <a:solidFill>
                  <a:srgbClr val="C4BBBD"/>
                </a:solidFill>
                <a:latin typeface="Montserrat Medium" pitchFamily="34" charset="0"/>
                <a:ea typeface="Montserrat Medium" pitchFamily="34" charset="-122"/>
                <a:cs typeface="Montserrat Medium" pitchFamily="34" charset="-120"/>
              </a:rPr>
              <a:t>Estimated at 8–10 min per flaw from the steps above — a reasoned estimate based on the work involved, not a stopwatch measurement.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RESULT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about two days of work to twelve seconds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18</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built a Python script that matches each flaw to its Microsoft patch automatically, using Microsoft's own public security feeds — no API key, no manual searching.</a:t>
            </a:r>
            <a:endParaRPr lang="en-US" sz="1400" dirty="0"/>
          </a:p>
        </p:txBody>
      </p:sp>
      <p:pic>
        <p:nvPicPr>
          <p:cNvPr id="10" name="Image 1" descr="/home/user/ai/assets/gen/chart-match.png">    </p:cNvPr>
          <p:cNvPicPr>
            <a:picLocks noChangeAspect="1"/>
          </p:cNvPicPr>
          <p:nvPr/>
        </p:nvPicPr>
        <p:blipFill>
          <a:blip r:embed="rId2"/>
          <a:stretch>
            <a:fillRect/>
          </a:stretch>
        </p:blipFill>
        <p:spPr>
          <a:xfrm>
            <a:off x="731520" y="2487168"/>
            <a:ext cx="5852160" cy="3251200"/>
          </a:xfrm>
          <a:prstGeom prst="rect">
            <a:avLst/>
          </a:prstGeom>
        </p:spPr>
      </p:pic>
      <p:sp>
        <p:nvSpPr>
          <p:cNvPr id="11" name="Text 7"/>
          <p:cNvSpPr txBox="1"/>
          <p:nvPr/>
        </p:nvSpPr>
        <p:spPr>
          <a:xfrm>
            <a:off x="777240" y="5811520"/>
            <a:ext cx="5669280"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Share of the 117 flaws matched to their correct patch automatically</a:t>
            </a:r>
            <a:endParaRPr lang="en-US" sz="950" dirty="0"/>
          </a:p>
        </p:txBody>
      </p:sp>
      <p:sp>
        <p:nvSpPr>
          <p:cNvPr id="12" name="Shape 8"/>
          <p:cNvSpPr/>
          <p:nvPr/>
        </p:nvSpPr>
        <p:spPr>
          <a:xfrm>
            <a:off x="7315200" y="2432304"/>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6.998819296262648e+107" dist="1.749704824065662e+107" dir="1.535235553616204e+126">
              <a:srgbClr val="959092">
                <a:alpha val="2.2000000000000006e+129"/>
              </a:srgbClr>
            </a:outerShdw>
          </a:effectLst>
        </p:spPr>
      </p:sp>
      <p:sp>
        <p:nvSpPr>
          <p:cNvPr id="13" name="Text 9"/>
          <p:cNvSpPr txBox="1"/>
          <p:nvPr/>
        </p:nvSpPr>
        <p:spPr>
          <a:xfrm>
            <a:off x="7589520" y="2606040"/>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117/117</a:t>
            </a:r>
            <a:endParaRPr lang="en-US" sz="2700" dirty="0"/>
          </a:p>
        </p:txBody>
      </p:sp>
      <p:sp>
        <p:nvSpPr>
          <p:cNvPr id="14" name="Text 10"/>
          <p:cNvSpPr txBox="1"/>
          <p:nvPr/>
        </p:nvSpPr>
        <p:spPr>
          <a:xfrm>
            <a:off x="7589520" y="3081528"/>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flaws matched to the correct patch</a:t>
            </a:r>
            <a:endParaRPr lang="en-US" sz="1100" dirty="0"/>
          </a:p>
        </p:txBody>
      </p:sp>
      <p:sp>
        <p:nvSpPr>
          <p:cNvPr id="15" name="Shape 11"/>
          <p:cNvSpPr/>
          <p:nvPr/>
        </p:nvSpPr>
        <p:spPr>
          <a:xfrm>
            <a:off x="7315200" y="3675888"/>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8.888500506253563e+111" dist="2.2221251265633907e+111" dir="9.211413321697224e+130">
              <a:srgbClr val="959092">
                <a:alpha val="2.2000000000000004e+134"/>
              </a:srgbClr>
            </a:outerShdw>
          </a:effectLst>
        </p:spPr>
      </p:sp>
      <p:sp>
        <p:nvSpPr>
          <p:cNvPr id="16" name="Text 12"/>
          <p:cNvSpPr txBox="1"/>
          <p:nvPr/>
        </p:nvSpPr>
        <p:spPr>
          <a:xfrm>
            <a:off x="7589520" y="3849624"/>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~12 sec</a:t>
            </a:r>
            <a:endParaRPr lang="en-US" sz="2700" dirty="0"/>
          </a:p>
        </p:txBody>
      </p:sp>
      <p:sp>
        <p:nvSpPr>
          <p:cNvPr id="17" name="Text 13"/>
          <p:cNvSpPr txBox="1"/>
          <p:nvPr/>
        </p:nvSpPr>
        <p:spPr>
          <a:xfrm>
            <a:off x="7589520" y="4325112"/>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total runtime, start to finish</a:t>
            </a:r>
            <a:endParaRPr lang="en-US" sz="1100" dirty="0"/>
          </a:p>
        </p:txBody>
      </p:sp>
      <p:sp>
        <p:nvSpPr>
          <p:cNvPr id="18" name="Shape 14"/>
          <p:cNvSpPr/>
          <p:nvPr/>
        </p:nvSpPr>
        <p:spPr>
          <a:xfrm>
            <a:off x="7315200" y="4919472"/>
            <a:ext cx="4099255" cy="1097280"/>
          </a:xfrm>
          <a:prstGeom prst="roundRect">
            <a:avLst>
              <a:gd name="adj" fmla="val 5000"/>
            </a:avLst>
          </a:prstGeom>
          <a:solidFill>
            <a:srgbClr val="F6EEF0"/>
          </a:solidFill>
          <a:ln w="9525">
            <a:solidFill>
              <a:srgbClr val="942838"/>
            </a:solidFill>
            <a:prstDash val="solid"/>
          </a:ln>
          <a:effectLst>
            <a:outerShdw sx="100000" sy="100000" kx="0" ky="0" algn="bl" rotWithShape="0" blurRad="1.1288395642942025e+116" dist="2.822098910735506e+115" dir="5.526847993018334e+135">
              <a:srgbClr val="959092">
                <a:alpha val="2.2000000000000005e+139"/>
              </a:srgbClr>
            </a:outerShdw>
          </a:effectLst>
        </p:spPr>
      </p:sp>
      <p:sp>
        <p:nvSpPr>
          <p:cNvPr id="19" name="Text 15"/>
          <p:cNvSpPr txBox="1"/>
          <p:nvPr/>
        </p:nvSpPr>
        <p:spPr>
          <a:xfrm>
            <a:off x="7589520" y="5093208"/>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29/29</a:t>
            </a:r>
            <a:endParaRPr lang="en-US" sz="2700" dirty="0"/>
          </a:p>
        </p:txBody>
      </p:sp>
      <p:sp>
        <p:nvSpPr>
          <p:cNvPr id="20" name="Text 16"/>
          <p:cNvSpPr txBox="1"/>
          <p:nvPr/>
        </p:nvSpPr>
        <p:spPr>
          <a:xfrm>
            <a:off x="7589520" y="5568696"/>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spot-checked against Tenable, Rapid7 and public advisories — all confirmed correct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FINDING</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52 of the 117 were already fixed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19</a:t>
            </a:r>
            <a:endParaRPr lang="en-US" sz="850" dirty="0"/>
          </a:p>
        </p:txBody>
      </p:sp>
      <p:sp>
        <p:nvSpPr>
          <p:cNvPr id="9" name="Shape 6"/>
          <p:cNvSpPr/>
          <p:nvPr/>
        </p:nvSpPr>
        <p:spPr>
          <a:xfrm>
            <a:off x="777240" y="1847088"/>
            <a:ext cx="10637215" cy="603504"/>
          </a:xfrm>
          <a:prstGeom prst="roundRect">
            <a:avLst>
              <a:gd name="adj" fmla="val 9091"/>
            </a:avLst>
          </a:prstGeom>
          <a:solidFill>
            <a:srgbClr val="F6EEF0"/>
          </a:solidFill>
          <a:ln/>
        </p:spPr>
      </p:sp>
      <p:sp>
        <p:nvSpPr>
          <p:cNvPr id="10" name="Shape 7"/>
          <p:cNvSpPr/>
          <p:nvPr/>
        </p:nvSpPr>
        <p:spPr>
          <a:xfrm>
            <a:off x="777240" y="1847088"/>
            <a:ext cx="50292" cy="603504"/>
          </a:xfrm>
          <a:prstGeom prst="rect">
            <a:avLst/>
          </a:prstGeom>
          <a:solidFill>
            <a:srgbClr val="942838"/>
          </a:solidFill>
          <a:ln/>
        </p:spPr>
      </p:sp>
      <p:sp>
        <p:nvSpPr>
          <p:cNvPr id="11" name="Text 8"/>
          <p:cNvSpPr txBox="1"/>
          <p:nvPr/>
        </p:nvSpPr>
        <p:spPr>
          <a:xfrm>
            <a:off x="1014984" y="2048256"/>
            <a:ext cx="10180015" cy="310896"/>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ONE FACT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Windows updates are cumulative. Installing the newest one automatically includes every older fix — exactly like a phone update.</a:t>
            </a:r>
            <a:endParaRPr lang="en-US" sz="900" dirty="0"/>
          </a:p>
        </p:txBody>
      </p:sp>
      <p:pic>
        <p:nvPicPr>
          <p:cNvPr id="12" name="Image 1" descr="/home/user/ai/assets/gen/cumulative-patch.png">    </p:cNvPr>
          <p:cNvPicPr>
            <a:picLocks noChangeAspect="1"/>
          </p:cNvPicPr>
          <p:nvPr/>
        </p:nvPicPr>
        <p:blipFill>
          <a:blip r:embed="rId2"/>
          <a:stretch>
            <a:fillRect/>
          </a:stretch>
        </p:blipFill>
        <p:spPr>
          <a:xfrm>
            <a:off x="777240" y="2670048"/>
            <a:ext cx="6537960" cy="1641445"/>
          </a:xfrm>
          <a:prstGeom prst="rect">
            <a:avLst/>
          </a:prstGeom>
        </p:spPr>
      </p:pic>
      <p:sp>
        <p:nvSpPr>
          <p:cNvPr id="13" name="Text 9"/>
          <p:cNvSpPr txBox="1"/>
          <p:nvPr/>
        </p:nvSpPr>
        <p:spPr>
          <a:xfrm>
            <a:off x="7680960" y="2706624"/>
            <a:ext cx="3733495"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SO WHEN WE CHECKED ALL 117</a:t>
            </a:r>
            <a:endParaRPr lang="en-US" sz="850" dirty="0"/>
          </a:p>
        </p:txBody>
      </p:sp>
      <p:sp>
        <p:nvSpPr>
          <p:cNvPr id="14" name="Shape 10"/>
          <p:cNvSpPr/>
          <p:nvPr/>
        </p:nvSpPr>
        <p:spPr>
          <a:xfrm>
            <a:off x="7680960" y="3035808"/>
            <a:ext cx="3733495" cy="859536"/>
          </a:xfrm>
          <a:prstGeom prst="roundRect">
            <a:avLst>
              <a:gd name="adj" fmla="val 6383"/>
            </a:avLst>
          </a:prstGeom>
          <a:solidFill>
            <a:srgbClr val="F5F4F3"/>
          </a:solidFill>
          <a:ln w="9525">
            <a:solidFill>
              <a:srgbClr val="E6E4E2"/>
            </a:solidFill>
            <a:prstDash val="solid"/>
          </a:ln>
          <a:effectLst>
            <a:outerShdw sx="100000" sy="100000" kx="0" ky="0" algn="bl" rotWithShape="0" blurRad="1.433626246653637e+120" dist="3.584065616634093e+119" dir="3.3161087958110005e+140">
              <a:srgbClr val="959092">
                <a:alpha val="2.2000000000000006e+144"/>
              </a:srgbClr>
            </a:outerShdw>
          </a:effectLst>
        </p:spPr>
      </p:sp>
      <p:sp>
        <p:nvSpPr>
          <p:cNvPr id="15" name="Text 11"/>
          <p:cNvSpPr txBox="1"/>
          <p:nvPr/>
        </p:nvSpPr>
        <p:spPr>
          <a:xfrm>
            <a:off x="7882128" y="3182112"/>
            <a:ext cx="1097280" cy="566928"/>
          </a:xfrm>
          <a:prstGeom prst="rect">
            <a:avLst/>
          </a:prstGeom>
          <a:noFill/>
          <a:ln/>
        </p:spPr>
        <p:txBody>
          <a:bodyPr wrap="square" lIns="0" tIns="0" rIns="0" bIns="0" rtlCol="0" anchor="t"/>
          <a:lstStyle/>
          <a:p>
            <a:pPr indent="0" marL="0">
              <a:buNone/>
            </a:pPr>
            <a:r>
              <a:rPr lang="en-US" sz="3600" spc="-140" kern="0" dirty="0">
                <a:solidFill>
                  <a:srgbClr val="2B2D30"/>
                </a:solidFill>
                <a:latin typeface="Montserrat ExtraBold" pitchFamily="34" charset="0"/>
                <a:ea typeface="Montserrat ExtraBold" pitchFamily="34" charset="-122"/>
                <a:cs typeface="Montserrat ExtraBold" pitchFamily="34" charset="-120"/>
              </a:rPr>
              <a:t>52</a:t>
            </a:r>
            <a:endParaRPr lang="en-US" sz="3600" dirty="0"/>
          </a:p>
        </p:txBody>
      </p:sp>
      <p:sp>
        <p:nvSpPr>
          <p:cNvPr id="16" name="Text 12"/>
          <p:cNvSpPr txBox="1"/>
          <p:nvPr/>
        </p:nvSpPr>
        <p:spPr>
          <a:xfrm>
            <a:off x="9052560" y="3218688"/>
            <a:ext cx="2160727" cy="530352"/>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were already fixed on every</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machine — nothing to do</a:t>
            </a:r>
            <a:endParaRPr lang="en-US" sz="950" dirty="0"/>
          </a:p>
        </p:txBody>
      </p:sp>
      <p:sp>
        <p:nvSpPr>
          <p:cNvPr id="17" name="Shape 13"/>
          <p:cNvSpPr/>
          <p:nvPr/>
        </p:nvSpPr>
        <p:spPr>
          <a:xfrm>
            <a:off x="7680960" y="4005072"/>
            <a:ext cx="3733495" cy="859536"/>
          </a:xfrm>
          <a:prstGeom prst="roundRect">
            <a:avLst>
              <a:gd name="adj" fmla="val 6383"/>
            </a:avLst>
          </a:prstGeom>
          <a:solidFill>
            <a:srgbClr val="F6EEF0"/>
          </a:solidFill>
          <a:ln w="9525">
            <a:solidFill>
              <a:srgbClr val="942838"/>
            </a:solidFill>
            <a:prstDash val="solid"/>
          </a:ln>
          <a:effectLst>
            <a:outerShdw sx="100000" sy="100000" kx="0" ky="0" algn="bl" rotWithShape="0" blurRad="1.8207053332501191e+124" dist="4.551763333125298e+123" dir="1.9896652774866004e+145">
              <a:srgbClr val="959092">
                <a:alpha val="2.2000000000000004e+149"/>
              </a:srgbClr>
            </a:outerShdw>
          </a:effectLst>
        </p:spPr>
      </p:sp>
      <p:sp>
        <p:nvSpPr>
          <p:cNvPr id="18" name="Text 14"/>
          <p:cNvSpPr txBox="1"/>
          <p:nvPr/>
        </p:nvSpPr>
        <p:spPr>
          <a:xfrm>
            <a:off x="7882128" y="4151376"/>
            <a:ext cx="1097280" cy="566928"/>
          </a:xfrm>
          <a:prstGeom prst="rect">
            <a:avLst/>
          </a:prstGeom>
          <a:noFill/>
          <a:ln/>
        </p:spPr>
        <p:txBody>
          <a:bodyPr wrap="square" lIns="0" tIns="0" rIns="0" bIns="0" rtlCol="0" anchor="t"/>
          <a:lstStyle/>
          <a:p>
            <a:pPr indent="0" marL="0">
              <a:buNone/>
            </a:pPr>
            <a:r>
              <a:rPr lang="en-US" sz="3600" spc="-140" kern="0" dirty="0">
                <a:solidFill>
                  <a:srgbClr val="942838"/>
                </a:solidFill>
                <a:latin typeface="Montserrat ExtraBold" pitchFamily="34" charset="0"/>
                <a:ea typeface="Montserrat ExtraBold" pitchFamily="34" charset="-122"/>
                <a:cs typeface="Montserrat ExtraBold" pitchFamily="34" charset="-120"/>
              </a:rPr>
              <a:t>65</a:t>
            </a:r>
            <a:endParaRPr lang="en-US" sz="3600" dirty="0"/>
          </a:p>
        </p:txBody>
      </p:sp>
      <p:sp>
        <p:nvSpPr>
          <p:cNvPr id="19" name="Text 15"/>
          <p:cNvSpPr txBox="1"/>
          <p:nvPr/>
        </p:nvSpPr>
        <p:spPr>
          <a:xfrm>
            <a:off x="9052560" y="4187952"/>
            <a:ext cx="2160727" cy="530352"/>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were genuinely still open</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somewhere</a:t>
            </a:r>
            <a:endParaRPr lang="en-US" sz="950" dirty="0"/>
          </a:p>
        </p:txBody>
      </p:sp>
      <p:pic>
        <p:nvPicPr>
          <p:cNvPr id="20" name="Image 2" descr="/home/user/ai/assets/gen/chart-no-action.png">    </p:cNvPr>
          <p:cNvPicPr>
            <a:picLocks noChangeAspect="1"/>
          </p:cNvPicPr>
          <p:nvPr/>
        </p:nvPicPr>
        <p:blipFill>
          <a:blip r:embed="rId3"/>
          <a:stretch>
            <a:fillRect/>
          </a:stretch>
        </p:blipFill>
        <p:spPr>
          <a:xfrm>
            <a:off x="777240" y="5029200"/>
            <a:ext cx="10637215" cy="767634"/>
          </a:xfrm>
          <a:prstGeom prst="rect">
            <a:avLst/>
          </a:prstGeom>
        </p:spPr>
      </p:pic>
      <p:sp>
        <p:nvSpPr>
          <p:cNvPr id="21" name="Text 16"/>
          <p:cNvSpPr txBox="1"/>
          <p:nvPr/>
        </p:nvSpPr>
        <p:spPr>
          <a:xfrm>
            <a:off x="777240" y="5869986"/>
            <a:ext cx="4572000" cy="256032"/>
          </a:xfrm>
          <a:prstGeom prst="rect">
            <a:avLst/>
          </a:prstGeom>
          <a:noFill/>
          <a:ln/>
        </p:spPr>
        <p:txBody>
          <a:bodyPr wrap="square" lIns="0" tIns="0" rIns="0" bIns="0" rtlCol="0" anchor="t"/>
          <a:lstStyle/>
          <a:p>
            <a:pPr indent="0" marL="0">
              <a:buNone/>
            </a:pPr>
            <a:r>
              <a:rPr lang="en-US" sz="1150" dirty="0">
                <a:solidFill>
                  <a:srgbClr val="942838"/>
                </a:solidFill>
                <a:latin typeface="Montserrat SemiBold" pitchFamily="34" charset="0"/>
                <a:ea typeface="Montserrat SemiBold" pitchFamily="34" charset="-122"/>
                <a:cs typeface="Montserrat SemiBold" pitchFamily="34" charset="-120"/>
              </a:rPr>
              <a:t>65 still needed patching</a:t>
            </a:r>
            <a:endParaRPr lang="en-US" sz="1150" dirty="0"/>
          </a:p>
        </p:txBody>
      </p:sp>
      <p:sp>
        <p:nvSpPr>
          <p:cNvPr id="22" name="Text 17"/>
          <p:cNvSpPr txBox="1"/>
          <p:nvPr/>
        </p:nvSpPr>
        <p:spPr>
          <a:xfrm>
            <a:off x="5013655" y="5869986"/>
            <a:ext cx="6400800" cy="256032"/>
          </a:xfrm>
          <a:prstGeom prst="rect">
            <a:avLst/>
          </a:prstGeom>
          <a:noFill/>
          <a:ln/>
        </p:spPr>
        <p:txBody>
          <a:bodyPr wrap="square" lIns="0" tIns="0" rIns="0" bIns="0" rtlCol="0" anchor="t"/>
          <a:lstStyle/>
          <a:p>
            <a:pPr algn="r" indent="0" marL="0">
              <a:buNone/>
            </a:pPr>
            <a:r>
              <a:rPr lang="en-US" sz="1150" dirty="0">
                <a:solidFill>
                  <a:srgbClr val="6E7175"/>
                </a:solidFill>
                <a:latin typeface="Montserrat SemiBold" pitchFamily="34" charset="0"/>
                <a:ea typeface="Montserrat SemiBold" pitchFamily="34" charset="-122"/>
                <a:cs typeface="Montserrat SemiBold" pitchFamily="34" charset="-120"/>
              </a:rPr>
              <a:t>52 already covered — nobody had to do anything for these</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GOING DEEPER</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Why 65 flaws turn into 209 rows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20</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One flaw does not mean one patch. The same flaw needs a differently numbered patch on each version of Windows we run — so one flaw becomes several rows on the list.</a:t>
            </a:r>
            <a:endParaRPr lang="en-US" sz="1400" dirty="0"/>
          </a:p>
        </p:txBody>
      </p:sp>
      <p:pic>
        <p:nvPicPr>
          <p:cNvPr id="10" name="Image 1" descr="/home/user/ai/assets/gen/one-flaw-many-patches.png">    </p:cNvPr>
          <p:cNvPicPr>
            <a:picLocks noChangeAspect="1"/>
          </p:cNvPicPr>
          <p:nvPr/>
        </p:nvPicPr>
        <p:blipFill>
          <a:blip r:embed="rId2"/>
          <a:stretch>
            <a:fillRect/>
          </a:stretch>
        </p:blipFill>
        <p:spPr>
          <a:xfrm>
            <a:off x="685800" y="2450592"/>
            <a:ext cx="5943600" cy="2286000"/>
          </a:xfrm>
          <a:prstGeom prst="rect">
            <a:avLst/>
          </a:prstGeom>
        </p:spPr>
      </p:pic>
      <p:sp>
        <p:nvSpPr>
          <p:cNvPr id="11" name="Shape 7"/>
          <p:cNvSpPr/>
          <p:nvPr/>
        </p:nvSpPr>
        <p:spPr>
          <a:xfrm>
            <a:off x="6949440" y="2450592"/>
            <a:ext cx="4465015"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2.312295773227651e+128" dist="5.780739433069128e+127" dir="1.1937991664919603e+150">
              <a:srgbClr val="959092">
                <a:alpha val="2.2000000000000004e+154"/>
              </a:srgbClr>
            </a:outerShdw>
          </a:effectLst>
        </p:spPr>
      </p:sp>
      <p:sp>
        <p:nvSpPr>
          <p:cNvPr id="12" name="Text 8"/>
          <p:cNvSpPr txBox="1"/>
          <p:nvPr/>
        </p:nvSpPr>
        <p:spPr>
          <a:xfrm>
            <a:off x="7242048" y="2688336"/>
            <a:ext cx="3879799"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WHERE 209 COMES FROM</a:t>
            </a:r>
            <a:endParaRPr lang="en-US" sz="850" dirty="0"/>
          </a:p>
        </p:txBody>
      </p:sp>
      <p:sp>
        <p:nvSpPr>
          <p:cNvPr id="13" name="Text 9"/>
          <p:cNvSpPr txBox="1"/>
          <p:nvPr/>
        </p:nvSpPr>
        <p:spPr>
          <a:xfrm>
            <a:off x="7242048" y="2944368"/>
            <a:ext cx="3879799" cy="384048"/>
          </a:xfrm>
          <a:prstGeom prst="rect">
            <a:avLst/>
          </a:prstGeom>
          <a:noFill/>
          <a:ln/>
        </p:spPr>
        <p:txBody>
          <a:bodyPr wrap="square" lIns="0" tIns="0" rIns="0" bIns="0" rtlCol="0" anchor="t"/>
          <a:lstStyle/>
          <a:p>
            <a:pPr indent="0" marL="0">
              <a:buNone/>
            </a:pPr>
            <a:r>
              <a:rPr lang="en-US" sz="2200" spc="-70" kern="0" dirty="0">
                <a:solidFill>
                  <a:srgbClr val="2B2D30"/>
                </a:solidFill>
                <a:latin typeface="Montserrat ExtraBold" pitchFamily="34" charset="0"/>
                <a:ea typeface="Montserrat ExtraBold" pitchFamily="34" charset="-122"/>
                <a:cs typeface="Montserrat ExtraBold" pitchFamily="34" charset="-120"/>
              </a:rPr>
              <a:t>Kevlar’s own report</a:t>
            </a:r>
            <a:endParaRPr lang="en-US" sz="2200" dirty="0"/>
          </a:p>
        </p:txBody>
      </p:sp>
      <p:sp>
        <p:nvSpPr>
          <p:cNvPr id="14" name="Text 10"/>
          <p:cNvSpPr txBox="1"/>
          <p:nvPr/>
        </p:nvSpPr>
        <p:spPr>
          <a:xfrm>
            <a:off x="7242048" y="3438144"/>
            <a:ext cx="3879799" cy="100584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Do that fan-out for all 65 open flaws, across every Windows version in the fleet, and it adds up to 209 rows. Kevlar already publishes that list — I opened it and counted, I did not calculate it.</a:t>
            </a:r>
            <a:endParaRPr lang="en-US" sz="1100" dirty="0"/>
          </a:p>
        </p:txBody>
      </p:sp>
      <p:sp>
        <p:nvSpPr>
          <p:cNvPr id="15" name="Text 11"/>
          <p:cNvSpPr txBox="1"/>
          <p:nvPr/>
        </p:nvSpPr>
        <p:spPr>
          <a:xfrm>
            <a:off x="777240" y="4846320"/>
            <a:ext cx="5486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WHOLE CHAIN</a:t>
            </a:r>
            <a:endParaRPr lang="en-US" sz="850" dirty="0"/>
          </a:p>
        </p:txBody>
      </p:sp>
      <p:sp>
        <p:nvSpPr>
          <p:cNvPr id="16" name="Shape 12"/>
          <p:cNvSpPr/>
          <p:nvPr/>
        </p:nvSpPr>
        <p:spPr>
          <a:xfrm>
            <a:off x="777240"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01600" dist="50800" dir="5400000">
              <a:srgbClr val="FFFFFF">
                <a:alpha val="75000"/>
              </a:srgbClr>
            </a:outerShdw>
          </a:effectLst>
        </p:spPr>
      </p:sp>
      <p:sp>
        <p:nvSpPr>
          <p:cNvPr id="17" name="Text 13"/>
          <p:cNvSpPr txBox="1"/>
          <p:nvPr/>
        </p:nvSpPr>
        <p:spPr>
          <a:xfrm>
            <a:off x="960120"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117</a:t>
            </a:r>
            <a:endParaRPr lang="en-US" sz="2500" dirty="0"/>
          </a:p>
        </p:txBody>
      </p:sp>
      <p:sp>
        <p:nvSpPr>
          <p:cNvPr id="18" name="Text 14"/>
          <p:cNvSpPr txBox="1"/>
          <p:nvPr/>
        </p:nvSpPr>
        <p:spPr>
          <a:xfrm>
            <a:off x="923544"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flaws tracked</a:t>
            </a:r>
            <a:endParaRPr lang="en-US" sz="950" dirty="0"/>
          </a:p>
        </p:txBody>
      </p:sp>
      <p:sp>
        <p:nvSpPr>
          <p:cNvPr id="19" name="Text 15"/>
          <p:cNvSpPr txBox="1"/>
          <p:nvPr/>
        </p:nvSpPr>
        <p:spPr>
          <a:xfrm>
            <a:off x="3196285"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0" name="Shape 16"/>
          <p:cNvSpPr/>
          <p:nvPr/>
        </p:nvSpPr>
        <p:spPr>
          <a:xfrm>
            <a:off x="3493922"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290320000" dist="645160000" dir="324000000000">
              <a:srgbClr val="FFFFFF">
                <a:alpha val="7500000000"/>
              </a:srgbClr>
            </a:outerShdw>
          </a:effectLst>
        </p:spPr>
      </p:sp>
      <p:sp>
        <p:nvSpPr>
          <p:cNvPr id="21" name="Text 17"/>
          <p:cNvSpPr txBox="1"/>
          <p:nvPr/>
        </p:nvSpPr>
        <p:spPr>
          <a:xfrm>
            <a:off x="3676802"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65</a:t>
            </a:r>
            <a:endParaRPr lang="en-US" sz="2500" dirty="0"/>
          </a:p>
        </p:txBody>
      </p:sp>
      <p:sp>
        <p:nvSpPr>
          <p:cNvPr id="22" name="Text 18"/>
          <p:cNvSpPr txBox="1"/>
          <p:nvPr/>
        </p:nvSpPr>
        <p:spPr>
          <a:xfrm>
            <a:off x="3640226"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still open</a:t>
            </a:r>
            <a:endParaRPr lang="en-US" sz="950" dirty="0"/>
          </a:p>
        </p:txBody>
      </p:sp>
      <p:sp>
        <p:nvSpPr>
          <p:cNvPr id="23" name="Text 19"/>
          <p:cNvSpPr txBox="1"/>
          <p:nvPr/>
        </p:nvSpPr>
        <p:spPr>
          <a:xfrm>
            <a:off x="5912968"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4" name="Shape 20"/>
          <p:cNvSpPr/>
          <p:nvPr/>
        </p:nvSpPr>
        <p:spPr>
          <a:xfrm>
            <a:off x="6210605"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6387064000000" dist="8193532000000" dir="19440000000000000">
              <a:srgbClr val="FFFFFF">
                <a:alpha val="750000000000000"/>
              </a:srgbClr>
            </a:outerShdw>
          </a:effectLst>
        </p:spPr>
      </p:sp>
      <p:sp>
        <p:nvSpPr>
          <p:cNvPr id="25" name="Text 21"/>
          <p:cNvSpPr txBox="1"/>
          <p:nvPr/>
        </p:nvSpPr>
        <p:spPr>
          <a:xfrm>
            <a:off x="6393485"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209</a:t>
            </a:r>
            <a:endParaRPr lang="en-US" sz="2500" dirty="0"/>
          </a:p>
        </p:txBody>
      </p:sp>
      <p:sp>
        <p:nvSpPr>
          <p:cNvPr id="26" name="Text 22"/>
          <p:cNvSpPr txBox="1"/>
          <p:nvPr/>
        </p:nvSpPr>
        <p:spPr>
          <a:xfrm>
            <a:off x="6356909"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once split</a:t>
            </a:r>
            <a:endParaRPr lang="en-US" sz="950" dirty="0"/>
          </a:p>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by Windows version</a:t>
            </a:r>
            <a:endParaRPr lang="en-US" sz="950" dirty="0"/>
          </a:p>
        </p:txBody>
      </p:sp>
      <p:sp>
        <p:nvSpPr>
          <p:cNvPr id="27" name="Text 23"/>
          <p:cNvSpPr txBox="1"/>
          <p:nvPr/>
        </p:nvSpPr>
        <p:spPr>
          <a:xfrm>
            <a:off x="8629650"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8" name="Shape 24"/>
          <p:cNvSpPr/>
          <p:nvPr/>
        </p:nvSpPr>
        <p:spPr>
          <a:xfrm>
            <a:off x="8927287" y="5138928"/>
            <a:ext cx="2487168" cy="932688"/>
          </a:xfrm>
          <a:prstGeom prst="roundRect">
            <a:avLst>
              <a:gd name="adj" fmla="val 5882"/>
            </a:avLst>
          </a:prstGeom>
          <a:solidFill>
            <a:srgbClr val="942838"/>
          </a:solidFill>
          <a:ln w="9525">
            <a:solidFill>
              <a:srgbClr val="942838"/>
            </a:solidFill>
            <a:prstDash val="solid"/>
          </a:ln>
          <a:effectLst>
            <a:outerShdw sx="100000" sy="100000" kx="0" ky="0" algn="bl" rotWithShape="0" blurRad="203200" dist="50800" dir="5400000">
              <a:srgbClr val="5D1923">
                <a:alpha val="34000"/>
              </a:srgbClr>
            </a:outerShdw>
          </a:effectLst>
        </p:spPr>
      </p:sp>
      <p:sp>
        <p:nvSpPr>
          <p:cNvPr id="29" name="Text 25"/>
          <p:cNvSpPr txBox="1"/>
          <p:nvPr/>
        </p:nvSpPr>
        <p:spPr>
          <a:xfrm>
            <a:off x="9110167"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FFFFFF"/>
                </a:solidFill>
                <a:latin typeface="Montserrat ExtraBold" pitchFamily="34" charset="0"/>
                <a:ea typeface="Montserrat ExtraBold" pitchFamily="34" charset="-122"/>
                <a:cs typeface="Montserrat ExtraBold" pitchFamily="34" charset="-120"/>
              </a:rPr>
              <a:t>46</a:t>
            </a:r>
            <a:endParaRPr lang="en-US" sz="2500" dirty="0"/>
          </a:p>
        </p:txBody>
      </p:sp>
      <p:sp>
        <p:nvSpPr>
          <p:cNvPr id="30" name="Text 26"/>
          <p:cNvSpPr txBox="1"/>
          <p:nvPr/>
        </p:nvSpPr>
        <p:spPr>
          <a:xfrm>
            <a:off x="9073591"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tickets, after the</a:t>
            </a:r>
            <a:endParaRPr lang="en-US" sz="950" dirty="0"/>
          </a:p>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next slide’s rule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PAYOFF</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209 rows became 46 tickets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21</a:t>
            </a:r>
            <a:endParaRPr lang="en-US" sz="850" dirty="0"/>
          </a:p>
        </p:txBody>
      </p:sp>
      <p:sp>
        <p:nvSpPr>
          <p:cNvPr id="9" name="Shape 6"/>
          <p:cNvSpPr/>
          <p:nvPr/>
        </p:nvSpPr>
        <p:spPr>
          <a:xfrm>
            <a:off x="777240" y="1847088"/>
            <a:ext cx="10637215" cy="603504"/>
          </a:xfrm>
          <a:prstGeom prst="roundRect">
            <a:avLst>
              <a:gd name="adj" fmla="val 9091"/>
            </a:avLst>
          </a:prstGeom>
          <a:solidFill>
            <a:srgbClr val="F6EEF0"/>
          </a:solidFill>
          <a:ln/>
        </p:spPr>
      </p:sp>
      <p:sp>
        <p:nvSpPr>
          <p:cNvPr id="10" name="Shape 7"/>
          <p:cNvSpPr/>
          <p:nvPr/>
        </p:nvSpPr>
        <p:spPr>
          <a:xfrm>
            <a:off x="777240" y="1847088"/>
            <a:ext cx="50292" cy="603504"/>
          </a:xfrm>
          <a:prstGeom prst="rect">
            <a:avLst/>
          </a:prstGeom>
          <a:solidFill>
            <a:srgbClr val="942838"/>
          </a:solidFill>
          <a:ln/>
        </p:spPr>
      </p:sp>
      <p:sp>
        <p:nvSpPr>
          <p:cNvPr id="11" name="Text 8"/>
          <p:cNvSpPr txBox="1"/>
          <p:nvPr/>
        </p:nvSpPr>
        <p:spPr>
          <a:xfrm>
            <a:off x="1014984" y="2048256"/>
            <a:ext cx="10180015" cy="310896"/>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SAME FACT AGAIN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Only now applied to one machine at a time — because the newest patch already contains the older ones, most of those rows are the same job twice.</a:t>
            </a:r>
            <a:endParaRPr lang="en-US" sz="900" dirty="0"/>
          </a:p>
        </p:txBody>
      </p:sp>
      <p:sp>
        <p:nvSpPr>
          <p:cNvPr id="12" name="Shape 9"/>
          <p:cNvSpPr/>
          <p:nvPr/>
        </p:nvSpPr>
        <p:spPr>
          <a:xfrm>
            <a:off x="777240" y="2633472"/>
            <a:ext cx="5577840" cy="1627632"/>
          </a:xfrm>
          <a:prstGeom prst="roundRect">
            <a:avLst>
              <a:gd name="adj" fmla="val 3371"/>
            </a:avLst>
          </a:prstGeom>
          <a:solidFill>
            <a:srgbClr val="FFFFFF"/>
          </a:solidFill>
          <a:ln w="9525">
            <a:solidFill>
              <a:srgbClr val="E6E4E2"/>
            </a:solidFill>
            <a:prstDash val="solid"/>
          </a:ln>
          <a:effectLst>
            <a:outerShdw sx="100000" sy="100000" kx="0" ky="0" algn="bl" rotWithShape="0" blurRad="2.936615631999117e+132" dist="7.341539079997793e+131" dir="7.162794998951762e+154">
              <a:srgbClr val="959092">
                <a:alpha val="2.2000000000000003e+159"/>
              </a:srgbClr>
            </a:outerShdw>
          </a:effectLst>
        </p:spPr>
      </p:sp>
      <p:sp>
        <p:nvSpPr>
          <p:cNvPr id="13" name="Text 10"/>
          <p:cNvSpPr txBox="1"/>
          <p:nvPr/>
        </p:nvSpPr>
        <p:spPr>
          <a:xfrm>
            <a:off x="1051560" y="2852928"/>
            <a:ext cx="5029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ONE SERVER, THREE ROWS ON THE LIST</a:t>
            </a:r>
            <a:endParaRPr lang="en-US" sz="850" dirty="0"/>
          </a:p>
        </p:txBody>
      </p:sp>
      <p:sp>
        <p:nvSpPr>
          <p:cNvPr id="14" name="Text 11"/>
          <p:cNvSpPr txBox="1"/>
          <p:nvPr/>
        </p:nvSpPr>
        <p:spPr>
          <a:xfrm>
            <a:off x="1051560" y="3145536"/>
            <a:ext cx="219456" cy="237744"/>
          </a:xfrm>
          <a:prstGeom prst="rect">
            <a:avLst/>
          </a:prstGeom>
          <a:noFill/>
          <a:ln/>
        </p:spPr>
        <p:txBody>
          <a:bodyPr wrap="square" lIns="0" tIns="0" rIns="0" bIns="0" rtlCol="0" anchor="t"/>
          <a:lstStyle/>
          <a:p>
            <a:pPr indent="0" marL="0">
              <a:buNone/>
            </a:pPr>
            <a:r>
              <a:rPr lang="en-US" sz="1200" dirty="0">
                <a:solidFill>
                  <a:srgbClr val="C9C6C4"/>
                </a:solidFill>
                <a:latin typeface="Montserrat SemiBold" pitchFamily="34" charset="0"/>
                <a:ea typeface="Montserrat SemiBold" pitchFamily="34" charset="-122"/>
                <a:cs typeface="Montserrat SemiBold" pitchFamily="34" charset="-120"/>
              </a:rPr>
              <a:t>—</a:t>
            </a:r>
            <a:endParaRPr lang="en-US" sz="1200" dirty="0"/>
          </a:p>
        </p:txBody>
      </p:sp>
      <p:sp>
        <p:nvSpPr>
          <p:cNvPr id="15" name="Text 12"/>
          <p:cNvSpPr txBox="1"/>
          <p:nvPr/>
        </p:nvSpPr>
        <p:spPr>
          <a:xfrm>
            <a:off x="1325880" y="3145536"/>
            <a:ext cx="4754880" cy="237744"/>
          </a:xfrm>
          <a:prstGeom prst="rect">
            <a:avLst/>
          </a:prstGeom>
          <a:noFill/>
          <a:ln/>
        </p:spPr>
        <p:txBody>
          <a:bodyPr wrap="square" lIns="0" tIns="0" rIns="0" bIns="0" rtlCol="0" anchor="t"/>
          <a:lstStyle/>
          <a:p>
            <a:pPr indent="0" marL="0">
              <a:buNone/>
            </a:pPr>
            <a:r>
              <a:rPr lang="en-US" sz="1200" dirty="0">
                <a:solidFill>
                  <a:srgbClr val="6E7175"/>
                </a:solidFill>
                <a:latin typeface="Montserrat" pitchFamily="34" charset="0"/>
                <a:ea typeface="Montserrat" pitchFamily="34" charset="-122"/>
                <a:cs typeface="Montserrat" pitchFamily="34" charset="-120"/>
              </a:rPr>
              <a:t>March patch</a:t>
            </a:r>
            <a:pPr indent="0" marL="0">
              <a:buNone/>
            </a:pPr>
            <a:r>
              <a:rPr lang="en-US" sz="1100" dirty="0">
                <a:solidFill>
                  <a:srgbClr val="6E7175"/>
                </a:solidFill>
                <a:latin typeface="Montserrat" pitchFamily="34" charset="0"/>
                <a:ea typeface="Montserrat" pitchFamily="34" charset="-122"/>
                <a:cs typeface="Montserrat" pitchFamily="34" charset="-120"/>
              </a:rPr>
              <a:t>   for flaw 1</a:t>
            </a:r>
            <a:endParaRPr lang="en-US" sz="1200" dirty="0"/>
          </a:p>
        </p:txBody>
      </p:sp>
      <p:sp>
        <p:nvSpPr>
          <p:cNvPr id="16" name="Text 13"/>
          <p:cNvSpPr txBox="1"/>
          <p:nvPr/>
        </p:nvSpPr>
        <p:spPr>
          <a:xfrm>
            <a:off x="1051560" y="3456432"/>
            <a:ext cx="219456" cy="237744"/>
          </a:xfrm>
          <a:prstGeom prst="rect">
            <a:avLst/>
          </a:prstGeom>
          <a:noFill/>
          <a:ln/>
        </p:spPr>
        <p:txBody>
          <a:bodyPr wrap="square" lIns="0" tIns="0" rIns="0" bIns="0" rtlCol="0" anchor="t"/>
          <a:lstStyle/>
          <a:p>
            <a:pPr indent="0" marL="0">
              <a:buNone/>
            </a:pPr>
            <a:r>
              <a:rPr lang="en-US" sz="1200" dirty="0">
                <a:solidFill>
                  <a:srgbClr val="C9C6C4"/>
                </a:solidFill>
                <a:latin typeface="Montserrat SemiBold" pitchFamily="34" charset="0"/>
                <a:ea typeface="Montserrat SemiBold" pitchFamily="34" charset="-122"/>
                <a:cs typeface="Montserrat SemiBold" pitchFamily="34" charset="-120"/>
              </a:rPr>
              <a:t>—</a:t>
            </a:r>
            <a:endParaRPr lang="en-US" sz="1200" dirty="0"/>
          </a:p>
        </p:txBody>
      </p:sp>
      <p:sp>
        <p:nvSpPr>
          <p:cNvPr id="17" name="Text 14"/>
          <p:cNvSpPr txBox="1"/>
          <p:nvPr/>
        </p:nvSpPr>
        <p:spPr>
          <a:xfrm>
            <a:off x="1325880" y="3456432"/>
            <a:ext cx="4754880" cy="237744"/>
          </a:xfrm>
          <a:prstGeom prst="rect">
            <a:avLst/>
          </a:prstGeom>
          <a:noFill/>
          <a:ln/>
        </p:spPr>
        <p:txBody>
          <a:bodyPr wrap="square" lIns="0" tIns="0" rIns="0" bIns="0" rtlCol="0" anchor="t"/>
          <a:lstStyle/>
          <a:p>
            <a:pPr indent="0" marL="0">
              <a:buNone/>
            </a:pPr>
            <a:r>
              <a:rPr lang="en-US" sz="1200" dirty="0">
                <a:solidFill>
                  <a:srgbClr val="6E7175"/>
                </a:solidFill>
                <a:latin typeface="Montserrat" pitchFamily="34" charset="0"/>
                <a:ea typeface="Montserrat" pitchFamily="34" charset="-122"/>
                <a:cs typeface="Montserrat" pitchFamily="34" charset="-120"/>
              </a:rPr>
              <a:t>June patch</a:t>
            </a:r>
            <a:pPr indent="0" marL="0">
              <a:buNone/>
            </a:pPr>
            <a:r>
              <a:rPr lang="en-US" sz="1100" dirty="0">
                <a:solidFill>
                  <a:srgbClr val="6E7175"/>
                </a:solidFill>
                <a:latin typeface="Montserrat" pitchFamily="34" charset="0"/>
                <a:ea typeface="Montserrat" pitchFamily="34" charset="-122"/>
                <a:cs typeface="Montserrat" pitchFamily="34" charset="-120"/>
              </a:rPr>
              <a:t>   for flaw 2</a:t>
            </a:r>
            <a:endParaRPr lang="en-US" sz="1200" dirty="0"/>
          </a:p>
        </p:txBody>
      </p:sp>
      <p:sp>
        <p:nvSpPr>
          <p:cNvPr id="18" name="Text 15"/>
          <p:cNvSpPr txBox="1"/>
          <p:nvPr/>
        </p:nvSpPr>
        <p:spPr>
          <a:xfrm>
            <a:off x="1051560" y="3767328"/>
            <a:ext cx="219456" cy="237744"/>
          </a:xfrm>
          <a:prstGeom prst="rect">
            <a:avLst/>
          </a:prstGeom>
          <a:noFill/>
          <a:ln/>
        </p:spPr>
        <p:txBody>
          <a:bodyPr wrap="square" lIns="0" tIns="0" rIns="0" bIns="0" rtlCol="0" anchor="t"/>
          <a:lstStyle/>
          <a:p>
            <a:pPr indent="0" marL="0">
              <a:buNone/>
            </a:pPr>
            <a:r>
              <a:rPr lang="en-US" sz="1200" dirty="0">
                <a:solidFill>
                  <a:srgbClr val="942838"/>
                </a:solidFill>
                <a:latin typeface="Montserrat SemiBold" pitchFamily="34" charset="0"/>
                <a:ea typeface="Montserrat SemiBold" pitchFamily="34" charset="-122"/>
                <a:cs typeface="Montserrat SemiBold" pitchFamily="34" charset="-120"/>
              </a:rPr>
              <a:t>✓</a:t>
            </a:r>
            <a:endParaRPr lang="en-US" sz="1200" dirty="0"/>
          </a:p>
        </p:txBody>
      </p:sp>
      <p:sp>
        <p:nvSpPr>
          <p:cNvPr id="19" name="Text 16"/>
          <p:cNvSpPr txBox="1"/>
          <p:nvPr/>
        </p:nvSpPr>
        <p:spPr>
          <a:xfrm>
            <a:off x="1325880" y="3767328"/>
            <a:ext cx="4754880"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September patch</a:t>
            </a:r>
            <a:pPr indent="0" marL="0">
              <a:buNone/>
            </a:pPr>
            <a:r>
              <a:rPr lang="en-US" sz="1100" dirty="0">
                <a:solidFill>
                  <a:srgbClr val="6E7175"/>
                </a:solidFill>
                <a:latin typeface="Montserrat" pitchFamily="34" charset="0"/>
                <a:ea typeface="Montserrat" pitchFamily="34" charset="-122"/>
                <a:cs typeface="Montserrat" pitchFamily="34" charset="-120"/>
              </a:rPr>
              <a:t>   for flaw 3</a:t>
            </a:r>
            <a:endParaRPr lang="en-US" sz="1200" dirty="0"/>
          </a:p>
        </p:txBody>
      </p:sp>
      <p:sp>
        <p:nvSpPr>
          <p:cNvPr id="20" name="Text 17"/>
          <p:cNvSpPr txBox="1"/>
          <p:nvPr/>
        </p:nvSpPr>
        <p:spPr>
          <a:xfrm>
            <a:off x="1051560" y="3950208"/>
            <a:ext cx="5029200" cy="237744"/>
          </a:xfrm>
          <a:prstGeom prst="rect">
            <a:avLst/>
          </a:prstGeom>
          <a:noFill/>
          <a:ln/>
        </p:spPr>
        <p:txBody>
          <a:bodyPr wrap="square" lIns="0" tIns="0" rIns="0" bIns="0" rtlCol="0" anchor="t"/>
          <a:lstStyle/>
          <a:p>
            <a:pPr indent="0" marL="0">
              <a:buNone/>
            </a:pPr>
            <a:r>
              <a:rPr lang="en-US" sz="1100" dirty="0">
                <a:solidFill>
                  <a:srgbClr val="942838"/>
                </a:solidFill>
                <a:latin typeface="Montserrat SemiBold" pitchFamily="34" charset="0"/>
                <a:ea typeface="Montserrat SemiBold" pitchFamily="34" charset="-122"/>
                <a:cs typeface="Montserrat SemiBold" pitchFamily="34" charset="-120"/>
              </a:rPr>
              <a:t>September already contains March and June — one action, not three.</a:t>
            </a:r>
            <a:endParaRPr lang="en-US" sz="1100" dirty="0"/>
          </a:p>
        </p:txBody>
      </p:sp>
      <p:sp>
        <p:nvSpPr>
          <p:cNvPr id="21" name="Shape 18"/>
          <p:cNvSpPr/>
          <p:nvPr/>
        </p:nvSpPr>
        <p:spPr>
          <a:xfrm>
            <a:off x="6766560" y="2633472"/>
            <a:ext cx="1402994" cy="1627632"/>
          </a:xfrm>
          <a:prstGeom prst="roundRect">
            <a:avLst>
              <a:gd name="adj" fmla="val 3910"/>
            </a:avLst>
          </a:prstGeom>
          <a:solidFill>
            <a:srgbClr val="F5F4F3"/>
          </a:solidFill>
          <a:ln w="9525">
            <a:solidFill>
              <a:srgbClr val="E6E4E2"/>
            </a:solidFill>
            <a:prstDash val="solid"/>
          </a:ln>
          <a:effectLst>
            <a:outerShdw sx="100000" sy="100000" kx="0" ky="0" algn="bl" rotWithShape="0" blurRad="3.729501852638879e+136" dist="9.323754631597197e+135" dir="4.297676999371057e+159">
              <a:srgbClr val="959092">
                <a:alpha val="2.2000000000000003e+164"/>
              </a:srgbClr>
            </a:outerShdw>
          </a:effectLst>
        </p:spPr>
      </p:sp>
      <p:sp>
        <p:nvSpPr>
          <p:cNvPr id="22" name="Text 19"/>
          <p:cNvSpPr txBox="1"/>
          <p:nvPr/>
        </p:nvSpPr>
        <p:spPr>
          <a:xfrm>
            <a:off x="6894576"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2B2D30"/>
                </a:solidFill>
                <a:latin typeface="Montserrat ExtraBold" pitchFamily="34" charset="0"/>
                <a:ea typeface="Montserrat ExtraBold" pitchFamily="34" charset="-122"/>
                <a:cs typeface="Montserrat ExtraBold" pitchFamily="34" charset="-120"/>
              </a:rPr>
              <a:t>209</a:t>
            </a:r>
            <a:endParaRPr lang="en-US" sz="4000" dirty="0"/>
          </a:p>
        </p:txBody>
      </p:sp>
      <p:sp>
        <p:nvSpPr>
          <p:cNvPr id="23" name="Text 20"/>
          <p:cNvSpPr txBox="1"/>
          <p:nvPr/>
        </p:nvSpPr>
        <p:spPr>
          <a:xfrm>
            <a:off x="6894576"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on Kevlar’s list</a:t>
            </a:r>
            <a:endParaRPr lang="en-US" sz="950" dirty="0"/>
          </a:p>
        </p:txBody>
      </p:sp>
      <p:sp>
        <p:nvSpPr>
          <p:cNvPr id="24" name="Shape 21"/>
          <p:cNvSpPr/>
          <p:nvPr/>
        </p:nvSpPr>
        <p:spPr>
          <a:xfrm>
            <a:off x="8389010" y="2633472"/>
            <a:ext cx="1402994" cy="1627632"/>
          </a:xfrm>
          <a:prstGeom prst="roundRect">
            <a:avLst>
              <a:gd name="adj" fmla="val 3910"/>
            </a:avLst>
          </a:prstGeom>
          <a:solidFill>
            <a:srgbClr val="F6EEF0"/>
          </a:solidFill>
          <a:ln w="9525">
            <a:solidFill>
              <a:srgbClr val="942838"/>
            </a:solidFill>
            <a:prstDash val="solid"/>
          </a:ln>
          <a:effectLst>
            <a:outerShdw sx="100000" sy="100000" kx="0" ky="0" algn="bl" rotWithShape="0" blurRad="4.736467352851376e+140" dist="1.184116838212844e+140" dir="2.5786061996226343e+164">
              <a:srgbClr val="959092">
                <a:alpha val="2.2000000000000004e+169"/>
              </a:srgbClr>
            </a:outerShdw>
          </a:effectLst>
        </p:spPr>
      </p:sp>
      <p:sp>
        <p:nvSpPr>
          <p:cNvPr id="25" name="Text 22"/>
          <p:cNvSpPr txBox="1"/>
          <p:nvPr/>
        </p:nvSpPr>
        <p:spPr>
          <a:xfrm>
            <a:off x="8517026"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942838"/>
                </a:solidFill>
                <a:latin typeface="Montserrat ExtraBold" pitchFamily="34" charset="0"/>
                <a:ea typeface="Montserrat ExtraBold" pitchFamily="34" charset="-122"/>
                <a:cs typeface="Montserrat ExtraBold" pitchFamily="34" charset="-120"/>
              </a:rPr>
              <a:t>46</a:t>
            </a:r>
            <a:endParaRPr lang="en-US" sz="4000" dirty="0"/>
          </a:p>
        </p:txBody>
      </p:sp>
      <p:sp>
        <p:nvSpPr>
          <p:cNvPr id="26" name="Text 23"/>
          <p:cNvSpPr txBox="1"/>
          <p:nvPr/>
        </p:nvSpPr>
        <p:spPr>
          <a:xfrm>
            <a:off x="8517026"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tickets actually opened</a:t>
            </a:r>
            <a:endParaRPr lang="en-US" sz="950" dirty="0"/>
          </a:p>
        </p:txBody>
      </p:sp>
      <p:sp>
        <p:nvSpPr>
          <p:cNvPr id="27" name="Shape 24"/>
          <p:cNvSpPr/>
          <p:nvPr/>
        </p:nvSpPr>
        <p:spPr>
          <a:xfrm>
            <a:off x="10011461" y="2633472"/>
            <a:ext cx="1402994" cy="1627632"/>
          </a:xfrm>
          <a:prstGeom prst="roundRect">
            <a:avLst>
              <a:gd name="adj" fmla="val 3910"/>
            </a:avLst>
          </a:prstGeom>
          <a:solidFill>
            <a:srgbClr val="F6EEF0"/>
          </a:solidFill>
          <a:ln w="9525">
            <a:solidFill>
              <a:srgbClr val="942838"/>
            </a:solidFill>
            <a:prstDash val="solid"/>
          </a:ln>
          <a:effectLst>
            <a:outerShdw sx="100000" sy="100000" kx="0" ky="0" algn="bl" rotWithShape="0" blurRad="6.0153135381212476e+144" dist="1.5038283845303119e+144" dir="1.5471637197735807e+169">
              <a:srgbClr val="959092">
                <a:alpha val="2.2e+174"/>
              </a:srgbClr>
            </a:outerShdw>
          </a:effectLst>
        </p:spPr>
      </p:sp>
      <p:sp>
        <p:nvSpPr>
          <p:cNvPr id="28" name="Text 25"/>
          <p:cNvSpPr txBox="1"/>
          <p:nvPr/>
        </p:nvSpPr>
        <p:spPr>
          <a:xfrm>
            <a:off x="10139477"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942838"/>
                </a:solidFill>
                <a:latin typeface="Montserrat ExtraBold" pitchFamily="34" charset="0"/>
                <a:ea typeface="Montserrat ExtraBold" pitchFamily="34" charset="-122"/>
                <a:cs typeface="Montserrat ExtraBold" pitchFamily="34" charset="-120"/>
              </a:rPr>
              <a:t>78%</a:t>
            </a:r>
            <a:endParaRPr lang="en-US" sz="4000" dirty="0"/>
          </a:p>
        </p:txBody>
      </p:sp>
      <p:sp>
        <p:nvSpPr>
          <p:cNvPr id="29" name="Text 26"/>
          <p:cNvSpPr txBox="1"/>
          <p:nvPr/>
        </p:nvSpPr>
        <p:spPr>
          <a:xfrm>
            <a:off x="10139477"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fewer — 163 absorbed</a:t>
            </a:r>
            <a:endParaRPr lang="en-US" sz="950" dirty="0"/>
          </a:p>
        </p:txBody>
      </p:sp>
      <p:sp>
        <p:nvSpPr>
          <p:cNvPr id="30" name="Text 27"/>
          <p:cNvSpPr txBox="1"/>
          <p:nvPr/>
        </p:nvSpPr>
        <p:spPr>
          <a:xfrm>
            <a:off x="777240" y="4462272"/>
            <a:ext cx="7315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EVERY SQUARE IS ONE ROW ON KEVLAR’S LIST  ·  RED BECAME A TICKET</a:t>
            </a:r>
            <a:endParaRPr lang="en-US" sz="850" dirty="0"/>
          </a:p>
        </p:txBody>
      </p:sp>
      <p:pic>
        <p:nvPicPr>
          <p:cNvPr id="31" name="Image 1" descr="/home/user/ai/assets/gen/chart-consolidation.png">    </p:cNvPr>
          <p:cNvPicPr>
            <a:picLocks noChangeAspect="1"/>
          </p:cNvPicPr>
          <p:nvPr/>
        </p:nvPicPr>
        <p:blipFill>
          <a:blip r:embed="rId2"/>
          <a:stretch>
            <a:fillRect/>
          </a:stretch>
        </p:blipFill>
        <p:spPr>
          <a:xfrm>
            <a:off x="1340968" y="4736592"/>
            <a:ext cx="9509760" cy="1092030"/>
          </a:xfrm>
          <a:prstGeom prst="rect">
            <a:avLst/>
          </a:prstGeom>
        </p:spPr>
      </p:pic>
      <p:sp>
        <p:nvSpPr>
          <p:cNvPr id="32" name="Text 28"/>
          <p:cNvSpPr txBox="1"/>
          <p:nvPr/>
        </p:nvSpPr>
        <p:spPr>
          <a:xfrm>
            <a:off x="777240" y="5907024"/>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Nothing was skipped. </a:t>
            </a:r>
            <a:pPr indent="0" marL="0">
              <a:buNone/>
            </a:pPr>
            <a:r>
              <a:rPr lang="en-US" sz="1150" dirty="0">
                <a:solidFill>
                  <a:srgbClr val="6E7175"/>
                </a:solidFill>
                <a:latin typeface="Montserrat" pitchFamily="34" charset="0"/>
                <a:ea typeface="Montserrat" pitchFamily="34" charset="-122"/>
                <a:cs typeface="Montserrat" pitchFamily="34" charset="-120"/>
              </a:rPr>
              <a:t> Checked across all 2,658 machine-and-product combinations, not a sample.</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Four systems, one screen</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22</a:t>
            </a:r>
            <a:endParaRPr lang="en-US" sz="850" dirty="0"/>
          </a:p>
        </p:txBody>
      </p:sp>
      <p:sp>
        <p:nvSpPr>
          <p:cNvPr id="9" name="Text 6"/>
          <p:cNvSpPr txBox="1"/>
          <p:nvPr/>
        </p:nvSpPr>
        <p:spPr>
          <a:xfrm>
            <a:off x="777240" y="2011680"/>
            <a:ext cx="4160520" cy="822960"/>
          </a:xfrm>
          <a:prstGeom prst="rect">
            <a:avLst/>
          </a:prstGeom>
          <a:noFill/>
          <a:ln/>
        </p:spPr>
        <p:txBody>
          <a:bodyPr wrap="square" lIns="0" tIns="0" rIns="0" bIns="0" rtlCol="0" anchor="t"/>
          <a:lstStyle/>
          <a:p>
            <a:pPr indent="0" marL="0">
              <a:lnSpc>
                <a:spcPct val="128000"/>
              </a:lnSpc>
              <a:buNone/>
            </a:pPr>
            <a:r>
              <a:rPr lang="en-US" sz="1250" dirty="0">
                <a:solidFill>
                  <a:srgbClr val="6E7175"/>
                </a:solidFill>
                <a:latin typeface="Montserrat" pitchFamily="34" charset="0"/>
                <a:ea typeface="Montserrat" pitchFamily="34" charset="-122"/>
                <a:cs typeface="Montserrat" pitchFamily="34" charset="-120"/>
              </a:rPr>
              <a:t>Two views would close the gap: an SLA remediation dashboard showing whether flaws are fixed inside their deadline, and a patching dashboard showing how much of the fleet is current.</a:t>
            </a:r>
            <a:endParaRPr lang="en-US" sz="1250" dirty="0"/>
          </a:p>
        </p:txBody>
      </p:sp>
      <p:sp>
        <p:nvSpPr>
          <p:cNvPr id="10" name="Shape 7"/>
          <p:cNvSpPr/>
          <p:nvPr/>
        </p:nvSpPr>
        <p:spPr>
          <a:xfrm>
            <a:off x="795528" y="3044952"/>
            <a:ext cx="182880" cy="182880"/>
          </a:xfrm>
          <a:prstGeom prst="ellipse">
            <a:avLst/>
          </a:prstGeom>
          <a:solidFill>
            <a:srgbClr val="F6EEF0"/>
          </a:solidFill>
          <a:ln w="19050">
            <a:solidFill>
              <a:srgbClr val="942838"/>
            </a:solidFill>
            <a:prstDash val="solid"/>
          </a:ln>
        </p:spPr>
      </p:sp>
      <p:sp>
        <p:nvSpPr>
          <p:cNvPr id="11" name="Shape 8"/>
          <p:cNvSpPr/>
          <p:nvPr/>
        </p:nvSpPr>
        <p:spPr>
          <a:xfrm>
            <a:off x="850392" y="3099816"/>
            <a:ext cx="73152" cy="73152"/>
          </a:xfrm>
          <a:prstGeom prst="ellipse">
            <a:avLst/>
          </a:prstGeom>
          <a:solidFill>
            <a:srgbClr val="942838"/>
          </a:solidFill>
          <a:ln/>
        </p:spPr>
      </p:sp>
      <p:sp>
        <p:nvSpPr>
          <p:cNvPr id="12" name="Shape 9"/>
          <p:cNvSpPr/>
          <p:nvPr/>
        </p:nvSpPr>
        <p:spPr>
          <a:xfrm>
            <a:off x="882396" y="3246120"/>
            <a:ext cx="10973" cy="457200"/>
          </a:xfrm>
          <a:prstGeom prst="rect">
            <a:avLst/>
          </a:prstGeom>
          <a:solidFill>
            <a:srgbClr val="C9C6C4"/>
          </a:solidFill>
          <a:ln/>
        </p:spPr>
      </p:sp>
      <p:sp>
        <p:nvSpPr>
          <p:cNvPr id="13" name="Text 10"/>
          <p:cNvSpPr txBox="1"/>
          <p:nvPr/>
        </p:nvSpPr>
        <p:spPr>
          <a:xfrm>
            <a:off x="1143000" y="2980944"/>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Tenable</a:t>
            </a:r>
            <a:endParaRPr lang="en-US" sz="1350" dirty="0"/>
          </a:p>
        </p:txBody>
      </p:sp>
      <p:sp>
        <p:nvSpPr>
          <p:cNvPr id="14" name="Text 11"/>
          <p:cNvSpPr txBox="1"/>
          <p:nvPr/>
        </p:nvSpPr>
        <p:spPr>
          <a:xfrm>
            <a:off x="1143000" y="3236976"/>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finds the flaw</a:t>
            </a:r>
            <a:endParaRPr lang="en-US" sz="1100" dirty="0"/>
          </a:p>
        </p:txBody>
      </p:sp>
      <p:sp>
        <p:nvSpPr>
          <p:cNvPr id="15" name="Shape 12"/>
          <p:cNvSpPr/>
          <p:nvPr/>
        </p:nvSpPr>
        <p:spPr>
          <a:xfrm>
            <a:off x="795528" y="3630168"/>
            <a:ext cx="182880" cy="182880"/>
          </a:xfrm>
          <a:prstGeom prst="ellipse">
            <a:avLst/>
          </a:prstGeom>
          <a:solidFill>
            <a:srgbClr val="F6EEF0"/>
          </a:solidFill>
          <a:ln w="19050">
            <a:solidFill>
              <a:srgbClr val="942838"/>
            </a:solidFill>
            <a:prstDash val="solid"/>
          </a:ln>
        </p:spPr>
      </p:sp>
      <p:sp>
        <p:nvSpPr>
          <p:cNvPr id="16" name="Shape 13"/>
          <p:cNvSpPr/>
          <p:nvPr/>
        </p:nvSpPr>
        <p:spPr>
          <a:xfrm>
            <a:off x="850392" y="3685032"/>
            <a:ext cx="73152" cy="73152"/>
          </a:xfrm>
          <a:prstGeom prst="ellipse">
            <a:avLst/>
          </a:prstGeom>
          <a:solidFill>
            <a:srgbClr val="942838"/>
          </a:solidFill>
          <a:ln/>
        </p:spPr>
      </p:sp>
      <p:sp>
        <p:nvSpPr>
          <p:cNvPr id="17" name="Shape 14"/>
          <p:cNvSpPr/>
          <p:nvPr/>
        </p:nvSpPr>
        <p:spPr>
          <a:xfrm>
            <a:off x="882396" y="3831336"/>
            <a:ext cx="10973" cy="457200"/>
          </a:xfrm>
          <a:prstGeom prst="rect">
            <a:avLst/>
          </a:prstGeom>
          <a:solidFill>
            <a:srgbClr val="C9C6C4"/>
          </a:solidFill>
          <a:ln/>
        </p:spPr>
      </p:sp>
      <p:sp>
        <p:nvSpPr>
          <p:cNvPr id="18" name="Text 15"/>
          <p:cNvSpPr txBox="1"/>
          <p:nvPr/>
        </p:nvSpPr>
        <p:spPr>
          <a:xfrm>
            <a:off x="1143000" y="3566160"/>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Kevlar</a:t>
            </a:r>
            <a:endParaRPr lang="en-US" sz="1350" dirty="0"/>
          </a:p>
        </p:txBody>
      </p:sp>
      <p:sp>
        <p:nvSpPr>
          <p:cNvPr id="19" name="Text 16"/>
          <p:cNvSpPr txBox="1"/>
          <p:nvPr/>
        </p:nvSpPr>
        <p:spPr>
          <a:xfrm>
            <a:off x="1143000" y="3822192"/>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tracks which machines are exposed</a:t>
            </a:r>
            <a:endParaRPr lang="en-US" sz="1100" dirty="0"/>
          </a:p>
        </p:txBody>
      </p:sp>
      <p:sp>
        <p:nvSpPr>
          <p:cNvPr id="20" name="Shape 17"/>
          <p:cNvSpPr/>
          <p:nvPr/>
        </p:nvSpPr>
        <p:spPr>
          <a:xfrm>
            <a:off x="795528" y="4215384"/>
            <a:ext cx="182880" cy="182880"/>
          </a:xfrm>
          <a:prstGeom prst="ellipse">
            <a:avLst/>
          </a:prstGeom>
          <a:solidFill>
            <a:srgbClr val="F6EEF0"/>
          </a:solidFill>
          <a:ln w="19050">
            <a:solidFill>
              <a:srgbClr val="942838"/>
            </a:solidFill>
            <a:prstDash val="solid"/>
          </a:ln>
        </p:spPr>
      </p:sp>
      <p:sp>
        <p:nvSpPr>
          <p:cNvPr id="21" name="Shape 18"/>
          <p:cNvSpPr/>
          <p:nvPr/>
        </p:nvSpPr>
        <p:spPr>
          <a:xfrm>
            <a:off x="850392" y="4270248"/>
            <a:ext cx="73152" cy="73152"/>
          </a:xfrm>
          <a:prstGeom prst="ellipse">
            <a:avLst/>
          </a:prstGeom>
          <a:solidFill>
            <a:srgbClr val="942838"/>
          </a:solidFill>
          <a:ln/>
        </p:spPr>
      </p:sp>
      <p:sp>
        <p:nvSpPr>
          <p:cNvPr id="22" name="Shape 19"/>
          <p:cNvSpPr/>
          <p:nvPr/>
        </p:nvSpPr>
        <p:spPr>
          <a:xfrm>
            <a:off x="882396" y="4416552"/>
            <a:ext cx="10973" cy="457200"/>
          </a:xfrm>
          <a:prstGeom prst="rect">
            <a:avLst/>
          </a:prstGeom>
          <a:solidFill>
            <a:srgbClr val="C9C6C4"/>
          </a:solidFill>
          <a:ln/>
        </p:spPr>
      </p:sp>
      <p:sp>
        <p:nvSpPr>
          <p:cNvPr id="23" name="Text 20"/>
          <p:cNvSpPr txBox="1"/>
          <p:nvPr/>
        </p:nvSpPr>
        <p:spPr>
          <a:xfrm>
            <a:off x="1143000" y="4151376"/>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Jira</a:t>
            </a:r>
            <a:endParaRPr lang="en-US" sz="1350" dirty="0"/>
          </a:p>
        </p:txBody>
      </p:sp>
      <p:sp>
        <p:nvSpPr>
          <p:cNvPr id="24" name="Text 21"/>
          <p:cNvSpPr txBox="1"/>
          <p:nvPr/>
        </p:nvSpPr>
        <p:spPr>
          <a:xfrm>
            <a:off x="1143000" y="4407408"/>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opens the ticket</a:t>
            </a:r>
            <a:endParaRPr lang="en-US" sz="1100" dirty="0"/>
          </a:p>
        </p:txBody>
      </p:sp>
      <p:sp>
        <p:nvSpPr>
          <p:cNvPr id="25" name="Shape 22"/>
          <p:cNvSpPr/>
          <p:nvPr/>
        </p:nvSpPr>
        <p:spPr>
          <a:xfrm>
            <a:off x="795528" y="4800600"/>
            <a:ext cx="182880" cy="182880"/>
          </a:xfrm>
          <a:prstGeom prst="ellipse">
            <a:avLst/>
          </a:prstGeom>
          <a:solidFill>
            <a:srgbClr val="F6EEF0"/>
          </a:solidFill>
          <a:ln w="19050">
            <a:solidFill>
              <a:srgbClr val="942838"/>
            </a:solidFill>
            <a:prstDash val="solid"/>
          </a:ln>
        </p:spPr>
      </p:sp>
      <p:sp>
        <p:nvSpPr>
          <p:cNvPr id="26" name="Shape 23"/>
          <p:cNvSpPr/>
          <p:nvPr/>
        </p:nvSpPr>
        <p:spPr>
          <a:xfrm>
            <a:off x="850392" y="4855464"/>
            <a:ext cx="73152" cy="73152"/>
          </a:xfrm>
          <a:prstGeom prst="ellipse">
            <a:avLst/>
          </a:prstGeom>
          <a:solidFill>
            <a:srgbClr val="942838"/>
          </a:solidFill>
          <a:ln/>
        </p:spPr>
      </p:sp>
      <p:sp>
        <p:nvSpPr>
          <p:cNvPr id="27" name="Text 24"/>
          <p:cNvSpPr txBox="1"/>
          <p:nvPr/>
        </p:nvSpPr>
        <p:spPr>
          <a:xfrm>
            <a:off x="1143000" y="4736592"/>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Wiz</a:t>
            </a:r>
            <a:endParaRPr lang="en-US" sz="1350" dirty="0"/>
          </a:p>
        </p:txBody>
      </p:sp>
      <p:sp>
        <p:nvSpPr>
          <p:cNvPr id="28" name="Text 25"/>
          <p:cNvSpPr txBox="1"/>
          <p:nvPr/>
        </p:nvSpPr>
        <p:spPr>
          <a:xfrm>
            <a:off x="1143000" y="4992624"/>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confirms the machine is real and reachable</a:t>
            </a:r>
            <a:endParaRPr lang="en-US" sz="1100" dirty="0"/>
          </a:p>
        </p:txBody>
      </p:sp>
      <p:sp>
        <p:nvSpPr>
          <p:cNvPr id="29" name="Text 26"/>
          <p:cNvSpPr txBox="1"/>
          <p:nvPr/>
        </p:nvSpPr>
        <p:spPr>
          <a:xfrm>
            <a:off x="777240" y="5449824"/>
            <a:ext cx="4160520" cy="548640"/>
          </a:xfrm>
          <a:prstGeom prst="rect">
            <a:avLst/>
          </a:prstGeom>
          <a:noFill/>
          <a:ln/>
        </p:spPr>
        <p:txBody>
          <a:bodyPr wrap="square" lIns="0" tIns="0" rIns="0" bIns="0" rtlCol="0" anchor="t"/>
          <a:lstStyle/>
          <a:p>
            <a:pPr indent="0" marL="0">
              <a:lnSpc>
                <a:spcPct val="120000"/>
              </a:lnSpc>
              <a:buNone/>
            </a:pPr>
            <a:r>
              <a:rPr lang="en-US" sz="1100" dirty="0">
                <a:solidFill>
                  <a:srgbClr val="2B2D30"/>
                </a:solidFill>
                <a:latin typeface="Montserrat SemiBold" pitchFamily="34" charset="0"/>
                <a:ea typeface="Montserrat SemiBold" pitchFamily="34" charset="-122"/>
                <a:cs typeface="Montserrat SemiBold" pitchFamily="34" charset="-120"/>
              </a:rPr>
              <a:t>To be clear: </a:t>
            </a:r>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the scripts are done and tested. The dashboard is optional follow-up work for whoever picks up the pipeline — not a dependency.</a:t>
            </a:r>
            <a:endParaRPr lang="en-US" sz="1100" dirty="0"/>
          </a:p>
        </p:txBody>
      </p:sp>
      <p:pic>
        <p:nvPicPr>
          <p:cNvPr id="30" name="Image 1" descr="/home/user/ai/assets/gen/dashboard-mock.png">    </p:cNvPr>
          <p:cNvPicPr>
            <a:picLocks noChangeAspect="1"/>
          </p:cNvPicPr>
          <p:nvPr/>
        </p:nvPicPr>
        <p:blipFill>
          <a:blip r:embed="rId2"/>
          <a:stretch>
            <a:fillRect/>
          </a:stretch>
        </p:blipFill>
        <p:spPr>
          <a:xfrm>
            <a:off x="5358384" y="2103120"/>
            <a:ext cx="6056071" cy="3633643"/>
          </a:xfrm>
          <a:prstGeom prst="rect">
            <a:avLst/>
          </a:prstGeom>
        </p:spPr>
      </p:pic>
      <p:sp>
        <p:nvSpPr>
          <p:cNvPr id="31" name="Text 27"/>
          <p:cNvSpPr txBox="1"/>
          <p:nvPr/>
        </p:nvSpPr>
        <p:spPr>
          <a:xfrm>
            <a:off x="5358384" y="5883067"/>
            <a:ext cx="6056071" cy="237744"/>
          </a:xfrm>
          <a:prstGeom prst="rect">
            <a:avLst/>
          </a:prstGeom>
          <a:noFill/>
          <a:ln/>
        </p:spPr>
        <p:txBody>
          <a:bodyPr wrap="square" lIns="0" tIns="0" rIns="0" bIns="0" rtlCol="0" anchor="t"/>
          <a:lstStyle/>
          <a:p>
            <a:pPr algn="ctr" indent="0" marL="0">
              <a:buNone/>
            </a:pPr>
            <a:r>
              <a:rPr lang="en-US" sz="950" spc="30" kern="0" dirty="0">
                <a:solidFill>
                  <a:srgbClr val="C9C6C4"/>
                </a:solidFill>
                <a:latin typeface="Montserrat Medium" pitchFamily="34" charset="0"/>
                <a:ea typeface="Montserrat Medium" pitchFamily="34" charset="-122"/>
                <a:cs typeface="Montserrat Medium" pitchFamily="34" charset="-120"/>
              </a:rPr>
              <a:t>Concept — not a live system</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412480" y="-548640"/>
            <a:ext cx="4937760" cy="493776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5" name="Text 0"/>
          <p:cNvSpPr txBox="1"/>
          <p:nvPr/>
        </p:nvSpPr>
        <p:spPr>
          <a:xfrm>
            <a:off x="777240" y="676656"/>
            <a:ext cx="54864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SUMMARY</a:t>
            </a:r>
            <a:endParaRPr lang="en-US" sz="1000" dirty="0"/>
          </a:p>
        </p:txBody>
      </p:sp>
      <p:sp>
        <p:nvSpPr>
          <p:cNvPr id="6" name="Text 1"/>
          <p:cNvSpPr txBox="1"/>
          <p:nvPr/>
        </p:nvSpPr>
        <p:spPr>
          <a:xfrm>
            <a:off x="777240" y="969264"/>
            <a:ext cx="9509760" cy="749808"/>
          </a:xfrm>
          <a:prstGeom prst="rect">
            <a:avLst/>
          </a:prstGeom>
          <a:noFill/>
          <a:ln/>
        </p:spPr>
        <p:txBody>
          <a:bodyPr wrap="square" lIns="0" tIns="0" rIns="0" bIns="0" rtlCol="0" anchor="t"/>
          <a:lstStyle/>
          <a:p>
            <a:pPr indent="0" marL="0">
              <a:buNone/>
            </a:pPr>
            <a:r>
              <a:rPr lang="en-US" sz="3600" spc="-90" kern="0" dirty="0">
                <a:solidFill>
                  <a:srgbClr val="FFFFFF"/>
                </a:solidFill>
                <a:latin typeface="Montserrat ExtraBold" pitchFamily="34" charset="0"/>
                <a:ea typeface="Montserrat ExtraBold" pitchFamily="34" charset="-122"/>
                <a:cs typeface="Montserrat ExtraBold" pitchFamily="34" charset="-120"/>
              </a:rPr>
              <a:t>What this means for Stewart</a:t>
            </a:r>
            <a:endParaRPr lang="en-US" sz="3600" dirty="0"/>
          </a:p>
        </p:txBody>
      </p:sp>
      <p:sp>
        <p:nvSpPr>
          <p:cNvPr id="7" name="Shape 2"/>
          <p:cNvSpPr/>
          <p:nvPr/>
        </p:nvSpPr>
        <p:spPr>
          <a:xfrm>
            <a:off x="777240" y="1810512"/>
            <a:ext cx="640080" cy="50292"/>
          </a:xfrm>
          <a:prstGeom prst="rect">
            <a:avLst/>
          </a:prstGeom>
          <a:solidFill>
            <a:srgbClr val="FFFFFF"/>
          </a:solidFill>
          <a:ln/>
        </p:spPr>
      </p:sp>
      <p:sp>
        <p:nvSpPr>
          <p:cNvPr id="8" name="Text 3"/>
          <p:cNvSpPr txBox="1"/>
          <p:nvPr/>
        </p:nvSpPr>
        <p:spPr>
          <a:xfrm>
            <a:off x="777240" y="2029968"/>
            <a:ext cx="10241280" cy="310896"/>
          </a:xfrm>
          <a:prstGeom prst="rect">
            <a:avLst/>
          </a:prstGeom>
          <a:noFill/>
          <a:ln/>
        </p:spPr>
        <p:txBody>
          <a:bodyPr wrap="square" lIns="0" tIns="0" rIns="0" bIns="0" rtlCol="0" anchor="t"/>
          <a:lstStyle/>
          <a:p>
            <a:pPr indent="0" marL="0">
              <a:buNone/>
            </a:pPr>
            <a:r>
              <a:rPr lang="en-US" sz="1400" dirty="0">
                <a:solidFill>
                  <a:srgbClr val="DAB4BA"/>
                </a:solidFill>
                <a:latin typeface="Montserrat Medium" pitchFamily="34" charset="0"/>
                <a:ea typeface="Montserrat Medium" pitchFamily="34" charset="-122"/>
                <a:cs typeface="Montserrat Medium" pitchFamily="34" charset="-120"/>
              </a:rPr>
              <a:t>Three gaps going in. Where each one stands now.</a:t>
            </a:r>
            <a:endParaRPr lang="en-US" sz="1400" dirty="0"/>
          </a:p>
        </p:txBody>
      </p:sp>
      <p:sp>
        <p:nvSpPr>
          <p:cNvPr id="9" name="Text 4"/>
          <p:cNvSpPr txBox="1"/>
          <p:nvPr/>
        </p:nvSpPr>
        <p:spPr>
          <a:xfrm>
            <a:off x="777240" y="2542032"/>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01</a:t>
            </a:r>
            <a:endParaRPr lang="en-US" sz="2400" dirty="0"/>
          </a:p>
        </p:txBody>
      </p:sp>
      <p:sp>
        <p:nvSpPr>
          <p:cNvPr id="10" name="Text 5"/>
          <p:cNvSpPr txBox="1"/>
          <p:nvPr/>
        </p:nvSpPr>
        <p:spPr>
          <a:xfrm>
            <a:off x="1527048" y="2487168"/>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11" name="Text 6"/>
          <p:cNvSpPr txBox="1"/>
          <p:nvPr/>
        </p:nvSpPr>
        <p:spPr>
          <a:xfrm>
            <a:off x="1527048" y="2706624"/>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Machines could ship without their security baseline.</a:t>
            </a:r>
            <a:endParaRPr lang="en-US" sz="1100" dirty="0"/>
          </a:p>
        </p:txBody>
      </p:sp>
      <p:sp>
        <p:nvSpPr>
          <p:cNvPr id="12" name="Text 7"/>
          <p:cNvSpPr txBox="1"/>
          <p:nvPr/>
        </p:nvSpPr>
        <p:spPr>
          <a:xfrm>
            <a:off x="4882896" y="2651760"/>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13" name="Shape 8"/>
          <p:cNvSpPr/>
          <p:nvPr/>
        </p:nvSpPr>
        <p:spPr>
          <a:xfrm>
            <a:off x="5486400" y="2432304"/>
            <a:ext cx="5928055" cy="914400"/>
          </a:xfrm>
          <a:prstGeom prst="roundRect">
            <a:avLst>
              <a:gd name="adj" fmla="val 5000"/>
            </a:avLst>
          </a:prstGeom>
          <a:solidFill>
            <a:srgbClr val="FFFFFF"/>
          </a:solidFill>
          <a:ln/>
          <a:effectLst>
            <a:outerShdw sx="100000" sy="100000" kx="0" ky="0" algn="bl" rotWithShape="0" blurRad="2580640000" dist="645160000" dir="324000000000">
              <a:srgbClr val="5D1923">
                <a:alpha val="3400000000"/>
              </a:srgbClr>
            </a:outerShdw>
          </a:effectLst>
        </p:spPr>
      </p:sp>
      <p:sp>
        <p:nvSpPr>
          <p:cNvPr id="14" name="Shape 9"/>
          <p:cNvSpPr/>
          <p:nvPr/>
        </p:nvSpPr>
        <p:spPr>
          <a:xfrm>
            <a:off x="5486400" y="2432304"/>
            <a:ext cx="45720" cy="914400"/>
          </a:xfrm>
          <a:prstGeom prst="rect">
            <a:avLst/>
          </a:prstGeom>
          <a:solidFill>
            <a:srgbClr val="942838"/>
          </a:solidFill>
          <a:ln/>
        </p:spPr>
      </p:sp>
      <p:sp>
        <p:nvSpPr>
          <p:cNvPr id="15" name="Text 10"/>
          <p:cNvSpPr txBox="1"/>
          <p:nvPr/>
        </p:nvSpPr>
        <p:spPr>
          <a:xfrm>
            <a:off x="5724144" y="2560320"/>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16" name="Text 11"/>
          <p:cNvSpPr txBox="1"/>
          <p:nvPr/>
        </p:nvSpPr>
        <p:spPr>
          <a:xfrm>
            <a:off x="5724144" y="2779776"/>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Nine required tools named, owners assigned, and a written framework staged for Q4 sign-off.</a:t>
            </a:r>
            <a:endParaRPr lang="en-US" sz="1150" dirty="0"/>
          </a:p>
        </p:txBody>
      </p:sp>
      <p:sp>
        <p:nvSpPr>
          <p:cNvPr id="17" name="Text 12"/>
          <p:cNvSpPr txBox="1"/>
          <p:nvPr/>
        </p:nvSpPr>
        <p:spPr>
          <a:xfrm>
            <a:off x="777240" y="3621024"/>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02</a:t>
            </a:r>
            <a:endParaRPr lang="en-US" sz="2400" dirty="0"/>
          </a:p>
        </p:txBody>
      </p:sp>
      <p:sp>
        <p:nvSpPr>
          <p:cNvPr id="18" name="Text 13"/>
          <p:cNvSpPr txBox="1"/>
          <p:nvPr/>
        </p:nvSpPr>
        <p:spPr>
          <a:xfrm>
            <a:off x="1527048" y="3566160"/>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19" name="Text 14"/>
          <p:cNvSpPr txBox="1"/>
          <p:nvPr/>
        </p:nvSpPr>
        <p:spPr>
          <a:xfrm>
            <a:off x="1527048" y="3785616"/>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Attackers hide malicious code inside the open-source packages we depend on.</a:t>
            </a:r>
            <a:endParaRPr lang="en-US" sz="1100" dirty="0"/>
          </a:p>
        </p:txBody>
      </p:sp>
      <p:sp>
        <p:nvSpPr>
          <p:cNvPr id="20" name="Text 15"/>
          <p:cNvSpPr txBox="1"/>
          <p:nvPr/>
        </p:nvSpPr>
        <p:spPr>
          <a:xfrm>
            <a:off x="4882896" y="3730752"/>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21" name="Shape 16"/>
          <p:cNvSpPr/>
          <p:nvPr/>
        </p:nvSpPr>
        <p:spPr>
          <a:xfrm>
            <a:off x="5486400" y="3511296"/>
            <a:ext cx="5928055" cy="914400"/>
          </a:xfrm>
          <a:prstGeom prst="roundRect">
            <a:avLst>
              <a:gd name="adj" fmla="val 5000"/>
            </a:avLst>
          </a:prstGeom>
          <a:solidFill>
            <a:srgbClr val="FFFFFF"/>
          </a:solidFill>
          <a:ln/>
          <a:effectLst>
            <a:outerShdw sx="100000" sy="100000" kx="0" ky="0" algn="bl" rotWithShape="0" blurRad="32774128000000" dist="8193532000000" dir="19440000000000000">
              <a:srgbClr val="5D1923">
                <a:alpha val="340000000000000"/>
              </a:srgbClr>
            </a:outerShdw>
          </a:effectLst>
        </p:spPr>
      </p:sp>
      <p:sp>
        <p:nvSpPr>
          <p:cNvPr id="22" name="Shape 17"/>
          <p:cNvSpPr/>
          <p:nvPr/>
        </p:nvSpPr>
        <p:spPr>
          <a:xfrm>
            <a:off x="5486400" y="3511296"/>
            <a:ext cx="45720" cy="914400"/>
          </a:xfrm>
          <a:prstGeom prst="rect">
            <a:avLst/>
          </a:prstGeom>
          <a:solidFill>
            <a:srgbClr val="942838"/>
          </a:solidFill>
          <a:ln/>
        </p:spPr>
      </p:sp>
      <p:sp>
        <p:nvSpPr>
          <p:cNvPr id="23" name="Text 18"/>
          <p:cNvSpPr txBox="1"/>
          <p:nvPr/>
        </p:nvSpPr>
        <p:spPr>
          <a:xfrm>
            <a:off x="5724144" y="3639312"/>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24" name="Text 19"/>
          <p:cNvSpPr txBox="1"/>
          <p:nvPr/>
        </p:nvSpPr>
        <p:spPr>
          <a:xfrm>
            <a:off x="5724144" y="3858768"/>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AEGIS built, its safety rails tested, and run for real: 1,518 packages in a Stewart repository down to a single upgrade.</a:t>
            </a:r>
            <a:endParaRPr lang="en-US" sz="1150" dirty="0"/>
          </a:p>
        </p:txBody>
      </p:sp>
      <p:sp>
        <p:nvSpPr>
          <p:cNvPr id="25" name="Text 20"/>
          <p:cNvSpPr txBox="1"/>
          <p:nvPr/>
        </p:nvSpPr>
        <p:spPr>
          <a:xfrm>
            <a:off x="777240" y="4700016"/>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03</a:t>
            </a:r>
            <a:endParaRPr lang="en-US" sz="2400" dirty="0"/>
          </a:p>
        </p:txBody>
      </p:sp>
      <p:sp>
        <p:nvSpPr>
          <p:cNvPr id="26" name="Text 21"/>
          <p:cNvSpPr txBox="1"/>
          <p:nvPr/>
        </p:nvSpPr>
        <p:spPr>
          <a:xfrm>
            <a:off x="1527048" y="4645152"/>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27" name="Text 22"/>
          <p:cNvSpPr txBox="1"/>
          <p:nvPr/>
        </p:nvSpPr>
        <p:spPr>
          <a:xfrm>
            <a:off x="1527048" y="4864608"/>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Matching every tracked flaw to its patch took about two days of analyst time.</a:t>
            </a:r>
            <a:endParaRPr lang="en-US" sz="1100" dirty="0"/>
          </a:p>
        </p:txBody>
      </p:sp>
      <p:sp>
        <p:nvSpPr>
          <p:cNvPr id="28" name="Text 23"/>
          <p:cNvSpPr txBox="1"/>
          <p:nvPr/>
        </p:nvSpPr>
        <p:spPr>
          <a:xfrm>
            <a:off x="4882896" y="4809744"/>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29" name="Shape 24"/>
          <p:cNvSpPr/>
          <p:nvPr/>
        </p:nvSpPr>
        <p:spPr>
          <a:xfrm>
            <a:off x="5486400" y="4590288"/>
            <a:ext cx="5928055" cy="914400"/>
          </a:xfrm>
          <a:prstGeom prst="roundRect">
            <a:avLst>
              <a:gd name="adj" fmla="val 5000"/>
            </a:avLst>
          </a:prstGeom>
          <a:solidFill>
            <a:srgbClr val="FFFFFF"/>
          </a:solidFill>
          <a:ln/>
          <a:effectLst>
            <a:outerShdw sx="100000" sy="100000" kx="0" ky="0" algn="bl" rotWithShape="0" blurRad="416231425600000000" dist="104057856400000000" dir="1.1664e+21">
              <a:srgbClr val="5D1923">
                <a:alpha val="34000000000000000000"/>
              </a:srgbClr>
            </a:outerShdw>
          </a:effectLst>
        </p:spPr>
      </p:sp>
      <p:sp>
        <p:nvSpPr>
          <p:cNvPr id="30" name="Shape 25"/>
          <p:cNvSpPr/>
          <p:nvPr/>
        </p:nvSpPr>
        <p:spPr>
          <a:xfrm>
            <a:off x="5486400" y="4590288"/>
            <a:ext cx="45720" cy="914400"/>
          </a:xfrm>
          <a:prstGeom prst="rect">
            <a:avLst/>
          </a:prstGeom>
          <a:solidFill>
            <a:srgbClr val="942838"/>
          </a:solidFill>
          <a:ln/>
        </p:spPr>
      </p:sp>
      <p:sp>
        <p:nvSpPr>
          <p:cNvPr id="31" name="Text 26"/>
          <p:cNvSpPr txBox="1"/>
          <p:nvPr/>
        </p:nvSpPr>
        <p:spPr>
          <a:xfrm>
            <a:off x="5724144" y="4718304"/>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32" name="Text 27"/>
          <p:cNvSpPr txBox="1"/>
          <p:nvPr/>
        </p:nvSpPr>
        <p:spPr>
          <a:xfrm>
            <a:off x="5724144" y="4937760"/>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117 matched in ~12 seconds, and 209 rows collapsed to 46 tickets with nothing skipped.</a:t>
            </a:r>
            <a:endParaRPr lang="en-US" sz="1150" dirty="0"/>
          </a:p>
        </p:txBody>
      </p:sp>
      <p:sp>
        <p:nvSpPr>
          <p:cNvPr id="33" name="Text 28"/>
          <p:cNvSpPr txBox="1"/>
          <p:nvPr/>
        </p:nvSpPr>
        <p:spPr>
          <a:xfrm>
            <a:off x="777240" y="5833872"/>
            <a:ext cx="10637215" cy="310896"/>
          </a:xfrm>
          <a:prstGeom prst="rect">
            <a:avLst/>
          </a:prstGeom>
          <a:noFill/>
          <a:ln/>
        </p:spPr>
        <p:txBody>
          <a:bodyPr wrap="square" lIns="0" tIns="0" rIns="0" bIns="0" rtlCol="0" anchor="t"/>
          <a:lstStyle/>
          <a:p>
            <a:pPr indent="0" marL="0">
              <a:buNone/>
            </a:pPr>
            <a:r>
              <a:rPr lang="en-US" sz="1300" dirty="0">
                <a:solidFill>
                  <a:srgbClr val="FFFFFF"/>
                </a:solidFill>
                <a:latin typeface="Montserrat SemiBold" pitchFamily="34" charset="0"/>
                <a:ea typeface="Montserrat SemiBold" pitchFamily="34" charset="-122"/>
                <a:cs typeface="Montserrat SemiBold" pitchFamily="34" charset="-120"/>
              </a:rPr>
              <a:t>All three leave something behind: a written framework, a working scanner, and a script the team can run every cycle.</a:t>
            </a:r>
            <a:endParaRPr lang="en-US" sz="1300" dirty="0"/>
          </a:p>
        </p:txBody>
      </p:sp>
      <p:sp>
        <p:nvSpPr>
          <p:cNvPr id="34" name="Text 29"/>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SUMMARY</a:t>
            </a:r>
            <a:endParaRPr lang="en-US" sz="850" dirty="0"/>
          </a:p>
        </p:txBody>
      </p:sp>
      <p:sp>
        <p:nvSpPr>
          <p:cNvPr id="35" name="Text 30"/>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595360" y="2377440"/>
            <a:ext cx="5120640" cy="51206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5" name="Text 0"/>
          <p:cNvSpPr txBox="1"/>
          <p:nvPr/>
        </p:nvSpPr>
        <p:spPr>
          <a:xfrm>
            <a:off x="777240" y="713232"/>
            <a:ext cx="54864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IN CLOSING</a:t>
            </a:r>
            <a:endParaRPr lang="en-US" sz="1000" dirty="0"/>
          </a:p>
        </p:txBody>
      </p:sp>
      <p:sp>
        <p:nvSpPr>
          <p:cNvPr id="6" name="Text 1"/>
          <p:cNvSpPr txBox="1"/>
          <p:nvPr/>
        </p:nvSpPr>
        <p:spPr>
          <a:xfrm>
            <a:off x="777240" y="1042416"/>
            <a:ext cx="7315200" cy="896112"/>
          </a:xfrm>
          <a:prstGeom prst="rect">
            <a:avLst/>
          </a:prstGeom>
          <a:noFill/>
          <a:ln/>
        </p:spPr>
        <p:txBody>
          <a:bodyPr wrap="square" lIns="0" tIns="0" rIns="0" bIns="0" rtlCol="0" anchor="t"/>
          <a:lstStyle/>
          <a:p>
            <a:pPr indent="0" marL="0">
              <a:buNone/>
            </a:pPr>
            <a:r>
              <a:rPr lang="en-US" sz="4600" spc="-120" kern="0" dirty="0">
                <a:solidFill>
                  <a:srgbClr val="FFFFFF"/>
                </a:solidFill>
                <a:latin typeface="Montserrat ExtraBold" pitchFamily="34" charset="0"/>
                <a:ea typeface="Montserrat ExtraBold" pitchFamily="34" charset="-122"/>
                <a:cs typeface="Montserrat ExtraBold" pitchFamily="34" charset="-120"/>
              </a:rPr>
              <a:t>Thank you</a:t>
            </a:r>
            <a:endParaRPr lang="en-US" sz="4600" dirty="0"/>
          </a:p>
        </p:txBody>
      </p:sp>
      <p:sp>
        <p:nvSpPr>
          <p:cNvPr id="7" name="Shape 2"/>
          <p:cNvSpPr/>
          <p:nvPr/>
        </p:nvSpPr>
        <p:spPr>
          <a:xfrm>
            <a:off x="777240" y="2066544"/>
            <a:ext cx="640080" cy="50292"/>
          </a:xfrm>
          <a:prstGeom prst="rect">
            <a:avLst/>
          </a:prstGeom>
          <a:solidFill>
            <a:srgbClr val="FFFFFF"/>
          </a:solidFill>
          <a:ln/>
        </p:spPr>
      </p:sp>
      <p:sp>
        <p:nvSpPr>
          <p:cNvPr id="8" name="Text 3"/>
          <p:cNvSpPr txBox="1"/>
          <p:nvPr/>
        </p:nvSpPr>
        <p:spPr>
          <a:xfrm>
            <a:off x="777240" y="2340864"/>
            <a:ext cx="7863840" cy="566928"/>
          </a:xfrm>
          <a:prstGeom prst="rect">
            <a:avLst/>
          </a:prstGeom>
          <a:noFill/>
          <a:ln/>
        </p:spPr>
        <p:txBody>
          <a:bodyPr wrap="square" lIns="0" tIns="0" rIns="0" bIns="0" rtlCol="0" anchor="t"/>
          <a:lstStyle/>
          <a:p>
            <a:pPr indent="0" marL="0">
              <a:lnSpc>
                <a:spcPct val="130000"/>
              </a:lnSpc>
              <a:buNone/>
            </a:pPr>
            <a:r>
              <a:rPr lang="en-US" sz="1400" dirty="0">
                <a:solidFill>
                  <a:srgbClr val="DAB4BA"/>
                </a:solidFill>
                <a:latin typeface="Montserrat Medium" pitchFamily="34" charset="0"/>
                <a:ea typeface="Montserrat Medium" pitchFamily="34" charset="-122"/>
                <a:cs typeface="Montserrat Medium" pitchFamily="34" charset="-120"/>
              </a:rPr>
              <a:t>Everything in this deck exists because people here made room for an intern to do real work — and because plenty of them pushed back on it until it was right.</a:t>
            </a:r>
            <a:endParaRPr lang="en-US" sz="1400" dirty="0"/>
          </a:p>
        </p:txBody>
      </p:sp>
      <p:sp>
        <p:nvSpPr>
          <p:cNvPr id="9" name="Shape 4"/>
          <p:cNvSpPr/>
          <p:nvPr/>
        </p:nvSpPr>
        <p:spPr>
          <a:xfrm>
            <a:off x="777240" y="3182112"/>
            <a:ext cx="45720" cy="384048"/>
          </a:xfrm>
          <a:prstGeom prst="rect">
            <a:avLst/>
          </a:prstGeom>
          <a:solidFill>
            <a:srgbClr val="FFFFFF"/>
          </a:solidFill>
          <a:ln/>
        </p:spPr>
      </p:sp>
      <p:sp>
        <p:nvSpPr>
          <p:cNvPr id="10" name="Text 5"/>
          <p:cNvSpPr txBox="1"/>
          <p:nvPr/>
        </p:nvSpPr>
        <p:spPr>
          <a:xfrm>
            <a:off x="1014984" y="3127248"/>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the Information Security team</a:t>
            </a:r>
            <a:endParaRPr lang="en-US" sz="1400" dirty="0"/>
          </a:p>
        </p:txBody>
      </p:sp>
      <p:sp>
        <p:nvSpPr>
          <p:cNvPr id="11" name="Text 6"/>
          <p:cNvSpPr txBox="1"/>
          <p:nvPr/>
        </p:nvSpPr>
        <p:spPr>
          <a:xfrm>
            <a:off x="1014984" y="3419856"/>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For handing me problems that actually mattered, and trusting me to work on them properly.</a:t>
            </a:r>
            <a:endParaRPr lang="en-US" sz="1100" dirty="0"/>
          </a:p>
        </p:txBody>
      </p:sp>
      <p:sp>
        <p:nvSpPr>
          <p:cNvPr id="12" name="Shape 7"/>
          <p:cNvSpPr/>
          <p:nvPr/>
        </p:nvSpPr>
        <p:spPr>
          <a:xfrm>
            <a:off x="777240" y="3858768"/>
            <a:ext cx="10637215" cy="7315"/>
          </a:xfrm>
          <a:prstGeom prst="rect">
            <a:avLst/>
          </a:prstGeom>
          <a:solidFill>
            <a:srgbClr val="CA949C"/>
          </a:solidFill>
          <a:ln/>
        </p:spPr>
      </p:sp>
      <p:sp>
        <p:nvSpPr>
          <p:cNvPr id="13" name="Shape 8"/>
          <p:cNvSpPr/>
          <p:nvPr/>
        </p:nvSpPr>
        <p:spPr>
          <a:xfrm>
            <a:off x="777240" y="4041648"/>
            <a:ext cx="45720" cy="384048"/>
          </a:xfrm>
          <a:prstGeom prst="rect">
            <a:avLst/>
          </a:prstGeom>
          <a:solidFill>
            <a:srgbClr val="FFFFFF"/>
          </a:solidFill>
          <a:ln/>
        </p:spPr>
      </p:sp>
      <p:sp>
        <p:nvSpPr>
          <p:cNvPr id="14" name="Text 9"/>
          <p:cNvSpPr txBox="1"/>
          <p:nvPr/>
        </p:nvSpPr>
        <p:spPr>
          <a:xfrm>
            <a:off x="1014984" y="3986784"/>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Vulnerability Management, Application Security and Network Security</a:t>
            </a:r>
            <a:endParaRPr lang="en-US" sz="1400" dirty="0"/>
          </a:p>
        </p:txBody>
      </p:sp>
      <p:sp>
        <p:nvSpPr>
          <p:cNvPr id="15" name="Text 10"/>
          <p:cNvSpPr txBox="1"/>
          <p:nvPr/>
        </p:nvSpPr>
        <p:spPr>
          <a:xfrm>
            <a:off x="1014984" y="4279392"/>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Three rotations, three different ways of looking at the same job. I learned something distinct in each one.</a:t>
            </a:r>
            <a:endParaRPr lang="en-US" sz="1100" dirty="0"/>
          </a:p>
        </p:txBody>
      </p:sp>
      <p:sp>
        <p:nvSpPr>
          <p:cNvPr id="16" name="Shape 11"/>
          <p:cNvSpPr/>
          <p:nvPr/>
        </p:nvSpPr>
        <p:spPr>
          <a:xfrm>
            <a:off x="777240" y="4718304"/>
            <a:ext cx="10637215" cy="7315"/>
          </a:xfrm>
          <a:prstGeom prst="rect">
            <a:avLst/>
          </a:prstGeom>
          <a:solidFill>
            <a:srgbClr val="CA949C"/>
          </a:solidFill>
          <a:ln/>
        </p:spPr>
      </p:sp>
      <p:sp>
        <p:nvSpPr>
          <p:cNvPr id="17" name="Shape 12"/>
          <p:cNvSpPr/>
          <p:nvPr/>
        </p:nvSpPr>
        <p:spPr>
          <a:xfrm>
            <a:off x="777240" y="4901184"/>
            <a:ext cx="45720" cy="384048"/>
          </a:xfrm>
          <a:prstGeom prst="rect">
            <a:avLst/>
          </a:prstGeom>
          <a:solidFill>
            <a:srgbClr val="FFFFFF"/>
          </a:solidFill>
          <a:ln/>
        </p:spPr>
      </p:sp>
      <p:sp>
        <p:nvSpPr>
          <p:cNvPr id="18" name="Text 13"/>
          <p:cNvSpPr txBox="1"/>
          <p:nvPr/>
        </p:nvSpPr>
        <p:spPr>
          <a:xfrm>
            <a:off x="1014984" y="4846320"/>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Cloud Operations and Development</a:t>
            </a:r>
            <a:endParaRPr lang="en-US" sz="1400" dirty="0"/>
          </a:p>
        </p:txBody>
      </p:sp>
      <p:sp>
        <p:nvSpPr>
          <p:cNvPr id="19" name="Text 14"/>
          <p:cNvSpPr txBox="1"/>
          <p:nvPr/>
        </p:nvSpPr>
        <p:spPr>
          <a:xfrm>
            <a:off x="1014984" y="5138928"/>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For making time for someone from another team who kept turning up with questions.</a:t>
            </a:r>
            <a:endParaRPr lang="en-US" sz="1100" dirty="0"/>
          </a:p>
        </p:txBody>
      </p:sp>
      <p:sp>
        <p:nvSpPr>
          <p:cNvPr id="20" name="Text 15"/>
          <p:cNvSpPr txBox="1"/>
          <p:nvPr/>
        </p:nvSpPr>
        <p:spPr>
          <a:xfrm>
            <a:off x="777240" y="5669280"/>
            <a:ext cx="6949440" cy="310896"/>
          </a:xfrm>
          <a:prstGeom prst="rect">
            <a:avLst/>
          </a:prstGeom>
          <a:noFill/>
          <a:ln/>
        </p:spPr>
        <p:txBody>
          <a:bodyPr wrap="square" lIns="0" tIns="0" rIns="0" bIns="0" rtlCol="0" anchor="t"/>
          <a:lstStyle/>
          <a:p>
            <a:pPr indent="0" marL="0">
              <a:buNone/>
            </a:pPr>
            <a:r>
              <a:rPr lang="en-US" sz="1600" dirty="0">
                <a:solidFill>
                  <a:srgbClr val="FFFFFF"/>
                </a:solidFill>
                <a:latin typeface="Montserrat SemiBold" pitchFamily="34" charset="0"/>
                <a:ea typeface="Montserrat SemiBold" pitchFamily="34" charset="-122"/>
                <a:cs typeface="Montserrat SemiBold" pitchFamily="34" charset="-120"/>
              </a:rPr>
              <a:t>Happy to take any questions.</a:t>
            </a:r>
            <a:endParaRPr lang="en-US" sz="1600" dirty="0"/>
          </a:p>
        </p:txBody>
      </p:sp>
      <p:sp>
        <p:nvSpPr>
          <p:cNvPr id="21" name="Text 16"/>
          <p:cNvSpPr txBox="1"/>
          <p:nvPr/>
        </p:nvSpPr>
        <p:spPr>
          <a:xfrm>
            <a:off x="777240" y="6016752"/>
            <a:ext cx="7680960" cy="256032"/>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Next up: the PWPA and PJPT certifications, heading toward penetration testing.</a:t>
            </a:r>
            <a:endParaRPr lang="en-US" sz="950" dirty="0"/>
          </a:p>
        </p:txBody>
      </p:sp>
      <p:sp>
        <p:nvSpPr>
          <p:cNvPr id="22" name="Text 17"/>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THANK YOU</a:t>
            </a:r>
            <a:endParaRPr lang="en-US" sz="850" dirty="0"/>
          </a:p>
        </p:txBody>
      </p:sp>
      <p:sp>
        <p:nvSpPr>
          <p:cNvPr id="23" name="Text 18"/>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24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Stewart Title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 Analyst Internship — Exit Presentation</dc:title>
  <dc:subject>PptxGenJS Presentation</dc:subject>
  <dc:creator>Jair Maldonado</dc:creator>
  <cp:lastModifiedBy>Jair Maldonado</cp:lastModifiedBy>
  <cp:revision>1</cp:revision>
  <dcterms:created xsi:type="dcterms:W3CDTF">2026-07-29T15:24:43Z</dcterms:created>
  <dcterms:modified xsi:type="dcterms:W3CDTF">2026-07-29T15:24:43Z</dcterms:modified>
</cp:coreProperties>
</file>