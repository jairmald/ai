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71" r:id="rId14"/>
    <p:sldId id="272" r:id="rId15"/>
    <p:sldId id="273" r:id="rId16"/>
    <p:sldId id="279" r:id="rId17"/>
    <p:sldId id="281" r:id="rId18"/>
    <p:sldId id="282" r:id="rId19"/>
    <p:sldId id="283" r:id="rId20"/>
    <p:sldId id="278"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59ACAB-3EF0-44EC-AD58-85B42138B918}" v="8" dt="2026-07-28T15:51:46.9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9" autoAdjust="0"/>
    <p:restoredTop sz="86009" autoAdjust="0"/>
  </p:normalViewPr>
  <p:slideViewPr>
    <p:cSldViewPr snapToGrid="0" snapToObjects="1">
      <p:cViewPr varScale="1">
        <p:scale>
          <a:sx n="109" d="100"/>
          <a:sy n="109" d="100"/>
        </p:scale>
        <p:origin x="38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R MALDONADO" userId="bb15d74f-e7f4-4c6e-b578-99b3dbe7a047" providerId="ADAL" clId="{77748564-CBFC-4B7B-9D7A-4A5CD95BEB43}"/>
    <pc:docChg chg="undo custSel addSld delSld modSld sldOrd">
      <pc:chgData name="JAIR MALDONADO" userId="bb15d74f-e7f4-4c6e-b578-99b3dbe7a047" providerId="ADAL" clId="{77748564-CBFC-4B7B-9D7A-4A5CD95BEB43}" dt="2026-07-28T15:53:28.322" v="917" actId="2696"/>
      <pc:docMkLst>
        <pc:docMk/>
      </pc:docMkLst>
      <pc:sldChg chg="modSp mod">
        <pc:chgData name="JAIR MALDONADO" userId="bb15d74f-e7f4-4c6e-b578-99b3dbe7a047" providerId="ADAL" clId="{77748564-CBFC-4B7B-9D7A-4A5CD95BEB43}" dt="2026-07-28T15:36:43.942" v="899" actId="20577"/>
        <pc:sldMkLst>
          <pc:docMk/>
          <pc:sldMk cId="0" sldId="257"/>
        </pc:sldMkLst>
        <pc:spChg chg="mod">
          <ac:chgData name="JAIR MALDONADO" userId="bb15d74f-e7f4-4c6e-b578-99b3dbe7a047" providerId="ADAL" clId="{77748564-CBFC-4B7B-9D7A-4A5CD95BEB43}" dt="2026-07-28T15:36:43.942" v="899" actId="20577"/>
          <ac:spMkLst>
            <pc:docMk/>
            <pc:sldMk cId="0" sldId="257"/>
            <ac:spMk id="26" creationId="{00000000-0000-0000-0000-000000000000}"/>
          </ac:spMkLst>
        </pc:spChg>
      </pc:sldChg>
      <pc:sldChg chg="modSp del mod">
        <pc:chgData name="JAIR MALDONADO" userId="bb15d74f-e7f4-4c6e-b578-99b3dbe7a047" providerId="ADAL" clId="{77748564-CBFC-4B7B-9D7A-4A5CD95BEB43}" dt="2026-07-28T14:56:57.438" v="724" actId="2696"/>
        <pc:sldMkLst>
          <pc:docMk/>
          <pc:sldMk cId="0" sldId="258"/>
        </pc:sldMkLst>
        <pc:spChg chg="mod">
          <ac:chgData name="JAIR MALDONADO" userId="bb15d74f-e7f4-4c6e-b578-99b3dbe7a047" providerId="ADAL" clId="{77748564-CBFC-4B7B-9D7A-4A5CD95BEB43}" dt="2026-07-28T00:36:09.996" v="129" actId="20577"/>
          <ac:spMkLst>
            <pc:docMk/>
            <pc:sldMk cId="0" sldId="258"/>
            <ac:spMk id="17" creationId="{00000000-0000-0000-0000-000000000000}"/>
          </ac:spMkLst>
        </pc:spChg>
        <pc:spChg chg="mod">
          <ac:chgData name="JAIR MALDONADO" userId="bb15d74f-e7f4-4c6e-b578-99b3dbe7a047" providerId="ADAL" clId="{77748564-CBFC-4B7B-9D7A-4A5CD95BEB43}" dt="2026-07-28T14:55:13.384" v="723" actId="33524"/>
          <ac:spMkLst>
            <pc:docMk/>
            <pc:sldMk cId="0" sldId="258"/>
            <ac:spMk id="20" creationId="{00000000-0000-0000-0000-000000000000}"/>
          </ac:spMkLst>
        </pc:spChg>
      </pc:sldChg>
      <pc:sldChg chg="modSp mod ord">
        <pc:chgData name="JAIR MALDONADO" userId="bb15d74f-e7f4-4c6e-b578-99b3dbe7a047" providerId="ADAL" clId="{77748564-CBFC-4B7B-9D7A-4A5CD95BEB43}" dt="2026-07-28T14:58:03.493" v="754" actId="20577"/>
        <pc:sldMkLst>
          <pc:docMk/>
          <pc:sldMk cId="0" sldId="259"/>
        </pc:sldMkLst>
        <pc:spChg chg="mod">
          <ac:chgData name="JAIR MALDONADO" userId="bb15d74f-e7f4-4c6e-b578-99b3dbe7a047" providerId="ADAL" clId="{77748564-CBFC-4B7B-9D7A-4A5CD95BEB43}" dt="2026-07-28T14:50:55.472" v="303" actId="313"/>
          <ac:spMkLst>
            <pc:docMk/>
            <pc:sldMk cId="0" sldId="259"/>
            <ac:spMk id="13" creationId="{00000000-0000-0000-0000-000000000000}"/>
          </ac:spMkLst>
        </pc:spChg>
        <pc:spChg chg="mod">
          <ac:chgData name="JAIR MALDONADO" userId="bb15d74f-e7f4-4c6e-b578-99b3dbe7a047" providerId="ADAL" clId="{77748564-CBFC-4B7B-9D7A-4A5CD95BEB43}" dt="2026-07-28T14:57:44.450" v="739" actId="20577"/>
          <ac:spMkLst>
            <pc:docMk/>
            <pc:sldMk cId="0" sldId="259"/>
            <ac:spMk id="16" creationId="{00000000-0000-0000-0000-000000000000}"/>
          </ac:spMkLst>
        </pc:spChg>
        <pc:spChg chg="mod">
          <ac:chgData name="JAIR MALDONADO" userId="bb15d74f-e7f4-4c6e-b578-99b3dbe7a047" providerId="ADAL" clId="{77748564-CBFC-4B7B-9D7A-4A5CD95BEB43}" dt="2026-07-28T14:52:04.397" v="522" actId="20577"/>
          <ac:spMkLst>
            <pc:docMk/>
            <pc:sldMk cId="0" sldId="259"/>
            <ac:spMk id="19" creationId="{00000000-0000-0000-0000-000000000000}"/>
          </ac:spMkLst>
        </pc:spChg>
        <pc:spChg chg="mod">
          <ac:chgData name="JAIR MALDONADO" userId="bb15d74f-e7f4-4c6e-b578-99b3dbe7a047" providerId="ADAL" clId="{77748564-CBFC-4B7B-9D7A-4A5CD95BEB43}" dt="2026-07-28T14:58:03.493" v="754" actId="20577"/>
          <ac:spMkLst>
            <pc:docMk/>
            <pc:sldMk cId="0" sldId="259"/>
            <ac:spMk id="22" creationId="{00000000-0000-0000-0000-000000000000}"/>
          </ac:spMkLst>
        </pc:spChg>
      </pc:sldChg>
      <pc:sldChg chg="modSp mod ord">
        <pc:chgData name="JAIR MALDONADO" userId="bb15d74f-e7f4-4c6e-b578-99b3dbe7a047" providerId="ADAL" clId="{77748564-CBFC-4B7B-9D7A-4A5CD95BEB43}" dt="2026-07-28T14:58:34.080" v="755" actId="33524"/>
        <pc:sldMkLst>
          <pc:docMk/>
          <pc:sldMk cId="0" sldId="260"/>
        </pc:sldMkLst>
        <pc:spChg chg="mod">
          <ac:chgData name="JAIR MALDONADO" userId="bb15d74f-e7f4-4c6e-b578-99b3dbe7a047" providerId="ADAL" clId="{77748564-CBFC-4B7B-9D7A-4A5CD95BEB43}" dt="2026-07-28T14:58:34.080" v="755" actId="33524"/>
          <ac:spMkLst>
            <pc:docMk/>
            <pc:sldMk cId="0" sldId="260"/>
            <ac:spMk id="16" creationId="{00000000-0000-0000-0000-000000000000}"/>
          </ac:spMkLst>
        </pc:spChg>
        <pc:spChg chg="mod">
          <ac:chgData name="JAIR MALDONADO" userId="bb15d74f-e7f4-4c6e-b578-99b3dbe7a047" providerId="ADAL" clId="{77748564-CBFC-4B7B-9D7A-4A5CD95BEB43}" dt="2026-07-28T14:52:58.984" v="722" actId="33524"/>
          <ac:spMkLst>
            <pc:docMk/>
            <pc:sldMk cId="0" sldId="260"/>
            <ac:spMk id="22" creationId="{00000000-0000-0000-0000-000000000000}"/>
          </ac:spMkLst>
        </pc:spChg>
      </pc:sldChg>
      <pc:sldChg chg="modSp mod">
        <pc:chgData name="JAIR MALDONADO" userId="bb15d74f-e7f4-4c6e-b578-99b3dbe7a047" providerId="ADAL" clId="{77748564-CBFC-4B7B-9D7A-4A5CD95BEB43}" dt="2026-07-28T14:18:28.622" v="135" actId="14100"/>
        <pc:sldMkLst>
          <pc:docMk/>
          <pc:sldMk cId="0" sldId="261"/>
        </pc:sldMkLst>
        <pc:spChg chg="mod">
          <ac:chgData name="JAIR MALDONADO" userId="bb15d74f-e7f4-4c6e-b578-99b3dbe7a047" providerId="ADAL" clId="{77748564-CBFC-4B7B-9D7A-4A5CD95BEB43}" dt="2026-07-28T14:18:28.622" v="135" actId="14100"/>
          <ac:spMkLst>
            <pc:docMk/>
            <pc:sldMk cId="0" sldId="261"/>
            <ac:spMk id="8" creationId="{00000000-0000-0000-0000-000000000000}"/>
          </ac:spMkLst>
        </pc:spChg>
      </pc:sldChg>
      <pc:sldChg chg="ord">
        <pc:chgData name="JAIR MALDONADO" userId="bb15d74f-e7f4-4c6e-b578-99b3dbe7a047" providerId="ADAL" clId="{77748564-CBFC-4B7B-9D7A-4A5CD95BEB43}" dt="2026-07-28T15:17:02.116" v="803"/>
        <pc:sldMkLst>
          <pc:docMk/>
          <pc:sldMk cId="0" sldId="262"/>
        </pc:sldMkLst>
      </pc:sldChg>
      <pc:sldChg chg="modSp mod ord">
        <pc:chgData name="JAIR MALDONADO" userId="bb15d74f-e7f4-4c6e-b578-99b3dbe7a047" providerId="ADAL" clId="{77748564-CBFC-4B7B-9D7A-4A5CD95BEB43}" dt="2026-07-28T15:15:19.857" v="801" actId="20577"/>
        <pc:sldMkLst>
          <pc:docMk/>
          <pc:sldMk cId="0" sldId="263"/>
        </pc:sldMkLst>
        <pc:spChg chg="mod">
          <ac:chgData name="JAIR MALDONADO" userId="bb15d74f-e7f4-4c6e-b578-99b3dbe7a047" providerId="ADAL" clId="{77748564-CBFC-4B7B-9D7A-4A5CD95BEB43}" dt="2026-07-28T15:15:19.857" v="801" actId="20577"/>
          <ac:spMkLst>
            <pc:docMk/>
            <pc:sldMk cId="0" sldId="263"/>
            <ac:spMk id="29" creationId="{00000000-0000-0000-0000-000000000000}"/>
          </ac:spMkLst>
        </pc:spChg>
      </pc:sldChg>
      <pc:sldChg chg="modSp mod">
        <pc:chgData name="JAIR MALDONADO" userId="bb15d74f-e7f4-4c6e-b578-99b3dbe7a047" providerId="ADAL" clId="{77748564-CBFC-4B7B-9D7A-4A5CD95BEB43}" dt="2026-07-28T15:53:16.500" v="916" actId="33524"/>
        <pc:sldMkLst>
          <pc:docMk/>
          <pc:sldMk cId="0" sldId="268"/>
        </pc:sldMkLst>
        <pc:spChg chg="mod">
          <ac:chgData name="JAIR MALDONADO" userId="bb15d74f-e7f4-4c6e-b578-99b3dbe7a047" providerId="ADAL" clId="{77748564-CBFC-4B7B-9D7A-4A5CD95BEB43}" dt="2026-07-28T15:53:16.500" v="916" actId="33524"/>
          <ac:spMkLst>
            <pc:docMk/>
            <pc:sldMk cId="0" sldId="268"/>
            <ac:spMk id="25" creationId="{00000000-0000-0000-0000-000000000000}"/>
          </ac:spMkLst>
        </pc:spChg>
        <pc:spChg chg="mod">
          <ac:chgData name="JAIR MALDONADO" userId="bb15d74f-e7f4-4c6e-b578-99b3dbe7a047" providerId="ADAL" clId="{77748564-CBFC-4B7B-9D7A-4A5CD95BEB43}" dt="2026-07-28T15:52:24.422" v="904" actId="14100"/>
          <ac:spMkLst>
            <pc:docMk/>
            <pc:sldMk cId="0" sldId="268"/>
            <ac:spMk id="46" creationId="{00000000-0000-0000-0000-000000000000}"/>
          </ac:spMkLst>
        </pc:spChg>
        <pc:spChg chg="mod">
          <ac:chgData name="JAIR MALDONADO" userId="bb15d74f-e7f4-4c6e-b578-99b3dbe7a047" providerId="ADAL" clId="{77748564-CBFC-4B7B-9D7A-4A5CD95BEB43}" dt="2026-07-28T15:52:32.048" v="907" actId="1076"/>
          <ac:spMkLst>
            <pc:docMk/>
            <pc:sldMk cId="0" sldId="268"/>
            <ac:spMk id="47" creationId="{00000000-0000-0000-0000-000000000000}"/>
          </ac:spMkLst>
        </pc:spChg>
        <pc:spChg chg="mod">
          <ac:chgData name="JAIR MALDONADO" userId="bb15d74f-e7f4-4c6e-b578-99b3dbe7a047" providerId="ADAL" clId="{77748564-CBFC-4B7B-9D7A-4A5CD95BEB43}" dt="2026-07-28T15:52:29.706" v="906" actId="1076"/>
          <ac:spMkLst>
            <pc:docMk/>
            <pc:sldMk cId="0" sldId="268"/>
            <ac:spMk id="48" creationId="{00000000-0000-0000-0000-000000000000}"/>
          </ac:spMkLst>
        </pc:spChg>
        <pc:spChg chg="mod">
          <ac:chgData name="JAIR MALDONADO" userId="bb15d74f-e7f4-4c6e-b578-99b3dbe7a047" providerId="ADAL" clId="{77748564-CBFC-4B7B-9D7A-4A5CD95BEB43}" dt="2026-07-28T15:52:27.499" v="905" actId="1076"/>
          <ac:spMkLst>
            <pc:docMk/>
            <pc:sldMk cId="0" sldId="268"/>
            <ac:spMk id="49" creationId="{00000000-0000-0000-0000-000000000000}"/>
          </ac:spMkLst>
        </pc:spChg>
        <pc:spChg chg="mod">
          <ac:chgData name="JAIR MALDONADO" userId="bb15d74f-e7f4-4c6e-b578-99b3dbe7a047" providerId="ADAL" clId="{77748564-CBFC-4B7B-9D7A-4A5CD95BEB43}" dt="2026-07-28T15:52:58.748" v="914" actId="1076"/>
          <ac:spMkLst>
            <pc:docMk/>
            <pc:sldMk cId="0" sldId="268"/>
            <ac:spMk id="50" creationId="{00000000-0000-0000-0000-000000000000}"/>
          </ac:spMkLst>
        </pc:spChg>
        <pc:spChg chg="mod">
          <ac:chgData name="JAIR MALDONADO" userId="bb15d74f-e7f4-4c6e-b578-99b3dbe7a047" providerId="ADAL" clId="{77748564-CBFC-4B7B-9D7A-4A5CD95BEB43}" dt="2026-07-28T15:53:01.337" v="915" actId="1076"/>
          <ac:spMkLst>
            <pc:docMk/>
            <pc:sldMk cId="0" sldId="268"/>
            <ac:spMk id="51" creationId="{00000000-0000-0000-0000-000000000000}"/>
          </ac:spMkLst>
        </pc:spChg>
        <pc:spChg chg="mod">
          <ac:chgData name="JAIR MALDONADO" userId="bb15d74f-e7f4-4c6e-b578-99b3dbe7a047" providerId="ADAL" clId="{77748564-CBFC-4B7B-9D7A-4A5CD95BEB43}" dt="2026-07-28T15:52:54.206" v="913" actId="1076"/>
          <ac:spMkLst>
            <pc:docMk/>
            <pc:sldMk cId="0" sldId="268"/>
            <ac:spMk id="52" creationId="{00000000-0000-0000-0000-000000000000}"/>
          </ac:spMkLst>
        </pc:spChg>
        <pc:spChg chg="mod">
          <ac:chgData name="JAIR MALDONADO" userId="bb15d74f-e7f4-4c6e-b578-99b3dbe7a047" providerId="ADAL" clId="{77748564-CBFC-4B7B-9D7A-4A5CD95BEB43}" dt="2026-07-28T15:52:50.788" v="912" actId="1076"/>
          <ac:spMkLst>
            <pc:docMk/>
            <pc:sldMk cId="0" sldId="268"/>
            <ac:spMk id="53" creationId="{00000000-0000-0000-0000-000000000000}"/>
          </ac:spMkLst>
        </pc:spChg>
        <pc:spChg chg="mod">
          <ac:chgData name="JAIR MALDONADO" userId="bb15d74f-e7f4-4c6e-b578-99b3dbe7a047" providerId="ADAL" clId="{77748564-CBFC-4B7B-9D7A-4A5CD95BEB43}" dt="2026-07-28T15:52:43.765" v="910" actId="1076"/>
          <ac:spMkLst>
            <pc:docMk/>
            <pc:sldMk cId="0" sldId="268"/>
            <ac:spMk id="54" creationId="{00000000-0000-0000-0000-000000000000}"/>
          </ac:spMkLst>
        </pc:spChg>
        <pc:spChg chg="mod">
          <ac:chgData name="JAIR MALDONADO" userId="bb15d74f-e7f4-4c6e-b578-99b3dbe7a047" providerId="ADAL" clId="{77748564-CBFC-4B7B-9D7A-4A5CD95BEB43}" dt="2026-07-28T15:52:40.665" v="909" actId="1076"/>
          <ac:spMkLst>
            <pc:docMk/>
            <pc:sldMk cId="0" sldId="268"/>
            <ac:spMk id="55" creationId="{00000000-0000-0000-0000-000000000000}"/>
          </ac:spMkLst>
        </pc:spChg>
      </pc:sldChg>
      <pc:sldChg chg="del">
        <pc:chgData name="JAIR MALDONADO" userId="bb15d74f-e7f4-4c6e-b578-99b3dbe7a047" providerId="ADAL" clId="{77748564-CBFC-4B7B-9D7A-4A5CD95BEB43}" dt="2026-07-28T15:53:28.322" v="917" actId="2696"/>
        <pc:sldMkLst>
          <pc:docMk/>
          <pc:sldMk cId="0" sldId="270"/>
        </pc:sldMkLst>
      </pc:sldChg>
      <pc:sldChg chg="modSp mod">
        <pc:chgData name="JAIR MALDONADO" userId="bb15d74f-e7f4-4c6e-b578-99b3dbe7a047" providerId="ADAL" clId="{77748564-CBFC-4B7B-9D7A-4A5CD95BEB43}" dt="2026-07-28T15:36:00.719" v="841" actId="14100"/>
        <pc:sldMkLst>
          <pc:docMk/>
          <pc:sldMk cId="0" sldId="271"/>
        </pc:sldMkLst>
        <pc:spChg chg="mod">
          <ac:chgData name="JAIR MALDONADO" userId="bb15d74f-e7f4-4c6e-b578-99b3dbe7a047" providerId="ADAL" clId="{77748564-CBFC-4B7B-9D7A-4A5CD95BEB43}" dt="2026-07-28T15:36:00.719" v="841" actId="14100"/>
          <ac:spMkLst>
            <pc:docMk/>
            <pc:sldMk cId="0" sldId="271"/>
            <ac:spMk id="6" creationId="{00000000-0000-0000-0000-000000000000}"/>
          </ac:spMkLst>
        </pc:spChg>
      </pc:sldChg>
      <pc:sldChg chg="modSp mod">
        <pc:chgData name="JAIR MALDONADO" userId="bb15d74f-e7f4-4c6e-b578-99b3dbe7a047" providerId="ADAL" clId="{77748564-CBFC-4B7B-9D7A-4A5CD95BEB43}" dt="2026-07-28T14:47:37.951" v="179" actId="20577"/>
        <pc:sldMkLst>
          <pc:docMk/>
          <pc:sldMk cId="0" sldId="272"/>
        </pc:sldMkLst>
        <pc:spChg chg="mod">
          <ac:chgData name="JAIR MALDONADO" userId="bb15d74f-e7f4-4c6e-b578-99b3dbe7a047" providerId="ADAL" clId="{77748564-CBFC-4B7B-9D7A-4A5CD95BEB43}" dt="2026-07-28T14:47:11.375" v="177" actId="20577"/>
          <ac:spMkLst>
            <pc:docMk/>
            <pc:sldMk cId="0" sldId="272"/>
            <ac:spMk id="9" creationId="{00000000-0000-0000-0000-000000000000}"/>
          </ac:spMkLst>
        </pc:spChg>
        <pc:spChg chg="mod">
          <ac:chgData name="JAIR MALDONADO" userId="bb15d74f-e7f4-4c6e-b578-99b3dbe7a047" providerId="ADAL" clId="{77748564-CBFC-4B7B-9D7A-4A5CD95BEB43}" dt="2026-07-28T14:47:32.154" v="178" actId="33524"/>
          <ac:spMkLst>
            <pc:docMk/>
            <pc:sldMk cId="0" sldId="272"/>
            <ac:spMk id="17" creationId="{00000000-0000-0000-0000-000000000000}"/>
          </ac:spMkLst>
        </pc:spChg>
        <pc:spChg chg="mod">
          <ac:chgData name="JAIR MALDONADO" userId="bb15d74f-e7f4-4c6e-b578-99b3dbe7a047" providerId="ADAL" clId="{77748564-CBFC-4B7B-9D7A-4A5CD95BEB43}" dt="2026-07-28T14:47:37.951" v="179" actId="20577"/>
          <ac:spMkLst>
            <pc:docMk/>
            <pc:sldMk cId="0" sldId="272"/>
            <ac:spMk id="22" creationId="{00000000-0000-0000-0000-000000000000}"/>
          </ac:spMkLst>
        </pc:spChg>
      </pc:sldChg>
      <pc:sldChg chg="add del">
        <pc:chgData name="JAIR MALDONADO" userId="bb15d74f-e7f4-4c6e-b578-99b3dbe7a047" providerId="ADAL" clId="{77748564-CBFC-4B7B-9D7A-4A5CD95BEB43}" dt="2026-07-28T14:45:26.205" v="157" actId="2696"/>
        <pc:sldMkLst>
          <pc:docMk/>
          <pc:sldMk cId="0" sldId="274"/>
        </pc:sldMkLst>
      </pc:sldChg>
      <pc:sldChg chg="add del">
        <pc:chgData name="JAIR MALDONADO" userId="bb15d74f-e7f4-4c6e-b578-99b3dbe7a047" providerId="ADAL" clId="{77748564-CBFC-4B7B-9D7A-4A5CD95BEB43}" dt="2026-07-28T14:46:44.178" v="176" actId="47"/>
        <pc:sldMkLst>
          <pc:docMk/>
          <pc:sldMk cId="0" sldId="275"/>
        </pc:sldMkLst>
      </pc:sldChg>
      <pc:sldChg chg="add del">
        <pc:chgData name="JAIR MALDONADO" userId="bb15d74f-e7f4-4c6e-b578-99b3dbe7a047" providerId="ADAL" clId="{77748564-CBFC-4B7B-9D7A-4A5CD95BEB43}" dt="2026-07-28T14:46:23.578" v="172" actId="47"/>
        <pc:sldMkLst>
          <pc:docMk/>
          <pc:sldMk cId="0" sldId="276"/>
        </pc:sldMkLst>
      </pc:sldChg>
      <pc:sldChg chg="add del ord setBg">
        <pc:chgData name="JAIR MALDONADO" userId="bb15d74f-e7f4-4c6e-b578-99b3dbe7a047" providerId="ADAL" clId="{77748564-CBFC-4B7B-9D7A-4A5CD95BEB43}" dt="2026-07-28T14:45:48.372" v="165"/>
        <pc:sldMkLst>
          <pc:docMk/>
          <pc:sldMk cId="455097534" sldId="276"/>
        </pc:sldMkLst>
      </pc:sldChg>
      <pc:sldChg chg="del">
        <pc:chgData name="JAIR MALDONADO" userId="bb15d74f-e7f4-4c6e-b578-99b3dbe7a047" providerId="ADAL" clId="{77748564-CBFC-4B7B-9D7A-4A5CD95BEB43}" dt="2026-07-28T00:23:16.267" v="0" actId="2696"/>
        <pc:sldMkLst>
          <pc:docMk/>
          <pc:sldMk cId="0" sldId="277"/>
        </pc:sldMkLst>
      </pc:sldChg>
      <pc:sldChg chg="delSp modSp mod">
        <pc:chgData name="JAIR MALDONADO" userId="bb15d74f-e7f4-4c6e-b578-99b3dbe7a047" providerId="ADAL" clId="{77748564-CBFC-4B7B-9D7A-4A5CD95BEB43}" dt="2026-07-28T14:19:11.297" v="143" actId="1076"/>
        <pc:sldMkLst>
          <pc:docMk/>
          <pc:sldMk cId="0" sldId="278"/>
        </pc:sldMkLst>
        <pc:spChg chg="mod">
          <ac:chgData name="JAIR MALDONADO" userId="bb15d74f-e7f4-4c6e-b578-99b3dbe7a047" providerId="ADAL" clId="{77748564-CBFC-4B7B-9D7A-4A5CD95BEB43}" dt="2026-07-28T14:18:43.137" v="138" actId="20577"/>
          <ac:spMkLst>
            <pc:docMk/>
            <pc:sldMk cId="0" sldId="278"/>
            <ac:spMk id="8" creationId="{00000000-0000-0000-0000-000000000000}"/>
          </ac:spMkLst>
        </pc:spChg>
        <pc:spChg chg="mod">
          <ac:chgData name="JAIR MALDONADO" userId="bb15d74f-e7f4-4c6e-b578-99b3dbe7a047" providerId="ADAL" clId="{77748564-CBFC-4B7B-9D7A-4A5CD95BEB43}" dt="2026-07-28T14:18:48.402" v="139" actId="33524"/>
          <ac:spMkLst>
            <pc:docMk/>
            <pc:sldMk cId="0" sldId="278"/>
            <ac:spMk id="11" creationId="{00000000-0000-0000-0000-000000000000}"/>
          </ac:spMkLst>
        </pc:spChg>
        <pc:spChg chg="mod">
          <ac:chgData name="JAIR MALDONADO" userId="bb15d74f-e7f4-4c6e-b578-99b3dbe7a047" providerId="ADAL" clId="{77748564-CBFC-4B7B-9D7A-4A5CD95BEB43}" dt="2026-07-28T14:18:56.801" v="140" actId="33524"/>
          <ac:spMkLst>
            <pc:docMk/>
            <pc:sldMk cId="0" sldId="278"/>
            <ac:spMk id="19" creationId="{00000000-0000-0000-0000-000000000000}"/>
          </ac:spMkLst>
        </pc:spChg>
        <pc:spChg chg="mod">
          <ac:chgData name="JAIR MALDONADO" userId="bb15d74f-e7f4-4c6e-b578-99b3dbe7a047" providerId="ADAL" clId="{77748564-CBFC-4B7B-9D7A-4A5CD95BEB43}" dt="2026-07-28T14:19:11.297" v="143" actId="1076"/>
          <ac:spMkLst>
            <pc:docMk/>
            <pc:sldMk cId="0" sldId="278"/>
            <ac:spMk id="20" creationId="{00000000-0000-0000-0000-000000000000}"/>
          </ac:spMkLst>
        </pc:spChg>
        <pc:spChg chg="del mod">
          <ac:chgData name="JAIR MALDONADO" userId="bb15d74f-e7f4-4c6e-b578-99b3dbe7a047" providerId="ADAL" clId="{77748564-CBFC-4B7B-9D7A-4A5CD95BEB43}" dt="2026-07-28T14:19:05.965" v="142" actId="478"/>
          <ac:spMkLst>
            <pc:docMk/>
            <pc:sldMk cId="0" sldId="278"/>
            <ac:spMk id="21" creationId="{00000000-0000-0000-0000-000000000000}"/>
          </ac:spMkLst>
        </pc:spChg>
      </pc:sldChg>
      <pc:sldChg chg="add setBg">
        <pc:chgData name="JAIR MALDONADO" userId="bb15d74f-e7f4-4c6e-b578-99b3dbe7a047" providerId="ADAL" clId="{77748564-CBFC-4B7B-9D7A-4A5CD95BEB43}" dt="2026-07-28T14:45:24.046" v="156"/>
        <pc:sldMkLst>
          <pc:docMk/>
          <pc:sldMk cId="0" sldId="279"/>
        </pc:sldMkLst>
      </pc:sldChg>
      <pc:sldChg chg="add del">
        <pc:chgData name="JAIR MALDONADO" userId="bb15d74f-e7f4-4c6e-b578-99b3dbe7a047" providerId="ADAL" clId="{77748564-CBFC-4B7B-9D7A-4A5CD95BEB43}" dt="2026-07-28T14:45:58.126" v="169" actId="47"/>
        <pc:sldMkLst>
          <pc:docMk/>
          <pc:sldMk cId="1974090566" sldId="280"/>
        </pc:sldMkLst>
      </pc:sldChg>
      <pc:sldChg chg="modSp add mod ord setBg">
        <pc:chgData name="JAIR MALDONADO" userId="bb15d74f-e7f4-4c6e-b578-99b3dbe7a047" providerId="ADAL" clId="{77748564-CBFC-4B7B-9D7A-4A5CD95BEB43}" dt="2026-07-28T14:49:33.538" v="181" actId="20577"/>
        <pc:sldMkLst>
          <pc:docMk/>
          <pc:sldMk cId="0" sldId="281"/>
        </pc:sldMkLst>
        <pc:spChg chg="mod">
          <ac:chgData name="JAIR MALDONADO" userId="bb15d74f-e7f4-4c6e-b578-99b3dbe7a047" providerId="ADAL" clId="{77748564-CBFC-4B7B-9D7A-4A5CD95BEB43}" dt="2026-07-28T14:49:33.538" v="181" actId="20577"/>
          <ac:spMkLst>
            <pc:docMk/>
            <pc:sldMk cId="0" sldId="281"/>
            <ac:spMk id="14" creationId="{00000000-0000-0000-0000-000000000000}"/>
          </ac:spMkLst>
        </pc:spChg>
      </pc:sldChg>
      <pc:sldChg chg="add ord setBg">
        <pc:chgData name="JAIR MALDONADO" userId="bb15d74f-e7f4-4c6e-b578-99b3dbe7a047" providerId="ADAL" clId="{77748564-CBFC-4B7B-9D7A-4A5CD95BEB43}" dt="2026-07-28T14:46:27.089" v="175"/>
        <pc:sldMkLst>
          <pc:docMk/>
          <pc:sldMk cId="0" sldId="282"/>
        </pc:sldMkLst>
      </pc:sldChg>
      <pc:sldChg chg="add mod ord setBg chgLayout">
        <pc:chgData name="JAIR MALDONADO" userId="bb15d74f-e7f4-4c6e-b578-99b3dbe7a047" providerId="ADAL" clId="{77748564-CBFC-4B7B-9D7A-4A5CD95BEB43}" dt="2026-07-28T15:51:35.474" v="903" actId="6264"/>
        <pc:sldMkLst>
          <pc:docMk/>
          <pc:sldMk cId="0" sldId="283"/>
        </pc:sldMkLst>
      </pc:sldChg>
      <pc:sldChg chg="add del">
        <pc:chgData name="JAIR MALDONADO" userId="bb15d74f-e7f4-4c6e-b578-99b3dbe7a047" providerId="ADAL" clId="{77748564-CBFC-4B7B-9D7A-4A5CD95BEB43}" dt="2026-07-28T15:20:29.511" v="805" actId="2696"/>
        <pc:sldMkLst>
          <pc:docMk/>
          <pc:sldMk cId="2032070459"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4119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Golden Image is the template every new virtual machine is built from. Set it up once and every machine after that inherits it. Q: Does this slow down provisioning? — No. The tools go into the image itself, so a machine built from it is already compliant on first boot.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When does this actually get adopted? — Q4, when the policy manager returns. It is drafted and staged for sign-off now, not adopted. Q: Who owns the rollout? — The infrastructure security team; each named team owns its own tool.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version: someone poisons a popular free software package, and everyone who installs it gets the poison too. It has happened repeatedly in the last two years.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Can AEGIS catch zero-days? — No. It catches publicly known flaws in open-source dependencies. Zero-days need different tooling entirely. Q: What about false positives? — Every finding it labels reachable is a real code path; anything it cannot confirm is labelled "can't prove", never "safe". I have not measured a false-positive rate, so I am not going to quote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Why 117 and not more? — Because that is the filtered set: high or critical severity AND directly affecting business operations. It is not a sample and it is not everything Kevlar sees.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~17.5 hour baseline is a reasoned estimate at 8-10 minutes per flaw, not a stopwatch measurement. Say so if asked. If precision matters, have an analyst time a sample of ten.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Were all 117 validated? — 29 were independently spot-checked and all 29 were correct. One entry, CVE-2025-47827, is double-classified in the Kevlar export (IGEL OS and Windows). That is a data-quality issue upstream, not a bug in the script, but worth flagging to whoever owns the export.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chain if asked: 2,658 real host-and-product assignments, which Kevlar groups into 209 KB Priority rows, which the highest-fixed-build rule collapses to 46 tickets. The 78% is measured against Kevlar's 209, not against the 117.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png"/>
          <p:cNvPicPr>
            <a:picLocks noChangeAspect="1"/>
          </p:cNvPicPr>
          <p:nvPr/>
        </p:nvPicPr>
        <p:blipFill>
          <a:blip r:embed="rId4"/>
          <a:stretch>
            <a:fillRect/>
          </a:stretch>
        </p:blipFill>
        <p:spPr>
          <a:xfrm>
            <a:off x="7040880" y="-822960"/>
            <a:ext cx="6035040" cy="6035040"/>
          </a:xfrm>
          <a:prstGeom prst="rect">
            <a:avLst/>
          </a:prstGeom>
        </p:spPr>
      </p:pic>
      <p:pic>
        <p:nvPicPr>
          <p:cNvPr id="4" name="Image 2" descr="/home/user/ai/assets/gen/logo-white.png"/>
          <p:cNvPicPr>
            <a:picLocks noChangeAspect="1"/>
          </p:cNvPicPr>
          <p:nvPr/>
        </p:nvPicPr>
        <p:blipFill>
          <a:blip r:embed="rId5"/>
          <a:stretch>
            <a:fillRect/>
          </a:stretch>
        </p:blipFill>
        <p:spPr>
          <a:xfrm>
            <a:off x="777240" y="566928"/>
            <a:ext cx="2194560" cy="221404"/>
          </a:xfrm>
          <a:prstGeom prst="rect">
            <a:avLst/>
          </a:prstGeom>
        </p:spPr>
      </p:pic>
      <p:sp>
        <p:nvSpPr>
          <p:cNvPr id="5" name="Text 0"/>
          <p:cNvSpPr txBox="1"/>
          <p:nvPr/>
        </p:nvSpPr>
        <p:spPr>
          <a:xfrm>
            <a:off x="777240" y="2304288"/>
            <a:ext cx="8229600" cy="237744"/>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STEWART TITLE  ·  INFORMATION SECURITY</a:t>
            </a:r>
            <a:endParaRPr lang="en-US" sz="1000" dirty="0"/>
          </a:p>
        </p:txBody>
      </p:sp>
      <p:sp>
        <p:nvSpPr>
          <p:cNvPr id="6" name="Text 1"/>
          <p:cNvSpPr txBox="1"/>
          <p:nvPr/>
        </p:nvSpPr>
        <p:spPr>
          <a:xfrm>
            <a:off x="777240" y="2633472"/>
            <a:ext cx="8595360" cy="1600200"/>
          </a:xfrm>
          <a:prstGeom prst="rect">
            <a:avLst/>
          </a:prstGeom>
          <a:noFill/>
          <a:ln/>
        </p:spPr>
        <p:txBody>
          <a:bodyPr wrap="square" lIns="0" tIns="0" rIns="0" bIns="0" rtlCol="0" anchor="t"/>
          <a:lstStyle/>
          <a:p>
            <a:pPr marL="0" indent="0">
              <a:lnSpc>
                <a:spcPct val="96000"/>
              </a:lnSpc>
              <a:buNone/>
            </a:pPr>
            <a:r>
              <a:rPr lang="en-US" sz="5000" kern="0" spc="-100" dirty="0">
                <a:solidFill>
                  <a:srgbClr val="FFFFFF"/>
                </a:solidFill>
                <a:latin typeface="Montserrat ExtraBold" pitchFamily="34" charset="0"/>
                <a:ea typeface="Montserrat ExtraBold" pitchFamily="34" charset="-122"/>
                <a:cs typeface="Montserrat ExtraBold" pitchFamily="34" charset="-120"/>
              </a:rPr>
              <a:t>Information Security</a:t>
            </a:r>
            <a:endParaRPr lang="en-US" sz="5000" dirty="0"/>
          </a:p>
          <a:p>
            <a:pPr marL="0" indent="0">
              <a:lnSpc>
                <a:spcPct val="96000"/>
              </a:lnSpc>
              <a:buNone/>
            </a:pPr>
            <a:r>
              <a:rPr lang="en-US" sz="5000" kern="0" spc="-100" dirty="0">
                <a:solidFill>
                  <a:srgbClr val="FFFFFF"/>
                </a:solidFill>
                <a:latin typeface="Montserrat ExtraBold" pitchFamily="34" charset="0"/>
                <a:ea typeface="Montserrat ExtraBold" pitchFamily="34" charset="-122"/>
                <a:cs typeface="Montserrat ExtraBold" pitchFamily="34" charset="-120"/>
              </a:rPr>
              <a:t>Analyst Internship</a:t>
            </a:r>
            <a:endParaRPr lang="en-US" sz="5000" dirty="0"/>
          </a:p>
        </p:txBody>
      </p:sp>
      <p:sp>
        <p:nvSpPr>
          <p:cNvPr id="7" name="Shape 2"/>
          <p:cNvSpPr/>
          <p:nvPr/>
        </p:nvSpPr>
        <p:spPr>
          <a:xfrm>
            <a:off x="777240" y="4370832"/>
            <a:ext cx="713232" cy="54864"/>
          </a:xfrm>
          <a:prstGeom prst="rect">
            <a:avLst/>
          </a:prstGeom>
          <a:solidFill>
            <a:srgbClr val="FFFFFF"/>
          </a:solidFill>
          <a:ln/>
        </p:spPr>
        <p:txBody>
          <a:bodyPr/>
          <a:lstStyle/>
          <a:p>
            <a:endParaRPr lang="en-US"/>
          </a:p>
        </p:txBody>
      </p:sp>
      <p:sp>
        <p:nvSpPr>
          <p:cNvPr id="8" name="Text 3"/>
          <p:cNvSpPr txBox="1"/>
          <p:nvPr/>
        </p:nvSpPr>
        <p:spPr>
          <a:xfrm>
            <a:off x="777240" y="4645152"/>
            <a:ext cx="6400800" cy="365760"/>
          </a:xfrm>
          <a:prstGeom prst="rect">
            <a:avLst/>
          </a:prstGeom>
          <a:noFill/>
          <a:ln/>
        </p:spPr>
        <p:txBody>
          <a:bodyPr wrap="square" lIns="0" tIns="0" rIns="0" bIns="0" rtlCol="0" anchor="t"/>
          <a:lstStyle/>
          <a:p>
            <a:pPr marL="0" indent="0">
              <a:buNone/>
            </a:pPr>
            <a:r>
              <a:rPr lang="en-US" sz="1900" dirty="0">
                <a:solidFill>
                  <a:srgbClr val="FFFFFF"/>
                </a:solidFill>
                <a:latin typeface="Montserrat SemiBold" pitchFamily="34" charset="0"/>
                <a:ea typeface="Montserrat SemiBold" pitchFamily="34" charset="-122"/>
                <a:cs typeface="Montserrat SemiBold" pitchFamily="34" charset="-120"/>
              </a:rPr>
              <a:t>Jair Maldonado</a:t>
            </a:r>
            <a:endParaRPr lang="en-US" sz="1900" dirty="0"/>
          </a:p>
        </p:txBody>
      </p:sp>
      <p:sp>
        <p:nvSpPr>
          <p:cNvPr id="9" name="Text 4"/>
          <p:cNvSpPr txBox="1"/>
          <p:nvPr/>
        </p:nvSpPr>
        <p:spPr>
          <a:xfrm>
            <a:off x="777240" y="5029200"/>
            <a:ext cx="6400800" cy="274320"/>
          </a:xfrm>
          <a:prstGeom prst="rect">
            <a:avLst/>
          </a:prstGeom>
          <a:noFill/>
          <a:ln/>
        </p:spPr>
        <p:txBody>
          <a:bodyPr wrap="square" lIns="0" tIns="0" rIns="0" bIns="0" rtlCol="0" anchor="t"/>
          <a:lstStyle/>
          <a:p>
            <a:pPr marL="0" indent="0">
              <a:buNone/>
            </a:pPr>
            <a:r>
              <a:rPr lang="en-US" sz="950" kern="0" spc="30" dirty="0">
                <a:solidFill>
                  <a:srgbClr val="DAB4BA"/>
                </a:solidFill>
                <a:latin typeface="Montserrat Medium" pitchFamily="34" charset="0"/>
                <a:ea typeface="Montserrat Medium" pitchFamily="34" charset="-122"/>
                <a:cs typeface="Montserrat Medium" pitchFamily="34" charset="-120"/>
              </a:rPr>
              <a:t>Exit Presentation  ·  Summer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CONTENTS</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What I will walk through</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TABLE OF CONTENTS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02</a:t>
            </a:r>
            <a:endParaRPr lang="en-US" sz="850" dirty="0"/>
          </a:p>
        </p:txBody>
      </p:sp>
      <p:sp>
        <p:nvSpPr>
          <p:cNvPr id="9" name="Text 6"/>
          <p:cNvSpPr txBox="1"/>
          <p:nvPr/>
        </p:nvSpPr>
        <p:spPr>
          <a:xfrm>
            <a:off x="777240" y="2121408"/>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01</a:t>
            </a:r>
            <a:endParaRPr lang="en-US" sz="2100" dirty="0"/>
          </a:p>
        </p:txBody>
      </p:sp>
      <p:sp>
        <p:nvSpPr>
          <p:cNvPr id="10" name="Text 7"/>
          <p:cNvSpPr txBox="1"/>
          <p:nvPr/>
        </p:nvSpPr>
        <p:spPr>
          <a:xfrm>
            <a:off x="1618488" y="2103120"/>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About Me</a:t>
            </a:r>
            <a:endParaRPr lang="en-US" sz="1550" dirty="0"/>
          </a:p>
        </p:txBody>
      </p:sp>
      <p:sp>
        <p:nvSpPr>
          <p:cNvPr id="11" name="Text 8"/>
          <p:cNvSpPr txBox="1"/>
          <p:nvPr/>
        </p:nvSpPr>
        <p:spPr>
          <a:xfrm>
            <a:off x="5989320" y="2139696"/>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Who I am and where I am headed</a:t>
            </a:r>
            <a:endParaRPr lang="en-US" sz="1100" dirty="0"/>
          </a:p>
        </p:txBody>
      </p:sp>
      <p:sp>
        <p:nvSpPr>
          <p:cNvPr id="12" name="Shape 9"/>
          <p:cNvSpPr/>
          <p:nvPr/>
        </p:nvSpPr>
        <p:spPr>
          <a:xfrm>
            <a:off x="777240" y="2596896"/>
            <a:ext cx="10637215" cy="10973"/>
          </a:xfrm>
          <a:prstGeom prst="rect">
            <a:avLst/>
          </a:prstGeom>
          <a:solidFill>
            <a:srgbClr val="E6E4E2"/>
          </a:solidFill>
          <a:ln/>
        </p:spPr>
        <p:txBody>
          <a:bodyPr/>
          <a:lstStyle/>
          <a:p>
            <a:endParaRPr lang="en-US"/>
          </a:p>
        </p:txBody>
      </p:sp>
      <p:sp>
        <p:nvSpPr>
          <p:cNvPr id="13" name="Text 10"/>
          <p:cNvSpPr txBox="1"/>
          <p:nvPr/>
        </p:nvSpPr>
        <p:spPr>
          <a:xfrm>
            <a:off x="777240" y="2793492"/>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02</a:t>
            </a:r>
            <a:endParaRPr lang="en-US" sz="2100" dirty="0"/>
          </a:p>
        </p:txBody>
      </p:sp>
      <p:sp>
        <p:nvSpPr>
          <p:cNvPr id="14" name="Text 11"/>
          <p:cNvSpPr txBox="1"/>
          <p:nvPr/>
        </p:nvSpPr>
        <p:spPr>
          <a:xfrm>
            <a:off x="1618488" y="2775204"/>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Internship Overview</a:t>
            </a:r>
            <a:endParaRPr lang="en-US" sz="1550" dirty="0"/>
          </a:p>
        </p:txBody>
      </p:sp>
      <p:sp>
        <p:nvSpPr>
          <p:cNvPr id="15" name="Text 12"/>
          <p:cNvSpPr txBox="1"/>
          <p:nvPr/>
        </p:nvSpPr>
        <p:spPr>
          <a:xfrm>
            <a:off x="5989320" y="2811780"/>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Three rotations across the security team</a:t>
            </a:r>
            <a:endParaRPr lang="en-US" sz="1100" dirty="0"/>
          </a:p>
        </p:txBody>
      </p:sp>
      <p:sp>
        <p:nvSpPr>
          <p:cNvPr id="16" name="Shape 13"/>
          <p:cNvSpPr/>
          <p:nvPr/>
        </p:nvSpPr>
        <p:spPr>
          <a:xfrm>
            <a:off x="777240" y="3268980"/>
            <a:ext cx="10637215" cy="10973"/>
          </a:xfrm>
          <a:prstGeom prst="rect">
            <a:avLst/>
          </a:prstGeom>
          <a:solidFill>
            <a:srgbClr val="E6E4E2"/>
          </a:solidFill>
          <a:ln/>
        </p:spPr>
        <p:txBody>
          <a:bodyPr/>
          <a:lstStyle/>
          <a:p>
            <a:endParaRPr lang="en-US"/>
          </a:p>
        </p:txBody>
      </p:sp>
      <p:sp>
        <p:nvSpPr>
          <p:cNvPr id="17" name="Text 14"/>
          <p:cNvSpPr txBox="1"/>
          <p:nvPr/>
        </p:nvSpPr>
        <p:spPr>
          <a:xfrm>
            <a:off x="777240" y="3465576"/>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03</a:t>
            </a:r>
            <a:endParaRPr lang="en-US" sz="2100" dirty="0"/>
          </a:p>
        </p:txBody>
      </p:sp>
      <p:sp>
        <p:nvSpPr>
          <p:cNvPr id="18" name="Text 15"/>
          <p:cNvSpPr txBox="1"/>
          <p:nvPr/>
        </p:nvSpPr>
        <p:spPr>
          <a:xfrm>
            <a:off x="1618488" y="3447288"/>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Image Management Program</a:t>
            </a:r>
            <a:endParaRPr lang="en-US" sz="1550" dirty="0"/>
          </a:p>
        </p:txBody>
      </p:sp>
      <p:sp>
        <p:nvSpPr>
          <p:cNvPr id="19" name="Text 16"/>
          <p:cNvSpPr txBox="1"/>
          <p:nvPr/>
        </p:nvSpPr>
        <p:spPr>
          <a:xfrm>
            <a:off x="5989320" y="3483864"/>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Making sure every new machine starts secure</a:t>
            </a:r>
            <a:endParaRPr lang="en-US" sz="1100" dirty="0"/>
          </a:p>
        </p:txBody>
      </p:sp>
      <p:sp>
        <p:nvSpPr>
          <p:cNvPr id="20" name="Shape 17"/>
          <p:cNvSpPr/>
          <p:nvPr/>
        </p:nvSpPr>
        <p:spPr>
          <a:xfrm>
            <a:off x="777240" y="3941064"/>
            <a:ext cx="10637215" cy="10973"/>
          </a:xfrm>
          <a:prstGeom prst="rect">
            <a:avLst/>
          </a:prstGeom>
          <a:solidFill>
            <a:srgbClr val="E6E4E2"/>
          </a:solidFill>
          <a:ln/>
        </p:spPr>
        <p:txBody>
          <a:bodyPr/>
          <a:lstStyle/>
          <a:p>
            <a:endParaRPr lang="en-US"/>
          </a:p>
        </p:txBody>
      </p:sp>
      <p:sp>
        <p:nvSpPr>
          <p:cNvPr id="21" name="Text 18"/>
          <p:cNvSpPr txBox="1"/>
          <p:nvPr/>
        </p:nvSpPr>
        <p:spPr>
          <a:xfrm>
            <a:off x="777240" y="4137660"/>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04</a:t>
            </a:r>
            <a:endParaRPr lang="en-US" sz="2100" dirty="0"/>
          </a:p>
        </p:txBody>
      </p:sp>
      <p:sp>
        <p:nvSpPr>
          <p:cNvPr id="22" name="Text 19"/>
          <p:cNvSpPr txBox="1"/>
          <p:nvPr/>
        </p:nvSpPr>
        <p:spPr>
          <a:xfrm>
            <a:off x="1618488" y="4119372"/>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AEGIS</a:t>
            </a:r>
            <a:endParaRPr lang="en-US" sz="1550" dirty="0"/>
          </a:p>
        </p:txBody>
      </p:sp>
      <p:sp>
        <p:nvSpPr>
          <p:cNvPr id="23" name="Text 20"/>
          <p:cNvSpPr txBox="1"/>
          <p:nvPr/>
        </p:nvSpPr>
        <p:spPr>
          <a:xfrm>
            <a:off x="5989320" y="4155948"/>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Catching supply-chain attacks before they reach us</a:t>
            </a:r>
            <a:endParaRPr lang="en-US" sz="1100" dirty="0"/>
          </a:p>
        </p:txBody>
      </p:sp>
      <p:sp>
        <p:nvSpPr>
          <p:cNvPr id="24" name="Shape 21"/>
          <p:cNvSpPr/>
          <p:nvPr/>
        </p:nvSpPr>
        <p:spPr>
          <a:xfrm>
            <a:off x="777240" y="4613148"/>
            <a:ext cx="10637215" cy="10973"/>
          </a:xfrm>
          <a:prstGeom prst="rect">
            <a:avLst/>
          </a:prstGeom>
          <a:solidFill>
            <a:srgbClr val="E6E4E2"/>
          </a:solidFill>
          <a:ln/>
        </p:spPr>
        <p:txBody>
          <a:bodyPr/>
          <a:lstStyle/>
          <a:p>
            <a:endParaRPr lang="en-US"/>
          </a:p>
        </p:txBody>
      </p:sp>
      <p:sp>
        <p:nvSpPr>
          <p:cNvPr id="25" name="Text 22"/>
          <p:cNvSpPr txBox="1"/>
          <p:nvPr/>
        </p:nvSpPr>
        <p:spPr>
          <a:xfrm>
            <a:off x="777240" y="4809744"/>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05</a:t>
            </a:r>
            <a:endParaRPr lang="en-US" sz="2100" dirty="0"/>
          </a:p>
        </p:txBody>
      </p:sp>
      <p:sp>
        <p:nvSpPr>
          <p:cNvPr id="26" name="Text 23"/>
          <p:cNvSpPr txBox="1"/>
          <p:nvPr/>
        </p:nvSpPr>
        <p:spPr>
          <a:xfrm>
            <a:off x="1618488" y="4791456"/>
            <a:ext cx="4663440" cy="310896"/>
          </a:xfrm>
          <a:prstGeom prst="rect">
            <a:avLst/>
          </a:prstGeom>
          <a:noFill/>
          <a:ln/>
        </p:spPr>
        <p:txBody>
          <a:bodyPr wrap="square" lIns="0" tIns="0" rIns="0" bIns="0" rtlCol="0" anchor="t"/>
          <a:lstStyle/>
          <a:p>
            <a:pPr marL="0" indent="0">
              <a:buNone/>
            </a:pPr>
            <a:r>
              <a:rPr lang="en-US" sz="1550" dirty="0" err="1">
                <a:solidFill>
                  <a:srgbClr val="2B2D30"/>
                </a:solidFill>
                <a:latin typeface="Montserrat SemiBold" pitchFamily="34" charset="0"/>
              </a:rPr>
              <a:t>KEVlar</a:t>
            </a:r>
            <a:r>
              <a:rPr lang="en-US" sz="1550" dirty="0">
                <a:solidFill>
                  <a:srgbClr val="2B2D30"/>
                </a:solidFill>
                <a:latin typeface="Montserrat SemiBold" pitchFamily="34" charset="0"/>
              </a:rPr>
              <a:t> Patch Automation</a:t>
            </a:r>
            <a:endParaRPr lang="en-US" sz="1550" dirty="0"/>
          </a:p>
        </p:txBody>
      </p:sp>
      <p:sp>
        <p:nvSpPr>
          <p:cNvPr id="27" name="Text 24"/>
          <p:cNvSpPr txBox="1"/>
          <p:nvPr/>
        </p:nvSpPr>
        <p:spPr>
          <a:xfrm>
            <a:off x="5989320" y="4828032"/>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Turning two days of patch work into twelve seconds</a:t>
            </a:r>
            <a:endParaRPr lang="en-US" sz="1100" dirty="0"/>
          </a:p>
        </p:txBody>
      </p:sp>
      <p:sp>
        <p:nvSpPr>
          <p:cNvPr id="28" name="Shape 25"/>
          <p:cNvSpPr/>
          <p:nvPr/>
        </p:nvSpPr>
        <p:spPr>
          <a:xfrm>
            <a:off x="777240" y="5285232"/>
            <a:ext cx="10637215" cy="10973"/>
          </a:xfrm>
          <a:prstGeom prst="rect">
            <a:avLst/>
          </a:prstGeom>
          <a:solidFill>
            <a:srgbClr val="E6E4E2"/>
          </a:solidFill>
          <a:ln/>
        </p:spPr>
        <p:txBody>
          <a:bodyPr/>
          <a:lstStyle/>
          <a:p>
            <a:endParaRPr lang="en-US"/>
          </a:p>
        </p:txBody>
      </p:sp>
      <p:sp>
        <p:nvSpPr>
          <p:cNvPr id="29" name="Text 26"/>
          <p:cNvSpPr txBox="1"/>
          <p:nvPr/>
        </p:nvSpPr>
        <p:spPr>
          <a:xfrm>
            <a:off x="777240" y="5481828"/>
            <a:ext cx="777240" cy="384048"/>
          </a:xfrm>
          <a:prstGeom prst="rect">
            <a:avLst/>
          </a:prstGeom>
          <a:noFill/>
          <a:ln/>
        </p:spPr>
        <p:txBody>
          <a:bodyPr wrap="square" lIns="0" tIns="0" rIns="0" bIns="0" rtlCol="0" anchor="t"/>
          <a:lstStyle/>
          <a:p>
            <a:pPr marL="0" indent="0">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06</a:t>
            </a:r>
            <a:endParaRPr lang="en-US" sz="2100" dirty="0"/>
          </a:p>
        </p:txBody>
      </p:sp>
      <p:sp>
        <p:nvSpPr>
          <p:cNvPr id="30" name="Text 27"/>
          <p:cNvSpPr txBox="1"/>
          <p:nvPr/>
        </p:nvSpPr>
        <p:spPr>
          <a:xfrm>
            <a:off x="1618488" y="5463540"/>
            <a:ext cx="4663440" cy="310896"/>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Summary</a:t>
            </a:r>
            <a:endParaRPr lang="en-US" sz="1550" dirty="0"/>
          </a:p>
        </p:txBody>
      </p:sp>
      <p:sp>
        <p:nvSpPr>
          <p:cNvPr id="31" name="Text 28"/>
          <p:cNvSpPr txBox="1"/>
          <p:nvPr/>
        </p:nvSpPr>
        <p:spPr>
          <a:xfrm>
            <a:off x="5989320" y="5500116"/>
            <a:ext cx="4663440" cy="310896"/>
          </a:xfrm>
          <a:prstGeom prst="rect">
            <a:avLst/>
          </a:prstGeom>
          <a:noFill/>
          <a:ln/>
        </p:spPr>
        <p:txBody>
          <a:bodyPr wrap="square" lIns="0" tIns="0" rIns="0" bIns="0" rtlCol="0" anchor="t"/>
          <a:lstStyle/>
          <a:p>
            <a:pPr marL="0" indent="0">
              <a:buNone/>
            </a:pPr>
            <a:r>
              <a:rPr lang="en-US" sz="1100" dirty="0">
                <a:solidFill>
                  <a:srgbClr val="6E7175"/>
                </a:solidFill>
                <a:latin typeface="Montserrat" pitchFamily="34" charset="0"/>
                <a:ea typeface="Montserrat" pitchFamily="34" charset="-122"/>
                <a:cs typeface="Montserrat" pitchFamily="34" charset="-120"/>
              </a:rPr>
              <a:t>What this means for Stewart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panel-red-left.png"/>
          <p:cNvPicPr>
            <a:picLocks noChangeAspect="1"/>
          </p:cNvPicPr>
          <p:nvPr/>
        </p:nvPicPr>
        <p:blipFill>
          <a:blip r:embed="rId3"/>
          <a:stretch>
            <a:fillRect/>
          </a:stretch>
        </p:blipFill>
        <p:spPr>
          <a:xfrm>
            <a:off x="0" y="0"/>
            <a:ext cx="4343400"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640080" y="3931920"/>
            <a:ext cx="3840480" cy="3840480"/>
          </a:xfrm>
          <a:prstGeom prst="rect">
            <a:avLst/>
          </a:prstGeom>
        </p:spPr>
      </p:pic>
      <p:sp>
        <p:nvSpPr>
          <p:cNvPr id="4" name="Text 0"/>
          <p:cNvSpPr txBox="1"/>
          <p:nvPr/>
        </p:nvSpPr>
        <p:spPr>
          <a:xfrm>
            <a:off x="777240" y="1371600"/>
            <a:ext cx="3108960" cy="237744"/>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ABOUT ME</a:t>
            </a:r>
            <a:endParaRPr lang="en-US" sz="1000" dirty="0"/>
          </a:p>
        </p:txBody>
      </p:sp>
      <p:sp>
        <p:nvSpPr>
          <p:cNvPr id="5" name="Text 1"/>
          <p:cNvSpPr txBox="1"/>
          <p:nvPr/>
        </p:nvSpPr>
        <p:spPr>
          <a:xfrm>
            <a:off x="777240" y="1737360"/>
            <a:ext cx="3291840" cy="1371600"/>
          </a:xfrm>
          <a:prstGeom prst="rect">
            <a:avLst/>
          </a:prstGeom>
          <a:noFill/>
          <a:ln/>
        </p:spPr>
        <p:txBody>
          <a:bodyPr wrap="square" lIns="0" tIns="0" rIns="0" bIns="0" rtlCol="0" anchor="t"/>
          <a:lstStyle/>
          <a:p>
            <a:pPr marL="0" indent="0">
              <a:lnSpc>
                <a:spcPct val="98000"/>
              </a:lnSpc>
              <a:buNone/>
            </a:pPr>
            <a:r>
              <a:rPr lang="en-US" sz="3300" kern="0" spc="-70" dirty="0">
                <a:solidFill>
                  <a:srgbClr val="FFFFFF"/>
                </a:solidFill>
                <a:latin typeface="Montserrat ExtraBold" pitchFamily="34" charset="0"/>
                <a:ea typeface="Montserrat ExtraBold" pitchFamily="34" charset="-122"/>
                <a:cs typeface="Montserrat ExtraBold" pitchFamily="34" charset="-120"/>
              </a:rPr>
              <a:t>Jair Maldonado</a:t>
            </a:r>
            <a:endParaRPr lang="en-US" sz="3300" dirty="0"/>
          </a:p>
        </p:txBody>
      </p:sp>
      <p:sp>
        <p:nvSpPr>
          <p:cNvPr id="6" name="Shape 2"/>
          <p:cNvSpPr/>
          <p:nvPr/>
        </p:nvSpPr>
        <p:spPr>
          <a:xfrm>
            <a:off x="777240" y="3127248"/>
            <a:ext cx="548640" cy="45720"/>
          </a:xfrm>
          <a:prstGeom prst="rect">
            <a:avLst/>
          </a:prstGeom>
          <a:solidFill>
            <a:srgbClr val="FFFFFF"/>
          </a:solidFill>
          <a:ln/>
        </p:spPr>
        <p:txBody>
          <a:bodyPr/>
          <a:lstStyle/>
          <a:p>
            <a:endParaRPr lang="en-US"/>
          </a:p>
        </p:txBody>
      </p:sp>
      <p:sp>
        <p:nvSpPr>
          <p:cNvPr id="7" name="Text 3"/>
          <p:cNvSpPr txBox="1"/>
          <p:nvPr/>
        </p:nvSpPr>
        <p:spPr>
          <a:xfrm>
            <a:off x="777240" y="3364992"/>
            <a:ext cx="3200400" cy="548640"/>
          </a:xfrm>
          <a:prstGeom prst="rect">
            <a:avLst/>
          </a:prstGeom>
          <a:noFill/>
          <a:ln/>
        </p:spPr>
        <p:txBody>
          <a:bodyPr wrap="square" lIns="0" tIns="0" rIns="0" bIns="0" rtlCol="0" anchor="t"/>
          <a:lstStyle/>
          <a:p>
            <a:pPr marL="0" indent="0">
              <a:lnSpc>
                <a:spcPct val="120000"/>
              </a:lnSpc>
              <a:buNone/>
            </a:pPr>
            <a:r>
              <a:rPr lang="en-US" sz="950" kern="0" spc="30" dirty="0">
                <a:solidFill>
                  <a:srgbClr val="E4C9CE"/>
                </a:solidFill>
                <a:latin typeface="Montserrat Medium" pitchFamily="34" charset="0"/>
                <a:ea typeface="Montserrat Medium" pitchFamily="34" charset="-122"/>
                <a:cs typeface="Montserrat Medium" pitchFamily="34" charset="-120"/>
              </a:rPr>
              <a:t>Information Security Analyst Intern</a:t>
            </a:r>
            <a:endParaRPr lang="en-US" sz="950" dirty="0"/>
          </a:p>
        </p:txBody>
      </p:sp>
      <p:sp>
        <p:nvSpPr>
          <p:cNvPr id="8" name="Text 4"/>
          <p:cNvSpPr txBox="1"/>
          <p:nvPr/>
        </p:nvSpPr>
        <p:spPr>
          <a:xfrm>
            <a:off x="5120640" y="868680"/>
            <a:ext cx="6293815" cy="237744"/>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BACKGROUND</a:t>
            </a:r>
            <a:endParaRPr lang="en-US" sz="1000" dirty="0"/>
          </a:p>
        </p:txBody>
      </p:sp>
      <p:sp>
        <p:nvSpPr>
          <p:cNvPr id="9" name="Text 5"/>
          <p:cNvSpPr txBox="1"/>
          <p:nvPr/>
        </p:nvSpPr>
        <p:spPr>
          <a:xfrm>
            <a:off x="5120640" y="1298448"/>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POSITION</a:t>
            </a:r>
            <a:endParaRPr lang="en-US" sz="850" dirty="0"/>
          </a:p>
        </p:txBody>
      </p:sp>
      <p:sp>
        <p:nvSpPr>
          <p:cNvPr id="10" name="Text 6"/>
          <p:cNvSpPr txBox="1"/>
          <p:nvPr/>
        </p:nvSpPr>
        <p:spPr>
          <a:xfrm>
            <a:off x="5120640" y="1545336"/>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ea typeface="Montserrat" pitchFamily="34" charset="-122"/>
                <a:cs typeface="Montserrat" pitchFamily="34" charset="-120"/>
              </a:rPr>
              <a:t>Information Security Analyst Intern</a:t>
            </a:r>
            <a:endParaRPr lang="en-US" sz="1250" dirty="0"/>
          </a:p>
        </p:txBody>
      </p:sp>
      <p:sp>
        <p:nvSpPr>
          <p:cNvPr id="11" name="Shape 7"/>
          <p:cNvSpPr/>
          <p:nvPr/>
        </p:nvSpPr>
        <p:spPr>
          <a:xfrm>
            <a:off x="5120640" y="2084832"/>
            <a:ext cx="6293815" cy="10973"/>
          </a:xfrm>
          <a:prstGeom prst="rect">
            <a:avLst/>
          </a:prstGeom>
          <a:solidFill>
            <a:srgbClr val="E6E4E2"/>
          </a:solidFill>
          <a:ln/>
        </p:spPr>
        <p:txBody>
          <a:bodyPr/>
          <a:lstStyle/>
          <a:p>
            <a:endParaRPr lang="en-US"/>
          </a:p>
        </p:txBody>
      </p:sp>
      <p:sp>
        <p:nvSpPr>
          <p:cNvPr id="12" name="Text 8"/>
          <p:cNvSpPr txBox="1"/>
          <p:nvPr/>
        </p:nvSpPr>
        <p:spPr>
          <a:xfrm>
            <a:off x="5120640" y="2240280"/>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SCHOOL</a:t>
            </a:r>
            <a:endParaRPr lang="en-US" sz="850" dirty="0"/>
          </a:p>
        </p:txBody>
      </p:sp>
      <p:sp>
        <p:nvSpPr>
          <p:cNvPr id="13" name="Text 9"/>
          <p:cNvSpPr txBox="1"/>
          <p:nvPr/>
        </p:nvSpPr>
        <p:spPr>
          <a:xfrm>
            <a:off x="5120640" y="2487168"/>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ea typeface="Montserrat" pitchFamily="34" charset="-122"/>
                <a:cs typeface="Montserrat" pitchFamily="34" charset="-120"/>
              </a:rPr>
              <a:t>Graduated from Houston Christian University with a B.Sc. in Information Systems </a:t>
            </a:r>
            <a:endParaRPr lang="en-US" sz="1250" dirty="0"/>
          </a:p>
        </p:txBody>
      </p:sp>
      <p:sp>
        <p:nvSpPr>
          <p:cNvPr id="14" name="Shape 10"/>
          <p:cNvSpPr/>
          <p:nvPr/>
        </p:nvSpPr>
        <p:spPr>
          <a:xfrm>
            <a:off x="5120640" y="3026664"/>
            <a:ext cx="6293815" cy="10973"/>
          </a:xfrm>
          <a:prstGeom prst="rect">
            <a:avLst/>
          </a:prstGeom>
          <a:solidFill>
            <a:srgbClr val="E6E4E2"/>
          </a:solidFill>
          <a:ln/>
        </p:spPr>
        <p:txBody>
          <a:bodyPr/>
          <a:lstStyle/>
          <a:p>
            <a:endParaRPr lang="en-US"/>
          </a:p>
        </p:txBody>
      </p:sp>
      <p:sp>
        <p:nvSpPr>
          <p:cNvPr id="15" name="Text 11"/>
          <p:cNvSpPr txBox="1"/>
          <p:nvPr/>
        </p:nvSpPr>
        <p:spPr>
          <a:xfrm>
            <a:off x="5120640" y="3182112"/>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BACKGROUND</a:t>
            </a:r>
            <a:endParaRPr lang="en-US" sz="850" dirty="0"/>
          </a:p>
        </p:txBody>
      </p:sp>
      <p:sp>
        <p:nvSpPr>
          <p:cNvPr id="16" name="Text 12"/>
          <p:cNvSpPr txBox="1"/>
          <p:nvPr/>
        </p:nvSpPr>
        <p:spPr>
          <a:xfrm>
            <a:off x="5120640" y="3429000"/>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ea typeface="Montserrat" pitchFamily="34" charset="-122"/>
                <a:cs typeface="Montserrat" pitchFamily="34" charset="-120"/>
              </a:rPr>
              <a:t>3+ years of IT Support experiences across Higher Ed and Healthcare, with past Threat Intelligence Internship</a:t>
            </a:r>
            <a:endParaRPr lang="en-US" sz="1250" dirty="0"/>
          </a:p>
        </p:txBody>
      </p:sp>
      <p:sp>
        <p:nvSpPr>
          <p:cNvPr id="17" name="Shape 13"/>
          <p:cNvSpPr/>
          <p:nvPr/>
        </p:nvSpPr>
        <p:spPr>
          <a:xfrm>
            <a:off x="5120640" y="3968496"/>
            <a:ext cx="6293815" cy="10973"/>
          </a:xfrm>
          <a:prstGeom prst="rect">
            <a:avLst/>
          </a:prstGeom>
          <a:solidFill>
            <a:srgbClr val="E6E4E2"/>
          </a:solidFill>
          <a:ln/>
        </p:spPr>
        <p:txBody>
          <a:bodyPr/>
          <a:lstStyle/>
          <a:p>
            <a:endParaRPr lang="en-US"/>
          </a:p>
        </p:txBody>
      </p:sp>
      <p:sp>
        <p:nvSpPr>
          <p:cNvPr id="18" name="Text 14"/>
          <p:cNvSpPr txBox="1"/>
          <p:nvPr/>
        </p:nvSpPr>
        <p:spPr>
          <a:xfrm>
            <a:off x="5120640" y="4123944"/>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CERTIFICATIONS</a:t>
            </a:r>
            <a:endParaRPr lang="en-US" sz="850" dirty="0"/>
          </a:p>
        </p:txBody>
      </p:sp>
      <p:sp>
        <p:nvSpPr>
          <p:cNvPr id="19" name="Text 15"/>
          <p:cNvSpPr txBox="1"/>
          <p:nvPr/>
        </p:nvSpPr>
        <p:spPr>
          <a:xfrm>
            <a:off x="5120640" y="4370832"/>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rPr>
              <a:t>CompTIA Security+ and ISC2 Certified in Cybersecurity </a:t>
            </a:r>
            <a:endParaRPr lang="en-US" sz="1250" dirty="0"/>
          </a:p>
        </p:txBody>
      </p:sp>
      <p:sp>
        <p:nvSpPr>
          <p:cNvPr id="20" name="Shape 16"/>
          <p:cNvSpPr/>
          <p:nvPr/>
        </p:nvSpPr>
        <p:spPr>
          <a:xfrm>
            <a:off x="5120640" y="4910328"/>
            <a:ext cx="6293815" cy="10973"/>
          </a:xfrm>
          <a:prstGeom prst="rect">
            <a:avLst/>
          </a:prstGeom>
          <a:solidFill>
            <a:srgbClr val="E6E4E2"/>
          </a:solidFill>
          <a:ln/>
        </p:spPr>
        <p:txBody>
          <a:bodyPr/>
          <a:lstStyle/>
          <a:p>
            <a:endParaRPr lang="en-US"/>
          </a:p>
        </p:txBody>
      </p:sp>
      <p:sp>
        <p:nvSpPr>
          <p:cNvPr id="21" name="Text 17"/>
          <p:cNvSpPr txBox="1"/>
          <p:nvPr/>
        </p:nvSpPr>
        <p:spPr>
          <a:xfrm>
            <a:off x="5120640" y="5065776"/>
            <a:ext cx="629381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CAREER DIRECTION</a:t>
            </a:r>
            <a:endParaRPr lang="en-US" sz="850" dirty="0"/>
          </a:p>
        </p:txBody>
      </p:sp>
      <p:sp>
        <p:nvSpPr>
          <p:cNvPr id="22" name="Text 18"/>
          <p:cNvSpPr txBox="1"/>
          <p:nvPr/>
        </p:nvSpPr>
        <p:spPr>
          <a:xfrm>
            <a:off x="5120640" y="5312664"/>
            <a:ext cx="6293815" cy="475488"/>
          </a:xfrm>
          <a:prstGeom prst="rect">
            <a:avLst/>
          </a:prstGeom>
          <a:noFill/>
          <a:ln/>
        </p:spPr>
        <p:txBody>
          <a:bodyPr wrap="square" lIns="0" tIns="0" rIns="0" bIns="0" rtlCol="0" anchor="t"/>
          <a:lstStyle/>
          <a:p>
            <a:pPr marL="0" indent="0">
              <a:lnSpc>
                <a:spcPct val="120000"/>
              </a:lnSpc>
              <a:buNone/>
            </a:pPr>
            <a:r>
              <a:rPr lang="en-US" sz="1250" dirty="0">
                <a:solidFill>
                  <a:srgbClr val="43464A"/>
                </a:solidFill>
                <a:latin typeface="Montserrat" pitchFamily="34" charset="0"/>
              </a:rPr>
              <a:t>Leaning towards the Vulnerability management side of cybersecurity with a focus on tool automation</a:t>
            </a:r>
            <a:endParaRPr lang="en-US" sz="1250" dirty="0"/>
          </a:p>
        </p:txBody>
      </p:sp>
      <p:pic>
        <p:nvPicPr>
          <p:cNvPr id="23" name="Image 2" descr="/home/user/ai/assets/gen/logo-red.png"/>
          <p:cNvPicPr>
            <a:picLocks noChangeAspect="1"/>
          </p:cNvPicPr>
          <p:nvPr/>
        </p:nvPicPr>
        <p:blipFill>
          <a:blip r:embed="rId5"/>
          <a:stretch>
            <a:fillRect/>
          </a:stretch>
        </p:blipFill>
        <p:spPr>
          <a:xfrm>
            <a:off x="9768535" y="457200"/>
            <a:ext cx="1645920" cy="166053"/>
          </a:xfrm>
          <a:prstGeom prst="rect">
            <a:avLst/>
          </a:prstGeom>
        </p:spPr>
      </p:pic>
      <p:sp>
        <p:nvSpPr>
          <p:cNvPr id="24" name="Shape 19"/>
          <p:cNvSpPr/>
          <p:nvPr/>
        </p:nvSpPr>
        <p:spPr>
          <a:xfrm>
            <a:off x="5120640" y="6181344"/>
            <a:ext cx="6293815" cy="10973"/>
          </a:xfrm>
          <a:prstGeom prst="rect">
            <a:avLst/>
          </a:prstGeom>
          <a:solidFill>
            <a:srgbClr val="E6E4E2"/>
          </a:solidFill>
          <a:ln/>
        </p:spPr>
        <p:txBody>
          <a:bodyPr/>
          <a:lstStyle/>
          <a:p>
            <a:endParaRPr lang="en-US"/>
          </a:p>
        </p:txBody>
      </p:sp>
      <p:sp>
        <p:nvSpPr>
          <p:cNvPr id="25" name="Text 20"/>
          <p:cNvSpPr txBox="1"/>
          <p:nvPr/>
        </p:nvSpPr>
        <p:spPr>
          <a:xfrm>
            <a:off x="51206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ABOUT ME</a:t>
            </a:r>
            <a:endParaRPr lang="en-US" sz="850" dirty="0"/>
          </a:p>
        </p:txBody>
      </p:sp>
      <p:sp>
        <p:nvSpPr>
          <p:cNvPr id="26" name="Text 21"/>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INTERNSHIP OVERVIEW</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Three rotations across the security team</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INTERNSHIP OVERVIEW</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05</a:t>
            </a:r>
            <a:endParaRPr lang="en-US" sz="850" dirty="0"/>
          </a:p>
        </p:txBody>
      </p:sp>
      <p:sp>
        <p:nvSpPr>
          <p:cNvPr id="9" name="Text 6"/>
          <p:cNvSpPr txBox="1"/>
          <p:nvPr/>
        </p:nvSpPr>
        <p:spPr>
          <a:xfrm>
            <a:off x="777240" y="1883664"/>
            <a:ext cx="9052560" cy="310896"/>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I moved through three different areas of Information Security. Each rotation produced one project.</a:t>
            </a:r>
            <a:endParaRPr lang="en-US" sz="1400" dirty="0"/>
          </a:p>
        </p:txBody>
      </p:sp>
      <p:sp>
        <p:nvSpPr>
          <p:cNvPr id="10" name="Shape 7"/>
          <p:cNvSpPr/>
          <p:nvPr/>
        </p:nvSpPr>
        <p:spPr>
          <a:xfrm>
            <a:off x="777240" y="2852928"/>
            <a:ext cx="10637215" cy="10973"/>
          </a:xfrm>
          <a:prstGeom prst="rect">
            <a:avLst/>
          </a:prstGeom>
          <a:solidFill>
            <a:srgbClr val="C9C6C4"/>
          </a:solidFill>
          <a:ln/>
        </p:spPr>
        <p:txBody>
          <a:bodyPr/>
          <a:lstStyle/>
          <a:p>
            <a:endParaRPr lang="en-US"/>
          </a:p>
        </p:txBody>
      </p:sp>
      <p:sp>
        <p:nvSpPr>
          <p:cNvPr id="11" name="Shape 8"/>
          <p:cNvSpPr/>
          <p:nvPr/>
        </p:nvSpPr>
        <p:spPr>
          <a:xfrm>
            <a:off x="1033272" y="2756916"/>
            <a:ext cx="201168" cy="201168"/>
          </a:xfrm>
          <a:prstGeom prst="ellipse">
            <a:avLst/>
          </a:prstGeom>
          <a:solidFill>
            <a:srgbClr val="942838"/>
          </a:solidFill>
          <a:ln w="25400">
            <a:solidFill>
              <a:srgbClr val="FFFFFF"/>
            </a:solidFill>
            <a:prstDash val="solid"/>
          </a:ln>
        </p:spPr>
        <p:txBody>
          <a:bodyPr/>
          <a:lstStyle/>
          <a:p>
            <a:endParaRPr lang="en-US"/>
          </a:p>
        </p:txBody>
      </p:sp>
      <p:sp>
        <p:nvSpPr>
          <p:cNvPr id="12" name="Shape 9"/>
          <p:cNvSpPr/>
          <p:nvPr/>
        </p:nvSpPr>
        <p:spPr>
          <a:xfrm>
            <a:off x="777240" y="3310128"/>
            <a:ext cx="3310128" cy="2286000"/>
          </a:xfrm>
          <a:prstGeom prst="roundRect">
            <a:avLst>
              <a:gd name="adj" fmla="val 2400"/>
            </a:avLst>
          </a:prstGeom>
          <a:solidFill>
            <a:srgbClr val="FFFFFF"/>
          </a:solidFill>
          <a:ln w="9525">
            <a:solidFill>
              <a:srgbClr val="E6E4E2"/>
            </a:solidFill>
            <a:prstDash val="solid"/>
          </a:ln>
          <a:effectLst>
            <a:outerShdw blurRad="177800" dist="44450" dir="5400000" algn="bl" rotWithShape="0">
              <a:srgbClr val="959092">
                <a:alpha val="22000"/>
              </a:srgbClr>
            </a:outerShdw>
          </a:effectLst>
        </p:spPr>
        <p:txBody>
          <a:bodyPr/>
          <a:lstStyle/>
          <a:p>
            <a:endParaRPr lang="en-US"/>
          </a:p>
        </p:txBody>
      </p:sp>
      <p:sp>
        <p:nvSpPr>
          <p:cNvPr id="13" name="Shape 10"/>
          <p:cNvSpPr/>
          <p:nvPr/>
        </p:nvSpPr>
        <p:spPr>
          <a:xfrm>
            <a:off x="777240" y="3310128"/>
            <a:ext cx="3310128" cy="50292"/>
          </a:xfrm>
          <a:prstGeom prst="rect">
            <a:avLst/>
          </a:prstGeom>
          <a:solidFill>
            <a:srgbClr val="942838"/>
          </a:solidFill>
          <a:ln/>
        </p:spPr>
        <p:txBody>
          <a:bodyPr/>
          <a:lstStyle/>
          <a:p>
            <a:endParaRPr lang="en-US"/>
          </a:p>
        </p:txBody>
      </p:sp>
      <p:sp>
        <p:nvSpPr>
          <p:cNvPr id="14" name="Text 11"/>
          <p:cNvSpPr txBox="1"/>
          <p:nvPr/>
        </p:nvSpPr>
        <p:spPr>
          <a:xfrm>
            <a:off x="1088136" y="3566160"/>
            <a:ext cx="914400" cy="384048"/>
          </a:xfrm>
          <a:prstGeom prst="rect">
            <a:avLst/>
          </a:prstGeom>
          <a:noFill/>
          <a:ln/>
        </p:spPr>
        <p:txBody>
          <a:bodyPr wrap="square" lIns="0" tIns="0" rIns="0" bIns="0" rtlCol="0" anchor="t"/>
          <a:lstStyle/>
          <a:p>
            <a:pPr marL="0" indent="0">
              <a:buNone/>
            </a:pPr>
            <a:r>
              <a:rPr lang="en-US" sz="2400" kern="0" spc="-50" dirty="0">
                <a:solidFill>
                  <a:srgbClr val="DFBEC4"/>
                </a:solidFill>
                <a:latin typeface="Montserrat ExtraBold" pitchFamily="34" charset="0"/>
                <a:ea typeface="Montserrat ExtraBold" pitchFamily="34" charset="-122"/>
                <a:cs typeface="Montserrat ExtraBold" pitchFamily="34" charset="-120"/>
              </a:rPr>
              <a:t>01</a:t>
            </a:r>
            <a:endParaRPr lang="en-US" sz="2400" dirty="0"/>
          </a:p>
        </p:txBody>
      </p:sp>
      <p:sp>
        <p:nvSpPr>
          <p:cNvPr id="15" name="Text 12"/>
          <p:cNvSpPr txBox="1"/>
          <p:nvPr/>
        </p:nvSpPr>
        <p:spPr>
          <a:xfrm>
            <a:off x="1088136" y="4041648"/>
            <a:ext cx="2688336" cy="329184"/>
          </a:xfrm>
          <a:prstGeom prst="rect">
            <a:avLst/>
          </a:prstGeom>
          <a:noFill/>
          <a:ln/>
        </p:spPr>
        <p:txBody>
          <a:bodyPr wrap="square" lIns="0" tIns="0" rIns="0" bIns="0" rtlCol="0" anchor="t"/>
          <a:lstStyle/>
          <a:p>
            <a:pPr marL="0" indent="0">
              <a:lnSpc>
                <a:spcPct val="105000"/>
              </a:lnSpc>
              <a:buNone/>
            </a:pPr>
            <a:r>
              <a:rPr lang="en-US" sz="1500" dirty="0">
                <a:solidFill>
                  <a:srgbClr val="2B2D30"/>
                </a:solidFill>
                <a:latin typeface="Montserrat SemiBold" pitchFamily="34" charset="0"/>
                <a:ea typeface="Montserrat SemiBold" pitchFamily="34" charset="-122"/>
                <a:cs typeface="Montserrat SemiBold" pitchFamily="34" charset="-120"/>
              </a:rPr>
              <a:t>Vulnerability Management</a:t>
            </a:r>
            <a:endParaRPr lang="en-US" sz="1500" dirty="0"/>
          </a:p>
        </p:txBody>
      </p:sp>
      <p:sp>
        <p:nvSpPr>
          <p:cNvPr id="16" name="Text 13"/>
          <p:cNvSpPr txBox="1"/>
          <p:nvPr/>
        </p:nvSpPr>
        <p:spPr>
          <a:xfrm>
            <a:off x="1088136" y="4462272"/>
            <a:ext cx="2688336" cy="777240"/>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Finding known weaknesses across company machines and making sure they get fixed.</a:t>
            </a:r>
            <a:endParaRPr lang="en-US" sz="1100" dirty="0"/>
          </a:p>
        </p:txBody>
      </p:sp>
      <p:sp>
        <p:nvSpPr>
          <p:cNvPr id="17" name="Shape 14"/>
          <p:cNvSpPr/>
          <p:nvPr/>
        </p:nvSpPr>
        <p:spPr>
          <a:xfrm>
            <a:off x="4696816" y="2756916"/>
            <a:ext cx="201168" cy="201168"/>
          </a:xfrm>
          <a:prstGeom prst="ellipse">
            <a:avLst/>
          </a:prstGeom>
          <a:solidFill>
            <a:srgbClr val="942838"/>
          </a:solidFill>
          <a:ln w="25400">
            <a:solidFill>
              <a:srgbClr val="FFFFFF"/>
            </a:solidFill>
            <a:prstDash val="solid"/>
          </a:ln>
        </p:spPr>
        <p:txBody>
          <a:bodyPr/>
          <a:lstStyle/>
          <a:p>
            <a:endParaRPr lang="en-US"/>
          </a:p>
        </p:txBody>
      </p:sp>
      <p:sp>
        <p:nvSpPr>
          <p:cNvPr id="18" name="Shape 15"/>
          <p:cNvSpPr/>
          <p:nvPr/>
        </p:nvSpPr>
        <p:spPr>
          <a:xfrm>
            <a:off x="4440784" y="3310128"/>
            <a:ext cx="3310128" cy="2286000"/>
          </a:xfrm>
          <a:prstGeom prst="roundRect">
            <a:avLst>
              <a:gd name="adj" fmla="val 2400"/>
            </a:avLst>
          </a:prstGeom>
          <a:solidFill>
            <a:srgbClr val="FFFFFF"/>
          </a:solidFill>
          <a:ln w="9525">
            <a:solidFill>
              <a:srgbClr val="E6E4E2"/>
            </a:solidFill>
            <a:prstDash val="solid"/>
          </a:ln>
          <a:effectLst>
            <a:outerShdw dist="564515000" algn="bl" rotWithShape="0">
              <a:srgbClr val="959092">
                <a:alpha val="0"/>
              </a:srgbClr>
            </a:outerShdw>
          </a:effectLst>
        </p:spPr>
        <p:txBody>
          <a:bodyPr/>
          <a:lstStyle/>
          <a:p>
            <a:endParaRPr lang="en-US"/>
          </a:p>
        </p:txBody>
      </p:sp>
      <p:sp>
        <p:nvSpPr>
          <p:cNvPr id="19" name="Shape 16"/>
          <p:cNvSpPr/>
          <p:nvPr/>
        </p:nvSpPr>
        <p:spPr>
          <a:xfrm>
            <a:off x="4440784" y="3310128"/>
            <a:ext cx="3310128" cy="50292"/>
          </a:xfrm>
          <a:prstGeom prst="rect">
            <a:avLst/>
          </a:prstGeom>
          <a:solidFill>
            <a:srgbClr val="942838"/>
          </a:solidFill>
          <a:ln/>
        </p:spPr>
        <p:txBody>
          <a:bodyPr/>
          <a:lstStyle/>
          <a:p>
            <a:endParaRPr lang="en-US"/>
          </a:p>
        </p:txBody>
      </p:sp>
      <p:sp>
        <p:nvSpPr>
          <p:cNvPr id="20" name="Text 17"/>
          <p:cNvSpPr txBox="1"/>
          <p:nvPr/>
        </p:nvSpPr>
        <p:spPr>
          <a:xfrm>
            <a:off x="4751680" y="3566160"/>
            <a:ext cx="914400" cy="384048"/>
          </a:xfrm>
          <a:prstGeom prst="rect">
            <a:avLst/>
          </a:prstGeom>
          <a:noFill/>
          <a:ln/>
        </p:spPr>
        <p:txBody>
          <a:bodyPr wrap="square" lIns="0" tIns="0" rIns="0" bIns="0" rtlCol="0" anchor="t"/>
          <a:lstStyle/>
          <a:p>
            <a:pPr marL="0" indent="0">
              <a:buNone/>
            </a:pPr>
            <a:r>
              <a:rPr lang="en-US" sz="2400" kern="0" spc="-50" dirty="0">
                <a:solidFill>
                  <a:srgbClr val="DFBEC4"/>
                </a:solidFill>
                <a:latin typeface="Montserrat ExtraBold" pitchFamily="34" charset="0"/>
                <a:ea typeface="Montserrat ExtraBold" pitchFamily="34" charset="-122"/>
                <a:cs typeface="Montserrat ExtraBold" pitchFamily="34" charset="-120"/>
              </a:rPr>
              <a:t>02</a:t>
            </a:r>
            <a:endParaRPr lang="en-US" sz="2400" dirty="0"/>
          </a:p>
        </p:txBody>
      </p:sp>
      <p:sp>
        <p:nvSpPr>
          <p:cNvPr id="21" name="Text 18"/>
          <p:cNvSpPr txBox="1"/>
          <p:nvPr/>
        </p:nvSpPr>
        <p:spPr>
          <a:xfrm>
            <a:off x="4751680" y="4041648"/>
            <a:ext cx="2688336" cy="329184"/>
          </a:xfrm>
          <a:prstGeom prst="rect">
            <a:avLst/>
          </a:prstGeom>
          <a:noFill/>
          <a:ln/>
        </p:spPr>
        <p:txBody>
          <a:bodyPr wrap="square" lIns="0" tIns="0" rIns="0" bIns="0" rtlCol="0" anchor="t"/>
          <a:lstStyle/>
          <a:p>
            <a:pPr marL="0" indent="0">
              <a:lnSpc>
                <a:spcPct val="105000"/>
              </a:lnSpc>
              <a:buNone/>
            </a:pPr>
            <a:r>
              <a:rPr lang="en-US" sz="1500" dirty="0">
                <a:solidFill>
                  <a:srgbClr val="2B2D30"/>
                </a:solidFill>
                <a:latin typeface="Montserrat SemiBold" pitchFamily="34" charset="0"/>
                <a:ea typeface="Montserrat SemiBold" pitchFamily="34" charset="-122"/>
                <a:cs typeface="Montserrat SemiBold" pitchFamily="34" charset="-120"/>
              </a:rPr>
              <a:t>Application Security</a:t>
            </a:r>
            <a:endParaRPr lang="en-US" sz="1500" dirty="0"/>
          </a:p>
        </p:txBody>
      </p:sp>
      <p:sp>
        <p:nvSpPr>
          <p:cNvPr id="22" name="Text 19"/>
          <p:cNvSpPr txBox="1"/>
          <p:nvPr/>
        </p:nvSpPr>
        <p:spPr>
          <a:xfrm>
            <a:off x="4751680" y="4462272"/>
            <a:ext cx="2688336" cy="777240"/>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Checking the software, we build and the outside code we rely on for weaknesses.</a:t>
            </a:r>
            <a:endParaRPr lang="en-US" sz="1100" dirty="0"/>
          </a:p>
        </p:txBody>
      </p:sp>
      <p:sp>
        <p:nvSpPr>
          <p:cNvPr id="23" name="Shape 20"/>
          <p:cNvSpPr/>
          <p:nvPr/>
        </p:nvSpPr>
        <p:spPr>
          <a:xfrm>
            <a:off x="8360359" y="2756916"/>
            <a:ext cx="201168" cy="201168"/>
          </a:xfrm>
          <a:prstGeom prst="ellipse">
            <a:avLst/>
          </a:prstGeom>
          <a:solidFill>
            <a:srgbClr val="942838"/>
          </a:solidFill>
          <a:ln w="25400">
            <a:solidFill>
              <a:srgbClr val="FFFFFF"/>
            </a:solidFill>
            <a:prstDash val="solid"/>
          </a:ln>
        </p:spPr>
        <p:txBody>
          <a:bodyPr/>
          <a:lstStyle/>
          <a:p>
            <a:endParaRPr lang="en-US"/>
          </a:p>
        </p:txBody>
      </p:sp>
      <p:sp>
        <p:nvSpPr>
          <p:cNvPr id="24" name="Shape 21"/>
          <p:cNvSpPr/>
          <p:nvPr/>
        </p:nvSpPr>
        <p:spPr>
          <a:xfrm>
            <a:off x="8104327" y="3310128"/>
            <a:ext cx="3310128" cy="2286000"/>
          </a:xfrm>
          <a:prstGeom prst="roundRect">
            <a:avLst>
              <a:gd name="adj" fmla="val 2400"/>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5" name="Shape 22"/>
          <p:cNvSpPr/>
          <p:nvPr/>
        </p:nvSpPr>
        <p:spPr>
          <a:xfrm>
            <a:off x="8104327" y="3310128"/>
            <a:ext cx="3310128" cy="50292"/>
          </a:xfrm>
          <a:prstGeom prst="rect">
            <a:avLst/>
          </a:prstGeom>
          <a:solidFill>
            <a:srgbClr val="942838"/>
          </a:solidFill>
          <a:ln/>
        </p:spPr>
        <p:txBody>
          <a:bodyPr/>
          <a:lstStyle/>
          <a:p>
            <a:endParaRPr lang="en-US"/>
          </a:p>
        </p:txBody>
      </p:sp>
      <p:sp>
        <p:nvSpPr>
          <p:cNvPr id="26" name="Text 23"/>
          <p:cNvSpPr txBox="1"/>
          <p:nvPr/>
        </p:nvSpPr>
        <p:spPr>
          <a:xfrm>
            <a:off x="8415223" y="3566160"/>
            <a:ext cx="914400" cy="384048"/>
          </a:xfrm>
          <a:prstGeom prst="rect">
            <a:avLst/>
          </a:prstGeom>
          <a:noFill/>
          <a:ln/>
        </p:spPr>
        <p:txBody>
          <a:bodyPr wrap="square" lIns="0" tIns="0" rIns="0" bIns="0" rtlCol="0" anchor="t"/>
          <a:lstStyle/>
          <a:p>
            <a:pPr marL="0" indent="0">
              <a:buNone/>
            </a:pPr>
            <a:r>
              <a:rPr lang="en-US" sz="2400" kern="0" spc="-50" dirty="0">
                <a:solidFill>
                  <a:srgbClr val="DFBEC4"/>
                </a:solidFill>
                <a:latin typeface="Montserrat ExtraBold" pitchFamily="34" charset="0"/>
                <a:ea typeface="Montserrat ExtraBold" pitchFamily="34" charset="-122"/>
                <a:cs typeface="Montserrat ExtraBold" pitchFamily="34" charset="-120"/>
              </a:rPr>
              <a:t>03</a:t>
            </a:r>
            <a:endParaRPr lang="en-US" sz="2400" dirty="0"/>
          </a:p>
        </p:txBody>
      </p:sp>
      <p:sp>
        <p:nvSpPr>
          <p:cNvPr id="27" name="Text 24"/>
          <p:cNvSpPr txBox="1"/>
          <p:nvPr/>
        </p:nvSpPr>
        <p:spPr>
          <a:xfrm>
            <a:off x="8415223" y="4041648"/>
            <a:ext cx="2688336" cy="329184"/>
          </a:xfrm>
          <a:prstGeom prst="rect">
            <a:avLst/>
          </a:prstGeom>
          <a:noFill/>
          <a:ln/>
        </p:spPr>
        <p:txBody>
          <a:bodyPr wrap="square" lIns="0" tIns="0" rIns="0" bIns="0" rtlCol="0" anchor="t"/>
          <a:lstStyle/>
          <a:p>
            <a:pPr marL="0" indent="0">
              <a:lnSpc>
                <a:spcPct val="105000"/>
              </a:lnSpc>
              <a:buNone/>
            </a:pPr>
            <a:r>
              <a:rPr lang="en-US" sz="1500" dirty="0">
                <a:solidFill>
                  <a:srgbClr val="2B2D30"/>
                </a:solidFill>
                <a:latin typeface="Montserrat SemiBold" pitchFamily="34" charset="0"/>
                <a:ea typeface="Montserrat SemiBold" pitchFamily="34" charset="-122"/>
                <a:cs typeface="Montserrat SemiBold" pitchFamily="34" charset="-120"/>
              </a:rPr>
              <a:t>Network Security</a:t>
            </a:r>
            <a:endParaRPr lang="en-US" sz="1500" dirty="0"/>
          </a:p>
        </p:txBody>
      </p:sp>
      <p:sp>
        <p:nvSpPr>
          <p:cNvPr id="28" name="Text 25"/>
          <p:cNvSpPr txBox="1"/>
          <p:nvPr/>
        </p:nvSpPr>
        <p:spPr>
          <a:xfrm>
            <a:off x="8415223" y="4462272"/>
            <a:ext cx="2688336" cy="777240"/>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Protecting how machines talk to each other, and what is allowed in and out.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8229600" y="365760"/>
            <a:ext cx="5120640" cy="5120640"/>
          </a:xfrm>
          <a:prstGeom prst="rect">
            <a:avLst/>
          </a:prstGeom>
        </p:spPr>
      </p:pic>
      <p:sp>
        <p:nvSpPr>
          <p:cNvPr id="4" name="Text 0"/>
          <p:cNvSpPr txBox="1"/>
          <p:nvPr/>
        </p:nvSpPr>
        <p:spPr>
          <a:xfrm>
            <a:off x="6766560" y="566928"/>
            <a:ext cx="4754880" cy="4206240"/>
          </a:xfrm>
          <a:prstGeom prst="rect">
            <a:avLst/>
          </a:prstGeom>
          <a:noFill/>
          <a:ln/>
        </p:spPr>
        <p:txBody>
          <a:bodyPr wrap="square" lIns="0" tIns="0" rIns="0" bIns="0" rtlCol="0" anchor="t"/>
          <a:lstStyle/>
          <a:p>
            <a:pPr marL="0" indent="0" algn="r">
              <a:buNone/>
            </a:pPr>
            <a:r>
              <a:rPr lang="en-US" sz="21000" kern="0" spc="-800" dirty="0">
                <a:solidFill>
                  <a:srgbClr val="B9737E">
                    <a:alpha val="38000"/>
                  </a:srgbClr>
                </a:solidFill>
                <a:latin typeface="Montserrat ExtraBold" pitchFamily="34" charset="0"/>
                <a:ea typeface="Montserrat ExtraBold" pitchFamily="34" charset="-122"/>
                <a:cs typeface="Montserrat ExtraBold" pitchFamily="34" charset="-120"/>
              </a:rPr>
              <a:t>01</a:t>
            </a:r>
            <a:endParaRPr lang="en-US" sz="21000" dirty="0"/>
          </a:p>
        </p:txBody>
      </p:sp>
      <p:sp>
        <p:nvSpPr>
          <p:cNvPr id="5" name="Text 1"/>
          <p:cNvSpPr txBox="1"/>
          <p:nvPr/>
        </p:nvSpPr>
        <p:spPr>
          <a:xfrm>
            <a:off x="777240" y="2395728"/>
            <a:ext cx="6400800" cy="256032"/>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PROJECT 01</a:t>
            </a:r>
            <a:endParaRPr lang="en-US" sz="1000" dirty="0"/>
          </a:p>
        </p:txBody>
      </p:sp>
      <p:sp>
        <p:nvSpPr>
          <p:cNvPr id="6" name="Text 2"/>
          <p:cNvSpPr txBox="1"/>
          <p:nvPr/>
        </p:nvSpPr>
        <p:spPr>
          <a:xfrm>
            <a:off x="777240" y="2743200"/>
            <a:ext cx="6766560" cy="1280160"/>
          </a:xfrm>
          <a:prstGeom prst="rect">
            <a:avLst/>
          </a:prstGeom>
          <a:noFill/>
          <a:ln/>
        </p:spPr>
        <p:txBody>
          <a:bodyPr wrap="square" lIns="0" tIns="0" rIns="0" bIns="0" rtlCol="0" anchor="t"/>
          <a:lstStyle/>
          <a:p>
            <a:pPr marL="0" indent="0">
              <a:lnSpc>
                <a:spcPct val="98000"/>
              </a:lnSpc>
              <a:buNone/>
            </a:pPr>
            <a:r>
              <a:rPr lang="en-US" sz="4100" kern="0" spc="-90" dirty="0">
                <a:solidFill>
                  <a:srgbClr val="FFFFFF"/>
                </a:solidFill>
                <a:latin typeface="Montserrat ExtraBold" pitchFamily="34" charset="0"/>
                <a:ea typeface="Montserrat ExtraBold" pitchFamily="34" charset="-122"/>
                <a:cs typeface="Montserrat ExtraBold" pitchFamily="34" charset="-120"/>
              </a:rPr>
              <a:t>Image Management Program</a:t>
            </a:r>
            <a:endParaRPr lang="en-US" sz="4100" dirty="0"/>
          </a:p>
        </p:txBody>
      </p:sp>
      <p:sp>
        <p:nvSpPr>
          <p:cNvPr id="7" name="Shape 3"/>
          <p:cNvSpPr/>
          <p:nvPr/>
        </p:nvSpPr>
        <p:spPr>
          <a:xfrm>
            <a:off x="777240" y="4114800"/>
            <a:ext cx="640080" cy="50292"/>
          </a:xfrm>
          <a:prstGeom prst="rect">
            <a:avLst/>
          </a:prstGeom>
          <a:solidFill>
            <a:srgbClr val="FFFFFF"/>
          </a:solidFill>
          <a:ln/>
        </p:spPr>
        <p:txBody>
          <a:bodyPr/>
          <a:lstStyle/>
          <a:p>
            <a:endParaRPr lang="en-US"/>
          </a:p>
        </p:txBody>
      </p:sp>
      <p:sp>
        <p:nvSpPr>
          <p:cNvPr id="8" name="Text 4"/>
          <p:cNvSpPr txBox="1"/>
          <p:nvPr/>
        </p:nvSpPr>
        <p:spPr>
          <a:xfrm>
            <a:off x="777240" y="4389120"/>
            <a:ext cx="6696986" cy="731520"/>
          </a:xfrm>
          <a:prstGeom prst="rect">
            <a:avLst/>
          </a:prstGeom>
          <a:noFill/>
          <a:ln/>
        </p:spPr>
        <p:txBody>
          <a:bodyPr wrap="square" lIns="0" tIns="0" rIns="0" bIns="0" rtlCol="0" anchor="t"/>
          <a:lstStyle/>
          <a:p>
            <a:pPr marL="0" indent="0">
              <a:lnSpc>
                <a:spcPct val="125000"/>
              </a:lnSpc>
              <a:buNone/>
            </a:pPr>
            <a:r>
              <a:rPr lang="en-US" sz="1400" dirty="0">
                <a:solidFill>
                  <a:srgbClr val="DAB4BA"/>
                </a:solidFill>
                <a:latin typeface="Montserrat Medium" pitchFamily="34" charset="0"/>
                <a:ea typeface="Montserrat Medium" pitchFamily="34" charset="-122"/>
                <a:cs typeface="Montserrat Medium" pitchFamily="34" charset="-120"/>
              </a:rPr>
              <a:t>Making sure every new machine ships with the security tools it needs.</a:t>
            </a:r>
            <a:endParaRPr lang="en-US" sz="1400" dirty="0"/>
          </a:p>
        </p:txBody>
      </p:sp>
      <p:pic>
        <p:nvPicPr>
          <p:cNvPr id="9" name="Image 2" descr="/home/user/ai/assets/gen/logo-white.png"/>
          <p:cNvPicPr>
            <a:picLocks noChangeAspect="1"/>
          </p:cNvPicPr>
          <p:nvPr/>
        </p:nvPicPr>
        <p:blipFill>
          <a:blip r:embed="rId5"/>
          <a:stretch>
            <a:fillRect/>
          </a:stretch>
        </p:blipFill>
        <p:spPr>
          <a:xfrm>
            <a:off x="9768535" y="457200"/>
            <a:ext cx="1645920" cy="166053"/>
          </a:xfrm>
          <a:prstGeom prst="rect">
            <a:avLst/>
          </a:prstGeom>
        </p:spPr>
      </p:pic>
      <p:sp>
        <p:nvSpPr>
          <p:cNvPr id="10" name="Text 5"/>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E4C9CE"/>
                </a:solidFill>
                <a:latin typeface="Montserrat SemiBold" pitchFamily="34" charset="0"/>
                <a:ea typeface="Montserrat SemiBold" pitchFamily="34" charset="-122"/>
                <a:cs typeface="Montserrat SemiBold" pitchFamily="34" charset="-120"/>
              </a:rPr>
              <a:t>PROJECT 01</a:t>
            </a:r>
            <a:endParaRPr lang="en-US" sz="850" dirty="0"/>
          </a:p>
        </p:txBody>
      </p:sp>
      <p:sp>
        <p:nvSpPr>
          <p:cNvPr id="11" name="Text 6"/>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E4C9CE"/>
                </a:solidFill>
                <a:latin typeface="Montserrat SemiBold" pitchFamily="34" charset="0"/>
                <a:ea typeface="Montserrat SemiBold" pitchFamily="34" charset="-122"/>
                <a:cs typeface="Montserrat SemiBold" pitchFamily="34" charset="-120"/>
              </a:rPr>
              <a:t>06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01  ·  THE PROBLEM</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Nine required tools. No process to install them.</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IMAGE MANAGEMENT PROGRAM</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07</a:t>
            </a:r>
            <a:endParaRPr lang="en-US" sz="850" dirty="0"/>
          </a:p>
        </p:txBody>
      </p:sp>
      <p:sp>
        <p:nvSpPr>
          <p:cNvPr id="9" name="Text 6"/>
          <p:cNvSpPr txBox="1"/>
          <p:nvPr/>
        </p:nvSpPr>
        <p:spPr>
          <a:xfrm>
            <a:off x="777240" y="2029968"/>
            <a:ext cx="10241280" cy="329184"/>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A </a:t>
            </a:r>
            <a:r>
              <a:rPr lang="en-US" sz="1400" dirty="0">
                <a:solidFill>
                  <a:srgbClr val="2B2D30"/>
                </a:solidFill>
                <a:latin typeface="Montserrat SemiBold" pitchFamily="34" charset="0"/>
                <a:ea typeface="Montserrat SemiBold" pitchFamily="34" charset="-122"/>
                <a:cs typeface="Montserrat SemiBold" pitchFamily="34" charset="-120"/>
              </a:rPr>
              <a:t>Golden Image</a:t>
            </a:r>
            <a:r>
              <a:rPr lang="en-US" sz="1400" dirty="0">
                <a:solidFill>
                  <a:srgbClr val="6E7175"/>
                </a:solidFill>
                <a:latin typeface="Montserrat Medium" pitchFamily="34" charset="0"/>
                <a:ea typeface="Montserrat Medium" pitchFamily="34" charset="-122"/>
                <a:cs typeface="Montserrat Medium" pitchFamily="34" charset="-120"/>
              </a:rPr>
              <a:t> is the standard template every new virtual machine is built from — set it up once, and every machine created afterwards inherits it.</a:t>
            </a:r>
            <a:endParaRPr lang="en-US" sz="1400" dirty="0"/>
          </a:p>
        </p:txBody>
      </p:sp>
      <p:pic>
        <p:nvPicPr>
          <p:cNvPr id="10" name="Image 1" descr="/home/user/ai/assets/gen/iso-machine.png"/>
          <p:cNvPicPr>
            <a:picLocks noChangeAspect="1"/>
          </p:cNvPicPr>
          <p:nvPr/>
        </p:nvPicPr>
        <p:blipFill>
          <a:blip r:embed="rId4"/>
          <a:stretch>
            <a:fillRect/>
          </a:stretch>
        </p:blipFill>
        <p:spPr>
          <a:xfrm>
            <a:off x="640080" y="2505456"/>
            <a:ext cx="3108960" cy="3017520"/>
          </a:xfrm>
          <a:prstGeom prst="rect">
            <a:avLst/>
          </a:prstGeom>
        </p:spPr>
      </p:pic>
      <p:sp>
        <p:nvSpPr>
          <p:cNvPr id="11" name="Text 7"/>
          <p:cNvSpPr txBox="1"/>
          <p:nvPr/>
        </p:nvSpPr>
        <p:spPr>
          <a:xfrm>
            <a:off x="594360" y="5577840"/>
            <a:ext cx="3200400" cy="457200"/>
          </a:xfrm>
          <a:prstGeom prst="rect">
            <a:avLst/>
          </a:prstGeom>
          <a:noFill/>
          <a:ln/>
        </p:spPr>
        <p:txBody>
          <a:bodyPr wrap="square" lIns="0" tIns="0" rIns="0" bIns="0" rtlCol="0" anchor="t"/>
          <a:lstStyle/>
          <a:p>
            <a:pPr marL="0" indent="0" algn="ctr">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Each layer is security tooling the image should carry before it is ever deployed.</a:t>
            </a:r>
            <a:endParaRPr lang="en-US" sz="950" dirty="0"/>
          </a:p>
        </p:txBody>
      </p:sp>
      <p:sp>
        <p:nvSpPr>
          <p:cNvPr id="12" name="Text 8"/>
          <p:cNvSpPr txBox="1"/>
          <p:nvPr/>
        </p:nvSpPr>
        <p:spPr>
          <a:xfrm>
            <a:off x="4224528" y="2578608"/>
            <a:ext cx="7223760"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THE NINE REQUIRED TOOLS</a:t>
            </a:r>
            <a:endParaRPr lang="en-US" sz="850" dirty="0"/>
          </a:p>
        </p:txBody>
      </p:sp>
      <p:sp>
        <p:nvSpPr>
          <p:cNvPr id="13" name="Shape 9"/>
          <p:cNvSpPr/>
          <p:nvPr/>
        </p:nvSpPr>
        <p:spPr>
          <a:xfrm>
            <a:off x="4224528" y="2926080"/>
            <a:ext cx="2212848" cy="530352"/>
          </a:xfrm>
          <a:prstGeom prst="roundRect">
            <a:avLst>
              <a:gd name="adj" fmla="val 8621"/>
            </a:avLst>
          </a:prstGeom>
          <a:solidFill>
            <a:srgbClr val="F5F4F3"/>
          </a:solidFill>
          <a:ln w="9525">
            <a:solidFill>
              <a:srgbClr val="E6E4E2"/>
            </a:solidFill>
            <a:prstDash val="solid"/>
          </a:ln>
          <a:effectLst>
            <a:outerShdw blurRad="114300" dist="25400" dir="5400000" algn="bl" rotWithShape="0">
              <a:srgbClr val="959092">
                <a:alpha val="16000"/>
              </a:srgbClr>
            </a:outerShdw>
          </a:effectLst>
        </p:spPr>
        <p:txBody>
          <a:bodyPr/>
          <a:lstStyle/>
          <a:p>
            <a:endParaRPr lang="en-US"/>
          </a:p>
        </p:txBody>
      </p:sp>
      <p:sp>
        <p:nvSpPr>
          <p:cNvPr id="14" name="Shape 10"/>
          <p:cNvSpPr/>
          <p:nvPr/>
        </p:nvSpPr>
        <p:spPr>
          <a:xfrm>
            <a:off x="4224528" y="2926080"/>
            <a:ext cx="45720" cy="530352"/>
          </a:xfrm>
          <a:prstGeom prst="rect">
            <a:avLst/>
          </a:prstGeom>
          <a:solidFill>
            <a:srgbClr val="942838"/>
          </a:solidFill>
          <a:ln/>
        </p:spPr>
        <p:txBody>
          <a:bodyPr/>
          <a:lstStyle/>
          <a:p>
            <a:endParaRPr lang="en-US"/>
          </a:p>
        </p:txBody>
      </p:sp>
      <p:sp>
        <p:nvSpPr>
          <p:cNvPr id="15" name="Text 11"/>
          <p:cNvSpPr txBox="1"/>
          <p:nvPr/>
        </p:nvSpPr>
        <p:spPr>
          <a:xfrm>
            <a:off x="4398264" y="29992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Tenable Nessus Agent</a:t>
            </a:r>
            <a:endParaRPr lang="en-US" sz="1050" dirty="0"/>
          </a:p>
        </p:txBody>
      </p:sp>
      <p:sp>
        <p:nvSpPr>
          <p:cNvPr id="16" name="Shape 12"/>
          <p:cNvSpPr/>
          <p:nvPr/>
        </p:nvSpPr>
        <p:spPr>
          <a:xfrm>
            <a:off x="6620256" y="2926080"/>
            <a:ext cx="2212848" cy="530352"/>
          </a:xfrm>
          <a:prstGeom prst="roundRect">
            <a:avLst>
              <a:gd name="adj" fmla="val 8621"/>
            </a:avLst>
          </a:prstGeom>
          <a:solidFill>
            <a:srgbClr val="F5F4F3"/>
          </a:solidFill>
          <a:ln w="9525">
            <a:solidFill>
              <a:srgbClr val="E6E4E2"/>
            </a:solidFill>
            <a:prstDash val="solid"/>
          </a:ln>
          <a:effectLst>
            <a:outerShdw blurRad="1451610000" dist="322580000" algn="bl" rotWithShape="0">
              <a:srgbClr val="959092">
                <a:alpha val="0"/>
              </a:srgbClr>
            </a:outerShdw>
          </a:effectLst>
        </p:spPr>
        <p:txBody>
          <a:bodyPr/>
          <a:lstStyle/>
          <a:p>
            <a:endParaRPr lang="en-US"/>
          </a:p>
        </p:txBody>
      </p:sp>
      <p:sp>
        <p:nvSpPr>
          <p:cNvPr id="17" name="Shape 13"/>
          <p:cNvSpPr/>
          <p:nvPr/>
        </p:nvSpPr>
        <p:spPr>
          <a:xfrm>
            <a:off x="6620256" y="2926080"/>
            <a:ext cx="45720" cy="530352"/>
          </a:xfrm>
          <a:prstGeom prst="rect">
            <a:avLst/>
          </a:prstGeom>
          <a:solidFill>
            <a:srgbClr val="942838"/>
          </a:solidFill>
          <a:ln/>
        </p:spPr>
        <p:txBody>
          <a:bodyPr/>
          <a:lstStyle/>
          <a:p>
            <a:endParaRPr lang="en-US"/>
          </a:p>
        </p:txBody>
      </p:sp>
      <p:sp>
        <p:nvSpPr>
          <p:cNvPr id="18" name="Text 14"/>
          <p:cNvSpPr txBox="1"/>
          <p:nvPr/>
        </p:nvSpPr>
        <p:spPr>
          <a:xfrm>
            <a:off x="6793992" y="29992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CrowdStrike Falcon Sensor</a:t>
            </a:r>
            <a:endParaRPr lang="en-US" sz="1050" dirty="0"/>
          </a:p>
        </p:txBody>
      </p:sp>
      <p:sp>
        <p:nvSpPr>
          <p:cNvPr id="19" name="Shape 15"/>
          <p:cNvSpPr/>
          <p:nvPr/>
        </p:nvSpPr>
        <p:spPr>
          <a:xfrm>
            <a:off x="9015984" y="29260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0" name="Shape 16"/>
          <p:cNvSpPr/>
          <p:nvPr/>
        </p:nvSpPr>
        <p:spPr>
          <a:xfrm>
            <a:off x="9015984" y="2926080"/>
            <a:ext cx="45720" cy="530352"/>
          </a:xfrm>
          <a:prstGeom prst="rect">
            <a:avLst/>
          </a:prstGeom>
          <a:solidFill>
            <a:srgbClr val="942838"/>
          </a:solidFill>
          <a:ln/>
        </p:spPr>
        <p:txBody>
          <a:bodyPr/>
          <a:lstStyle/>
          <a:p>
            <a:endParaRPr lang="en-US"/>
          </a:p>
        </p:txBody>
      </p:sp>
      <p:sp>
        <p:nvSpPr>
          <p:cNvPr id="21" name="Text 17"/>
          <p:cNvSpPr txBox="1"/>
          <p:nvPr/>
        </p:nvSpPr>
        <p:spPr>
          <a:xfrm>
            <a:off x="9189720" y="29992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Netskope</a:t>
            </a:r>
            <a:endParaRPr lang="en-US" sz="1050" dirty="0"/>
          </a:p>
        </p:txBody>
      </p:sp>
      <p:sp>
        <p:nvSpPr>
          <p:cNvPr id="22" name="Shape 18"/>
          <p:cNvSpPr/>
          <p:nvPr/>
        </p:nvSpPr>
        <p:spPr>
          <a:xfrm>
            <a:off x="4224528" y="36118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3" name="Shape 19"/>
          <p:cNvSpPr/>
          <p:nvPr/>
        </p:nvSpPr>
        <p:spPr>
          <a:xfrm>
            <a:off x="4224528" y="3611880"/>
            <a:ext cx="45720" cy="530352"/>
          </a:xfrm>
          <a:prstGeom prst="rect">
            <a:avLst/>
          </a:prstGeom>
          <a:solidFill>
            <a:srgbClr val="942838"/>
          </a:solidFill>
          <a:ln/>
        </p:spPr>
        <p:txBody>
          <a:bodyPr/>
          <a:lstStyle/>
          <a:p>
            <a:endParaRPr lang="en-US"/>
          </a:p>
        </p:txBody>
      </p:sp>
      <p:sp>
        <p:nvSpPr>
          <p:cNvPr id="24" name="Text 20"/>
          <p:cNvSpPr txBox="1"/>
          <p:nvPr/>
        </p:nvSpPr>
        <p:spPr>
          <a:xfrm>
            <a:off x="4398264" y="36850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Cribl</a:t>
            </a:r>
            <a:endParaRPr lang="en-US" sz="1050" dirty="0"/>
          </a:p>
        </p:txBody>
      </p:sp>
      <p:sp>
        <p:nvSpPr>
          <p:cNvPr id="25" name="Shape 21"/>
          <p:cNvSpPr/>
          <p:nvPr/>
        </p:nvSpPr>
        <p:spPr>
          <a:xfrm>
            <a:off x="6620256" y="36118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6" name="Shape 22"/>
          <p:cNvSpPr/>
          <p:nvPr/>
        </p:nvSpPr>
        <p:spPr>
          <a:xfrm>
            <a:off x="6620256" y="3611880"/>
            <a:ext cx="45720" cy="530352"/>
          </a:xfrm>
          <a:prstGeom prst="rect">
            <a:avLst/>
          </a:prstGeom>
          <a:solidFill>
            <a:srgbClr val="942838"/>
          </a:solidFill>
          <a:ln/>
        </p:spPr>
        <p:txBody>
          <a:bodyPr/>
          <a:lstStyle/>
          <a:p>
            <a:endParaRPr lang="en-US"/>
          </a:p>
        </p:txBody>
      </p:sp>
      <p:sp>
        <p:nvSpPr>
          <p:cNvPr id="27" name="Text 23"/>
          <p:cNvSpPr txBox="1"/>
          <p:nvPr/>
        </p:nvSpPr>
        <p:spPr>
          <a:xfrm>
            <a:off x="6793992" y="36850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Splunk</a:t>
            </a:r>
            <a:endParaRPr lang="en-US" sz="1050" dirty="0"/>
          </a:p>
        </p:txBody>
      </p:sp>
      <p:sp>
        <p:nvSpPr>
          <p:cNvPr id="28" name="Shape 24"/>
          <p:cNvSpPr/>
          <p:nvPr/>
        </p:nvSpPr>
        <p:spPr>
          <a:xfrm>
            <a:off x="9015984" y="36118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9" name="Shape 25"/>
          <p:cNvSpPr/>
          <p:nvPr/>
        </p:nvSpPr>
        <p:spPr>
          <a:xfrm>
            <a:off x="9015984" y="3611880"/>
            <a:ext cx="45720" cy="530352"/>
          </a:xfrm>
          <a:prstGeom prst="rect">
            <a:avLst/>
          </a:prstGeom>
          <a:solidFill>
            <a:srgbClr val="942838"/>
          </a:solidFill>
          <a:ln/>
        </p:spPr>
        <p:txBody>
          <a:bodyPr/>
          <a:lstStyle/>
          <a:p>
            <a:endParaRPr lang="en-US"/>
          </a:p>
        </p:txBody>
      </p:sp>
      <p:sp>
        <p:nvSpPr>
          <p:cNvPr id="30" name="Text 26"/>
          <p:cNvSpPr txBox="1"/>
          <p:nvPr/>
        </p:nvSpPr>
        <p:spPr>
          <a:xfrm>
            <a:off x="9189720" y="36850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ThreatLocker</a:t>
            </a:r>
            <a:endParaRPr lang="en-US" sz="1050" dirty="0"/>
          </a:p>
        </p:txBody>
      </p:sp>
      <p:sp>
        <p:nvSpPr>
          <p:cNvPr id="31" name="Shape 27"/>
          <p:cNvSpPr/>
          <p:nvPr/>
        </p:nvSpPr>
        <p:spPr>
          <a:xfrm>
            <a:off x="4224528" y="42976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32" name="Shape 28"/>
          <p:cNvSpPr/>
          <p:nvPr/>
        </p:nvSpPr>
        <p:spPr>
          <a:xfrm>
            <a:off x="4224528" y="4297680"/>
            <a:ext cx="45720" cy="530352"/>
          </a:xfrm>
          <a:prstGeom prst="rect">
            <a:avLst/>
          </a:prstGeom>
          <a:solidFill>
            <a:srgbClr val="942838"/>
          </a:solidFill>
          <a:ln/>
        </p:spPr>
        <p:txBody>
          <a:bodyPr/>
          <a:lstStyle/>
          <a:p>
            <a:endParaRPr lang="en-US"/>
          </a:p>
        </p:txBody>
      </p:sp>
      <p:sp>
        <p:nvSpPr>
          <p:cNvPr id="33" name="Text 29"/>
          <p:cNvSpPr txBox="1"/>
          <p:nvPr/>
        </p:nvSpPr>
        <p:spPr>
          <a:xfrm>
            <a:off x="4398264" y="43708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Proofpoint DLP Agent</a:t>
            </a:r>
            <a:endParaRPr lang="en-US" sz="1050" dirty="0"/>
          </a:p>
        </p:txBody>
      </p:sp>
      <p:sp>
        <p:nvSpPr>
          <p:cNvPr id="34" name="Shape 30"/>
          <p:cNvSpPr/>
          <p:nvPr/>
        </p:nvSpPr>
        <p:spPr>
          <a:xfrm>
            <a:off x="6620256" y="42976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35" name="Shape 31"/>
          <p:cNvSpPr/>
          <p:nvPr/>
        </p:nvSpPr>
        <p:spPr>
          <a:xfrm>
            <a:off x="6620256" y="4297680"/>
            <a:ext cx="45720" cy="530352"/>
          </a:xfrm>
          <a:prstGeom prst="rect">
            <a:avLst/>
          </a:prstGeom>
          <a:solidFill>
            <a:srgbClr val="942838"/>
          </a:solidFill>
          <a:ln/>
        </p:spPr>
        <p:txBody>
          <a:bodyPr/>
          <a:lstStyle/>
          <a:p>
            <a:endParaRPr lang="en-US"/>
          </a:p>
        </p:txBody>
      </p:sp>
      <p:sp>
        <p:nvSpPr>
          <p:cNvPr id="36" name="Text 32"/>
          <p:cNvSpPr txBox="1"/>
          <p:nvPr/>
        </p:nvSpPr>
        <p:spPr>
          <a:xfrm>
            <a:off x="6793992" y="43708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SCCM Agent</a:t>
            </a:r>
            <a:endParaRPr lang="en-US" sz="1050" dirty="0"/>
          </a:p>
        </p:txBody>
      </p:sp>
      <p:sp>
        <p:nvSpPr>
          <p:cNvPr id="37" name="Shape 33"/>
          <p:cNvSpPr/>
          <p:nvPr/>
        </p:nvSpPr>
        <p:spPr>
          <a:xfrm>
            <a:off x="9015984" y="4297680"/>
            <a:ext cx="2212848" cy="530352"/>
          </a:xfrm>
          <a:prstGeom prst="roundRect">
            <a:avLst>
              <a:gd name="adj" fmla="val 8621"/>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38" name="Shape 34"/>
          <p:cNvSpPr/>
          <p:nvPr/>
        </p:nvSpPr>
        <p:spPr>
          <a:xfrm>
            <a:off x="9015984" y="4297680"/>
            <a:ext cx="45720" cy="530352"/>
          </a:xfrm>
          <a:prstGeom prst="rect">
            <a:avLst/>
          </a:prstGeom>
          <a:solidFill>
            <a:srgbClr val="942838"/>
          </a:solidFill>
          <a:ln/>
        </p:spPr>
        <p:txBody>
          <a:bodyPr/>
          <a:lstStyle/>
          <a:p>
            <a:endParaRPr lang="en-US"/>
          </a:p>
        </p:txBody>
      </p:sp>
      <p:sp>
        <p:nvSpPr>
          <p:cNvPr id="39" name="Text 35"/>
          <p:cNvSpPr txBox="1"/>
          <p:nvPr/>
        </p:nvSpPr>
        <p:spPr>
          <a:xfrm>
            <a:off x="9189720" y="4370832"/>
            <a:ext cx="1920240" cy="384048"/>
          </a:xfrm>
          <a:prstGeom prst="rect">
            <a:avLst/>
          </a:prstGeom>
          <a:noFill/>
          <a:ln/>
        </p:spPr>
        <p:txBody>
          <a:bodyPr wrap="square" lIns="0" tIns="0" rIns="0" bIns="0" rtlCol="0" anchor="ctr"/>
          <a:lstStyle/>
          <a:p>
            <a:pPr marL="0" indent="0">
              <a:lnSpc>
                <a:spcPct val="105000"/>
              </a:lnSpc>
              <a:buNone/>
            </a:pPr>
            <a:r>
              <a:rPr lang="en-US" sz="1050" dirty="0">
                <a:solidFill>
                  <a:srgbClr val="2B2D30"/>
                </a:solidFill>
                <a:latin typeface="Montserrat SemiBold" pitchFamily="34" charset="0"/>
                <a:ea typeface="Montserrat SemiBold" pitchFamily="34" charset="-122"/>
                <a:cs typeface="Montserrat SemiBold" pitchFamily="34" charset="-120"/>
              </a:rPr>
              <a:t>ControlUp Agent</a:t>
            </a:r>
            <a:endParaRPr lang="en-US" sz="1050" dirty="0"/>
          </a:p>
        </p:txBody>
      </p:sp>
      <p:sp>
        <p:nvSpPr>
          <p:cNvPr id="40" name="Text 36"/>
          <p:cNvSpPr txBox="1"/>
          <p:nvPr/>
        </p:nvSpPr>
        <p:spPr>
          <a:xfrm>
            <a:off x="4224528" y="4864608"/>
            <a:ext cx="7187184" cy="384048"/>
          </a:xfrm>
          <a:prstGeom prst="rect">
            <a:avLst/>
          </a:prstGeom>
          <a:noFill/>
          <a:ln/>
        </p:spPr>
        <p:txBody>
          <a:bodyPr wrap="square" lIns="0" tIns="0" rIns="0" bIns="0" rtlCol="0" anchor="t"/>
          <a:lstStyle/>
          <a:p>
            <a:pPr marL="0" indent="0">
              <a:lnSpc>
                <a:spcPct val="120000"/>
              </a:lnSpc>
              <a:buNone/>
            </a:pPr>
            <a:r>
              <a:rPr lang="en-US" sz="1100" dirty="0">
                <a:solidFill>
                  <a:srgbClr val="6E7175"/>
                </a:solidFill>
                <a:latin typeface="Montserrat" pitchFamily="34" charset="0"/>
                <a:ea typeface="Montserrat" pitchFamily="34" charset="-122"/>
                <a:cs typeface="Montserrat" pitchFamily="34" charset="-120"/>
              </a:rPr>
              <a:t>No single tool catches everything. Together they cover threat detection, web filtering, logging, vulnerability scanning, data-loss prevention, patch delivery and session visibility.</a:t>
            </a:r>
            <a:endParaRPr lang="en-US" sz="1100" dirty="0"/>
          </a:p>
        </p:txBody>
      </p:sp>
      <p:sp>
        <p:nvSpPr>
          <p:cNvPr id="41" name="Shape 37"/>
          <p:cNvSpPr/>
          <p:nvPr/>
        </p:nvSpPr>
        <p:spPr>
          <a:xfrm>
            <a:off x="4224528" y="5303520"/>
            <a:ext cx="7187184" cy="841248"/>
          </a:xfrm>
          <a:prstGeom prst="roundRect">
            <a:avLst>
              <a:gd name="adj" fmla="val 5435"/>
            </a:avLst>
          </a:prstGeom>
          <a:solidFill>
            <a:srgbClr val="F6EEF0"/>
          </a:solidFill>
          <a:ln/>
        </p:spPr>
        <p:txBody>
          <a:bodyPr/>
          <a:lstStyle/>
          <a:p>
            <a:endParaRPr lang="en-US"/>
          </a:p>
        </p:txBody>
      </p:sp>
      <p:sp>
        <p:nvSpPr>
          <p:cNvPr id="42" name="Shape 38"/>
          <p:cNvSpPr/>
          <p:nvPr/>
        </p:nvSpPr>
        <p:spPr>
          <a:xfrm>
            <a:off x="4224528" y="5303520"/>
            <a:ext cx="50292" cy="841248"/>
          </a:xfrm>
          <a:prstGeom prst="rect">
            <a:avLst/>
          </a:prstGeom>
          <a:solidFill>
            <a:srgbClr val="942838"/>
          </a:solidFill>
          <a:ln/>
        </p:spPr>
        <p:txBody>
          <a:bodyPr/>
          <a:lstStyle/>
          <a:p>
            <a:endParaRPr lang="en-US"/>
          </a:p>
        </p:txBody>
      </p:sp>
      <p:sp>
        <p:nvSpPr>
          <p:cNvPr id="43" name="Text 39"/>
          <p:cNvSpPr txBox="1"/>
          <p:nvPr/>
        </p:nvSpPr>
        <p:spPr>
          <a:xfrm>
            <a:off x="4443984" y="5431536"/>
            <a:ext cx="676656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THE ACTUAL GAP</a:t>
            </a:r>
            <a:endParaRPr lang="en-US" sz="850" dirty="0"/>
          </a:p>
        </p:txBody>
      </p:sp>
      <p:sp>
        <p:nvSpPr>
          <p:cNvPr id="44" name="Text 40"/>
          <p:cNvSpPr txBox="1"/>
          <p:nvPr/>
        </p:nvSpPr>
        <p:spPr>
          <a:xfrm>
            <a:off x="4443984" y="5669280"/>
            <a:ext cx="6766560" cy="402336"/>
          </a:xfrm>
          <a:prstGeom prst="rect">
            <a:avLst/>
          </a:prstGeom>
          <a:noFill/>
          <a:ln/>
        </p:spPr>
        <p:txBody>
          <a:bodyPr wrap="square" lIns="0" tIns="0" rIns="0" bIns="0" rtlCol="0" anchor="t"/>
          <a:lstStyle/>
          <a:p>
            <a:pPr marL="0" indent="0">
              <a:lnSpc>
                <a:spcPct val="118000"/>
              </a:lnSpc>
              <a:buNone/>
            </a:pPr>
            <a:r>
              <a:rPr lang="en-US" sz="1100" dirty="0">
                <a:solidFill>
                  <a:srgbClr val="43464A"/>
                </a:solidFill>
                <a:latin typeface="Montserrat" pitchFamily="34" charset="0"/>
                <a:ea typeface="Montserrat" pitchFamily="34" charset="-122"/>
                <a:cs typeface="Montserrat" pitchFamily="34" charset="-120"/>
              </a:rPr>
              <a:t>No dedicated process exists yet for installing these tools onto cloud images before deployment. My job was to define it.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01  ·  WHAT I BUILT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Building the process from scratch</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IMAGE MANAGEMENT PROGRAM</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08</a:t>
            </a:r>
            <a:endParaRPr lang="en-US" sz="850" dirty="0"/>
          </a:p>
        </p:txBody>
      </p:sp>
      <p:sp>
        <p:nvSpPr>
          <p:cNvPr id="9" name="Text 6"/>
          <p:cNvSpPr txBox="1"/>
          <p:nvPr/>
        </p:nvSpPr>
        <p:spPr>
          <a:xfrm>
            <a:off x="777240" y="1956816"/>
            <a:ext cx="9692640" cy="329184"/>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My role was to coordinate and bridge teams — define what is required, name who owns it, and get it signed off. I did not build or provision the machines myself.</a:t>
            </a:r>
            <a:endParaRPr lang="en-US" sz="1400" dirty="0"/>
          </a:p>
        </p:txBody>
      </p:sp>
      <p:sp>
        <p:nvSpPr>
          <p:cNvPr id="10" name="Shape 7"/>
          <p:cNvSpPr/>
          <p:nvPr/>
        </p:nvSpPr>
        <p:spPr>
          <a:xfrm>
            <a:off x="777240" y="2615184"/>
            <a:ext cx="3310128" cy="2212848"/>
          </a:xfrm>
          <a:prstGeom prst="roundRect">
            <a:avLst>
              <a:gd name="adj" fmla="val 2479"/>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1" name="Shape 8"/>
          <p:cNvSpPr/>
          <p:nvPr/>
        </p:nvSpPr>
        <p:spPr>
          <a:xfrm>
            <a:off x="1088136" y="2926080"/>
            <a:ext cx="658368" cy="658368"/>
          </a:xfrm>
          <a:prstGeom prst="roundRect">
            <a:avLst>
              <a:gd name="adj" fmla="val 8333"/>
            </a:avLst>
          </a:prstGeom>
          <a:solidFill>
            <a:srgbClr val="F6EEF0"/>
          </a:solidFill>
          <a:ln/>
        </p:spPr>
        <p:txBody>
          <a:bodyPr/>
          <a:lstStyle/>
          <a:p>
            <a:endParaRPr lang="en-US"/>
          </a:p>
        </p:txBody>
      </p:sp>
      <p:sp>
        <p:nvSpPr>
          <p:cNvPr id="12" name="Text 9"/>
          <p:cNvSpPr txBox="1"/>
          <p:nvPr/>
        </p:nvSpPr>
        <p:spPr>
          <a:xfrm>
            <a:off x="1088136" y="2926080"/>
            <a:ext cx="658368" cy="658368"/>
          </a:xfrm>
          <a:prstGeom prst="rect">
            <a:avLst/>
          </a:prstGeom>
          <a:noFill/>
          <a:ln/>
        </p:spPr>
        <p:txBody>
          <a:bodyPr wrap="square" lIns="0" tIns="0" rIns="0" bIns="0" rtlCol="0" anchor="ctr"/>
          <a:lstStyle/>
          <a:p>
            <a:pPr marL="0" indent="0" algn="ctr">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01</a:t>
            </a:r>
            <a:endParaRPr lang="en-US" sz="2100" dirty="0"/>
          </a:p>
        </p:txBody>
      </p:sp>
      <p:sp>
        <p:nvSpPr>
          <p:cNvPr id="13" name="Text 10"/>
          <p:cNvSpPr txBox="1"/>
          <p:nvPr/>
        </p:nvSpPr>
        <p:spPr>
          <a:xfrm>
            <a:off x="1088136" y="3749040"/>
            <a:ext cx="2688336" cy="329184"/>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Define the Tools</a:t>
            </a:r>
            <a:endParaRPr lang="en-US" sz="1550" dirty="0"/>
          </a:p>
        </p:txBody>
      </p:sp>
      <p:sp>
        <p:nvSpPr>
          <p:cNvPr id="14" name="Text 11"/>
          <p:cNvSpPr txBox="1"/>
          <p:nvPr/>
        </p:nvSpPr>
        <p:spPr>
          <a:xfrm>
            <a:off x="1088136" y="4151376"/>
            <a:ext cx="2688336" cy="658368"/>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Agree on exactly which security tools belong on every image — nine of them.</a:t>
            </a:r>
            <a:endParaRPr lang="en-US" sz="1100" dirty="0"/>
          </a:p>
        </p:txBody>
      </p:sp>
      <p:sp>
        <p:nvSpPr>
          <p:cNvPr id="15" name="Text 12"/>
          <p:cNvSpPr txBox="1"/>
          <p:nvPr/>
        </p:nvSpPr>
        <p:spPr>
          <a:xfrm>
            <a:off x="4062908" y="3438144"/>
            <a:ext cx="402336" cy="548640"/>
          </a:xfrm>
          <a:prstGeom prst="rect">
            <a:avLst/>
          </a:prstGeom>
          <a:noFill/>
          <a:ln/>
        </p:spPr>
        <p:txBody>
          <a:bodyPr wrap="square" lIns="0" tIns="0" rIns="0" bIns="0" rtlCol="0" anchor="ctr"/>
          <a:lstStyle/>
          <a:p>
            <a:pPr marL="0" indent="0" algn="ctr">
              <a:buNone/>
            </a:pPr>
            <a:r>
              <a:rPr lang="en-US" sz="3000" b="1" dirty="0">
                <a:solidFill>
                  <a:srgbClr val="C9C6C4"/>
                </a:solidFill>
                <a:latin typeface="Montserrat" pitchFamily="34" charset="0"/>
                <a:ea typeface="Montserrat" pitchFamily="34" charset="-122"/>
                <a:cs typeface="Montserrat" pitchFamily="34" charset="-120"/>
              </a:rPr>
              <a:t>›</a:t>
            </a:r>
            <a:endParaRPr lang="en-US" sz="3000" dirty="0"/>
          </a:p>
        </p:txBody>
      </p:sp>
      <p:sp>
        <p:nvSpPr>
          <p:cNvPr id="16" name="Shape 13"/>
          <p:cNvSpPr/>
          <p:nvPr/>
        </p:nvSpPr>
        <p:spPr>
          <a:xfrm>
            <a:off x="4440784" y="2615184"/>
            <a:ext cx="3310128" cy="2212848"/>
          </a:xfrm>
          <a:prstGeom prst="roundRect">
            <a:avLst>
              <a:gd name="adj" fmla="val 2479"/>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7" name="Shape 14"/>
          <p:cNvSpPr/>
          <p:nvPr/>
        </p:nvSpPr>
        <p:spPr>
          <a:xfrm>
            <a:off x="4751680" y="2926080"/>
            <a:ext cx="658368" cy="658368"/>
          </a:xfrm>
          <a:prstGeom prst="roundRect">
            <a:avLst>
              <a:gd name="adj" fmla="val 8333"/>
            </a:avLst>
          </a:prstGeom>
          <a:solidFill>
            <a:srgbClr val="F6EEF0"/>
          </a:solidFill>
          <a:ln/>
        </p:spPr>
        <p:txBody>
          <a:bodyPr/>
          <a:lstStyle/>
          <a:p>
            <a:endParaRPr lang="en-US"/>
          </a:p>
        </p:txBody>
      </p:sp>
      <p:sp>
        <p:nvSpPr>
          <p:cNvPr id="18" name="Text 15"/>
          <p:cNvSpPr txBox="1"/>
          <p:nvPr/>
        </p:nvSpPr>
        <p:spPr>
          <a:xfrm>
            <a:off x="4751680" y="2926080"/>
            <a:ext cx="658368" cy="658368"/>
          </a:xfrm>
          <a:prstGeom prst="rect">
            <a:avLst/>
          </a:prstGeom>
          <a:noFill/>
          <a:ln/>
        </p:spPr>
        <p:txBody>
          <a:bodyPr wrap="square" lIns="0" tIns="0" rIns="0" bIns="0" rtlCol="0" anchor="ctr"/>
          <a:lstStyle/>
          <a:p>
            <a:pPr marL="0" indent="0" algn="ctr">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02</a:t>
            </a:r>
            <a:endParaRPr lang="en-US" sz="2100" dirty="0"/>
          </a:p>
        </p:txBody>
      </p:sp>
      <p:sp>
        <p:nvSpPr>
          <p:cNvPr id="19" name="Text 16"/>
          <p:cNvSpPr txBox="1"/>
          <p:nvPr/>
        </p:nvSpPr>
        <p:spPr>
          <a:xfrm>
            <a:off x="4751680" y="3749040"/>
            <a:ext cx="2688336" cy="329184"/>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Define the Owners</a:t>
            </a:r>
            <a:endParaRPr lang="en-US" sz="1550" dirty="0"/>
          </a:p>
        </p:txBody>
      </p:sp>
      <p:sp>
        <p:nvSpPr>
          <p:cNvPr id="20" name="Text 17"/>
          <p:cNvSpPr txBox="1"/>
          <p:nvPr/>
        </p:nvSpPr>
        <p:spPr>
          <a:xfrm>
            <a:off x="4751680" y="4151376"/>
            <a:ext cx="2688336" cy="658368"/>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Name the team responsible for installing and maintaining each one.</a:t>
            </a:r>
            <a:endParaRPr lang="en-US" sz="1100" dirty="0"/>
          </a:p>
        </p:txBody>
      </p:sp>
      <p:sp>
        <p:nvSpPr>
          <p:cNvPr id="21" name="Text 18"/>
          <p:cNvSpPr txBox="1"/>
          <p:nvPr/>
        </p:nvSpPr>
        <p:spPr>
          <a:xfrm>
            <a:off x="7726451" y="3438144"/>
            <a:ext cx="402336" cy="548640"/>
          </a:xfrm>
          <a:prstGeom prst="rect">
            <a:avLst/>
          </a:prstGeom>
          <a:noFill/>
          <a:ln/>
        </p:spPr>
        <p:txBody>
          <a:bodyPr wrap="square" lIns="0" tIns="0" rIns="0" bIns="0" rtlCol="0" anchor="ctr"/>
          <a:lstStyle/>
          <a:p>
            <a:pPr marL="0" indent="0" algn="ctr">
              <a:buNone/>
            </a:pPr>
            <a:r>
              <a:rPr lang="en-US" sz="3000" b="1" dirty="0">
                <a:solidFill>
                  <a:srgbClr val="C9C6C4"/>
                </a:solidFill>
                <a:latin typeface="Montserrat" pitchFamily="34" charset="0"/>
                <a:ea typeface="Montserrat" pitchFamily="34" charset="-122"/>
                <a:cs typeface="Montserrat" pitchFamily="34" charset="-120"/>
              </a:rPr>
              <a:t>›</a:t>
            </a:r>
            <a:endParaRPr lang="en-US" sz="3000" dirty="0"/>
          </a:p>
        </p:txBody>
      </p:sp>
      <p:sp>
        <p:nvSpPr>
          <p:cNvPr id="22" name="Shape 19"/>
          <p:cNvSpPr/>
          <p:nvPr/>
        </p:nvSpPr>
        <p:spPr>
          <a:xfrm>
            <a:off x="8104327" y="2615184"/>
            <a:ext cx="3310128" cy="2212848"/>
          </a:xfrm>
          <a:prstGeom prst="roundRect">
            <a:avLst>
              <a:gd name="adj" fmla="val 2479"/>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3" name="Shape 20"/>
          <p:cNvSpPr/>
          <p:nvPr/>
        </p:nvSpPr>
        <p:spPr>
          <a:xfrm>
            <a:off x="8415223" y="2926080"/>
            <a:ext cx="658368" cy="658368"/>
          </a:xfrm>
          <a:prstGeom prst="roundRect">
            <a:avLst>
              <a:gd name="adj" fmla="val 8333"/>
            </a:avLst>
          </a:prstGeom>
          <a:solidFill>
            <a:srgbClr val="F6EEF0"/>
          </a:solidFill>
          <a:ln/>
        </p:spPr>
        <p:txBody>
          <a:bodyPr/>
          <a:lstStyle/>
          <a:p>
            <a:endParaRPr lang="en-US"/>
          </a:p>
        </p:txBody>
      </p:sp>
      <p:sp>
        <p:nvSpPr>
          <p:cNvPr id="24" name="Text 21"/>
          <p:cNvSpPr txBox="1"/>
          <p:nvPr/>
        </p:nvSpPr>
        <p:spPr>
          <a:xfrm>
            <a:off x="8415223" y="2926080"/>
            <a:ext cx="658368" cy="658368"/>
          </a:xfrm>
          <a:prstGeom prst="rect">
            <a:avLst/>
          </a:prstGeom>
          <a:noFill/>
          <a:ln/>
        </p:spPr>
        <p:txBody>
          <a:bodyPr wrap="square" lIns="0" tIns="0" rIns="0" bIns="0" rtlCol="0" anchor="ctr"/>
          <a:lstStyle/>
          <a:p>
            <a:pPr marL="0" indent="0" algn="ctr">
              <a:buNone/>
            </a:pPr>
            <a:r>
              <a:rPr lang="en-US" sz="2100" kern="0" spc="-50" dirty="0">
                <a:solidFill>
                  <a:srgbClr val="942838"/>
                </a:solidFill>
                <a:latin typeface="Montserrat ExtraBold" pitchFamily="34" charset="0"/>
                <a:ea typeface="Montserrat ExtraBold" pitchFamily="34" charset="-122"/>
                <a:cs typeface="Montserrat ExtraBold" pitchFamily="34" charset="-120"/>
              </a:rPr>
              <a:t>03</a:t>
            </a:r>
            <a:endParaRPr lang="en-US" sz="2100" dirty="0"/>
          </a:p>
        </p:txBody>
      </p:sp>
      <p:sp>
        <p:nvSpPr>
          <p:cNvPr id="25" name="Text 22"/>
          <p:cNvSpPr txBox="1"/>
          <p:nvPr/>
        </p:nvSpPr>
        <p:spPr>
          <a:xfrm>
            <a:off x="8415223" y="3749040"/>
            <a:ext cx="2688336" cy="329184"/>
          </a:xfrm>
          <a:prstGeom prst="rect">
            <a:avLst/>
          </a:prstGeom>
          <a:noFill/>
          <a:ln/>
        </p:spPr>
        <p:txBody>
          <a:bodyPr wrap="square" lIns="0" tIns="0" rIns="0" bIns="0" rtlCol="0" anchor="t"/>
          <a:lstStyle/>
          <a:p>
            <a:pPr marL="0" indent="0">
              <a:buNone/>
            </a:pPr>
            <a:r>
              <a:rPr lang="en-US" sz="1550" dirty="0">
                <a:solidFill>
                  <a:srgbClr val="2B2D30"/>
                </a:solidFill>
                <a:latin typeface="Montserrat SemiBold" pitchFamily="34" charset="0"/>
                <a:ea typeface="Montserrat SemiBold" pitchFamily="34" charset="-122"/>
                <a:cs typeface="Montserrat SemiBold" pitchFamily="34" charset="-120"/>
              </a:rPr>
              <a:t>Get It Adopted</a:t>
            </a:r>
            <a:endParaRPr lang="en-US" sz="1550" dirty="0"/>
          </a:p>
        </p:txBody>
      </p:sp>
      <p:sp>
        <p:nvSpPr>
          <p:cNvPr id="26" name="Text 23"/>
          <p:cNvSpPr txBox="1"/>
          <p:nvPr/>
        </p:nvSpPr>
        <p:spPr>
          <a:xfrm>
            <a:off x="8415223" y="4151376"/>
            <a:ext cx="2688336" cy="658368"/>
          </a:xfrm>
          <a:prstGeom prst="rect">
            <a:avLst/>
          </a:prstGeom>
          <a:noFill/>
          <a:ln/>
        </p:spPr>
        <p:txBody>
          <a:bodyPr wrap="square" lIns="0" tIns="0" rIns="0" bIns="0" rtlCol="0" anchor="t"/>
          <a:lstStyle/>
          <a:p>
            <a:pPr marL="0" indent="0">
              <a:lnSpc>
                <a:spcPct val="122000"/>
              </a:lnSpc>
              <a:buNone/>
            </a:pPr>
            <a:r>
              <a:rPr lang="en-US" sz="1100" dirty="0">
                <a:solidFill>
                  <a:srgbClr val="6E7175"/>
                </a:solidFill>
                <a:latin typeface="Montserrat" pitchFamily="34" charset="0"/>
                <a:ea typeface="Montserrat" pitchFamily="34" charset="-122"/>
                <a:cs typeface="Montserrat" pitchFamily="34" charset="-120"/>
              </a:rPr>
              <a:t>Turn that into a written framework the company formally signs off on.</a:t>
            </a:r>
            <a:endParaRPr lang="en-US" sz="1100" dirty="0"/>
          </a:p>
        </p:txBody>
      </p:sp>
      <p:sp>
        <p:nvSpPr>
          <p:cNvPr id="27" name="Shape 24"/>
          <p:cNvSpPr/>
          <p:nvPr/>
        </p:nvSpPr>
        <p:spPr>
          <a:xfrm>
            <a:off x="777240" y="5138928"/>
            <a:ext cx="10637215" cy="859536"/>
          </a:xfrm>
          <a:prstGeom prst="roundRect">
            <a:avLst>
              <a:gd name="adj" fmla="val 6383"/>
            </a:avLst>
          </a:prstGeom>
          <a:solidFill>
            <a:srgbClr val="2B2D30"/>
          </a:solidFill>
          <a:ln/>
          <a:effectLst>
            <a:outerShdw algn="bl" rotWithShape="0">
              <a:srgbClr val="959092">
                <a:alpha val="0"/>
              </a:srgbClr>
            </a:outerShdw>
          </a:effectLst>
        </p:spPr>
        <p:txBody>
          <a:bodyPr/>
          <a:lstStyle/>
          <a:p>
            <a:endParaRPr lang="en-US"/>
          </a:p>
        </p:txBody>
      </p:sp>
      <p:sp>
        <p:nvSpPr>
          <p:cNvPr id="28" name="Text 25"/>
          <p:cNvSpPr txBox="1"/>
          <p:nvPr/>
        </p:nvSpPr>
        <p:spPr>
          <a:xfrm>
            <a:off x="1069848" y="5285232"/>
            <a:ext cx="1828800" cy="201168"/>
          </a:xfrm>
          <a:prstGeom prst="rect">
            <a:avLst/>
          </a:prstGeom>
          <a:noFill/>
          <a:ln/>
        </p:spPr>
        <p:txBody>
          <a:bodyPr wrap="square" lIns="0" tIns="0" rIns="0" bIns="0" rtlCol="0" anchor="t"/>
          <a:lstStyle/>
          <a:p>
            <a:pPr marL="0" indent="0">
              <a:buNone/>
            </a:pPr>
            <a:r>
              <a:rPr lang="en-US" sz="850" kern="0" spc="140" dirty="0">
                <a:solidFill>
                  <a:srgbClr val="D9A3AE"/>
                </a:solidFill>
                <a:latin typeface="Montserrat SemiBold" pitchFamily="34" charset="0"/>
                <a:ea typeface="Montserrat SemiBold" pitchFamily="34" charset="-122"/>
                <a:cs typeface="Montserrat SemiBold" pitchFamily="34" charset="-120"/>
              </a:rPr>
              <a:t>DELIVERED</a:t>
            </a:r>
            <a:endParaRPr lang="en-US" sz="850" dirty="0"/>
          </a:p>
        </p:txBody>
      </p:sp>
      <p:sp>
        <p:nvSpPr>
          <p:cNvPr id="29" name="Text 26"/>
          <p:cNvSpPr txBox="1"/>
          <p:nvPr/>
        </p:nvSpPr>
        <p:spPr>
          <a:xfrm>
            <a:off x="1069848" y="5522976"/>
            <a:ext cx="10051999" cy="365760"/>
          </a:xfrm>
          <a:prstGeom prst="rect">
            <a:avLst/>
          </a:prstGeom>
          <a:noFill/>
          <a:ln/>
        </p:spPr>
        <p:txBody>
          <a:bodyPr wrap="square" lIns="0" tIns="0" rIns="0" bIns="0" rtlCol="0" anchor="t"/>
          <a:lstStyle/>
          <a:p>
            <a:pPr marL="0" indent="0">
              <a:lnSpc>
                <a:spcPct val="115000"/>
              </a:lnSpc>
              <a:buNone/>
            </a:pPr>
            <a:r>
              <a:rPr lang="en-US" sz="1100" dirty="0">
                <a:solidFill>
                  <a:srgbClr val="FFFFFF"/>
                </a:solidFill>
                <a:latin typeface="Montserrat" pitchFamily="34" charset="0"/>
                <a:ea typeface="Montserrat" pitchFamily="34" charset="-122"/>
                <a:cs typeface="Montserrat" pitchFamily="34" charset="-120"/>
              </a:rPr>
              <a:t>A written Roles &amp; Responsibilities framework.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01  ·  WHAT COMES NEXT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From a drafted framework to a standing process</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IMAGE MANAGEMENT PROGRAM</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09</a:t>
            </a:r>
            <a:endParaRPr lang="en-US" sz="850" dirty="0"/>
          </a:p>
        </p:txBody>
      </p:sp>
      <p:sp>
        <p:nvSpPr>
          <p:cNvPr id="9" name="Text 6"/>
          <p:cNvSpPr txBox="1"/>
          <p:nvPr/>
        </p:nvSpPr>
        <p:spPr>
          <a:xfrm>
            <a:off x="777240" y="1975104"/>
            <a:ext cx="10241280" cy="329184"/>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The framework exists on paper. Turning it into something the company runs without me is the next stretch.</a:t>
            </a:r>
            <a:endParaRPr lang="en-US" sz="1400" dirty="0"/>
          </a:p>
        </p:txBody>
      </p:sp>
      <p:sp>
        <p:nvSpPr>
          <p:cNvPr id="10" name="Shape 7"/>
          <p:cNvSpPr/>
          <p:nvPr/>
        </p:nvSpPr>
        <p:spPr>
          <a:xfrm>
            <a:off x="777240" y="2615184"/>
            <a:ext cx="3356762" cy="2304288"/>
          </a:xfrm>
          <a:prstGeom prst="roundRect">
            <a:avLst>
              <a:gd name="adj" fmla="val 2381"/>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1" name="Shape 8"/>
          <p:cNvSpPr/>
          <p:nvPr/>
        </p:nvSpPr>
        <p:spPr>
          <a:xfrm>
            <a:off x="777240" y="2615184"/>
            <a:ext cx="3356762" cy="45720"/>
          </a:xfrm>
          <a:prstGeom prst="rect">
            <a:avLst/>
          </a:prstGeom>
          <a:solidFill>
            <a:srgbClr val="942838"/>
          </a:solidFill>
          <a:ln/>
        </p:spPr>
        <p:txBody>
          <a:bodyPr/>
          <a:lstStyle/>
          <a:p>
            <a:endParaRPr lang="en-US"/>
          </a:p>
        </p:txBody>
      </p:sp>
      <p:sp>
        <p:nvSpPr>
          <p:cNvPr id="12" name="Text 9"/>
          <p:cNvSpPr txBox="1"/>
          <p:nvPr/>
        </p:nvSpPr>
        <p:spPr>
          <a:xfrm>
            <a:off x="1088136" y="2889504"/>
            <a:ext cx="914400" cy="310896"/>
          </a:xfrm>
          <a:prstGeom prst="rect">
            <a:avLst/>
          </a:prstGeom>
          <a:noFill/>
          <a:ln/>
        </p:spPr>
        <p:txBody>
          <a:bodyPr wrap="square" lIns="0" tIns="0" rIns="0" bIns="0" rtlCol="0" anchor="t"/>
          <a:lstStyle/>
          <a:p>
            <a:pPr marL="0" indent="0">
              <a:buNone/>
            </a:pPr>
            <a:r>
              <a:rPr lang="en-US" sz="2000" kern="0" spc="-30" dirty="0">
                <a:solidFill>
                  <a:srgbClr val="DFBEC4"/>
                </a:solidFill>
                <a:latin typeface="Montserrat ExtraBold" pitchFamily="34" charset="0"/>
                <a:ea typeface="Montserrat ExtraBold" pitchFamily="34" charset="-122"/>
                <a:cs typeface="Montserrat ExtraBold" pitchFamily="34" charset="-120"/>
              </a:rPr>
              <a:t>01</a:t>
            </a:r>
            <a:endParaRPr lang="en-US" sz="2000" dirty="0"/>
          </a:p>
        </p:txBody>
      </p:sp>
      <p:sp>
        <p:nvSpPr>
          <p:cNvPr id="13" name="Text 10"/>
          <p:cNvSpPr txBox="1"/>
          <p:nvPr/>
        </p:nvSpPr>
        <p:spPr>
          <a:xfrm>
            <a:off x="1088136" y="3291840"/>
            <a:ext cx="2734970" cy="365760"/>
          </a:xfrm>
          <a:prstGeom prst="rect">
            <a:avLst/>
          </a:prstGeom>
          <a:noFill/>
          <a:ln/>
        </p:spPr>
        <p:txBody>
          <a:bodyPr wrap="square" lIns="0" tIns="0" rIns="0" bIns="0" rtlCol="0" anchor="t"/>
          <a:lstStyle/>
          <a:p>
            <a:pPr marL="0" indent="0">
              <a:buNone/>
            </a:pPr>
            <a:r>
              <a:rPr lang="en-US" sz="1500" dirty="0">
                <a:solidFill>
                  <a:srgbClr val="2B2D30"/>
                </a:solidFill>
                <a:latin typeface="Montserrat SemiBold" pitchFamily="34" charset="0"/>
                <a:ea typeface="Montserrat SemiBold" pitchFamily="34" charset="-122"/>
                <a:cs typeface="Montserrat SemiBold" pitchFamily="34" charset="-120"/>
              </a:rPr>
              <a:t>Formal adoption</a:t>
            </a:r>
            <a:endParaRPr lang="en-US" sz="1500" dirty="0"/>
          </a:p>
        </p:txBody>
      </p:sp>
      <p:sp>
        <p:nvSpPr>
          <p:cNvPr id="14" name="Text 11"/>
          <p:cNvSpPr txBox="1"/>
          <p:nvPr/>
        </p:nvSpPr>
        <p:spPr>
          <a:xfrm>
            <a:off x="1088136" y="3730752"/>
            <a:ext cx="2734970" cy="1463040"/>
          </a:xfrm>
          <a:prstGeom prst="rect">
            <a:avLst/>
          </a:prstGeom>
          <a:noFill/>
          <a:ln/>
        </p:spPr>
        <p:txBody>
          <a:bodyPr wrap="square" lIns="0" tIns="0" rIns="0" bIns="0" rtlCol="0" anchor="t"/>
          <a:lstStyle/>
          <a:p>
            <a:pPr marL="0" indent="0">
              <a:lnSpc>
                <a:spcPct val="126000"/>
              </a:lnSpc>
              <a:buNone/>
            </a:pPr>
            <a:r>
              <a:rPr lang="en-US" sz="1100" dirty="0">
                <a:solidFill>
                  <a:srgbClr val="6E7175"/>
                </a:solidFill>
                <a:latin typeface="Montserrat" pitchFamily="34" charset="0"/>
                <a:ea typeface="Montserrat" pitchFamily="34" charset="-122"/>
                <a:cs typeface="Montserrat" pitchFamily="34" charset="-120"/>
              </a:rPr>
              <a:t>The framework is drafted and staged for review. It goes for sign-off once the policy manager returns in Q4.</a:t>
            </a:r>
            <a:endParaRPr lang="en-US" sz="1100" dirty="0"/>
          </a:p>
        </p:txBody>
      </p:sp>
      <p:sp>
        <p:nvSpPr>
          <p:cNvPr id="15" name="Shape 12"/>
          <p:cNvSpPr/>
          <p:nvPr/>
        </p:nvSpPr>
        <p:spPr>
          <a:xfrm>
            <a:off x="4417466" y="2615184"/>
            <a:ext cx="3356762" cy="2304288"/>
          </a:xfrm>
          <a:prstGeom prst="roundRect">
            <a:avLst>
              <a:gd name="adj" fmla="val 2381"/>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6" name="Shape 13"/>
          <p:cNvSpPr/>
          <p:nvPr/>
        </p:nvSpPr>
        <p:spPr>
          <a:xfrm>
            <a:off x="4417466" y="2615184"/>
            <a:ext cx="3356762" cy="45720"/>
          </a:xfrm>
          <a:prstGeom prst="rect">
            <a:avLst/>
          </a:prstGeom>
          <a:solidFill>
            <a:srgbClr val="942838"/>
          </a:solidFill>
          <a:ln/>
        </p:spPr>
        <p:txBody>
          <a:bodyPr/>
          <a:lstStyle/>
          <a:p>
            <a:endParaRPr lang="en-US"/>
          </a:p>
        </p:txBody>
      </p:sp>
      <p:sp>
        <p:nvSpPr>
          <p:cNvPr id="17" name="Text 14"/>
          <p:cNvSpPr txBox="1"/>
          <p:nvPr/>
        </p:nvSpPr>
        <p:spPr>
          <a:xfrm>
            <a:off x="4728362" y="2889504"/>
            <a:ext cx="914400" cy="310896"/>
          </a:xfrm>
          <a:prstGeom prst="rect">
            <a:avLst/>
          </a:prstGeom>
          <a:noFill/>
          <a:ln/>
        </p:spPr>
        <p:txBody>
          <a:bodyPr wrap="square" lIns="0" tIns="0" rIns="0" bIns="0" rtlCol="0" anchor="t"/>
          <a:lstStyle/>
          <a:p>
            <a:pPr marL="0" indent="0">
              <a:buNone/>
            </a:pPr>
            <a:r>
              <a:rPr lang="en-US" sz="2000" kern="0" spc="-30" dirty="0">
                <a:solidFill>
                  <a:srgbClr val="DFBEC4"/>
                </a:solidFill>
                <a:latin typeface="Montserrat ExtraBold" pitchFamily="34" charset="0"/>
                <a:ea typeface="Montserrat ExtraBold" pitchFamily="34" charset="-122"/>
                <a:cs typeface="Montserrat ExtraBold" pitchFamily="34" charset="-120"/>
              </a:rPr>
              <a:t>02</a:t>
            </a:r>
            <a:endParaRPr lang="en-US" sz="2000" dirty="0"/>
          </a:p>
        </p:txBody>
      </p:sp>
      <p:sp>
        <p:nvSpPr>
          <p:cNvPr id="18" name="Text 15"/>
          <p:cNvSpPr txBox="1"/>
          <p:nvPr/>
        </p:nvSpPr>
        <p:spPr>
          <a:xfrm>
            <a:off x="4728362" y="3291840"/>
            <a:ext cx="2734970" cy="365760"/>
          </a:xfrm>
          <a:prstGeom prst="rect">
            <a:avLst/>
          </a:prstGeom>
          <a:noFill/>
          <a:ln/>
        </p:spPr>
        <p:txBody>
          <a:bodyPr wrap="square" lIns="0" tIns="0" rIns="0" bIns="0" rtlCol="0" anchor="t"/>
          <a:lstStyle/>
          <a:p>
            <a:pPr marL="0" indent="0">
              <a:buNone/>
            </a:pPr>
            <a:r>
              <a:rPr lang="en-US" sz="1500" dirty="0">
                <a:solidFill>
                  <a:srgbClr val="2B2D30"/>
                </a:solidFill>
                <a:latin typeface="Montserrat SemiBold" pitchFamily="34" charset="0"/>
                <a:ea typeface="Montserrat SemiBold" pitchFamily="34" charset="-122"/>
                <a:cs typeface="Montserrat SemiBold" pitchFamily="34" charset="-120"/>
              </a:rPr>
              <a:t>Owners take it from here</a:t>
            </a:r>
            <a:endParaRPr lang="en-US" sz="1500" dirty="0"/>
          </a:p>
        </p:txBody>
      </p:sp>
      <p:sp>
        <p:nvSpPr>
          <p:cNvPr id="19" name="Text 16"/>
          <p:cNvSpPr txBox="1"/>
          <p:nvPr/>
        </p:nvSpPr>
        <p:spPr>
          <a:xfrm>
            <a:off x="4728362" y="3730752"/>
            <a:ext cx="2734970" cy="1463040"/>
          </a:xfrm>
          <a:prstGeom prst="rect">
            <a:avLst/>
          </a:prstGeom>
          <a:noFill/>
          <a:ln/>
        </p:spPr>
        <p:txBody>
          <a:bodyPr wrap="square" lIns="0" tIns="0" rIns="0" bIns="0" rtlCol="0" anchor="t"/>
          <a:lstStyle/>
          <a:p>
            <a:pPr marL="0" indent="0">
              <a:lnSpc>
                <a:spcPct val="126000"/>
              </a:lnSpc>
              <a:buNone/>
            </a:pPr>
            <a:r>
              <a:rPr lang="en-US" sz="1100" dirty="0">
                <a:solidFill>
                  <a:srgbClr val="6E7175"/>
                </a:solidFill>
                <a:latin typeface="Montserrat" pitchFamily="34" charset="0"/>
                <a:ea typeface="Montserrat" pitchFamily="34" charset="-122"/>
                <a:cs typeface="Montserrat" pitchFamily="34" charset="-120"/>
              </a:rPr>
              <a:t>Each named team picks up the tool it owns, so responsibility sits with the people who can act on it.</a:t>
            </a:r>
            <a:endParaRPr lang="en-US" sz="1100" dirty="0"/>
          </a:p>
        </p:txBody>
      </p:sp>
      <p:sp>
        <p:nvSpPr>
          <p:cNvPr id="20" name="Shape 17"/>
          <p:cNvSpPr/>
          <p:nvPr/>
        </p:nvSpPr>
        <p:spPr>
          <a:xfrm>
            <a:off x="8057693" y="2615184"/>
            <a:ext cx="3356762" cy="2304288"/>
          </a:xfrm>
          <a:prstGeom prst="roundRect">
            <a:avLst>
              <a:gd name="adj" fmla="val 2381"/>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1" name="Shape 18"/>
          <p:cNvSpPr/>
          <p:nvPr/>
        </p:nvSpPr>
        <p:spPr>
          <a:xfrm>
            <a:off x="8057693" y="2615184"/>
            <a:ext cx="3356762" cy="45720"/>
          </a:xfrm>
          <a:prstGeom prst="rect">
            <a:avLst/>
          </a:prstGeom>
          <a:solidFill>
            <a:srgbClr val="942838"/>
          </a:solidFill>
          <a:ln/>
        </p:spPr>
        <p:txBody>
          <a:bodyPr/>
          <a:lstStyle/>
          <a:p>
            <a:endParaRPr lang="en-US"/>
          </a:p>
        </p:txBody>
      </p:sp>
      <p:sp>
        <p:nvSpPr>
          <p:cNvPr id="22" name="Text 19"/>
          <p:cNvSpPr txBox="1"/>
          <p:nvPr/>
        </p:nvSpPr>
        <p:spPr>
          <a:xfrm>
            <a:off x="8368589" y="2889504"/>
            <a:ext cx="914400" cy="310896"/>
          </a:xfrm>
          <a:prstGeom prst="rect">
            <a:avLst/>
          </a:prstGeom>
          <a:noFill/>
          <a:ln/>
        </p:spPr>
        <p:txBody>
          <a:bodyPr wrap="square" lIns="0" tIns="0" rIns="0" bIns="0" rtlCol="0" anchor="t"/>
          <a:lstStyle/>
          <a:p>
            <a:pPr marL="0" indent="0">
              <a:buNone/>
            </a:pPr>
            <a:r>
              <a:rPr lang="en-US" sz="2000" kern="0" spc="-30" dirty="0">
                <a:solidFill>
                  <a:srgbClr val="DFBEC4"/>
                </a:solidFill>
                <a:latin typeface="Montserrat ExtraBold" pitchFamily="34" charset="0"/>
                <a:ea typeface="Montserrat ExtraBold" pitchFamily="34" charset="-122"/>
                <a:cs typeface="Montserrat ExtraBold" pitchFamily="34" charset="-120"/>
              </a:rPr>
              <a:t>03</a:t>
            </a:r>
            <a:endParaRPr lang="en-US" sz="2000" dirty="0"/>
          </a:p>
        </p:txBody>
      </p:sp>
      <p:sp>
        <p:nvSpPr>
          <p:cNvPr id="23" name="Text 20"/>
          <p:cNvSpPr txBox="1"/>
          <p:nvPr/>
        </p:nvSpPr>
        <p:spPr>
          <a:xfrm>
            <a:off x="8368589" y="3291840"/>
            <a:ext cx="2734970" cy="365760"/>
          </a:xfrm>
          <a:prstGeom prst="rect">
            <a:avLst/>
          </a:prstGeom>
          <a:noFill/>
          <a:ln/>
        </p:spPr>
        <p:txBody>
          <a:bodyPr wrap="square" lIns="0" tIns="0" rIns="0" bIns="0" rtlCol="0" anchor="t"/>
          <a:lstStyle/>
          <a:p>
            <a:pPr marL="0" indent="0">
              <a:buNone/>
            </a:pPr>
            <a:r>
              <a:rPr lang="en-US" sz="1500" dirty="0">
                <a:solidFill>
                  <a:srgbClr val="2B2D30"/>
                </a:solidFill>
                <a:latin typeface="Montserrat SemiBold" pitchFamily="34" charset="0"/>
                <a:ea typeface="Montserrat SemiBold" pitchFamily="34" charset="-122"/>
                <a:cs typeface="Montserrat SemiBold" pitchFamily="34" charset="-120"/>
              </a:rPr>
              <a:t>Check before deploy</a:t>
            </a:r>
            <a:endParaRPr lang="en-US" sz="1500" dirty="0"/>
          </a:p>
        </p:txBody>
      </p:sp>
      <p:sp>
        <p:nvSpPr>
          <p:cNvPr id="24" name="Text 21"/>
          <p:cNvSpPr txBox="1"/>
          <p:nvPr/>
        </p:nvSpPr>
        <p:spPr>
          <a:xfrm>
            <a:off x="8368589" y="3730752"/>
            <a:ext cx="2734970" cy="1463040"/>
          </a:xfrm>
          <a:prstGeom prst="rect">
            <a:avLst/>
          </a:prstGeom>
          <a:noFill/>
          <a:ln/>
        </p:spPr>
        <p:txBody>
          <a:bodyPr wrap="square" lIns="0" tIns="0" rIns="0" bIns="0" rtlCol="0" anchor="t"/>
          <a:lstStyle/>
          <a:p>
            <a:pPr marL="0" indent="0">
              <a:lnSpc>
                <a:spcPct val="126000"/>
              </a:lnSpc>
              <a:buNone/>
            </a:pPr>
            <a:r>
              <a:rPr lang="en-US" sz="1100" dirty="0">
                <a:solidFill>
                  <a:srgbClr val="6E7175"/>
                </a:solidFill>
                <a:latin typeface="Montserrat" pitchFamily="34" charset="0"/>
                <a:ea typeface="Montserrat" pitchFamily="34" charset="-122"/>
                <a:cs typeface="Montserrat" pitchFamily="34" charset="-120"/>
              </a:rPr>
              <a:t>The natural next step is a check that a newly built image actually carries all nine tools before it goes live.</a:t>
            </a:r>
            <a:endParaRPr lang="en-US" sz="1100" dirty="0"/>
          </a:p>
        </p:txBody>
      </p:sp>
      <p:sp>
        <p:nvSpPr>
          <p:cNvPr id="25" name="Text 22"/>
          <p:cNvSpPr txBox="1"/>
          <p:nvPr/>
        </p:nvSpPr>
        <p:spPr>
          <a:xfrm>
            <a:off x="777240" y="5230368"/>
            <a:ext cx="10637215" cy="274320"/>
          </a:xfrm>
          <a:prstGeom prst="rect">
            <a:avLst/>
          </a:prstGeom>
          <a:noFill/>
          <a:ln/>
        </p:spPr>
        <p:txBody>
          <a:bodyPr wrap="square" lIns="0" tIns="0" rIns="0" bIns="0" rtlCol="0" anchor="t"/>
          <a:lstStyle/>
          <a:p>
            <a:pPr marL="0" indent="0">
              <a:buNone/>
            </a:pPr>
            <a:r>
              <a:rPr lang="en-US" sz="1150" dirty="0">
                <a:solidFill>
                  <a:srgbClr val="2B2D30"/>
                </a:solidFill>
                <a:latin typeface="Montserrat SemiBold" pitchFamily="34" charset="0"/>
                <a:ea typeface="Montserrat SemiBold" pitchFamily="34" charset="-122"/>
                <a:cs typeface="Montserrat SemiBold" pitchFamily="34" charset="-120"/>
              </a:rPr>
              <a:t>The honest status:</a:t>
            </a:r>
            <a:r>
              <a:rPr lang="en-US" sz="1150" dirty="0">
                <a:solidFill>
                  <a:srgbClr val="6E7175"/>
                </a:solidFill>
                <a:latin typeface="Montserrat" pitchFamily="34" charset="0"/>
                <a:ea typeface="Montserrat" pitchFamily="34" charset="-122"/>
                <a:cs typeface="Montserrat" pitchFamily="34" charset="-120"/>
              </a:rPr>
              <a:t>  drafted and staged for review, not yet formally adopted. The decision sits with the policy manager in Q4.</a:t>
            </a:r>
            <a:endParaRPr lang="en-US" sz="1150" dirty="0"/>
          </a:p>
        </p:txBody>
      </p:sp>
      <p:sp>
        <p:nvSpPr>
          <p:cNvPr id="26" name="Text 23"/>
          <p:cNvSpPr txBox="1"/>
          <p:nvPr/>
        </p:nvSpPr>
        <p:spPr>
          <a:xfrm>
            <a:off x="777240" y="5577840"/>
            <a:ext cx="10637215" cy="274320"/>
          </a:xfrm>
          <a:prstGeom prst="rect">
            <a:avLst/>
          </a:prstGeom>
          <a:noFill/>
          <a:ln/>
        </p:spPr>
        <p:txBody>
          <a:bodyPr wrap="square" lIns="0" tIns="0" rIns="0" bIns="0" rtlCol="0" anchor="t"/>
          <a:lstStyle/>
          <a:p>
            <a:pPr marL="0" indent="0">
              <a:buNone/>
            </a:pPr>
            <a:r>
              <a:rPr lang="en-US" sz="1100" dirty="0">
                <a:solidFill>
                  <a:srgbClr val="942838"/>
                </a:solidFill>
                <a:latin typeface="Montserrat" pitchFamily="34" charset="0"/>
                <a:ea typeface="Montserrat" pitchFamily="34" charset="-122"/>
                <a:cs typeface="Montserrat" pitchFamily="34" charset="-120"/>
              </a:rPr>
              <a:t>It also closes an audit gap: once adopted, we can show that every new machine met a defined security baseline before it was deployed.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8229600" y="365760"/>
            <a:ext cx="5120640" cy="5120640"/>
          </a:xfrm>
          <a:prstGeom prst="rect">
            <a:avLst/>
          </a:prstGeom>
        </p:spPr>
      </p:pic>
      <p:sp>
        <p:nvSpPr>
          <p:cNvPr id="4" name="Text 0"/>
          <p:cNvSpPr txBox="1"/>
          <p:nvPr/>
        </p:nvSpPr>
        <p:spPr>
          <a:xfrm>
            <a:off x="6766560" y="566928"/>
            <a:ext cx="4754880" cy="4206240"/>
          </a:xfrm>
          <a:prstGeom prst="rect">
            <a:avLst/>
          </a:prstGeom>
          <a:noFill/>
          <a:ln/>
        </p:spPr>
        <p:txBody>
          <a:bodyPr wrap="square" lIns="0" tIns="0" rIns="0" bIns="0" rtlCol="0" anchor="t"/>
          <a:lstStyle/>
          <a:p>
            <a:pPr marL="0" indent="0" algn="r">
              <a:buNone/>
            </a:pPr>
            <a:r>
              <a:rPr lang="en-US" sz="21000" kern="0" spc="-800" dirty="0">
                <a:solidFill>
                  <a:srgbClr val="B9737E">
                    <a:alpha val="38000"/>
                  </a:srgbClr>
                </a:solidFill>
                <a:latin typeface="Montserrat ExtraBold" pitchFamily="34" charset="0"/>
                <a:ea typeface="Montserrat ExtraBold" pitchFamily="34" charset="-122"/>
                <a:cs typeface="Montserrat ExtraBold" pitchFamily="34" charset="-120"/>
              </a:rPr>
              <a:t>02</a:t>
            </a:r>
            <a:endParaRPr lang="en-US" sz="21000" dirty="0"/>
          </a:p>
        </p:txBody>
      </p:sp>
      <p:sp>
        <p:nvSpPr>
          <p:cNvPr id="5" name="Text 1"/>
          <p:cNvSpPr txBox="1"/>
          <p:nvPr/>
        </p:nvSpPr>
        <p:spPr>
          <a:xfrm>
            <a:off x="777240" y="2395728"/>
            <a:ext cx="6400800" cy="256032"/>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PROJECT 02</a:t>
            </a:r>
            <a:endParaRPr lang="en-US" sz="1000" dirty="0"/>
          </a:p>
        </p:txBody>
      </p:sp>
      <p:sp>
        <p:nvSpPr>
          <p:cNvPr id="6" name="Text 2"/>
          <p:cNvSpPr txBox="1"/>
          <p:nvPr/>
        </p:nvSpPr>
        <p:spPr>
          <a:xfrm>
            <a:off x="777240" y="2743200"/>
            <a:ext cx="6766560" cy="1280160"/>
          </a:xfrm>
          <a:prstGeom prst="rect">
            <a:avLst/>
          </a:prstGeom>
          <a:noFill/>
          <a:ln/>
        </p:spPr>
        <p:txBody>
          <a:bodyPr wrap="square" lIns="0" tIns="0" rIns="0" bIns="0" rtlCol="0" anchor="t"/>
          <a:lstStyle/>
          <a:p>
            <a:pPr marL="0" indent="0">
              <a:lnSpc>
                <a:spcPct val="98000"/>
              </a:lnSpc>
              <a:buNone/>
            </a:pPr>
            <a:r>
              <a:rPr lang="en-US" sz="4100" kern="0" spc="-90" dirty="0">
                <a:solidFill>
                  <a:srgbClr val="FFFFFF"/>
                </a:solidFill>
                <a:latin typeface="Montserrat ExtraBold" pitchFamily="34" charset="0"/>
                <a:ea typeface="Montserrat ExtraBold" pitchFamily="34" charset="-122"/>
                <a:cs typeface="Montserrat ExtraBold" pitchFamily="34" charset="-120"/>
              </a:rPr>
              <a:t>AEGIS — Supply-Chain Defense</a:t>
            </a:r>
            <a:endParaRPr lang="en-US" sz="4100" dirty="0"/>
          </a:p>
        </p:txBody>
      </p:sp>
      <p:sp>
        <p:nvSpPr>
          <p:cNvPr id="7" name="Shape 3"/>
          <p:cNvSpPr/>
          <p:nvPr/>
        </p:nvSpPr>
        <p:spPr>
          <a:xfrm>
            <a:off x="777240" y="4114800"/>
            <a:ext cx="640080" cy="50292"/>
          </a:xfrm>
          <a:prstGeom prst="rect">
            <a:avLst/>
          </a:prstGeom>
          <a:solidFill>
            <a:srgbClr val="FFFFFF"/>
          </a:solidFill>
          <a:ln/>
        </p:spPr>
        <p:txBody>
          <a:bodyPr/>
          <a:lstStyle/>
          <a:p>
            <a:endParaRPr lang="en-US"/>
          </a:p>
        </p:txBody>
      </p:sp>
      <p:sp>
        <p:nvSpPr>
          <p:cNvPr id="8" name="Text 4"/>
          <p:cNvSpPr txBox="1"/>
          <p:nvPr/>
        </p:nvSpPr>
        <p:spPr>
          <a:xfrm>
            <a:off x="777240" y="4389120"/>
            <a:ext cx="6309360" cy="731520"/>
          </a:xfrm>
          <a:prstGeom prst="rect">
            <a:avLst/>
          </a:prstGeom>
          <a:noFill/>
          <a:ln/>
        </p:spPr>
        <p:txBody>
          <a:bodyPr wrap="square" lIns="0" tIns="0" rIns="0" bIns="0" rtlCol="0" anchor="t"/>
          <a:lstStyle/>
          <a:p>
            <a:pPr marL="0" indent="0">
              <a:lnSpc>
                <a:spcPct val="125000"/>
              </a:lnSpc>
              <a:buNone/>
            </a:pPr>
            <a:r>
              <a:rPr lang="en-US" sz="1400" dirty="0">
                <a:solidFill>
                  <a:srgbClr val="DAB4BA"/>
                </a:solidFill>
                <a:latin typeface="Montserrat Medium" pitchFamily="34" charset="0"/>
                <a:ea typeface="Montserrat Medium" pitchFamily="34" charset="-122"/>
                <a:cs typeface="Montserrat Medium" pitchFamily="34" charset="-120"/>
              </a:rPr>
              <a:t>Catching risky code hidden inside the open-source packages our software depends on.</a:t>
            </a:r>
            <a:endParaRPr lang="en-US" sz="1400" dirty="0"/>
          </a:p>
        </p:txBody>
      </p:sp>
      <p:pic>
        <p:nvPicPr>
          <p:cNvPr id="9" name="Image 2" descr="/home/user/ai/assets/gen/logo-white.png"/>
          <p:cNvPicPr>
            <a:picLocks noChangeAspect="1"/>
          </p:cNvPicPr>
          <p:nvPr/>
        </p:nvPicPr>
        <p:blipFill>
          <a:blip r:embed="rId5"/>
          <a:stretch>
            <a:fillRect/>
          </a:stretch>
        </p:blipFill>
        <p:spPr>
          <a:xfrm>
            <a:off x="9768535" y="457200"/>
            <a:ext cx="1645920" cy="166053"/>
          </a:xfrm>
          <a:prstGeom prst="rect">
            <a:avLst/>
          </a:prstGeom>
        </p:spPr>
      </p:pic>
      <p:sp>
        <p:nvSpPr>
          <p:cNvPr id="10" name="Text 5"/>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E4C9CE"/>
                </a:solidFill>
                <a:latin typeface="Montserrat SemiBold" pitchFamily="34" charset="0"/>
                <a:ea typeface="Montserrat SemiBold" pitchFamily="34" charset="-122"/>
                <a:cs typeface="Montserrat SemiBold" pitchFamily="34" charset="-120"/>
              </a:rPr>
              <a:t>PROJECT 02</a:t>
            </a:r>
            <a:endParaRPr lang="en-US" sz="850" dirty="0"/>
          </a:p>
        </p:txBody>
      </p:sp>
      <p:sp>
        <p:nvSpPr>
          <p:cNvPr id="11" name="Text 6"/>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E4C9CE"/>
                </a:solidFill>
                <a:latin typeface="Montserrat SemiBold" pitchFamily="34" charset="0"/>
                <a:ea typeface="Montserrat SemiBold" pitchFamily="34" charset="-122"/>
                <a:cs typeface="Montserrat SemiBold" pitchFamily="34" charset="-120"/>
              </a:rPr>
              <a:t>10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02  ·  THE PROBLEM</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One poisoned package reaches everyone</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11</a:t>
            </a:r>
            <a:endParaRPr lang="en-US" sz="850" dirty="0"/>
          </a:p>
        </p:txBody>
      </p:sp>
      <p:sp>
        <p:nvSpPr>
          <p:cNvPr id="9" name="Text 6"/>
          <p:cNvSpPr txBox="1"/>
          <p:nvPr/>
        </p:nvSpPr>
        <p:spPr>
          <a:xfrm>
            <a:off x="777240" y="1975104"/>
            <a:ext cx="10424160" cy="566928"/>
          </a:xfrm>
          <a:prstGeom prst="rect">
            <a:avLst/>
          </a:prstGeom>
          <a:noFill/>
          <a:ln/>
        </p:spPr>
        <p:txBody>
          <a:bodyPr wrap="square" lIns="0" tIns="0" rIns="0" bIns="0" rtlCol="0" anchor="t"/>
          <a:lstStyle/>
          <a:p>
            <a:pPr marL="0" indent="0">
              <a:lnSpc>
                <a:spcPct val="122000"/>
              </a:lnSpc>
              <a:buNone/>
            </a:pPr>
            <a:r>
              <a:rPr lang="en-US" sz="1400" dirty="0">
                <a:solidFill>
                  <a:srgbClr val="6E7175"/>
                </a:solidFill>
                <a:latin typeface="Montserrat Medium" pitchFamily="34" charset="0"/>
                <a:ea typeface="Montserrat Medium" pitchFamily="34" charset="-122"/>
                <a:cs typeface="Montserrat Medium" pitchFamily="34" charset="-120"/>
              </a:rPr>
              <a:t>In a supply-chain attack, an attacker hides malicious code inside a legitimate, widely-used open-source package. Everyone who installs it inherits the compromise — including us. Real campaigns in 2025 and 2026 worked exactly this way, including a self-spreading family that reused each victim to infect the next.</a:t>
            </a:r>
            <a:endParaRPr lang="en-US" sz="1400" dirty="0"/>
          </a:p>
        </p:txBody>
      </p:sp>
      <p:pic>
        <p:nvPicPr>
          <p:cNvPr id="10" name="Image 1" descr="/home/user/ai/assets/gen/supply-chain.png"/>
          <p:cNvPicPr>
            <a:picLocks noChangeAspect="1"/>
          </p:cNvPicPr>
          <p:nvPr/>
        </p:nvPicPr>
        <p:blipFill>
          <a:blip r:embed="rId4"/>
          <a:stretch>
            <a:fillRect/>
          </a:stretch>
        </p:blipFill>
        <p:spPr>
          <a:xfrm>
            <a:off x="1170432" y="2798064"/>
            <a:ext cx="9875520" cy="2880360"/>
          </a:xfrm>
          <a:prstGeom prst="rect">
            <a:avLst/>
          </a:prstGeom>
        </p:spPr>
      </p:pic>
      <p:sp>
        <p:nvSpPr>
          <p:cNvPr id="11" name="Text 7"/>
          <p:cNvSpPr txBox="1"/>
          <p:nvPr/>
        </p:nvSpPr>
        <p:spPr>
          <a:xfrm>
            <a:off x="528523" y="5769864"/>
            <a:ext cx="2468880" cy="292608"/>
          </a:xfrm>
          <a:prstGeom prst="rect">
            <a:avLst/>
          </a:prstGeom>
          <a:noFill/>
          <a:ln/>
        </p:spPr>
        <p:txBody>
          <a:bodyPr wrap="square" lIns="0" tIns="0" rIns="0" bIns="0" rtlCol="0" anchor="t"/>
          <a:lstStyle/>
          <a:p>
            <a:pPr marL="0" indent="0" algn="ctr">
              <a:lnSpc>
                <a:spcPct val="115000"/>
              </a:lnSpc>
              <a:buNone/>
            </a:pPr>
            <a:r>
              <a:rPr lang="en-US" sz="950" kern="0" spc="30" dirty="0">
                <a:solidFill>
                  <a:srgbClr val="43464A"/>
                </a:solidFill>
                <a:latin typeface="Montserrat Medium" pitchFamily="34" charset="0"/>
                <a:ea typeface="Montserrat Medium" pitchFamily="34" charset="-122"/>
                <a:cs typeface="Montserrat Medium" pitchFamily="34" charset="-120"/>
              </a:rPr>
              <a:t>Attacker</a:t>
            </a:r>
            <a:endParaRPr lang="en-US" sz="950" dirty="0"/>
          </a:p>
        </p:txBody>
      </p:sp>
      <p:sp>
        <p:nvSpPr>
          <p:cNvPr id="12" name="Text 8"/>
          <p:cNvSpPr txBox="1"/>
          <p:nvPr/>
        </p:nvSpPr>
        <p:spPr>
          <a:xfrm>
            <a:off x="2365370" y="5769864"/>
            <a:ext cx="2468880" cy="292608"/>
          </a:xfrm>
          <a:prstGeom prst="rect">
            <a:avLst/>
          </a:prstGeom>
          <a:noFill/>
          <a:ln/>
        </p:spPr>
        <p:txBody>
          <a:bodyPr wrap="square" lIns="0" tIns="0" rIns="0" bIns="0" rtlCol="0" anchor="t"/>
          <a:lstStyle/>
          <a:p>
            <a:pPr marL="0" indent="0" algn="ctr">
              <a:lnSpc>
                <a:spcPct val="115000"/>
              </a:lnSpc>
              <a:buNone/>
            </a:pPr>
            <a:r>
              <a:rPr lang="en-US" sz="950" kern="0" spc="30" dirty="0">
                <a:solidFill>
                  <a:srgbClr val="43464A"/>
                </a:solidFill>
                <a:latin typeface="Montserrat Medium" pitchFamily="34" charset="0"/>
                <a:ea typeface="Montserrat Medium" pitchFamily="34" charset="-122"/>
                <a:cs typeface="Montserrat Medium" pitchFamily="34" charset="-120"/>
              </a:rPr>
              <a:t>Poisoned package</a:t>
            </a:r>
            <a:endParaRPr lang="en-US" sz="950" dirty="0"/>
          </a:p>
        </p:txBody>
      </p:sp>
      <p:sp>
        <p:nvSpPr>
          <p:cNvPr id="13" name="Text 9"/>
          <p:cNvSpPr txBox="1"/>
          <p:nvPr/>
        </p:nvSpPr>
        <p:spPr>
          <a:xfrm>
            <a:off x="4587362" y="5769864"/>
            <a:ext cx="2468880" cy="292608"/>
          </a:xfrm>
          <a:prstGeom prst="rect">
            <a:avLst/>
          </a:prstGeom>
          <a:noFill/>
          <a:ln/>
        </p:spPr>
        <p:txBody>
          <a:bodyPr wrap="square" lIns="0" tIns="0" rIns="0" bIns="0" rtlCol="0" anchor="t"/>
          <a:lstStyle/>
          <a:p>
            <a:pPr marL="0" indent="0" algn="ctr">
              <a:lnSpc>
                <a:spcPct val="115000"/>
              </a:lnSpc>
              <a:buNone/>
            </a:pPr>
            <a:r>
              <a:rPr lang="en-US" sz="950" kern="0" spc="30" dirty="0">
                <a:solidFill>
                  <a:srgbClr val="43464A"/>
                </a:solidFill>
                <a:latin typeface="Montserrat Medium" pitchFamily="34" charset="0"/>
                <a:ea typeface="Montserrat Medium" pitchFamily="34" charset="-122"/>
                <a:cs typeface="Montserrat Medium" pitchFamily="34" charset="-120"/>
              </a:rPr>
              <a:t>Public registry</a:t>
            </a:r>
            <a:endParaRPr lang="en-US" sz="950" dirty="0"/>
          </a:p>
        </p:txBody>
      </p:sp>
      <p:sp>
        <p:nvSpPr>
          <p:cNvPr id="14" name="Text 10"/>
          <p:cNvSpPr txBox="1"/>
          <p:nvPr/>
        </p:nvSpPr>
        <p:spPr>
          <a:xfrm>
            <a:off x="8024043" y="5769864"/>
            <a:ext cx="2468880" cy="292608"/>
          </a:xfrm>
          <a:prstGeom prst="rect">
            <a:avLst/>
          </a:prstGeom>
          <a:noFill/>
          <a:ln/>
        </p:spPr>
        <p:txBody>
          <a:bodyPr wrap="square" lIns="0" tIns="0" rIns="0" bIns="0" rtlCol="0" anchor="t"/>
          <a:lstStyle/>
          <a:p>
            <a:pPr marL="0" indent="0" algn="ctr">
              <a:lnSpc>
                <a:spcPct val="115000"/>
              </a:lnSpc>
              <a:buNone/>
            </a:pPr>
            <a:r>
              <a:rPr lang="en-US" sz="950" kern="0" spc="30" dirty="0">
                <a:solidFill>
                  <a:srgbClr val="43464A"/>
                </a:solidFill>
                <a:latin typeface="Montserrat Medium" pitchFamily="34" charset="0"/>
                <a:ea typeface="Montserrat Medium" pitchFamily="34" charset="-122"/>
                <a:cs typeface="Montserrat Medium" pitchFamily="34" charset="-120"/>
              </a:rPr>
              <a:t>Every project that installs it</a:t>
            </a:r>
            <a:endParaRPr lang="en-US" sz="950" dirty="0"/>
          </a:p>
        </p:txBody>
      </p:sp>
      <p:sp>
        <p:nvSpPr>
          <p:cNvPr id="15" name="Shape 11"/>
          <p:cNvSpPr/>
          <p:nvPr/>
        </p:nvSpPr>
        <p:spPr>
          <a:xfrm>
            <a:off x="777240" y="5138928"/>
            <a:ext cx="10637215" cy="859536"/>
          </a:xfrm>
          <a:prstGeom prst="roundRect">
            <a:avLst>
              <a:gd name="adj" fmla="val 6383"/>
            </a:avLst>
          </a:prstGeom>
          <a:solidFill>
            <a:srgbClr val="F6EEF0"/>
          </a:solidFill>
          <a:ln/>
        </p:spPr>
        <p:txBody>
          <a:bodyPr/>
          <a:lstStyle/>
          <a:p>
            <a:endParaRPr lang="en-US"/>
          </a:p>
        </p:txBody>
      </p:sp>
      <p:sp>
        <p:nvSpPr>
          <p:cNvPr id="16" name="Shape 12"/>
          <p:cNvSpPr/>
          <p:nvPr/>
        </p:nvSpPr>
        <p:spPr>
          <a:xfrm>
            <a:off x="777240" y="5138928"/>
            <a:ext cx="50292" cy="859536"/>
          </a:xfrm>
          <a:prstGeom prst="rect">
            <a:avLst/>
          </a:prstGeom>
          <a:solidFill>
            <a:srgbClr val="942838"/>
          </a:solidFill>
          <a:ln/>
        </p:spPr>
        <p:txBody>
          <a:bodyPr/>
          <a:lstStyle/>
          <a:p>
            <a:endParaRPr lang="en-US"/>
          </a:p>
        </p:txBody>
      </p:sp>
      <p:sp>
        <p:nvSpPr>
          <p:cNvPr id="17" name="Text 13"/>
          <p:cNvSpPr txBox="1"/>
          <p:nvPr/>
        </p:nvSpPr>
        <p:spPr>
          <a:xfrm>
            <a:off x="1014984" y="5276088"/>
            <a:ext cx="731520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WHY EXISTING TOOLS WERE NOT ENOUGH</a:t>
            </a:r>
            <a:endParaRPr lang="en-US" sz="850" dirty="0"/>
          </a:p>
        </p:txBody>
      </p:sp>
      <p:sp>
        <p:nvSpPr>
          <p:cNvPr id="18" name="Text 14"/>
          <p:cNvSpPr txBox="1"/>
          <p:nvPr/>
        </p:nvSpPr>
        <p:spPr>
          <a:xfrm>
            <a:off x="1014984" y="5513832"/>
            <a:ext cx="10134295" cy="384048"/>
          </a:xfrm>
          <a:prstGeom prst="rect">
            <a:avLst/>
          </a:prstGeom>
          <a:noFill/>
          <a:ln/>
        </p:spPr>
        <p:txBody>
          <a:bodyPr wrap="square" lIns="0" tIns="0" rIns="0" bIns="0" rtlCol="0" anchor="t"/>
          <a:lstStyle/>
          <a:p>
            <a:pPr marL="0" indent="0">
              <a:lnSpc>
                <a:spcPct val="118000"/>
              </a:lnSpc>
              <a:buNone/>
            </a:pPr>
            <a:r>
              <a:rPr lang="en-US" sz="1100" dirty="0">
                <a:solidFill>
                  <a:srgbClr val="43464A"/>
                </a:solidFill>
                <a:latin typeface="Montserrat" pitchFamily="34" charset="0"/>
                <a:ea typeface="Montserrat" pitchFamily="34" charset="-122"/>
                <a:cs typeface="Montserrat" pitchFamily="34" charset="-120"/>
              </a:rPr>
              <a:t>Most scanners cry wolf: "you have 500 flaws." But our code never touches most of them, so nobody can tell what is urgent. AEGIS separates signal from noise by checking whether our code actually calls the vulnerable part.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02  ·  WHAT I BUILT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A scanner that checks if the flaw is reachable</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12</a:t>
            </a:r>
            <a:endParaRPr lang="en-US" sz="850" dirty="0"/>
          </a:p>
        </p:txBody>
      </p:sp>
      <p:sp>
        <p:nvSpPr>
          <p:cNvPr id="9" name="Text 6"/>
          <p:cNvSpPr txBox="1"/>
          <p:nvPr/>
        </p:nvSpPr>
        <p:spPr>
          <a:xfrm>
            <a:off x="777240" y="2011680"/>
            <a:ext cx="3931920" cy="1133856"/>
          </a:xfrm>
          <a:prstGeom prst="rect">
            <a:avLst/>
          </a:prstGeom>
          <a:noFill/>
          <a:ln/>
        </p:spPr>
        <p:txBody>
          <a:bodyPr wrap="square" lIns="0" tIns="0" rIns="0" bIns="0" rtlCol="0" anchor="t"/>
          <a:lstStyle/>
          <a:p>
            <a:pPr marL="0" indent="0" algn="l">
              <a:buNone/>
            </a:pPr>
            <a:r>
              <a:rPr lang="en-US" sz="7200" kern="0" spc="-250" dirty="0">
                <a:solidFill>
                  <a:srgbClr val="942838"/>
                </a:solidFill>
                <a:latin typeface="Montserrat ExtraBold" pitchFamily="34" charset="0"/>
                <a:ea typeface="Montserrat ExtraBold" pitchFamily="34" charset="-122"/>
                <a:cs typeface="Montserrat ExtraBold" pitchFamily="34" charset="-120"/>
              </a:rPr>
              <a:t>5,675</a:t>
            </a:r>
            <a:endParaRPr lang="en-US" sz="7200" dirty="0"/>
          </a:p>
        </p:txBody>
      </p:sp>
      <p:sp>
        <p:nvSpPr>
          <p:cNvPr id="10" name="Text 7"/>
          <p:cNvSpPr txBox="1"/>
          <p:nvPr/>
        </p:nvSpPr>
        <p:spPr>
          <a:xfrm>
            <a:off x="777240" y="3145536"/>
            <a:ext cx="3931920" cy="457200"/>
          </a:xfrm>
          <a:prstGeom prst="rect">
            <a:avLst/>
          </a:prstGeom>
          <a:noFill/>
          <a:ln/>
        </p:spPr>
        <p:txBody>
          <a:bodyPr wrap="square" lIns="0" tIns="0" rIns="0" bIns="0" rtlCol="0" anchor="t"/>
          <a:lstStyle/>
          <a:p>
            <a:pPr marL="0" indent="0" algn="l">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packages scanned in production</a:t>
            </a:r>
            <a:endParaRPr lang="en-US" sz="950" dirty="0"/>
          </a:p>
          <a:p>
            <a:pPr marL="0" indent="0" algn="l">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by an earlier version of the tool</a:t>
            </a:r>
            <a:endParaRPr lang="en-US" sz="950" dirty="0"/>
          </a:p>
        </p:txBody>
      </p:sp>
      <p:sp>
        <p:nvSpPr>
          <p:cNvPr id="11" name="Shape 8"/>
          <p:cNvSpPr/>
          <p:nvPr/>
        </p:nvSpPr>
        <p:spPr>
          <a:xfrm>
            <a:off x="795528" y="3602736"/>
            <a:ext cx="109728" cy="109728"/>
          </a:xfrm>
          <a:prstGeom prst="ellipse">
            <a:avLst/>
          </a:prstGeom>
          <a:solidFill>
            <a:srgbClr val="942838"/>
          </a:solidFill>
          <a:ln/>
        </p:spPr>
        <p:txBody>
          <a:bodyPr/>
          <a:lstStyle/>
          <a:p>
            <a:endParaRPr lang="en-US"/>
          </a:p>
        </p:txBody>
      </p:sp>
      <p:sp>
        <p:nvSpPr>
          <p:cNvPr id="12" name="Text 9"/>
          <p:cNvSpPr txBox="1"/>
          <p:nvPr/>
        </p:nvSpPr>
        <p:spPr>
          <a:xfrm>
            <a:off x="1033272" y="3529584"/>
            <a:ext cx="3749040" cy="256032"/>
          </a:xfrm>
          <a:prstGeom prst="rect">
            <a:avLst/>
          </a:prstGeom>
          <a:noFill/>
          <a:ln/>
        </p:spPr>
        <p:txBody>
          <a:bodyPr wrap="square" lIns="0" tIns="0" rIns="0" bIns="0" rtlCol="0" anchor="t"/>
          <a:lstStyle/>
          <a:p>
            <a:pPr marL="0" indent="0">
              <a:buNone/>
            </a:pPr>
            <a:r>
              <a:rPr lang="en-US" sz="1250" dirty="0">
                <a:solidFill>
                  <a:srgbClr val="2B2D30"/>
                </a:solidFill>
                <a:latin typeface="Montserrat SemiBold" pitchFamily="34" charset="0"/>
                <a:ea typeface="Montserrat SemiBold" pitchFamily="34" charset="-122"/>
                <a:cs typeface="Montserrat SemiBold" pitchFamily="34" charset="-120"/>
              </a:rPr>
              <a:t>Reachability, not just presence</a:t>
            </a:r>
            <a:endParaRPr lang="en-US" sz="1250" dirty="0"/>
          </a:p>
        </p:txBody>
      </p:sp>
      <p:sp>
        <p:nvSpPr>
          <p:cNvPr id="13" name="Text 10"/>
          <p:cNvSpPr txBox="1"/>
          <p:nvPr/>
        </p:nvSpPr>
        <p:spPr>
          <a:xfrm>
            <a:off x="1033272" y="3785616"/>
            <a:ext cx="3703320" cy="548640"/>
          </a:xfrm>
          <a:prstGeom prst="rect">
            <a:avLst/>
          </a:prstGeom>
          <a:noFill/>
          <a:ln/>
        </p:spPr>
        <p:txBody>
          <a:bodyPr wrap="square" lIns="0" tIns="0" rIns="0" bIns="0" rtlCol="0" anchor="t"/>
          <a:lstStyle/>
          <a:p>
            <a:pPr marL="0" indent="0">
              <a:lnSpc>
                <a:spcPct val="120000"/>
              </a:lnSpc>
              <a:buNone/>
            </a:pPr>
            <a:r>
              <a:rPr lang="en-US" sz="1100" dirty="0">
                <a:solidFill>
                  <a:srgbClr val="6E7175"/>
                </a:solidFill>
                <a:latin typeface="Montserrat" pitchFamily="34" charset="0"/>
                <a:ea typeface="Montserrat" pitchFamily="34" charset="-122"/>
                <a:cs typeface="Montserrat" pitchFamily="34" charset="-120"/>
              </a:rPr>
              <a:t>Not "you have a flawed package" but "your code actually calls the flawed part".</a:t>
            </a:r>
            <a:endParaRPr lang="en-US" sz="1100" dirty="0"/>
          </a:p>
        </p:txBody>
      </p:sp>
      <p:sp>
        <p:nvSpPr>
          <p:cNvPr id="14" name="Shape 11"/>
          <p:cNvSpPr/>
          <p:nvPr/>
        </p:nvSpPr>
        <p:spPr>
          <a:xfrm>
            <a:off x="795528" y="4370832"/>
            <a:ext cx="109728" cy="109728"/>
          </a:xfrm>
          <a:prstGeom prst="ellipse">
            <a:avLst/>
          </a:prstGeom>
          <a:solidFill>
            <a:srgbClr val="942838"/>
          </a:solidFill>
          <a:ln/>
        </p:spPr>
        <p:txBody>
          <a:bodyPr/>
          <a:lstStyle/>
          <a:p>
            <a:endParaRPr lang="en-US"/>
          </a:p>
        </p:txBody>
      </p:sp>
      <p:sp>
        <p:nvSpPr>
          <p:cNvPr id="15" name="Text 12"/>
          <p:cNvSpPr txBox="1"/>
          <p:nvPr/>
        </p:nvSpPr>
        <p:spPr>
          <a:xfrm>
            <a:off x="1033272" y="4297680"/>
            <a:ext cx="3749040" cy="256032"/>
          </a:xfrm>
          <a:prstGeom prst="rect">
            <a:avLst/>
          </a:prstGeom>
          <a:noFill/>
          <a:ln/>
        </p:spPr>
        <p:txBody>
          <a:bodyPr wrap="square" lIns="0" tIns="0" rIns="0" bIns="0" rtlCol="0" anchor="t"/>
          <a:lstStyle/>
          <a:p>
            <a:pPr marL="0" indent="0">
              <a:buNone/>
            </a:pPr>
            <a:r>
              <a:rPr lang="en-US" sz="1250" dirty="0">
                <a:solidFill>
                  <a:srgbClr val="2B2D30"/>
                </a:solidFill>
                <a:latin typeface="Montserrat SemiBold" pitchFamily="34" charset="0"/>
                <a:ea typeface="Montserrat SemiBold" pitchFamily="34" charset="-122"/>
                <a:cs typeface="Montserrat SemiBold" pitchFamily="34" charset="-120"/>
              </a:rPr>
              <a:t>Three honest answers</a:t>
            </a:r>
            <a:endParaRPr lang="en-US" sz="1250" dirty="0"/>
          </a:p>
        </p:txBody>
      </p:sp>
      <p:sp>
        <p:nvSpPr>
          <p:cNvPr id="16" name="Text 13"/>
          <p:cNvSpPr txBox="1"/>
          <p:nvPr/>
        </p:nvSpPr>
        <p:spPr>
          <a:xfrm>
            <a:off x="1033272" y="4553712"/>
            <a:ext cx="3703320" cy="548640"/>
          </a:xfrm>
          <a:prstGeom prst="rect">
            <a:avLst/>
          </a:prstGeom>
          <a:noFill/>
          <a:ln/>
        </p:spPr>
        <p:txBody>
          <a:bodyPr wrap="square" lIns="0" tIns="0" rIns="0" bIns="0" rtlCol="0" anchor="t"/>
          <a:lstStyle/>
          <a:p>
            <a:pPr marL="0" indent="0">
              <a:lnSpc>
                <a:spcPct val="120000"/>
              </a:lnSpc>
              <a:buNone/>
            </a:pPr>
            <a:r>
              <a:rPr lang="en-US" sz="1100" dirty="0">
                <a:solidFill>
                  <a:srgbClr val="6E7175"/>
                </a:solidFill>
                <a:latin typeface="Montserrat" pitchFamily="34" charset="0"/>
                <a:ea typeface="Montserrat" pitchFamily="34" charset="-122"/>
                <a:cs typeface="Montserrat" pitchFamily="34" charset="-120"/>
              </a:rPr>
              <a:t>Reachable, no call site found, or can't prove. They are never collapsed together into a single "safe".</a:t>
            </a:r>
            <a:endParaRPr lang="en-US" sz="1100" dirty="0"/>
          </a:p>
        </p:txBody>
      </p:sp>
      <p:sp>
        <p:nvSpPr>
          <p:cNvPr id="17" name="Shape 14"/>
          <p:cNvSpPr/>
          <p:nvPr/>
        </p:nvSpPr>
        <p:spPr>
          <a:xfrm>
            <a:off x="795528" y="5138928"/>
            <a:ext cx="109728" cy="109728"/>
          </a:xfrm>
          <a:prstGeom prst="ellipse">
            <a:avLst/>
          </a:prstGeom>
          <a:solidFill>
            <a:srgbClr val="942838"/>
          </a:solidFill>
          <a:ln/>
        </p:spPr>
        <p:txBody>
          <a:bodyPr/>
          <a:lstStyle/>
          <a:p>
            <a:endParaRPr lang="en-US"/>
          </a:p>
        </p:txBody>
      </p:sp>
      <p:sp>
        <p:nvSpPr>
          <p:cNvPr id="18" name="Text 15"/>
          <p:cNvSpPr txBox="1"/>
          <p:nvPr/>
        </p:nvSpPr>
        <p:spPr>
          <a:xfrm>
            <a:off x="1033272" y="5065776"/>
            <a:ext cx="3749040" cy="256032"/>
          </a:xfrm>
          <a:prstGeom prst="rect">
            <a:avLst/>
          </a:prstGeom>
          <a:noFill/>
          <a:ln/>
        </p:spPr>
        <p:txBody>
          <a:bodyPr wrap="square" lIns="0" tIns="0" rIns="0" bIns="0" rtlCol="0" anchor="t"/>
          <a:lstStyle/>
          <a:p>
            <a:pPr marL="0" indent="0">
              <a:buNone/>
            </a:pPr>
            <a:r>
              <a:rPr lang="en-US" sz="1250" dirty="0">
                <a:solidFill>
                  <a:srgbClr val="2B2D30"/>
                </a:solidFill>
                <a:latin typeface="Montserrat SemiBold" pitchFamily="34" charset="0"/>
                <a:ea typeface="Montserrat SemiBold" pitchFamily="34" charset="-122"/>
                <a:cs typeface="Montserrat SemiBold" pitchFamily="34" charset="-120"/>
              </a:rPr>
              <a:t>Unknown is never "safe"</a:t>
            </a:r>
            <a:endParaRPr lang="en-US" sz="1250" dirty="0"/>
          </a:p>
        </p:txBody>
      </p:sp>
      <p:sp>
        <p:nvSpPr>
          <p:cNvPr id="19" name="Text 16"/>
          <p:cNvSpPr txBox="1"/>
          <p:nvPr/>
        </p:nvSpPr>
        <p:spPr>
          <a:xfrm>
            <a:off x="1033272" y="5321808"/>
            <a:ext cx="3703320" cy="548640"/>
          </a:xfrm>
          <a:prstGeom prst="rect">
            <a:avLst/>
          </a:prstGeom>
          <a:noFill/>
          <a:ln/>
        </p:spPr>
        <p:txBody>
          <a:bodyPr wrap="square" lIns="0" tIns="0" rIns="0" bIns="0" rtlCol="0" anchor="t"/>
          <a:lstStyle/>
          <a:p>
            <a:pPr marL="0" indent="0">
              <a:lnSpc>
                <a:spcPct val="120000"/>
              </a:lnSpc>
              <a:buNone/>
            </a:pPr>
            <a:r>
              <a:rPr lang="en-US" sz="1100" dirty="0">
                <a:solidFill>
                  <a:srgbClr val="6E7175"/>
                </a:solidFill>
                <a:latin typeface="Montserrat" pitchFamily="34" charset="0"/>
                <a:ea typeface="Montserrat" pitchFamily="34" charset="-122"/>
                <a:cs typeface="Montserrat" pitchFamily="34" charset="-120"/>
              </a:rPr>
              <a:t>If the tool cannot tell, it says so. It never reports a clean result it has not earned.</a:t>
            </a:r>
            <a:endParaRPr lang="en-US" sz="1100" dirty="0"/>
          </a:p>
        </p:txBody>
      </p:sp>
      <p:sp>
        <p:nvSpPr>
          <p:cNvPr id="20" name="Shape 17"/>
          <p:cNvSpPr/>
          <p:nvPr/>
        </p:nvSpPr>
        <p:spPr>
          <a:xfrm>
            <a:off x="5175504" y="2066544"/>
            <a:ext cx="6238951" cy="3035808"/>
          </a:xfrm>
          <a:prstGeom prst="roundRect">
            <a:avLst>
              <a:gd name="adj" fmla="val 1807"/>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1" name="Text 18"/>
          <p:cNvSpPr txBox="1"/>
          <p:nvPr/>
        </p:nvSpPr>
        <p:spPr>
          <a:xfrm>
            <a:off x="5486400" y="2322576"/>
            <a:ext cx="5617159"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PACKAGES SCANNED PER RUN  ·  EARLIER VERSION</a:t>
            </a:r>
            <a:endParaRPr lang="en-US" sz="850" dirty="0"/>
          </a:p>
        </p:txBody>
      </p:sp>
      <p:pic>
        <p:nvPicPr>
          <p:cNvPr id="22" name="Image 1" descr="/home/user/ai/assets/gen/chart-packages.png"/>
          <p:cNvPicPr>
            <a:picLocks noChangeAspect="1"/>
          </p:cNvPicPr>
          <p:nvPr/>
        </p:nvPicPr>
        <p:blipFill>
          <a:blip r:embed="rId4"/>
          <a:stretch>
            <a:fillRect/>
          </a:stretch>
        </p:blipFill>
        <p:spPr>
          <a:xfrm>
            <a:off x="6164428" y="2578608"/>
            <a:ext cx="4261104" cy="2410888"/>
          </a:xfrm>
          <a:prstGeom prst="rect">
            <a:avLst/>
          </a:prstGeom>
        </p:spPr>
      </p:pic>
      <p:sp>
        <p:nvSpPr>
          <p:cNvPr id="23" name="Shape 19"/>
          <p:cNvSpPr/>
          <p:nvPr/>
        </p:nvSpPr>
        <p:spPr>
          <a:xfrm>
            <a:off x="5175504" y="5266944"/>
            <a:ext cx="6238951" cy="877824"/>
          </a:xfrm>
          <a:prstGeom prst="roundRect">
            <a:avLst>
              <a:gd name="adj" fmla="val 6250"/>
            </a:avLst>
          </a:prstGeom>
          <a:solidFill>
            <a:srgbClr val="F6EEF0"/>
          </a:solidFill>
          <a:ln/>
        </p:spPr>
        <p:txBody>
          <a:bodyPr/>
          <a:lstStyle/>
          <a:p>
            <a:endParaRPr lang="en-US"/>
          </a:p>
        </p:txBody>
      </p:sp>
      <p:sp>
        <p:nvSpPr>
          <p:cNvPr id="24" name="Shape 20"/>
          <p:cNvSpPr/>
          <p:nvPr/>
        </p:nvSpPr>
        <p:spPr>
          <a:xfrm>
            <a:off x="5175504" y="5266944"/>
            <a:ext cx="50292" cy="877824"/>
          </a:xfrm>
          <a:prstGeom prst="rect">
            <a:avLst/>
          </a:prstGeom>
          <a:solidFill>
            <a:srgbClr val="942838"/>
          </a:solidFill>
          <a:ln/>
        </p:spPr>
        <p:txBody>
          <a:bodyPr/>
          <a:lstStyle/>
          <a:p>
            <a:endParaRPr lang="en-US"/>
          </a:p>
        </p:txBody>
      </p:sp>
      <p:sp>
        <p:nvSpPr>
          <p:cNvPr id="25" name="Text 21"/>
          <p:cNvSpPr txBox="1"/>
          <p:nvPr/>
        </p:nvSpPr>
        <p:spPr>
          <a:xfrm>
            <a:off x="5413248" y="5394960"/>
            <a:ext cx="365760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IN PRACTICE</a:t>
            </a:r>
            <a:endParaRPr lang="en-US" sz="850" dirty="0"/>
          </a:p>
        </p:txBody>
      </p:sp>
      <p:sp>
        <p:nvSpPr>
          <p:cNvPr id="26" name="Text 22"/>
          <p:cNvSpPr txBox="1"/>
          <p:nvPr/>
        </p:nvSpPr>
        <p:spPr>
          <a:xfrm>
            <a:off x="5413248" y="5614416"/>
            <a:ext cx="5781751" cy="457200"/>
          </a:xfrm>
          <a:prstGeom prst="rect">
            <a:avLst/>
          </a:prstGeom>
          <a:noFill/>
          <a:ln/>
        </p:spPr>
        <p:txBody>
          <a:bodyPr wrap="square" lIns="0" tIns="0" rIns="0" bIns="0" rtlCol="0" anchor="t"/>
          <a:lstStyle/>
          <a:p>
            <a:pPr marL="0" indent="0">
              <a:lnSpc>
                <a:spcPct val="120000"/>
              </a:lnSpc>
              <a:buNone/>
            </a:pPr>
            <a:r>
              <a:rPr lang="en-US" sz="1000" dirty="0">
                <a:solidFill>
                  <a:srgbClr val="43464A"/>
                </a:solidFill>
                <a:latin typeface="Montserrat" pitchFamily="34" charset="0"/>
                <a:ea typeface="Montserrat" pitchFamily="34" charset="-122"/>
                <a:cs typeface="Montserrat" pitchFamily="34" charset="-120"/>
              </a:rPr>
              <a:t>A package we use has a known flaw. AEGIS answers three things: does our code actually call it, how much would be affected, and how risky is the fix. Then the team decides whether it is urgent — instead of guessing.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02  ·  HOW IT WORKS</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Five stages. Only one can change anything</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AEGIS</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13</a:t>
            </a:r>
            <a:endParaRPr lang="en-US" sz="850" dirty="0"/>
          </a:p>
        </p:txBody>
      </p:sp>
      <p:sp>
        <p:nvSpPr>
          <p:cNvPr id="9" name="Shape 6"/>
          <p:cNvSpPr/>
          <p:nvPr/>
        </p:nvSpPr>
        <p:spPr>
          <a:xfrm>
            <a:off x="777240" y="1865376"/>
            <a:ext cx="10637215" cy="530352"/>
          </a:xfrm>
          <a:prstGeom prst="roundRect">
            <a:avLst>
              <a:gd name="adj" fmla="val 10345"/>
            </a:avLst>
          </a:prstGeom>
          <a:solidFill>
            <a:srgbClr val="F6EEF0"/>
          </a:solidFill>
          <a:ln/>
        </p:spPr>
        <p:txBody>
          <a:bodyPr/>
          <a:lstStyle/>
          <a:p>
            <a:endParaRPr lang="en-US"/>
          </a:p>
        </p:txBody>
      </p:sp>
      <p:sp>
        <p:nvSpPr>
          <p:cNvPr id="10" name="Shape 7"/>
          <p:cNvSpPr/>
          <p:nvPr/>
        </p:nvSpPr>
        <p:spPr>
          <a:xfrm>
            <a:off x="777240" y="1865376"/>
            <a:ext cx="50292" cy="530352"/>
          </a:xfrm>
          <a:prstGeom prst="rect">
            <a:avLst/>
          </a:prstGeom>
          <a:solidFill>
            <a:srgbClr val="942838"/>
          </a:solidFill>
          <a:ln/>
        </p:spPr>
        <p:txBody>
          <a:bodyPr/>
          <a:lstStyle/>
          <a:p>
            <a:endParaRPr lang="en-US"/>
          </a:p>
        </p:txBody>
      </p:sp>
      <p:sp>
        <p:nvSpPr>
          <p:cNvPr id="11" name="Text 8"/>
          <p:cNvSpPr txBox="1"/>
          <p:nvPr/>
        </p:nvSpPr>
        <p:spPr>
          <a:xfrm>
            <a:off x="1014984" y="2039112"/>
            <a:ext cx="10180015" cy="274320"/>
          </a:xfrm>
          <a:prstGeom prst="rect">
            <a:avLst/>
          </a:prstGeom>
          <a:noFill/>
          <a:ln/>
        </p:spPr>
        <p:txBody>
          <a:bodyPr wrap="square" lIns="0" tIns="0" rIns="0" bIns="0" rtlCol="0" anchor="t"/>
          <a:lstStyle/>
          <a:p>
            <a:pPr marL="0" indent="0">
              <a:buNone/>
            </a:pPr>
            <a:r>
              <a:rPr lang="en-US" sz="900" kern="0" spc="140" dirty="0">
                <a:solidFill>
                  <a:srgbClr val="942838"/>
                </a:solidFill>
                <a:latin typeface="Montserrat SemiBold" pitchFamily="34" charset="0"/>
                <a:ea typeface="Montserrat SemiBold" pitchFamily="34" charset="-122"/>
                <a:cs typeface="Montserrat SemiBold" pitchFamily="34" charset="-120"/>
              </a:rPr>
              <a:t>THE CORE RULE   </a:t>
            </a:r>
            <a:r>
              <a:rPr lang="en-US" sz="1250" dirty="0">
                <a:solidFill>
                  <a:srgbClr val="2B2D30"/>
                </a:solidFill>
                <a:latin typeface="Montserrat SemiBold" pitchFamily="34" charset="0"/>
                <a:ea typeface="Montserrat SemiBold" pitchFamily="34" charset="-122"/>
                <a:cs typeface="Montserrat SemiBold" pitchFamily="34" charset="-120"/>
              </a:rPr>
              <a:t>Unknown is never reported as safe. If AEGIS cannot tell, it says so.</a:t>
            </a:r>
            <a:endParaRPr lang="en-US" sz="900" dirty="0"/>
          </a:p>
        </p:txBody>
      </p:sp>
      <p:sp>
        <p:nvSpPr>
          <p:cNvPr id="12" name="Text 9"/>
          <p:cNvSpPr txBox="1"/>
          <p:nvPr/>
        </p:nvSpPr>
        <p:spPr>
          <a:xfrm>
            <a:off x="777240" y="2596896"/>
            <a:ext cx="82296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STAGES 00–03   ·   RUN AUTOMATICALLY, READ ONLY — NOTHING IS CHANGED</a:t>
            </a:r>
            <a:endParaRPr lang="en-US" sz="850" dirty="0"/>
          </a:p>
        </p:txBody>
      </p:sp>
      <p:sp>
        <p:nvSpPr>
          <p:cNvPr id="13" name="Shape 10"/>
          <p:cNvSpPr/>
          <p:nvPr/>
        </p:nvSpPr>
        <p:spPr>
          <a:xfrm>
            <a:off x="777240" y="2798064"/>
            <a:ext cx="2412416" cy="1737360"/>
          </a:xfrm>
          <a:prstGeom prst="roundRect">
            <a:avLst>
              <a:gd name="adj" fmla="val 3158"/>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4" name="Shape 11"/>
          <p:cNvSpPr/>
          <p:nvPr/>
        </p:nvSpPr>
        <p:spPr>
          <a:xfrm>
            <a:off x="777240" y="2798064"/>
            <a:ext cx="2412416" cy="45720"/>
          </a:xfrm>
          <a:prstGeom prst="rect">
            <a:avLst/>
          </a:prstGeom>
          <a:solidFill>
            <a:srgbClr val="942838"/>
          </a:solidFill>
          <a:ln/>
        </p:spPr>
        <p:txBody>
          <a:bodyPr/>
          <a:lstStyle/>
          <a:p>
            <a:endParaRPr lang="en-US"/>
          </a:p>
        </p:txBody>
      </p:sp>
      <p:sp>
        <p:nvSpPr>
          <p:cNvPr id="15" name="Text 12"/>
          <p:cNvSpPr txBox="1"/>
          <p:nvPr/>
        </p:nvSpPr>
        <p:spPr>
          <a:xfrm>
            <a:off x="996696" y="2962656"/>
            <a:ext cx="914400" cy="219456"/>
          </a:xfrm>
          <a:prstGeom prst="rect">
            <a:avLst/>
          </a:prstGeom>
          <a:noFill/>
          <a:ln/>
        </p:spPr>
        <p:txBody>
          <a:bodyPr wrap="square" lIns="0" tIns="0" rIns="0" bIns="0" rtlCol="0" anchor="t"/>
          <a:lstStyle/>
          <a:p>
            <a:pPr marL="0" indent="0">
              <a:buNone/>
            </a:pPr>
            <a:r>
              <a:rPr lang="en-US" sz="1300" kern="0" spc="40" dirty="0">
                <a:solidFill>
                  <a:srgbClr val="DFBEC4"/>
                </a:solidFill>
                <a:latin typeface="Montserrat ExtraBold" pitchFamily="34" charset="0"/>
                <a:ea typeface="Montserrat ExtraBold" pitchFamily="34" charset="-122"/>
                <a:cs typeface="Montserrat ExtraBold" pitchFamily="34" charset="-120"/>
              </a:rPr>
              <a:t>00</a:t>
            </a:r>
            <a:endParaRPr lang="en-US" sz="1300" dirty="0"/>
          </a:p>
        </p:txBody>
      </p:sp>
      <p:sp>
        <p:nvSpPr>
          <p:cNvPr id="16" name="Text 13"/>
          <p:cNvSpPr txBox="1"/>
          <p:nvPr/>
        </p:nvSpPr>
        <p:spPr>
          <a:xfrm>
            <a:off x="996696" y="3200400"/>
            <a:ext cx="1973504" cy="274320"/>
          </a:xfrm>
          <a:prstGeom prst="rect">
            <a:avLst/>
          </a:prstGeom>
          <a:noFill/>
          <a:ln/>
        </p:spPr>
        <p:txBody>
          <a:bodyPr wrap="square" lIns="0" tIns="0" rIns="0" bIns="0" rtlCol="0" anchor="t"/>
          <a:lstStyle/>
          <a:p>
            <a:pPr marL="0" indent="0">
              <a:buNone/>
            </a:pPr>
            <a:r>
              <a:rPr lang="en-US" sz="1600" kern="0" spc="30" dirty="0">
                <a:solidFill>
                  <a:srgbClr val="2B2D30"/>
                </a:solidFill>
                <a:latin typeface="Montserrat ExtraBold" pitchFamily="34" charset="0"/>
                <a:ea typeface="Montserrat ExtraBold" pitchFamily="34" charset="-122"/>
                <a:cs typeface="Montserrat ExtraBold" pitchFamily="34" charset="-120"/>
              </a:rPr>
              <a:t>SCAN</a:t>
            </a:r>
            <a:endParaRPr lang="en-US" sz="1600" dirty="0"/>
          </a:p>
        </p:txBody>
      </p:sp>
      <p:sp>
        <p:nvSpPr>
          <p:cNvPr id="17" name="Text 14"/>
          <p:cNvSpPr txBox="1"/>
          <p:nvPr/>
        </p:nvSpPr>
        <p:spPr>
          <a:xfrm>
            <a:off x="996696" y="3529584"/>
            <a:ext cx="1973504" cy="713232"/>
          </a:xfrm>
          <a:prstGeom prst="rect">
            <a:avLst/>
          </a:prstGeom>
          <a:noFill/>
          <a:ln/>
        </p:spPr>
        <p:txBody>
          <a:bodyPr wrap="square" lIns="0" tIns="0" rIns="0" bIns="0" rtlCol="0" anchor="t"/>
          <a:lstStyle/>
          <a:p>
            <a:pPr marL="0" indent="0">
              <a:lnSpc>
                <a:spcPct val="118000"/>
              </a:lnSpc>
              <a:buNone/>
            </a:pPr>
            <a:r>
              <a:rPr lang="en-US" sz="950" dirty="0">
                <a:solidFill>
                  <a:srgbClr val="6E7175"/>
                </a:solidFill>
                <a:latin typeface="Montserrat" pitchFamily="34" charset="0"/>
                <a:ea typeface="Montserrat" pitchFamily="34" charset="-122"/>
                <a:cs typeface="Montserrat" pitchFamily="34" charset="-120"/>
              </a:rPr>
              <a:t>Checks every package version the project installs — its "lockfile" — against public records of known flaws.</a:t>
            </a:r>
            <a:endParaRPr lang="en-US" sz="950" dirty="0"/>
          </a:p>
        </p:txBody>
      </p:sp>
      <p:sp>
        <p:nvSpPr>
          <p:cNvPr id="18" name="Text 15"/>
          <p:cNvSpPr txBox="1"/>
          <p:nvPr/>
        </p:nvSpPr>
        <p:spPr>
          <a:xfrm>
            <a:off x="996696" y="4261104"/>
            <a:ext cx="1973504" cy="201168"/>
          </a:xfrm>
          <a:prstGeom prst="rect">
            <a:avLst/>
          </a:prstGeom>
          <a:noFill/>
          <a:ln/>
        </p:spPr>
        <p:txBody>
          <a:bodyPr wrap="square" lIns="0" tIns="0" rIns="0" bIns="0" rtlCol="0" anchor="t"/>
          <a:lstStyle/>
          <a:p>
            <a:pPr marL="0" indent="0">
              <a:buNone/>
            </a:pPr>
            <a:r>
              <a:rPr lang="en-US" sz="850" kern="0" spc="60" dirty="0">
                <a:solidFill>
                  <a:srgbClr val="942838"/>
                </a:solidFill>
                <a:latin typeface="Montserrat SemiBold" pitchFamily="34" charset="0"/>
                <a:ea typeface="Montserrat SemiBold" pitchFamily="34" charset="-122"/>
                <a:cs typeface="Montserrat SemiBold" pitchFamily="34" charset="-120"/>
              </a:rPr>
              <a:t>Checks public flaw records</a:t>
            </a:r>
            <a:endParaRPr lang="en-US" sz="850" dirty="0"/>
          </a:p>
        </p:txBody>
      </p:sp>
      <p:sp>
        <p:nvSpPr>
          <p:cNvPr id="19" name="Shape 16"/>
          <p:cNvSpPr/>
          <p:nvPr/>
        </p:nvSpPr>
        <p:spPr>
          <a:xfrm>
            <a:off x="3235376" y="3656686"/>
            <a:ext cx="146304" cy="20117"/>
          </a:xfrm>
          <a:prstGeom prst="rect">
            <a:avLst/>
          </a:prstGeom>
          <a:solidFill>
            <a:srgbClr val="43464A"/>
          </a:solidFill>
          <a:ln/>
        </p:spPr>
        <p:txBody>
          <a:bodyPr/>
          <a:lstStyle/>
          <a:p>
            <a:endParaRPr lang="en-US"/>
          </a:p>
        </p:txBody>
      </p:sp>
      <p:sp>
        <p:nvSpPr>
          <p:cNvPr id="20" name="Shape 17"/>
          <p:cNvSpPr/>
          <p:nvPr/>
        </p:nvSpPr>
        <p:spPr>
          <a:xfrm rot="5400000">
            <a:off x="3381680" y="3607308"/>
            <a:ext cx="91440" cy="118872"/>
          </a:xfrm>
          <a:prstGeom prst="triangle">
            <a:avLst/>
          </a:prstGeom>
          <a:solidFill>
            <a:srgbClr val="43464A"/>
          </a:solidFill>
          <a:ln/>
        </p:spPr>
        <p:txBody>
          <a:bodyPr/>
          <a:lstStyle/>
          <a:p>
            <a:endParaRPr lang="en-US"/>
          </a:p>
        </p:txBody>
      </p:sp>
      <p:sp>
        <p:nvSpPr>
          <p:cNvPr id="21" name="Shape 18"/>
          <p:cNvSpPr/>
          <p:nvPr/>
        </p:nvSpPr>
        <p:spPr>
          <a:xfrm>
            <a:off x="3518840" y="2798064"/>
            <a:ext cx="2412416" cy="1737360"/>
          </a:xfrm>
          <a:prstGeom prst="roundRect">
            <a:avLst>
              <a:gd name="adj" fmla="val 3158"/>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2" name="Shape 19"/>
          <p:cNvSpPr/>
          <p:nvPr/>
        </p:nvSpPr>
        <p:spPr>
          <a:xfrm>
            <a:off x="3518840" y="2798064"/>
            <a:ext cx="2412416" cy="45720"/>
          </a:xfrm>
          <a:prstGeom prst="rect">
            <a:avLst/>
          </a:prstGeom>
          <a:solidFill>
            <a:srgbClr val="942838"/>
          </a:solidFill>
          <a:ln/>
        </p:spPr>
        <p:txBody>
          <a:bodyPr/>
          <a:lstStyle/>
          <a:p>
            <a:endParaRPr lang="en-US"/>
          </a:p>
        </p:txBody>
      </p:sp>
      <p:sp>
        <p:nvSpPr>
          <p:cNvPr id="23" name="Text 20"/>
          <p:cNvSpPr txBox="1"/>
          <p:nvPr/>
        </p:nvSpPr>
        <p:spPr>
          <a:xfrm>
            <a:off x="3738296" y="2962656"/>
            <a:ext cx="914400" cy="219456"/>
          </a:xfrm>
          <a:prstGeom prst="rect">
            <a:avLst/>
          </a:prstGeom>
          <a:noFill/>
          <a:ln/>
        </p:spPr>
        <p:txBody>
          <a:bodyPr wrap="square" lIns="0" tIns="0" rIns="0" bIns="0" rtlCol="0" anchor="t"/>
          <a:lstStyle/>
          <a:p>
            <a:pPr marL="0" indent="0">
              <a:buNone/>
            </a:pPr>
            <a:r>
              <a:rPr lang="en-US" sz="1300" kern="0" spc="40" dirty="0">
                <a:solidFill>
                  <a:srgbClr val="DFBEC4"/>
                </a:solidFill>
                <a:latin typeface="Montserrat ExtraBold" pitchFamily="34" charset="0"/>
                <a:ea typeface="Montserrat ExtraBold" pitchFamily="34" charset="-122"/>
                <a:cs typeface="Montserrat ExtraBold" pitchFamily="34" charset="-120"/>
              </a:rPr>
              <a:t>01</a:t>
            </a:r>
            <a:endParaRPr lang="en-US" sz="1300" dirty="0"/>
          </a:p>
        </p:txBody>
      </p:sp>
      <p:sp>
        <p:nvSpPr>
          <p:cNvPr id="24" name="Text 21"/>
          <p:cNvSpPr txBox="1"/>
          <p:nvPr/>
        </p:nvSpPr>
        <p:spPr>
          <a:xfrm>
            <a:off x="3738296" y="3200400"/>
            <a:ext cx="1973504" cy="274320"/>
          </a:xfrm>
          <a:prstGeom prst="rect">
            <a:avLst/>
          </a:prstGeom>
          <a:noFill/>
          <a:ln/>
        </p:spPr>
        <p:txBody>
          <a:bodyPr wrap="square" lIns="0" tIns="0" rIns="0" bIns="0" rtlCol="0" anchor="t"/>
          <a:lstStyle/>
          <a:p>
            <a:pPr marL="0" indent="0">
              <a:buNone/>
            </a:pPr>
            <a:r>
              <a:rPr lang="en-US" sz="1600" kern="0" spc="30" dirty="0">
                <a:solidFill>
                  <a:srgbClr val="2B2D30"/>
                </a:solidFill>
                <a:latin typeface="Montserrat ExtraBold" pitchFamily="34" charset="0"/>
                <a:ea typeface="Montserrat ExtraBold" pitchFamily="34" charset="-122"/>
                <a:cs typeface="Montserrat ExtraBold" pitchFamily="34" charset="-120"/>
              </a:rPr>
              <a:t>REACH</a:t>
            </a:r>
            <a:endParaRPr lang="en-US" sz="1600" dirty="0"/>
          </a:p>
        </p:txBody>
      </p:sp>
      <p:sp>
        <p:nvSpPr>
          <p:cNvPr id="25" name="Text 22"/>
          <p:cNvSpPr txBox="1"/>
          <p:nvPr/>
        </p:nvSpPr>
        <p:spPr>
          <a:xfrm>
            <a:off x="3738296" y="3529584"/>
            <a:ext cx="1973504" cy="713232"/>
          </a:xfrm>
          <a:prstGeom prst="rect">
            <a:avLst/>
          </a:prstGeom>
          <a:noFill/>
          <a:ln/>
        </p:spPr>
        <p:txBody>
          <a:bodyPr wrap="square" lIns="0" tIns="0" rIns="0" bIns="0" rtlCol="0" anchor="t"/>
          <a:lstStyle/>
          <a:p>
            <a:pPr marL="0" indent="0">
              <a:lnSpc>
                <a:spcPct val="118000"/>
              </a:lnSpc>
              <a:buNone/>
            </a:pPr>
            <a:r>
              <a:rPr lang="en-US" sz="950" dirty="0">
                <a:solidFill>
                  <a:srgbClr val="6E7175"/>
                </a:solidFill>
                <a:latin typeface="Montserrat" pitchFamily="34" charset="0"/>
                <a:ea typeface="Montserrat" pitchFamily="34" charset="-122"/>
                <a:cs typeface="Montserrat" pitchFamily="34" charset="-120"/>
              </a:rPr>
              <a:t>Finds whether our own code calls the vulnerable part — and answers reachable, no call site, or can't prove.</a:t>
            </a:r>
            <a:endParaRPr lang="en-US" sz="950" dirty="0"/>
          </a:p>
        </p:txBody>
      </p:sp>
      <p:sp>
        <p:nvSpPr>
          <p:cNvPr id="26" name="Text 23"/>
          <p:cNvSpPr txBox="1"/>
          <p:nvPr/>
        </p:nvSpPr>
        <p:spPr>
          <a:xfrm>
            <a:off x="3738296" y="4261104"/>
            <a:ext cx="1973504" cy="201168"/>
          </a:xfrm>
          <a:prstGeom prst="rect">
            <a:avLst/>
          </a:prstGeom>
          <a:noFill/>
          <a:ln/>
        </p:spPr>
        <p:txBody>
          <a:bodyPr wrap="square" lIns="0" tIns="0" rIns="0" bIns="0" rtlCol="0" anchor="t"/>
          <a:lstStyle/>
          <a:p>
            <a:pPr marL="0" indent="0">
              <a:buNone/>
            </a:pPr>
            <a:r>
              <a:rPr lang="en-US" sz="850" kern="0" spc="60" dirty="0">
                <a:solidFill>
                  <a:srgbClr val="942838"/>
                </a:solidFill>
                <a:latin typeface="Montserrat SemiBold" pitchFamily="34" charset="0"/>
                <a:ea typeface="Montserrat SemiBold" pitchFamily="34" charset="-122"/>
                <a:cs typeface="Montserrat SemiBold" pitchFamily="34" charset="-120"/>
              </a:rPr>
              <a:t>Analyses local code only</a:t>
            </a:r>
            <a:endParaRPr lang="en-US" sz="850" dirty="0"/>
          </a:p>
        </p:txBody>
      </p:sp>
      <p:sp>
        <p:nvSpPr>
          <p:cNvPr id="27" name="Shape 24"/>
          <p:cNvSpPr/>
          <p:nvPr/>
        </p:nvSpPr>
        <p:spPr>
          <a:xfrm>
            <a:off x="5976976" y="3656686"/>
            <a:ext cx="146304" cy="20117"/>
          </a:xfrm>
          <a:prstGeom prst="rect">
            <a:avLst/>
          </a:prstGeom>
          <a:solidFill>
            <a:srgbClr val="43464A"/>
          </a:solidFill>
          <a:ln/>
        </p:spPr>
        <p:txBody>
          <a:bodyPr/>
          <a:lstStyle/>
          <a:p>
            <a:endParaRPr lang="en-US"/>
          </a:p>
        </p:txBody>
      </p:sp>
      <p:sp>
        <p:nvSpPr>
          <p:cNvPr id="28" name="Shape 25"/>
          <p:cNvSpPr/>
          <p:nvPr/>
        </p:nvSpPr>
        <p:spPr>
          <a:xfrm rot="5400000">
            <a:off x="6123280" y="3607308"/>
            <a:ext cx="91440" cy="118872"/>
          </a:xfrm>
          <a:prstGeom prst="triangle">
            <a:avLst/>
          </a:prstGeom>
          <a:solidFill>
            <a:srgbClr val="43464A"/>
          </a:solidFill>
          <a:ln/>
        </p:spPr>
        <p:txBody>
          <a:bodyPr/>
          <a:lstStyle/>
          <a:p>
            <a:endParaRPr lang="en-US"/>
          </a:p>
        </p:txBody>
      </p:sp>
      <p:sp>
        <p:nvSpPr>
          <p:cNvPr id="29" name="Shape 26"/>
          <p:cNvSpPr/>
          <p:nvPr/>
        </p:nvSpPr>
        <p:spPr>
          <a:xfrm>
            <a:off x="6260440" y="2798064"/>
            <a:ext cx="2412416" cy="1737360"/>
          </a:xfrm>
          <a:prstGeom prst="roundRect">
            <a:avLst>
              <a:gd name="adj" fmla="val 3158"/>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30" name="Shape 27"/>
          <p:cNvSpPr/>
          <p:nvPr/>
        </p:nvSpPr>
        <p:spPr>
          <a:xfrm>
            <a:off x="6260440" y="2798064"/>
            <a:ext cx="2412416" cy="45720"/>
          </a:xfrm>
          <a:prstGeom prst="rect">
            <a:avLst/>
          </a:prstGeom>
          <a:solidFill>
            <a:srgbClr val="942838"/>
          </a:solidFill>
          <a:ln/>
        </p:spPr>
        <p:txBody>
          <a:bodyPr/>
          <a:lstStyle/>
          <a:p>
            <a:endParaRPr lang="en-US"/>
          </a:p>
        </p:txBody>
      </p:sp>
      <p:sp>
        <p:nvSpPr>
          <p:cNvPr id="31" name="Text 28"/>
          <p:cNvSpPr txBox="1"/>
          <p:nvPr/>
        </p:nvSpPr>
        <p:spPr>
          <a:xfrm>
            <a:off x="6479896" y="2962656"/>
            <a:ext cx="914400" cy="219456"/>
          </a:xfrm>
          <a:prstGeom prst="rect">
            <a:avLst/>
          </a:prstGeom>
          <a:noFill/>
          <a:ln/>
        </p:spPr>
        <p:txBody>
          <a:bodyPr wrap="square" lIns="0" tIns="0" rIns="0" bIns="0" rtlCol="0" anchor="t"/>
          <a:lstStyle/>
          <a:p>
            <a:pPr marL="0" indent="0">
              <a:buNone/>
            </a:pPr>
            <a:r>
              <a:rPr lang="en-US" sz="1300" kern="0" spc="40" dirty="0">
                <a:solidFill>
                  <a:srgbClr val="DFBEC4"/>
                </a:solidFill>
                <a:latin typeface="Montserrat ExtraBold" pitchFamily="34" charset="0"/>
                <a:ea typeface="Montserrat ExtraBold" pitchFamily="34" charset="-122"/>
                <a:cs typeface="Montserrat ExtraBold" pitchFamily="34" charset="-120"/>
              </a:rPr>
              <a:t>02</a:t>
            </a:r>
            <a:endParaRPr lang="en-US" sz="1300" dirty="0"/>
          </a:p>
        </p:txBody>
      </p:sp>
      <p:sp>
        <p:nvSpPr>
          <p:cNvPr id="32" name="Text 29"/>
          <p:cNvSpPr txBox="1"/>
          <p:nvPr/>
        </p:nvSpPr>
        <p:spPr>
          <a:xfrm>
            <a:off x="6479896" y="3200400"/>
            <a:ext cx="1973504" cy="274320"/>
          </a:xfrm>
          <a:prstGeom prst="rect">
            <a:avLst/>
          </a:prstGeom>
          <a:noFill/>
          <a:ln/>
        </p:spPr>
        <p:txBody>
          <a:bodyPr wrap="square" lIns="0" tIns="0" rIns="0" bIns="0" rtlCol="0" anchor="t"/>
          <a:lstStyle/>
          <a:p>
            <a:pPr marL="0" indent="0">
              <a:buNone/>
            </a:pPr>
            <a:r>
              <a:rPr lang="en-US" sz="1600" kern="0" spc="30" dirty="0">
                <a:solidFill>
                  <a:srgbClr val="2B2D30"/>
                </a:solidFill>
                <a:latin typeface="Montserrat ExtraBold" pitchFamily="34" charset="0"/>
                <a:ea typeface="Montserrat ExtraBold" pitchFamily="34" charset="-122"/>
                <a:cs typeface="Montserrat ExtraBold" pitchFamily="34" charset="-120"/>
              </a:rPr>
              <a:t>BLAST</a:t>
            </a:r>
            <a:endParaRPr lang="en-US" sz="1600" dirty="0"/>
          </a:p>
        </p:txBody>
      </p:sp>
      <p:sp>
        <p:nvSpPr>
          <p:cNvPr id="33" name="Text 30"/>
          <p:cNvSpPr txBox="1"/>
          <p:nvPr/>
        </p:nvSpPr>
        <p:spPr>
          <a:xfrm>
            <a:off x="6479896" y="3529584"/>
            <a:ext cx="1973504" cy="713232"/>
          </a:xfrm>
          <a:prstGeom prst="rect">
            <a:avLst/>
          </a:prstGeom>
          <a:noFill/>
          <a:ln/>
        </p:spPr>
        <p:txBody>
          <a:bodyPr wrap="square" lIns="0" tIns="0" rIns="0" bIns="0" rtlCol="0" anchor="t"/>
          <a:lstStyle/>
          <a:p>
            <a:pPr marL="0" indent="0">
              <a:lnSpc>
                <a:spcPct val="118000"/>
              </a:lnSpc>
              <a:buNone/>
            </a:pPr>
            <a:r>
              <a:rPr lang="en-US" sz="950" dirty="0">
                <a:solidFill>
                  <a:srgbClr val="6E7175"/>
                </a:solidFill>
                <a:latin typeface="Montserrat" pitchFamily="34" charset="0"/>
                <a:ea typeface="Montserrat" pitchFamily="34" charset="-122"/>
                <a:cs typeface="Montserrat" pitchFamily="34" charset="-120"/>
              </a:rPr>
              <a:t>Measures how much could be affected — how much of the codebase sits downstream, and whether it runs in production.</a:t>
            </a:r>
            <a:endParaRPr lang="en-US" sz="950" dirty="0"/>
          </a:p>
        </p:txBody>
      </p:sp>
      <p:sp>
        <p:nvSpPr>
          <p:cNvPr id="34" name="Text 31"/>
          <p:cNvSpPr txBox="1"/>
          <p:nvPr/>
        </p:nvSpPr>
        <p:spPr>
          <a:xfrm>
            <a:off x="6479896" y="4261104"/>
            <a:ext cx="1973504" cy="201168"/>
          </a:xfrm>
          <a:prstGeom prst="rect">
            <a:avLst/>
          </a:prstGeom>
          <a:noFill/>
          <a:ln/>
        </p:spPr>
        <p:txBody>
          <a:bodyPr wrap="square" lIns="0" tIns="0" rIns="0" bIns="0" rtlCol="0" anchor="t"/>
          <a:lstStyle/>
          <a:p>
            <a:pPr marL="0" indent="0">
              <a:buNone/>
            </a:pPr>
            <a:r>
              <a:rPr lang="en-US" sz="850" kern="0" spc="60" dirty="0">
                <a:solidFill>
                  <a:srgbClr val="942838"/>
                </a:solidFill>
                <a:latin typeface="Montserrat SemiBold" pitchFamily="34" charset="0"/>
                <a:ea typeface="Montserrat SemiBold" pitchFamily="34" charset="-122"/>
                <a:cs typeface="Montserrat SemiBold" pitchFamily="34" charset="-120"/>
              </a:rPr>
              <a:t>Analyses local code only</a:t>
            </a:r>
            <a:endParaRPr lang="en-US" sz="850" dirty="0"/>
          </a:p>
        </p:txBody>
      </p:sp>
      <p:sp>
        <p:nvSpPr>
          <p:cNvPr id="35" name="Shape 32"/>
          <p:cNvSpPr/>
          <p:nvPr/>
        </p:nvSpPr>
        <p:spPr>
          <a:xfrm>
            <a:off x="8718575" y="3656686"/>
            <a:ext cx="146304" cy="20117"/>
          </a:xfrm>
          <a:prstGeom prst="rect">
            <a:avLst/>
          </a:prstGeom>
          <a:solidFill>
            <a:srgbClr val="43464A"/>
          </a:solidFill>
          <a:ln/>
        </p:spPr>
        <p:txBody>
          <a:bodyPr/>
          <a:lstStyle/>
          <a:p>
            <a:endParaRPr lang="en-US"/>
          </a:p>
        </p:txBody>
      </p:sp>
      <p:sp>
        <p:nvSpPr>
          <p:cNvPr id="36" name="Shape 33"/>
          <p:cNvSpPr/>
          <p:nvPr/>
        </p:nvSpPr>
        <p:spPr>
          <a:xfrm rot="5400000">
            <a:off x="8864879" y="3607308"/>
            <a:ext cx="91440" cy="118872"/>
          </a:xfrm>
          <a:prstGeom prst="triangle">
            <a:avLst/>
          </a:prstGeom>
          <a:solidFill>
            <a:srgbClr val="43464A"/>
          </a:solidFill>
          <a:ln/>
        </p:spPr>
        <p:txBody>
          <a:bodyPr/>
          <a:lstStyle/>
          <a:p>
            <a:endParaRPr lang="en-US"/>
          </a:p>
        </p:txBody>
      </p:sp>
      <p:sp>
        <p:nvSpPr>
          <p:cNvPr id="37" name="Shape 34"/>
          <p:cNvSpPr/>
          <p:nvPr/>
        </p:nvSpPr>
        <p:spPr>
          <a:xfrm>
            <a:off x="9002039" y="2798064"/>
            <a:ext cx="2412416" cy="1737360"/>
          </a:xfrm>
          <a:prstGeom prst="roundRect">
            <a:avLst>
              <a:gd name="adj" fmla="val 3158"/>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38" name="Shape 35"/>
          <p:cNvSpPr/>
          <p:nvPr/>
        </p:nvSpPr>
        <p:spPr>
          <a:xfrm>
            <a:off x="9002039" y="2798064"/>
            <a:ext cx="2412416" cy="45720"/>
          </a:xfrm>
          <a:prstGeom prst="rect">
            <a:avLst/>
          </a:prstGeom>
          <a:solidFill>
            <a:srgbClr val="942838"/>
          </a:solidFill>
          <a:ln/>
        </p:spPr>
        <p:txBody>
          <a:bodyPr/>
          <a:lstStyle/>
          <a:p>
            <a:endParaRPr lang="en-US"/>
          </a:p>
        </p:txBody>
      </p:sp>
      <p:sp>
        <p:nvSpPr>
          <p:cNvPr id="39" name="Text 36"/>
          <p:cNvSpPr txBox="1"/>
          <p:nvPr/>
        </p:nvSpPr>
        <p:spPr>
          <a:xfrm>
            <a:off x="9221495" y="2962656"/>
            <a:ext cx="914400" cy="219456"/>
          </a:xfrm>
          <a:prstGeom prst="rect">
            <a:avLst/>
          </a:prstGeom>
          <a:noFill/>
          <a:ln/>
        </p:spPr>
        <p:txBody>
          <a:bodyPr wrap="square" lIns="0" tIns="0" rIns="0" bIns="0" rtlCol="0" anchor="t"/>
          <a:lstStyle/>
          <a:p>
            <a:pPr marL="0" indent="0">
              <a:buNone/>
            </a:pPr>
            <a:r>
              <a:rPr lang="en-US" sz="1300" kern="0" spc="40" dirty="0">
                <a:solidFill>
                  <a:srgbClr val="DFBEC4"/>
                </a:solidFill>
                <a:latin typeface="Montserrat ExtraBold" pitchFamily="34" charset="0"/>
                <a:ea typeface="Montserrat ExtraBold" pitchFamily="34" charset="-122"/>
                <a:cs typeface="Montserrat ExtraBold" pitchFamily="34" charset="-120"/>
              </a:rPr>
              <a:t>03</a:t>
            </a:r>
            <a:endParaRPr lang="en-US" sz="1300" dirty="0"/>
          </a:p>
        </p:txBody>
      </p:sp>
      <p:sp>
        <p:nvSpPr>
          <p:cNvPr id="40" name="Text 37"/>
          <p:cNvSpPr txBox="1"/>
          <p:nvPr/>
        </p:nvSpPr>
        <p:spPr>
          <a:xfrm>
            <a:off x="9221495" y="3200400"/>
            <a:ext cx="1973504" cy="274320"/>
          </a:xfrm>
          <a:prstGeom prst="rect">
            <a:avLst/>
          </a:prstGeom>
          <a:noFill/>
          <a:ln/>
        </p:spPr>
        <p:txBody>
          <a:bodyPr wrap="square" lIns="0" tIns="0" rIns="0" bIns="0" rtlCol="0" anchor="t"/>
          <a:lstStyle/>
          <a:p>
            <a:pPr marL="0" indent="0">
              <a:buNone/>
            </a:pPr>
            <a:r>
              <a:rPr lang="en-US" sz="1600" kern="0" spc="30" dirty="0">
                <a:solidFill>
                  <a:srgbClr val="2B2D30"/>
                </a:solidFill>
                <a:latin typeface="Montserrat ExtraBold" pitchFamily="34" charset="0"/>
                <a:ea typeface="Montserrat ExtraBold" pitchFamily="34" charset="-122"/>
                <a:cs typeface="Montserrat ExtraBold" pitchFamily="34" charset="-120"/>
              </a:rPr>
              <a:t>REGRESS</a:t>
            </a:r>
            <a:endParaRPr lang="en-US" sz="1600" dirty="0"/>
          </a:p>
        </p:txBody>
      </p:sp>
      <p:sp>
        <p:nvSpPr>
          <p:cNvPr id="41" name="Text 38"/>
          <p:cNvSpPr txBox="1"/>
          <p:nvPr/>
        </p:nvSpPr>
        <p:spPr>
          <a:xfrm>
            <a:off x="9221495" y="3529584"/>
            <a:ext cx="1973504" cy="713232"/>
          </a:xfrm>
          <a:prstGeom prst="rect">
            <a:avLst/>
          </a:prstGeom>
          <a:noFill/>
          <a:ln/>
        </p:spPr>
        <p:txBody>
          <a:bodyPr wrap="square" lIns="0" tIns="0" rIns="0" bIns="0" rtlCol="0" anchor="t"/>
          <a:lstStyle/>
          <a:p>
            <a:pPr marL="0" indent="0">
              <a:lnSpc>
                <a:spcPct val="118000"/>
              </a:lnSpc>
              <a:buNone/>
            </a:pPr>
            <a:r>
              <a:rPr lang="en-US" sz="950" dirty="0">
                <a:solidFill>
                  <a:srgbClr val="6E7175"/>
                </a:solidFill>
                <a:latin typeface="Montserrat" pitchFamily="34" charset="0"/>
                <a:ea typeface="Montserrat" pitchFamily="34" charset="-122"/>
                <a:cs typeface="Montserrat" pitchFamily="34" charset="-120"/>
              </a:rPr>
              <a:t>Checks whether the security fix could break something — test coverage and upgrade risk, kept separate.</a:t>
            </a:r>
            <a:endParaRPr lang="en-US" sz="950" dirty="0"/>
          </a:p>
        </p:txBody>
      </p:sp>
      <p:sp>
        <p:nvSpPr>
          <p:cNvPr id="42" name="Text 39"/>
          <p:cNvSpPr txBox="1"/>
          <p:nvPr/>
        </p:nvSpPr>
        <p:spPr>
          <a:xfrm>
            <a:off x="9221495" y="4261104"/>
            <a:ext cx="1973504" cy="201168"/>
          </a:xfrm>
          <a:prstGeom prst="rect">
            <a:avLst/>
          </a:prstGeom>
          <a:noFill/>
          <a:ln/>
        </p:spPr>
        <p:txBody>
          <a:bodyPr wrap="square" lIns="0" tIns="0" rIns="0" bIns="0" rtlCol="0" anchor="t"/>
          <a:lstStyle/>
          <a:p>
            <a:pPr marL="0" indent="0">
              <a:buNone/>
            </a:pPr>
            <a:r>
              <a:rPr lang="en-US" sz="850" kern="0" spc="60" dirty="0">
                <a:solidFill>
                  <a:srgbClr val="942838"/>
                </a:solidFill>
                <a:latin typeface="Montserrat SemiBold" pitchFamily="34" charset="0"/>
                <a:ea typeface="Montserrat SemiBold" pitchFamily="34" charset="-122"/>
                <a:cs typeface="Montserrat SemiBold" pitchFamily="34" charset="-120"/>
              </a:rPr>
              <a:t>Analyses local code only</a:t>
            </a:r>
            <a:endParaRPr lang="en-US" sz="850" dirty="0"/>
          </a:p>
        </p:txBody>
      </p:sp>
      <p:sp>
        <p:nvSpPr>
          <p:cNvPr id="43" name="Shape 40"/>
          <p:cNvSpPr/>
          <p:nvPr/>
        </p:nvSpPr>
        <p:spPr>
          <a:xfrm>
            <a:off x="10198189" y="4553712"/>
            <a:ext cx="20117" cy="82296"/>
          </a:xfrm>
          <a:prstGeom prst="rect">
            <a:avLst/>
          </a:prstGeom>
          <a:solidFill>
            <a:srgbClr val="942838"/>
          </a:solidFill>
          <a:ln/>
        </p:spPr>
        <p:txBody>
          <a:bodyPr/>
          <a:lstStyle/>
          <a:p>
            <a:endParaRPr lang="en-US"/>
          </a:p>
        </p:txBody>
      </p:sp>
      <p:sp>
        <p:nvSpPr>
          <p:cNvPr id="44" name="Shape 41"/>
          <p:cNvSpPr/>
          <p:nvPr/>
        </p:nvSpPr>
        <p:spPr>
          <a:xfrm rot="10800000">
            <a:off x="10162527" y="4636008"/>
            <a:ext cx="91440" cy="118872"/>
          </a:xfrm>
          <a:prstGeom prst="triangle">
            <a:avLst/>
          </a:prstGeom>
          <a:solidFill>
            <a:srgbClr val="942838"/>
          </a:solidFill>
          <a:ln/>
        </p:spPr>
        <p:txBody>
          <a:bodyPr/>
          <a:lstStyle/>
          <a:p>
            <a:endParaRPr lang="en-US"/>
          </a:p>
        </p:txBody>
      </p:sp>
      <p:sp>
        <p:nvSpPr>
          <p:cNvPr id="45" name="Text 42"/>
          <p:cNvSpPr txBox="1"/>
          <p:nvPr/>
        </p:nvSpPr>
        <p:spPr>
          <a:xfrm>
            <a:off x="7830807" y="4645152"/>
            <a:ext cx="2194560" cy="201168"/>
          </a:xfrm>
          <a:prstGeom prst="rect">
            <a:avLst/>
          </a:prstGeom>
          <a:noFill/>
          <a:ln/>
        </p:spPr>
        <p:txBody>
          <a:bodyPr wrap="square" lIns="0" tIns="0" rIns="0" bIns="0" rtlCol="0" anchor="t"/>
          <a:lstStyle/>
          <a:p>
            <a:pPr marL="0" indent="0" algn="r">
              <a:buNone/>
            </a:pPr>
            <a:r>
              <a:rPr lang="en-US" sz="850" kern="0" spc="140" dirty="0">
                <a:solidFill>
                  <a:srgbClr val="942838"/>
                </a:solidFill>
                <a:latin typeface="Montserrat SemiBold" pitchFamily="34" charset="0"/>
                <a:ea typeface="Montserrat SemiBold" pitchFamily="34" charset="-122"/>
                <a:cs typeface="Montserrat SemiBold" pitchFamily="34" charset="-120"/>
              </a:rPr>
              <a:t>ONLY IF YOU ASK</a:t>
            </a:r>
            <a:endParaRPr lang="en-US" sz="850" dirty="0"/>
          </a:p>
        </p:txBody>
      </p:sp>
      <p:sp>
        <p:nvSpPr>
          <p:cNvPr id="46" name="Shape 43"/>
          <p:cNvSpPr/>
          <p:nvPr/>
        </p:nvSpPr>
        <p:spPr>
          <a:xfrm>
            <a:off x="777240" y="5056632"/>
            <a:ext cx="10637215" cy="850392"/>
          </a:xfrm>
          <a:prstGeom prst="roundRect">
            <a:avLst>
              <a:gd name="adj" fmla="val 4839"/>
            </a:avLst>
          </a:prstGeom>
          <a:solidFill>
            <a:srgbClr val="2B2D30"/>
          </a:solidFill>
          <a:ln/>
          <a:effectLst>
            <a:outerShdw algn="bl" rotWithShape="0">
              <a:srgbClr val="959092">
                <a:alpha val="0"/>
              </a:srgbClr>
            </a:outerShdw>
          </a:effectLst>
        </p:spPr>
        <p:txBody>
          <a:bodyPr/>
          <a:lstStyle/>
          <a:p>
            <a:endParaRPr lang="en-US"/>
          </a:p>
        </p:txBody>
      </p:sp>
      <p:sp>
        <p:nvSpPr>
          <p:cNvPr id="47" name="Text 44"/>
          <p:cNvSpPr txBox="1"/>
          <p:nvPr/>
        </p:nvSpPr>
        <p:spPr>
          <a:xfrm>
            <a:off x="1060704" y="5175504"/>
            <a:ext cx="1463040" cy="201168"/>
          </a:xfrm>
          <a:prstGeom prst="rect">
            <a:avLst/>
          </a:prstGeom>
          <a:noFill/>
          <a:ln/>
        </p:spPr>
        <p:txBody>
          <a:bodyPr wrap="square" lIns="0" tIns="0" rIns="0" bIns="0" rtlCol="0" anchor="t"/>
          <a:lstStyle/>
          <a:p>
            <a:pPr marL="0" indent="0">
              <a:buNone/>
            </a:pPr>
            <a:r>
              <a:rPr lang="en-US" sz="850" kern="0" spc="140" dirty="0">
                <a:solidFill>
                  <a:srgbClr val="D9A3AE"/>
                </a:solidFill>
                <a:latin typeface="Montserrat SemiBold" pitchFamily="34" charset="0"/>
                <a:ea typeface="Montserrat SemiBold" pitchFamily="34" charset="-122"/>
                <a:cs typeface="Montserrat SemiBold" pitchFamily="34" charset="-120"/>
              </a:rPr>
              <a:t>STAGE 04</a:t>
            </a:r>
            <a:endParaRPr lang="en-US" sz="850" dirty="0"/>
          </a:p>
        </p:txBody>
      </p:sp>
      <p:sp>
        <p:nvSpPr>
          <p:cNvPr id="48" name="Text 45"/>
          <p:cNvSpPr txBox="1"/>
          <p:nvPr/>
        </p:nvSpPr>
        <p:spPr>
          <a:xfrm>
            <a:off x="1060704" y="5384761"/>
            <a:ext cx="1828800" cy="365760"/>
          </a:xfrm>
          <a:prstGeom prst="rect">
            <a:avLst/>
          </a:prstGeom>
          <a:noFill/>
          <a:ln/>
        </p:spPr>
        <p:txBody>
          <a:bodyPr wrap="square" lIns="0" tIns="0" rIns="0" bIns="0" rtlCol="0" anchor="t"/>
          <a:lstStyle/>
          <a:p>
            <a:pPr marL="0" indent="0">
              <a:buNone/>
            </a:pPr>
            <a:r>
              <a:rPr lang="en-US" sz="2200" kern="0" spc="30" dirty="0">
                <a:solidFill>
                  <a:srgbClr val="FFFFFF"/>
                </a:solidFill>
                <a:latin typeface="Montserrat ExtraBold" pitchFamily="34" charset="0"/>
                <a:ea typeface="Montserrat ExtraBold" pitchFamily="34" charset="-122"/>
                <a:cs typeface="Montserrat ExtraBold" pitchFamily="34" charset="-120"/>
              </a:rPr>
              <a:t>FIX</a:t>
            </a:r>
            <a:endParaRPr lang="en-US" sz="2200" dirty="0"/>
          </a:p>
        </p:txBody>
      </p:sp>
      <p:sp>
        <p:nvSpPr>
          <p:cNvPr id="49" name="Text 46"/>
          <p:cNvSpPr txBox="1"/>
          <p:nvPr/>
        </p:nvSpPr>
        <p:spPr>
          <a:xfrm>
            <a:off x="2822103" y="5248656"/>
            <a:ext cx="3200400" cy="731520"/>
          </a:xfrm>
          <a:prstGeom prst="rect">
            <a:avLst/>
          </a:prstGeom>
          <a:noFill/>
          <a:ln/>
        </p:spPr>
        <p:txBody>
          <a:bodyPr wrap="square" lIns="0" tIns="0" rIns="0" bIns="0" rtlCol="0" anchor="t"/>
          <a:lstStyle/>
          <a:p>
            <a:pPr marL="0" indent="0">
              <a:lnSpc>
                <a:spcPct val="120000"/>
              </a:lnSpc>
              <a:buNone/>
            </a:pPr>
            <a:r>
              <a:rPr lang="en-US" sz="1000" dirty="0">
                <a:solidFill>
                  <a:srgbClr val="DED9DA"/>
                </a:solidFill>
                <a:latin typeface="Montserrat" pitchFamily="34" charset="0"/>
                <a:ea typeface="Montserrat" pitchFamily="34" charset="-122"/>
                <a:cs typeface="Montserrat" pitchFamily="34" charset="-120"/>
              </a:rPr>
              <a:t>Builds and tests the fix — only when you ask, and one approved step at a time.</a:t>
            </a:r>
            <a:endParaRPr lang="en-US" sz="1000" dirty="0"/>
          </a:p>
        </p:txBody>
      </p:sp>
      <p:sp>
        <p:nvSpPr>
          <p:cNvPr id="50" name="Text 47"/>
          <p:cNvSpPr txBox="1"/>
          <p:nvPr/>
        </p:nvSpPr>
        <p:spPr>
          <a:xfrm>
            <a:off x="6356838" y="5102704"/>
            <a:ext cx="182880" cy="219456"/>
          </a:xfrm>
          <a:prstGeom prst="rect">
            <a:avLst/>
          </a:prstGeom>
          <a:noFill/>
          <a:ln/>
        </p:spPr>
        <p:txBody>
          <a:bodyPr wrap="square" lIns="0" tIns="0" rIns="0" bIns="0" rtlCol="0" anchor="t"/>
          <a:lstStyle/>
          <a:p>
            <a:pPr marL="0" indent="0">
              <a:buNone/>
            </a:pPr>
            <a:r>
              <a:rPr lang="en-US" sz="1000" dirty="0">
                <a:solidFill>
                  <a:srgbClr val="D9A3AE"/>
                </a:solidFill>
                <a:latin typeface="Montserrat SemiBold" pitchFamily="34" charset="0"/>
                <a:ea typeface="Montserrat SemiBold" pitchFamily="34" charset="-122"/>
                <a:cs typeface="Montserrat SemiBold" pitchFamily="34" charset="-120"/>
              </a:rPr>
              <a:t>—</a:t>
            </a:r>
            <a:endParaRPr lang="en-US" sz="1000" dirty="0"/>
          </a:p>
        </p:txBody>
      </p:sp>
      <p:sp>
        <p:nvSpPr>
          <p:cNvPr id="51" name="Text 48"/>
          <p:cNvSpPr txBox="1"/>
          <p:nvPr/>
        </p:nvSpPr>
        <p:spPr>
          <a:xfrm>
            <a:off x="6574536" y="5102844"/>
            <a:ext cx="4663440" cy="320040"/>
          </a:xfrm>
          <a:prstGeom prst="rect">
            <a:avLst/>
          </a:prstGeom>
          <a:noFill/>
          <a:ln/>
        </p:spPr>
        <p:txBody>
          <a:bodyPr wrap="square" lIns="0" tIns="0" rIns="0" bIns="0" rtlCol="0" anchor="t"/>
          <a:lstStyle/>
          <a:p>
            <a:pPr marL="0" indent="0">
              <a:buNone/>
            </a:pPr>
            <a:r>
              <a:rPr lang="en-US" sz="1050" dirty="0">
                <a:solidFill>
                  <a:srgbClr val="FFFFFF"/>
                </a:solidFill>
                <a:latin typeface="Montserrat SemiBold" pitchFamily="34" charset="0"/>
                <a:ea typeface="Montserrat SemiBold" pitchFamily="34" charset="-122"/>
                <a:cs typeface="Montserrat SemiBold" pitchFamily="34" charset="-120"/>
              </a:rPr>
              <a:t>Every step needs explicit human approval</a:t>
            </a:r>
            <a:endParaRPr lang="en-US" sz="1050" dirty="0"/>
          </a:p>
        </p:txBody>
      </p:sp>
      <p:sp>
        <p:nvSpPr>
          <p:cNvPr id="52" name="Text 49"/>
          <p:cNvSpPr txBox="1"/>
          <p:nvPr/>
        </p:nvSpPr>
        <p:spPr>
          <a:xfrm>
            <a:off x="6355080" y="5380329"/>
            <a:ext cx="182880" cy="219456"/>
          </a:xfrm>
          <a:prstGeom prst="rect">
            <a:avLst/>
          </a:prstGeom>
          <a:noFill/>
          <a:ln/>
        </p:spPr>
        <p:txBody>
          <a:bodyPr wrap="square" lIns="0" tIns="0" rIns="0" bIns="0" rtlCol="0" anchor="t"/>
          <a:lstStyle/>
          <a:p>
            <a:pPr marL="0" indent="0">
              <a:buNone/>
            </a:pPr>
            <a:r>
              <a:rPr lang="en-US" sz="1000" dirty="0">
                <a:solidFill>
                  <a:srgbClr val="D9A3AE"/>
                </a:solidFill>
                <a:latin typeface="Montserrat SemiBold" pitchFamily="34" charset="0"/>
                <a:ea typeface="Montserrat SemiBold" pitchFamily="34" charset="-122"/>
                <a:cs typeface="Montserrat SemiBold" pitchFamily="34" charset="-120"/>
              </a:rPr>
              <a:t>—</a:t>
            </a:r>
            <a:endParaRPr lang="en-US" sz="1000" dirty="0"/>
          </a:p>
        </p:txBody>
      </p:sp>
      <p:sp>
        <p:nvSpPr>
          <p:cNvPr id="53" name="Text 50"/>
          <p:cNvSpPr txBox="1"/>
          <p:nvPr/>
        </p:nvSpPr>
        <p:spPr>
          <a:xfrm>
            <a:off x="6574536" y="5353600"/>
            <a:ext cx="4663440" cy="237744"/>
          </a:xfrm>
          <a:prstGeom prst="rect">
            <a:avLst/>
          </a:prstGeom>
          <a:noFill/>
          <a:ln/>
        </p:spPr>
        <p:txBody>
          <a:bodyPr wrap="square" lIns="0" tIns="0" rIns="0" bIns="0" rtlCol="0" anchor="t"/>
          <a:lstStyle/>
          <a:p>
            <a:pPr marL="0" indent="0">
              <a:buNone/>
            </a:pPr>
            <a:r>
              <a:rPr lang="en-US" sz="1050" dirty="0">
                <a:solidFill>
                  <a:srgbClr val="FFFFFF"/>
                </a:solidFill>
                <a:latin typeface="Montserrat SemiBold" pitchFamily="34" charset="0"/>
                <a:ea typeface="Montserrat SemiBold" pitchFamily="34" charset="-122"/>
                <a:cs typeface="Montserrat SemiBold" pitchFamily="34" charset="-120"/>
              </a:rPr>
              <a:t>Refuses to touch a protected branch</a:t>
            </a:r>
            <a:endParaRPr lang="en-US" sz="1050" dirty="0"/>
          </a:p>
        </p:txBody>
      </p:sp>
      <p:sp>
        <p:nvSpPr>
          <p:cNvPr id="54" name="Text 51"/>
          <p:cNvSpPr txBox="1"/>
          <p:nvPr/>
        </p:nvSpPr>
        <p:spPr>
          <a:xfrm>
            <a:off x="6355080" y="5611039"/>
            <a:ext cx="182880" cy="219456"/>
          </a:xfrm>
          <a:prstGeom prst="rect">
            <a:avLst/>
          </a:prstGeom>
          <a:noFill/>
          <a:ln/>
        </p:spPr>
        <p:txBody>
          <a:bodyPr wrap="square" lIns="0" tIns="0" rIns="0" bIns="0" rtlCol="0" anchor="t"/>
          <a:lstStyle/>
          <a:p>
            <a:pPr marL="0" indent="0">
              <a:buNone/>
            </a:pPr>
            <a:r>
              <a:rPr lang="en-US" sz="1000" dirty="0">
                <a:solidFill>
                  <a:srgbClr val="D9A3AE"/>
                </a:solidFill>
                <a:latin typeface="Montserrat SemiBold" pitchFamily="34" charset="0"/>
                <a:ea typeface="Montserrat SemiBold" pitchFamily="34" charset="-122"/>
                <a:cs typeface="Montserrat SemiBold" pitchFamily="34" charset="-120"/>
              </a:rPr>
              <a:t>—</a:t>
            </a:r>
            <a:endParaRPr lang="en-US" sz="1000" dirty="0"/>
          </a:p>
        </p:txBody>
      </p:sp>
      <p:sp>
        <p:nvSpPr>
          <p:cNvPr id="55" name="Text 52"/>
          <p:cNvSpPr txBox="1"/>
          <p:nvPr/>
        </p:nvSpPr>
        <p:spPr>
          <a:xfrm>
            <a:off x="6574536" y="5603302"/>
            <a:ext cx="4663440" cy="237744"/>
          </a:xfrm>
          <a:prstGeom prst="rect">
            <a:avLst/>
          </a:prstGeom>
          <a:noFill/>
          <a:ln/>
        </p:spPr>
        <p:txBody>
          <a:bodyPr wrap="square" lIns="0" tIns="0" rIns="0" bIns="0" rtlCol="0" anchor="t"/>
          <a:lstStyle/>
          <a:p>
            <a:pPr marL="0" indent="0">
              <a:buNone/>
            </a:pPr>
            <a:r>
              <a:rPr lang="en-US" sz="1050" dirty="0">
                <a:solidFill>
                  <a:srgbClr val="FFFFFF"/>
                </a:solidFill>
                <a:latin typeface="Montserrat SemiBold" pitchFamily="34" charset="0"/>
                <a:ea typeface="Montserrat SemiBold" pitchFamily="34" charset="-122"/>
                <a:cs typeface="Montserrat SemiBold" pitchFamily="34" charset="-120"/>
              </a:rPr>
              <a:t>Never merges, and never marks its own work resolved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8229600" y="365760"/>
            <a:ext cx="5120640" cy="5120640"/>
          </a:xfrm>
          <a:prstGeom prst="rect">
            <a:avLst/>
          </a:prstGeom>
        </p:spPr>
      </p:pic>
      <p:sp>
        <p:nvSpPr>
          <p:cNvPr id="4" name="Text 0"/>
          <p:cNvSpPr txBox="1"/>
          <p:nvPr/>
        </p:nvSpPr>
        <p:spPr>
          <a:xfrm>
            <a:off x="6766560" y="566928"/>
            <a:ext cx="4754880" cy="4206240"/>
          </a:xfrm>
          <a:prstGeom prst="rect">
            <a:avLst/>
          </a:prstGeom>
          <a:noFill/>
          <a:ln/>
        </p:spPr>
        <p:txBody>
          <a:bodyPr wrap="square" lIns="0" tIns="0" rIns="0" bIns="0" rtlCol="0" anchor="t"/>
          <a:lstStyle/>
          <a:p>
            <a:pPr marL="0" indent="0" algn="r">
              <a:buNone/>
            </a:pPr>
            <a:r>
              <a:rPr lang="en-US" sz="21000" kern="0" spc="-800" dirty="0">
                <a:solidFill>
                  <a:srgbClr val="B9737E">
                    <a:alpha val="38000"/>
                  </a:srgbClr>
                </a:solidFill>
                <a:latin typeface="Montserrat ExtraBold" pitchFamily="34" charset="0"/>
                <a:ea typeface="Montserrat ExtraBold" pitchFamily="34" charset="-122"/>
                <a:cs typeface="Montserrat ExtraBold" pitchFamily="34" charset="-120"/>
              </a:rPr>
              <a:t>03</a:t>
            </a:r>
            <a:endParaRPr lang="en-US" sz="21000" dirty="0"/>
          </a:p>
        </p:txBody>
      </p:sp>
      <p:sp>
        <p:nvSpPr>
          <p:cNvPr id="5" name="Text 1"/>
          <p:cNvSpPr txBox="1"/>
          <p:nvPr/>
        </p:nvSpPr>
        <p:spPr>
          <a:xfrm>
            <a:off x="777240" y="2395728"/>
            <a:ext cx="6400800" cy="256032"/>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PROJECT 03</a:t>
            </a:r>
            <a:endParaRPr lang="en-US" sz="1000" dirty="0"/>
          </a:p>
        </p:txBody>
      </p:sp>
      <p:sp>
        <p:nvSpPr>
          <p:cNvPr id="6" name="Text 2"/>
          <p:cNvSpPr txBox="1"/>
          <p:nvPr/>
        </p:nvSpPr>
        <p:spPr>
          <a:xfrm>
            <a:off x="777239" y="2743200"/>
            <a:ext cx="7013089" cy="1280160"/>
          </a:xfrm>
          <a:prstGeom prst="rect">
            <a:avLst/>
          </a:prstGeom>
          <a:noFill/>
          <a:ln/>
        </p:spPr>
        <p:txBody>
          <a:bodyPr wrap="square" lIns="0" tIns="0" rIns="0" bIns="0" rtlCol="0" anchor="t"/>
          <a:lstStyle/>
          <a:p>
            <a:pPr marL="0" indent="0">
              <a:lnSpc>
                <a:spcPct val="98000"/>
              </a:lnSpc>
              <a:buNone/>
            </a:pPr>
            <a:r>
              <a:rPr lang="en-US" sz="4100" kern="0" spc="-90" dirty="0" err="1">
                <a:solidFill>
                  <a:srgbClr val="FFFFFF"/>
                </a:solidFill>
                <a:latin typeface="Montserrat ExtraBold" pitchFamily="34" charset="0"/>
                <a:ea typeface="Montserrat ExtraBold" pitchFamily="34" charset="-122"/>
                <a:cs typeface="Montserrat ExtraBold" pitchFamily="34" charset="-120"/>
              </a:rPr>
              <a:t>KEVlar</a:t>
            </a:r>
            <a:r>
              <a:rPr lang="en-US" sz="4100" kern="0" spc="-90" dirty="0">
                <a:solidFill>
                  <a:srgbClr val="FFFFFF"/>
                </a:solidFill>
                <a:latin typeface="Montserrat ExtraBold" pitchFamily="34" charset="0"/>
                <a:ea typeface="Montserrat ExtraBold" pitchFamily="34" charset="-122"/>
                <a:cs typeface="Montserrat ExtraBold" pitchFamily="34" charset="-120"/>
              </a:rPr>
              <a:t> Patch Automation</a:t>
            </a:r>
            <a:endParaRPr lang="en-US" sz="4100" dirty="0"/>
          </a:p>
        </p:txBody>
      </p:sp>
      <p:sp>
        <p:nvSpPr>
          <p:cNvPr id="7" name="Shape 3"/>
          <p:cNvSpPr/>
          <p:nvPr/>
        </p:nvSpPr>
        <p:spPr>
          <a:xfrm>
            <a:off x="777240" y="4114800"/>
            <a:ext cx="640080" cy="50292"/>
          </a:xfrm>
          <a:prstGeom prst="rect">
            <a:avLst/>
          </a:prstGeom>
          <a:solidFill>
            <a:srgbClr val="FFFFFF"/>
          </a:solidFill>
          <a:ln/>
        </p:spPr>
        <p:txBody>
          <a:bodyPr/>
          <a:lstStyle/>
          <a:p>
            <a:endParaRPr lang="en-US"/>
          </a:p>
        </p:txBody>
      </p:sp>
      <p:sp>
        <p:nvSpPr>
          <p:cNvPr id="8" name="Text 4"/>
          <p:cNvSpPr txBox="1"/>
          <p:nvPr/>
        </p:nvSpPr>
        <p:spPr>
          <a:xfrm>
            <a:off x="777240" y="4389120"/>
            <a:ext cx="6309360" cy="731520"/>
          </a:xfrm>
          <a:prstGeom prst="rect">
            <a:avLst/>
          </a:prstGeom>
          <a:noFill/>
          <a:ln/>
        </p:spPr>
        <p:txBody>
          <a:bodyPr wrap="square" lIns="0" tIns="0" rIns="0" bIns="0" rtlCol="0" anchor="t"/>
          <a:lstStyle/>
          <a:p>
            <a:pPr marL="0" indent="0">
              <a:lnSpc>
                <a:spcPct val="125000"/>
              </a:lnSpc>
              <a:buNone/>
            </a:pPr>
            <a:r>
              <a:rPr lang="en-US" sz="1400" dirty="0">
                <a:solidFill>
                  <a:srgbClr val="DAB4BA"/>
                </a:solidFill>
                <a:latin typeface="Montserrat Medium" pitchFamily="34" charset="0"/>
                <a:ea typeface="Montserrat Medium" pitchFamily="34" charset="-122"/>
                <a:cs typeface="Montserrat Medium" pitchFamily="34" charset="-120"/>
              </a:rPr>
              <a:t>Turning a manual, one-at-a-time patch lookup into a job that finishes in seconds.</a:t>
            </a:r>
            <a:endParaRPr lang="en-US" sz="1400" dirty="0"/>
          </a:p>
        </p:txBody>
      </p:sp>
      <p:pic>
        <p:nvPicPr>
          <p:cNvPr id="9" name="Image 2" descr="/home/user/ai/assets/gen/logo-white.png"/>
          <p:cNvPicPr>
            <a:picLocks noChangeAspect="1"/>
          </p:cNvPicPr>
          <p:nvPr/>
        </p:nvPicPr>
        <p:blipFill>
          <a:blip r:embed="rId5"/>
          <a:stretch>
            <a:fillRect/>
          </a:stretch>
        </p:blipFill>
        <p:spPr>
          <a:xfrm>
            <a:off x="9768535" y="457200"/>
            <a:ext cx="1645920" cy="166053"/>
          </a:xfrm>
          <a:prstGeom prst="rect">
            <a:avLst/>
          </a:prstGeom>
        </p:spPr>
      </p:pic>
      <p:sp>
        <p:nvSpPr>
          <p:cNvPr id="10" name="Text 5"/>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E4C9CE"/>
                </a:solidFill>
                <a:latin typeface="Montserrat SemiBold" pitchFamily="34" charset="0"/>
                <a:ea typeface="Montserrat SemiBold" pitchFamily="34" charset="-122"/>
                <a:cs typeface="Montserrat SemiBold" pitchFamily="34" charset="-120"/>
              </a:rPr>
              <a:t>PROJECT 03</a:t>
            </a:r>
            <a:endParaRPr lang="en-US" sz="850" dirty="0"/>
          </a:p>
        </p:txBody>
      </p:sp>
      <p:sp>
        <p:nvSpPr>
          <p:cNvPr id="11" name="Text 6"/>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E4C9CE"/>
                </a:solidFill>
                <a:latin typeface="Montserrat SemiBold" pitchFamily="34" charset="0"/>
                <a:ea typeface="Montserrat SemiBold" pitchFamily="34" charset="-122"/>
                <a:cs typeface="Montserrat SemiBold" pitchFamily="34" charset="-120"/>
              </a:rPr>
              <a:t>16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THE PROBLEM</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Every flaw needed its own patch, found by hand</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17</a:t>
            </a:r>
            <a:endParaRPr lang="en-US" sz="850" dirty="0"/>
          </a:p>
        </p:txBody>
      </p:sp>
      <p:sp>
        <p:nvSpPr>
          <p:cNvPr id="9" name="Text 6"/>
          <p:cNvSpPr txBox="1"/>
          <p:nvPr/>
        </p:nvSpPr>
        <p:spPr>
          <a:xfrm>
            <a:off x="777240" y="2103120"/>
            <a:ext cx="4251960" cy="1133856"/>
          </a:xfrm>
          <a:prstGeom prst="rect">
            <a:avLst/>
          </a:prstGeom>
          <a:noFill/>
          <a:ln/>
        </p:spPr>
        <p:txBody>
          <a:bodyPr wrap="square" lIns="0" tIns="0" rIns="0" bIns="0" rtlCol="0" anchor="t"/>
          <a:lstStyle/>
          <a:p>
            <a:pPr marL="0" indent="0" algn="l">
              <a:buNone/>
            </a:pPr>
            <a:r>
              <a:rPr lang="en-US" sz="7200" kern="0" spc="-250" dirty="0">
                <a:solidFill>
                  <a:srgbClr val="942838"/>
                </a:solidFill>
                <a:latin typeface="Montserrat ExtraBold" pitchFamily="34" charset="0"/>
                <a:ea typeface="Montserrat ExtraBold" pitchFamily="34" charset="-122"/>
                <a:cs typeface="Montserrat ExtraBold" pitchFamily="34" charset="-120"/>
              </a:rPr>
              <a:t>117</a:t>
            </a:r>
            <a:endParaRPr lang="en-US" sz="7200" dirty="0"/>
          </a:p>
        </p:txBody>
      </p:sp>
      <p:sp>
        <p:nvSpPr>
          <p:cNvPr id="10" name="Text 7"/>
          <p:cNvSpPr txBox="1"/>
          <p:nvPr/>
        </p:nvSpPr>
        <p:spPr>
          <a:xfrm>
            <a:off x="777240" y="3236976"/>
            <a:ext cx="3840480" cy="457200"/>
          </a:xfrm>
          <a:prstGeom prst="rect">
            <a:avLst/>
          </a:prstGeom>
          <a:noFill/>
          <a:ln/>
        </p:spPr>
        <p:txBody>
          <a:bodyPr wrap="square" lIns="0" tIns="0" rIns="0" bIns="0" rtlCol="0" anchor="t"/>
          <a:lstStyle/>
          <a:p>
            <a:pPr marL="0" indent="0" algn="l">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high and critical flaws tracked</a:t>
            </a:r>
            <a:endParaRPr lang="en-US" sz="950" dirty="0"/>
          </a:p>
          <a:p>
            <a:pPr marL="0" indent="0" algn="l">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this cycle, every one of them</a:t>
            </a:r>
            <a:endParaRPr lang="en-US" sz="950" dirty="0"/>
          </a:p>
          <a:p>
            <a:pPr marL="0" indent="0" algn="l">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directly affecting the business</a:t>
            </a:r>
            <a:endParaRPr lang="en-US" sz="950" dirty="0"/>
          </a:p>
        </p:txBody>
      </p:sp>
      <p:sp>
        <p:nvSpPr>
          <p:cNvPr id="11" name="Shape 8"/>
          <p:cNvSpPr/>
          <p:nvPr/>
        </p:nvSpPr>
        <p:spPr>
          <a:xfrm>
            <a:off x="777240" y="4041648"/>
            <a:ext cx="566928" cy="45720"/>
          </a:xfrm>
          <a:prstGeom prst="rect">
            <a:avLst/>
          </a:prstGeom>
          <a:solidFill>
            <a:srgbClr val="942838"/>
          </a:solidFill>
          <a:ln/>
        </p:spPr>
        <p:txBody>
          <a:bodyPr/>
          <a:lstStyle/>
          <a:p>
            <a:endParaRPr lang="en-US"/>
          </a:p>
        </p:txBody>
      </p:sp>
      <p:sp>
        <p:nvSpPr>
          <p:cNvPr id="12" name="Text 9"/>
          <p:cNvSpPr txBox="1"/>
          <p:nvPr/>
        </p:nvSpPr>
        <p:spPr>
          <a:xfrm>
            <a:off x="777240" y="4242816"/>
            <a:ext cx="3703320" cy="1005840"/>
          </a:xfrm>
          <a:prstGeom prst="rect">
            <a:avLst/>
          </a:prstGeom>
          <a:noFill/>
          <a:ln/>
        </p:spPr>
        <p:txBody>
          <a:bodyPr wrap="square" lIns="0" tIns="0" rIns="0" bIns="0" rtlCol="0" anchor="t"/>
          <a:lstStyle/>
          <a:p>
            <a:pPr marL="0" indent="0">
              <a:lnSpc>
                <a:spcPct val="125000"/>
              </a:lnSpc>
              <a:buNone/>
            </a:pPr>
            <a:r>
              <a:rPr lang="en-US" sz="1100" dirty="0">
                <a:solidFill>
                  <a:srgbClr val="6E7175"/>
                </a:solidFill>
                <a:latin typeface="Montserrat" pitchFamily="34" charset="0"/>
                <a:ea typeface="Montserrat" pitchFamily="34" charset="-122"/>
                <a:cs typeface="Montserrat" pitchFamily="34" charset="-120"/>
              </a:rPr>
              <a:t>This is not a sample. Kevlar — the team's vulnerability tracker — flagged these because they met both bars: high or critical severity, and a direct effect on business operations.</a:t>
            </a:r>
            <a:endParaRPr lang="en-US" sz="1100" dirty="0"/>
          </a:p>
        </p:txBody>
      </p:sp>
      <p:sp>
        <p:nvSpPr>
          <p:cNvPr id="13" name="Text 10"/>
          <p:cNvSpPr txBox="1"/>
          <p:nvPr/>
        </p:nvSpPr>
        <p:spPr>
          <a:xfrm>
            <a:off x="5029200" y="2084832"/>
            <a:ext cx="638525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WHAT A "KNOWN FLAW" IS</a:t>
            </a:r>
            <a:endParaRPr lang="en-US" sz="850" dirty="0"/>
          </a:p>
        </p:txBody>
      </p:sp>
      <p:sp>
        <p:nvSpPr>
          <p:cNvPr id="14" name="Text 11"/>
          <p:cNvSpPr txBox="1"/>
          <p:nvPr/>
        </p:nvSpPr>
        <p:spPr>
          <a:xfrm>
            <a:off x="5029200" y="2340864"/>
            <a:ext cx="6385255" cy="786384"/>
          </a:xfrm>
          <a:prstGeom prst="rect">
            <a:avLst/>
          </a:prstGeom>
          <a:noFill/>
          <a:ln/>
        </p:spPr>
        <p:txBody>
          <a:bodyPr wrap="square" lIns="0" tIns="0" rIns="0" bIns="0" rtlCol="0" anchor="t"/>
          <a:lstStyle/>
          <a:p>
            <a:pPr marL="0" indent="0">
              <a:lnSpc>
                <a:spcPct val="124000"/>
              </a:lnSpc>
              <a:buNone/>
            </a:pPr>
            <a:r>
              <a:rPr lang="en-US" sz="1250" dirty="0">
                <a:solidFill>
                  <a:srgbClr val="43464A"/>
                </a:solidFill>
                <a:latin typeface="Montserrat" pitchFamily="34" charset="0"/>
                <a:ea typeface="Montserrat" pitchFamily="34" charset="-122"/>
                <a:cs typeface="Montserrat" pitchFamily="34" charset="-120"/>
              </a:rPr>
              <a:t>A publicly published weakness in software that attackers already know about. Each one has a matching fix released by the vendor.</a:t>
            </a:r>
            <a:endParaRPr lang="en-US" sz="1250" dirty="0"/>
          </a:p>
        </p:txBody>
      </p:sp>
      <p:sp>
        <p:nvSpPr>
          <p:cNvPr id="15" name="Shape 12"/>
          <p:cNvSpPr/>
          <p:nvPr/>
        </p:nvSpPr>
        <p:spPr>
          <a:xfrm>
            <a:off x="5029200" y="3182112"/>
            <a:ext cx="6385255" cy="10973"/>
          </a:xfrm>
          <a:prstGeom prst="rect">
            <a:avLst/>
          </a:prstGeom>
          <a:solidFill>
            <a:srgbClr val="E6E4E2"/>
          </a:solidFill>
          <a:ln/>
        </p:spPr>
        <p:txBody>
          <a:bodyPr/>
          <a:lstStyle/>
          <a:p>
            <a:endParaRPr lang="en-US"/>
          </a:p>
        </p:txBody>
      </p:sp>
      <p:sp>
        <p:nvSpPr>
          <p:cNvPr id="16" name="Text 13"/>
          <p:cNvSpPr txBox="1"/>
          <p:nvPr/>
        </p:nvSpPr>
        <p:spPr>
          <a:xfrm>
            <a:off x="5029200" y="3419856"/>
            <a:ext cx="6385255" cy="219456"/>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THE BOTTLENECK</a:t>
            </a:r>
            <a:endParaRPr lang="en-US" sz="850" dirty="0"/>
          </a:p>
        </p:txBody>
      </p:sp>
      <p:sp>
        <p:nvSpPr>
          <p:cNvPr id="17" name="Text 14"/>
          <p:cNvSpPr txBox="1"/>
          <p:nvPr/>
        </p:nvSpPr>
        <p:spPr>
          <a:xfrm>
            <a:off x="5029200" y="3675888"/>
            <a:ext cx="6385255" cy="786384"/>
          </a:xfrm>
          <a:prstGeom prst="rect">
            <a:avLst/>
          </a:prstGeom>
          <a:noFill/>
          <a:ln/>
        </p:spPr>
        <p:txBody>
          <a:bodyPr wrap="square" lIns="0" tIns="0" rIns="0" bIns="0" rtlCol="0" anchor="t"/>
          <a:lstStyle/>
          <a:p>
            <a:pPr marL="0" indent="0">
              <a:lnSpc>
                <a:spcPct val="124000"/>
              </a:lnSpc>
              <a:buNone/>
            </a:pPr>
            <a:r>
              <a:rPr lang="en-US" sz="1250" dirty="0">
                <a:solidFill>
                  <a:srgbClr val="43464A"/>
                </a:solidFill>
                <a:latin typeface="Montserrat" pitchFamily="34" charset="0"/>
                <a:ea typeface="Montserrat" pitchFamily="34" charset="-122"/>
                <a:cs typeface="Montserrat" pitchFamily="34" charset="-120"/>
              </a:rPr>
              <a:t>Microsoft publishes the flaw and the fix in separate documents. Someone must cross-reference them by hand, once per flaw, then check it against the real machine list. Do that 117 times and it is two days of work.</a:t>
            </a:r>
            <a:endParaRPr lang="en-US" sz="1250" dirty="0"/>
          </a:p>
        </p:txBody>
      </p:sp>
      <p:sp>
        <p:nvSpPr>
          <p:cNvPr id="18" name="Shape 15"/>
          <p:cNvSpPr/>
          <p:nvPr/>
        </p:nvSpPr>
        <p:spPr>
          <a:xfrm>
            <a:off x="5029200" y="4517136"/>
            <a:ext cx="6385255" cy="10973"/>
          </a:xfrm>
          <a:prstGeom prst="rect">
            <a:avLst/>
          </a:prstGeom>
          <a:solidFill>
            <a:srgbClr val="E6E4E2"/>
          </a:solidFill>
          <a:ln/>
        </p:spPr>
        <p:txBody>
          <a:bodyPr/>
          <a:lstStyle/>
          <a:p>
            <a:endParaRPr lang="en-US"/>
          </a:p>
        </p:txBody>
      </p:sp>
      <p:sp>
        <p:nvSpPr>
          <p:cNvPr id="19" name="Shape 16"/>
          <p:cNvSpPr/>
          <p:nvPr/>
        </p:nvSpPr>
        <p:spPr>
          <a:xfrm>
            <a:off x="5029200" y="4700016"/>
            <a:ext cx="6385255" cy="1335024"/>
          </a:xfrm>
          <a:prstGeom prst="roundRect">
            <a:avLst>
              <a:gd name="adj" fmla="val 4110"/>
            </a:avLst>
          </a:prstGeom>
          <a:solidFill>
            <a:srgbClr val="2B2D30"/>
          </a:solidFill>
          <a:ln/>
          <a:effectLst>
            <a:outerShdw algn="bl" rotWithShape="0">
              <a:srgbClr val="959092">
                <a:alpha val="0"/>
              </a:srgbClr>
            </a:outerShdw>
          </a:effectLst>
        </p:spPr>
        <p:txBody>
          <a:bodyPr/>
          <a:lstStyle/>
          <a:p>
            <a:endParaRPr lang="en-US"/>
          </a:p>
        </p:txBody>
      </p:sp>
      <p:sp>
        <p:nvSpPr>
          <p:cNvPr id="20" name="Text 17"/>
          <p:cNvSpPr txBox="1"/>
          <p:nvPr/>
        </p:nvSpPr>
        <p:spPr>
          <a:xfrm>
            <a:off x="5303520" y="4846320"/>
            <a:ext cx="3657600" cy="201168"/>
          </a:xfrm>
          <a:prstGeom prst="rect">
            <a:avLst/>
          </a:prstGeom>
          <a:noFill/>
          <a:ln/>
        </p:spPr>
        <p:txBody>
          <a:bodyPr wrap="square" lIns="0" tIns="0" rIns="0" bIns="0" rtlCol="0" anchor="t"/>
          <a:lstStyle/>
          <a:p>
            <a:pPr marL="0" indent="0">
              <a:buNone/>
            </a:pPr>
            <a:r>
              <a:rPr lang="en-US" sz="850" kern="0" spc="140" dirty="0">
                <a:solidFill>
                  <a:srgbClr val="D9A3AE"/>
                </a:solidFill>
                <a:latin typeface="Montserrat SemiBold" pitchFamily="34" charset="0"/>
                <a:ea typeface="Montserrat SemiBold" pitchFamily="34" charset="-122"/>
                <a:cs typeface="Montserrat SemiBold" pitchFamily="34" charset="-120"/>
              </a:rPr>
              <a:t>BEFORE  ·  DOING IT BY HAND</a:t>
            </a:r>
            <a:endParaRPr lang="en-US" sz="850" dirty="0"/>
          </a:p>
        </p:txBody>
      </p:sp>
      <p:sp>
        <p:nvSpPr>
          <p:cNvPr id="21" name="Text 18"/>
          <p:cNvSpPr txBox="1"/>
          <p:nvPr/>
        </p:nvSpPr>
        <p:spPr>
          <a:xfrm>
            <a:off x="5303520" y="5120640"/>
            <a:ext cx="5836615" cy="402336"/>
          </a:xfrm>
          <a:prstGeom prst="rect">
            <a:avLst/>
          </a:prstGeom>
          <a:noFill/>
          <a:ln/>
        </p:spPr>
        <p:txBody>
          <a:bodyPr wrap="square" lIns="0" tIns="0" rIns="0" bIns="0" rtlCol="0" anchor="t"/>
          <a:lstStyle/>
          <a:p>
            <a:pPr marL="0" indent="0">
              <a:buNone/>
            </a:pPr>
            <a:r>
              <a:rPr lang="en-US" sz="2600" kern="0" spc="-80" dirty="0">
                <a:solidFill>
                  <a:srgbClr val="FFFFFF"/>
                </a:solidFill>
                <a:latin typeface="Montserrat ExtraBold" pitchFamily="34" charset="0"/>
                <a:ea typeface="Montserrat ExtraBold" pitchFamily="34" charset="-122"/>
                <a:cs typeface="Montserrat ExtraBold" pitchFamily="34" charset="-120"/>
              </a:rPr>
              <a:t>~17.5 hours</a:t>
            </a:r>
            <a:r>
              <a:rPr lang="en-US" sz="1250" dirty="0">
                <a:solidFill>
                  <a:srgbClr val="DED9DA"/>
                </a:solidFill>
                <a:latin typeface="Montserrat Medium" pitchFamily="34" charset="0"/>
                <a:ea typeface="Montserrat Medium" pitchFamily="34" charset="-122"/>
                <a:cs typeface="Montserrat Medium" pitchFamily="34" charset="-120"/>
              </a:rPr>
              <a:t>   about 2 to 2.5 business days</a:t>
            </a:r>
            <a:endParaRPr lang="en-US" sz="2600" dirty="0"/>
          </a:p>
        </p:txBody>
      </p:sp>
      <p:sp>
        <p:nvSpPr>
          <p:cNvPr id="22" name="Text 19"/>
          <p:cNvSpPr txBox="1"/>
          <p:nvPr/>
        </p:nvSpPr>
        <p:spPr>
          <a:xfrm>
            <a:off x="5303520" y="5559552"/>
            <a:ext cx="5836615" cy="402336"/>
          </a:xfrm>
          <a:prstGeom prst="rect">
            <a:avLst/>
          </a:prstGeom>
          <a:noFill/>
          <a:ln/>
        </p:spPr>
        <p:txBody>
          <a:bodyPr wrap="square" lIns="0" tIns="0" rIns="0" bIns="0" rtlCol="0" anchor="t"/>
          <a:lstStyle/>
          <a:p>
            <a:pPr marL="0" indent="0">
              <a:lnSpc>
                <a:spcPct val="120000"/>
              </a:lnSpc>
              <a:buNone/>
            </a:pPr>
            <a:r>
              <a:rPr lang="en-US" sz="1000" dirty="0">
                <a:solidFill>
                  <a:srgbClr val="C4BBBD"/>
                </a:solidFill>
                <a:latin typeface="Montserrat Medium" pitchFamily="34" charset="0"/>
                <a:ea typeface="Montserrat Medium" pitchFamily="34" charset="-122"/>
                <a:cs typeface="Montserrat Medium" pitchFamily="34" charset="-120"/>
              </a:rPr>
              <a:t>Estimated at 8–10 min per flaw from the steps above  a reasoned estimate based on the work involved, not a stopwatch measurement.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THE RESULT</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From about two days of work to twelve seconds</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18</a:t>
            </a:r>
            <a:endParaRPr lang="en-US" sz="850" dirty="0"/>
          </a:p>
        </p:txBody>
      </p:sp>
      <p:sp>
        <p:nvSpPr>
          <p:cNvPr id="9" name="Text 6"/>
          <p:cNvSpPr txBox="1"/>
          <p:nvPr/>
        </p:nvSpPr>
        <p:spPr>
          <a:xfrm>
            <a:off x="777240" y="1956816"/>
            <a:ext cx="10241280" cy="310896"/>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I built a Python script that matches each flaw to its Microsoft patch automatically, using Microsoft's own public security feeds — no API key, no manual searching.</a:t>
            </a:r>
            <a:endParaRPr lang="en-US" sz="1400" dirty="0"/>
          </a:p>
        </p:txBody>
      </p:sp>
      <p:pic>
        <p:nvPicPr>
          <p:cNvPr id="10" name="Image 1" descr="/home/user/ai/assets/gen/chart-match.png"/>
          <p:cNvPicPr>
            <a:picLocks noChangeAspect="1"/>
          </p:cNvPicPr>
          <p:nvPr/>
        </p:nvPicPr>
        <p:blipFill>
          <a:blip r:embed="rId4"/>
          <a:stretch>
            <a:fillRect/>
          </a:stretch>
        </p:blipFill>
        <p:spPr>
          <a:xfrm>
            <a:off x="731520" y="2487168"/>
            <a:ext cx="5852160" cy="3251200"/>
          </a:xfrm>
          <a:prstGeom prst="rect">
            <a:avLst/>
          </a:prstGeom>
        </p:spPr>
      </p:pic>
      <p:sp>
        <p:nvSpPr>
          <p:cNvPr id="11" name="Text 7"/>
          <p:cNvSpPr txBox="1"/>
          <p:nvPr/>
        </p:nvSpPr>
        <p:spPr>
          <a:xfrm>
            <a:off x="777240" y="5811520"/>
            <a:ext cx="5669280" cy="274320"/>
          </a:xfrm>
          <a:prstGeom prst="rect">
            <a:avLst/>
          </a:prstGeom>
          <a:noFill/>
          <a:ln/>
        </p:spPr>
        <p:txBody>
          <a:bodyPr wrap="square" lIns="0" tIns="0" rIns="0" bIns="0" rtlCol="0" anchor="t"/>
          <a:lstStyle/>
          <a:p>
            <a:pPr marL="0" indent="0" algn="ctr">
              <a:buNone/>
            </a:pPr>
            <a:r>
              <a:rPr lang="en-US" sz="950" kern="0" spc="30" dirty="0">
                <a:solidFill>
                  <a:srgbClr val="6E7175"/>
                </a:solidFill>
                <a:latin typeface="Montserrat Medium" pitchFamily="34" charset="0"/>
                <a:ea typeface="Montserrat Medium" pitchFamily="34" charset="-122"/>
                <a:cs typeface="Montserrat Medium" pitchFamily="34" charset="-120"/>
              </a:rPr>
              <a:t>Share of the 117 flaws matched to their correct patch automatically</a:t>
            </a:r>
            <a:endParaRPr lang="en-US" sz="950" dirty="0"/>
          </a:p>
        </p:txBody>
      </p:sp>
      <p:sp>
        <p:nvSpPr>
          <p:cNvPr id="12" name="Shape 8"/>
          <p:cNvSpPr/>
          <p:nvPr/>
        </p:nvSpPr>
        <p:spPr>
          <a:xfrm>
            <a:off x="7315200" y="2432304"/>
            <a:ext cx="4099255" cy="1097280"/>
          </a:xfrm>
          <a:prstGeom prst="roundRect">
            <a:avLst>
              <a:gd name="adj" fmla="val 5000"/>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3" name="Text 9"/>
          <p:cNvSpPr txBox="1"/>
          <p:nvPr/>
        </p:nvSpPr>
        <p:spPr>
          <a:xfrm>
            <a:off x="7589520" y="2606040"/>
            <a:ext cx="3550615" cy="438912"/>
          </a:xfrm>
          <a:prstGeom prst="rect">
            <a:avLst/>
          </a:prstGeom>
          <a:noFill/>
          <a:ln/>
        </p:spPr>
        <p:txBody>
          <a:bodyPr wrap="square" lIns="0" tIns="0" rIns="0" bIns="0" rtlCol="0" anchor="t"/>
          <a:lstStyle/>
          <a:p>
            <a:pPr marL="0" indent="0">
              <a:buNone/>
            </a:pPr>
            <a:r>
              <a:rPr lang="en-US" sz="2700" kern="0" spc="-90" dirty="0">
                <a:solidFill>
                  <a:srgbClr val="942838"/>
                </a:solidFill>
                <a:latin typeface="Montserrat ExtraBold" pitchFamily="34" charset="0"/>
                <a:ea typeface="Montserrat ExtraBold" pitchFamily="34" charset="-122"/>
                <a:cs typeface="Montserrat ExtraBold" pitchFamily="34" charset="-120"/>
              </a:rPr>
              <a:t>117/117</a:t>
            </a:r>
            <a:endParaRPr lang="en-US" sz="2700" dirty="0"/>
          </a:p>
        </p:txBody>
      </p:sp>
      <p:sp>
        <p:nvSpPr>
          <p:cNvPr id="14" name="Text 10"/>
          <p:cNvSpPr txBox="1"/>
          <p:nvPr/>
        </p:nvSpPr>
        <p:spPr>
          <a:xfrm>
            <a:off x="7589520" y="3081528"/>
            <a:ext cx="3550615" cy="384048"/>
          </a:xfrm>
          <a:prstGeom prst="rect">
            <a:avLst/>
          </a:prstGeom>
          <a:noFill/>
          <a:ln/>
        </p:spPr>
        <p:txBody>
          <a:bodyPr wrap="square" lIns="0" tIns="0" rIns="0" bIns="0" rtlCol="0" anchor="t"/>
          <a:lstStyle/>
          <a:p>
            <a:pPr marL="0" indent="0">
              <a:lnSpc>
                <a:spcPct val="118000"/>
              </a:lnSpc>
              <a:buNone/>
            </a:pPr>
            <a:r>
              <a:rPr lang="en-US" sz="1100" dirty="0">
                <a:solidFill>
                  <a:srgbClr val="6E7175"/>
                </a:solidFill>
                <a:latin typeface="Montserrat" pitchFamily="34" charset="0"/>
                <a:ea typeface="Montserrat" pitchFamily="34" charset="-122"/>
                <a:cs typeface="Montserrat" pitchFamily="34" charset="-120"/>
              </a:rPr>
              <a:t>flaws matched to the correct patch</a:t>
            </a:r>
            <a:endParaRPr lang="en-US" sz="1100" dirty="0"/>
          </a:p>
        </p:txBody>
      </p:sp>
      <p:sp>
        <p:nvSpPr>
          <p:cNvPr id="15" name="Shape 11"/>
          <p:cNvSpPr/>
          <p:nvPr/>
        </p:nvSpPr>
        <p:spPr>
          <a:xfrm>
            <a:off x="7315200" y="3675888"/>
            <a:ext cx="4099255" cy="1097280"/>
          </a:xfrm>
          <a:prstGeom prst="roundRect">
            <a:avLst>
              <a:gd name="adj" fmla="val 5000"/>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6" name="Text 12"/>
          <p:cNvSpPr txBox="1"/>
          <p:nvPr/>
        </p:nvSpPr>
        <p:spPr>
          <a:xfrm>
            <a:off x="7589520" y="3849624"/>
            <a:ext cx="3550615" cy="438912"/>
          </a:xfrm>
          <a:prstGeom prst="rect">
            <a:avLst/>
          </a:prstGeom>
          <a:noFill/>
          <a:ln/>
        </p:spPr>
        <p:txBody>
          <a:bodyPr wrap="square" lIns="0" tIns="0" rIns="0" bIns="0" rtlCol="0" anchor="t"/>
          <a:lstStyle/>
          <a:p>
            <a:pPr marL="0" indent="0">
              <a:buNone/>
            </a:pPr>
            <a:r>
              <a:rPr lang="en-US" sz="2700" kern="0" spc="-90" dirty="0">
                <a:solidFill>
                  <a:srgbClr val="942838"/>
                </a:solidFill>
                <a:latin typeface="Montserrat ExtraBold" pitchFamily="34" charset="0"/>
                <a:ea typeface="Montserrat ExtraBold" pitchFamily="34" charset="-122"/>
                <a:cs typeface="Montserrat ExtraBold" pitchFamily="34" charset="-120"/>
              </a:rPr>
              <a:t>~12 sec</a:t>
            </a:r>
            <a:endParaRPr lang="en-US" sz="2700" dirty="0"/>
          </a:p>
        </p:txBody>
      </p:sp>
      <p:sp>
        <p:nvSpPr>
          <p:cNvPr id="17" name="Text 13"/>
          <p:cNvSpPr txBox="1"/>
          <p:nvPr/>
        </p:nvSpPr>
        <p:spPr>
          <a:xfrm>
            <a:off x="7589520" y="4325112"/>
            <a:ext cx="3550615" cy="384048"/>
          </a:xfrm>
          <a:prstGeom prst="rect">
            <a:avLst/>
          </a:prstGeom>
          <a:noFill/>
          <a:ln/>
        </p:spPr>
        <p:txBody>
          <a:bodyPr wrap="square" lIns="0" tIns="0" rIns="0" bIns="0" rtlCol="0" anchor="t"/>
          <a:lstStyle/>
          <a:p>
            <a:pPr marL="0" indent="0">
              <a:lnSpc>
                <a:spcPct val="118000"/>
              </a:lnSpc>
              <a:buNone/>
            </a:pPr>
            <a:r>
              <a:rPr lang="en-US" sz="1100" dirty="0">
                <a:solidFill>
                  <a:srgbClr val="6E7175"/>
                </a:solidFill>
                <a:latin typeface="Montserrat" pitchFamily="34" charset="0"/>
                <a:ea typeface="Montserrat" pitchFamily="34" charset="-122"/>
                <a:cs typeface="Montserrat" pitchFamily="34" charset="-120"/>
              </a:rPr>
              <a:t>total runtime, start to finish</a:t>
            </a:r>
            <a:endParaRPr lang="en-US" sz="1100" dirty="0"/>
          </a:p>
        </p:txBody>
      </p:sp>
      <p:sp>
        <p:nvSpPr>
          <p:cNvPr id="18" name="Shape 14"/>
          <p:cNvSpPr/>
          <p:nvPr/>
        </p:nvSpPr>
        <p:spPr>
          <a:xfrm>
            <a:off x="7315200" y="4919472"/>
            <a:ext cx="4099255" cy="1097280"/>
          </a:xfrm>
          <a:prstGeom prst="roundRect">
            <a:avLst>
              <a:gd name="adj" fmla="val 5000"/>
            </a:avLst>
          </a:prstGeom>
          <a:solidFill>
            <a:srgbClr val="F6EEF0"/>
          </a:solidFill>
          <a:ln w="9525">
            <a:solidFill>
              <a:srgbClr val="942838"/>
            </a:solidFill>
            <a:prstDash val="solid"/>
          </a:ln>
          <a:effectLst>
            <a:outerShdw algn="bl" rotWithShape="0">
              <a:srgbClr val="959092">
                <a:alpha val="0"/>
              </a:srgbClr>
            </a:outerShdw>
          </a:effectLst>
        </p:spPr>
        <p:txBody>
          <a:bodyPr/>
          <a:lstStyle/>
          <a:p>
            <a:endParaRPr lang="en-US"/>
          </a:p>
        </p:txBody>
      </p:sp>
      <p:sp>
        <p:nvSpPr>
          <p:cNvPr id="19" name="Text 15"/>
          <p:cNvSpPr txBox="1"/>
          <p:nvPr/>
        </p:nvSpPr>
        <p:spPr>
          <a:xfrm>
            <a:off x="7589520" y="5093208"/>
            <a:ext cx="3550615" cy="438912"/>
          </a:xfrm>
          <a:prstGeom prst="rect">
            <a:avLst/>
          </a:prstGeom>
          <a:noFill/>
          <a:ln/>
        </p:spPr>
        <p:txBody>
          <a:bodyPr wrap="square" lIns="0" tIns="0" rIns="0" bIns="0" rtlCol="0" anchor="t"/>
          <a:lstStyle/>
          <a:p>
            <a:pPr marL="0" indent="0">
              <a:buNone/>
            </a:pPr>
            <a:r>
              <a:rPr lang="en-US" sz="2700" kern="0" spc="-90" dirty="0">
                <a:solidFill>
                  <a:srgbClr val="942838"/>
                </a:solidFill>
                <a:latin typeface="Montserrat ExtraBold" pitchFamily="34" charset="0"/>
                <a:ea typeface="Montserrat ExtraBold" pitchFamily="34" charset="-122"/>
                <a:cs typeface="Montserrat ExtraBold" pitchFamily="34" charset="-120"/>
              </a:rPr>
              <a:t>29/29</a:t>
            </a:r>
            <a:endParaRPr lang="en-US" sz="2700" dirty="0"/>
          </a:p>
        </p:txBody>
      </p:sp>
      <p:sp>
        <p:nvSpPr>
          <p:cNvPr id="20" name="Text 16"/>
          <p:cNvSpPr txBox="1"/>
          <p:nvPr/>
        </p:nvSpPr>
        <p:spPr>
          <a:xfrm>
            <a:off x="7589520" y="5568696"/>
            <a:ext cx="3550615" cy="384048"/>
          </a:xfrm>
          <a:prstGeom prst="rect">
            <a:avLst/>
          </a:prstGeom>
          <a:noFill/>
          <a:ln/>
        </p:spPr>
        <p:txBody>
          <a:bodyPr wrap="square" lIns="0" tIns="0" rIns="0" bIns="0" rtlCol="0" anchor="t"/>
          <a:lstStyle/>
          <a:p>
            <a:pPr marL="0" indent="0">
              <a:lnSpc>
                <a:spcPct val="118000"/>
              </a:lnSpc>
              <a:buNone/>
            </a:pPr>
            <a:r>
              <a:rPr lang="en-US" sz="1100" dirty="0">
                <a:solidFill>
                  <a:srgbClr val="6E7175"/>
                </a:solidFill>
                <a:latin typeface="Montserrat" pitchFamily="34" charset="0"/>
                <a:ea typeface="Montserrat" pitchFamily="34" charset="-122"/>
                <a:cs typeface="Montserrat" pitchFamily="34" charset="-120"/>
              </a:rPr>
              <a:t>spot-checked against Tenable, Rapid7 and public advisories — all confirmed correct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THE FINDING</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52 of the 117 were already fixed</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19</a:t>
            </a:r>
            <a:endParaRPr lang="en-US" sz="850" dirty="0"/>
          </a:p>
        </p:txBody>
      </p:sp>
      <p:sp>
        <p:nvSpPr>
          <p:cNvPr id="9" name="Shape 6"/>
          <p:cNvSpPr/>
          <p:nvPr/>
        </p:nvSpPr>
        <p:spPr>
          <a:xfrm>
            <a:off x="777240" y="1847088"/>
            <a:ext cx="10637215" cy="603504"/>
          </a:xfrm>
          <a:prstGeom prst="roundRect">
            <a:avLst>
              <a:gd name="adj" fmla="val 9091"/>
            </a:avLst>
          </a:prstGeom>
          <a:solidFill>
            <a:srgbClr val="F6EEF0"/>
          </a:solidFill>
          <a:ln/>
        </p:spPr>
        <p:txBody>
          <a:bodyPr/>
          <a:lstStyle/>
          <a:p>
            <a:endParaRPr lang="en-US"/>
          </a:p>
        </p:txBody>
      </p:sp>
      <p:sp>
        <p:nvSpPr>
          <p:cNvPr id="10" name="Shape 7"/>
          <p:cNvSpPr/>
          <p:nvPr/>
        </p:nvSpPr>
        <p:spPr>
          <a:xfrm>
            <a:off x="777240" y="1847088"/>
            <a:ext cx="50292" cy="603504"/>
          </a:xfrm>
          <a:prstGeom prst="rect">
            <a:avLst/>
          </a:prstGeom>
          <a:solidFill>
            <a:srgbClr val="942838"/>
          </a:solidFill>
          <a:ln/>
        </p:spPr>
        <p:txBody>
          <a:bodyPr/>
          <a:lstStyle/>
          <a:p>
            <a:endParaRPr lang="en-US"/>
          </a:p>
        </p:txBody>
      </p:sp>
      <p:sp>
        <p:nvSpPr>
          <p:cNvPr id="11" name="Text 8"/>
          <p:cNvSpPr txBox="1"/>
          <p:nvPr/>
        </p:nvSpPr>
        <p:spPr>
          <a:xfrm>
            <a:off x="1014984" y="2048256"/>
            <a:ext cx="10180015" cy="310896"/>
          </a:xfrm>
          <a:prstGeom prst="rect">
            <a:avLst/>
          </a:prstGeom>
          <a:noFill/>
          <a:ln/>
        </p:spPr>
        <p:txBody>
          <a:bodyPr wrap="square" lIns="0" tIns="0" rIns="0" bIns="0" rtlCol="0" anchor="t"/>
          <a:lstStyle/>
          <a:p>
            <a:pPr marL="0" indent="0">
              <a:buNone/>
            </a:pPr>
            <a:r>
              <a:rPr lang="en-US" sz="900" kern="0" spc="140" dirty="0">
                <a:solidFill>
                  <a:srgbClr val="942838"/>
                </a:solidFill>
                <a:latin typeface="Montserrat SemiBold" pitchFamily="34" charset="0"/>
                <a:ea typeface="Montserrat SemiBold" pitchFamily="34" charset="-122"/>
                <a:cs typeface="Montserrat SemiBold" pitchFamily="34" charset="-120"/>
              </a:rPr>
              <a:t>THE ONE FACT   </a:t>
            </a:r>
            <a:r>
              <a:rPr lang="en-US" sz="1250" dirty="0">
                <a:solidFill>
                  <a:srgbClr val="2B2D30"/>
                </a:solidFill>
                <a:latin typeface="Montserrat SemiBold" pitchFamily="34" charset="0"/>
                <a:ea typeface="Montserrat SemiBold" pitchFamily="34" charset="-122"/>
                <a:cs typeface="Montserrat SemiBold" pitchFamily="34" charset="-120"/>
              </a:rPr>
              <a:t>Windows updates are cumulative. Installing the newest one automatically includes every older fix — exactly like a phone update.</a:t>
            </a:r>
            <a:endParaRPr lang="en-US" sz="900" dirty="0"/>
          </a:p>
        </p:txBody>
      </p:sp>
      <p:pic>
        <p:nvPicPr>
          <p:cNvPr id="12" name="Image 1" descr="/home/user/ai/assets/gen/cumulative-patch.png"/>
          <p:cNvPicPr>
            <a:picLocks noChangeAspect="1"/>
          </p:cNvPicPr>
          <p:nvPr/>
        </p:nvPicPr>
        <p:blipFill>
          <a:blip r:embed="rId4"/>
          <a:stretch>
            <a:fillRect/>
          </a:stretch>
        </p:blipFill>
        <p:spPr>
          <a:xfrm>
            <a:off x="777240" y="2670048"/>
            <a:ext cx="6537960" cy="1641445"/>
          </a:xfrm>
          <a:prstGeom prst="rect">
            <a:avLst/>
          </a:prstGeom>
        </p:spPr>
      </p:pic>
      <p:sp>
        <p:nvSpPr>
          <p:cNvPr id="13" name="Text 9"/>
          <p:cNvSpPr txBox="1"/>
          <p:nvPr/>
        </p:nvSpPr>
        <p:spPr>
          <a:xfrm>
            <a:off x="7680960" y="2706624"/>
            <a:ext cx="3733495"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SO WHEN WE CHECKED ALL 117</a:t>
            </a:r>
            <a:endParaRPr lang="en-US" sz="850" dirty="0"/>
          </a:p>
        </p:txBody>
      </p:sp>
      <p:sp>
        <p:nvSpPr>
          <p:cNvPr id="14" name="Shape 10"/>
          <p:cNvSpPr/>
          <p:nvPr/>
        </p:nvSpPr>
        <p:spPr>
          <a:xfrm>
            <a:off x="7680960" y="3035808"/>
            <a:ext cx="3733495" cy="859536"/>
          </a:xfrm>
          <a:prstGeom prst="roundRect">
            <a:avLst>
              <a:gd name="adj" fmla="val 6383"/>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5" name="Text 11"/>
          <p:cNvSpPr txBox="1"/>
          <p:nvPr/>
        </p:nvSpPr>
        <p:spPr>
          <a:xfrm>
            <a:off x="7882128" y="3182112"/>
            <a:ext cx="1097280" cy="566928"/>
          </a:xfrm>
          <a:prstGeom prst="rect">
            <a:avLst/>
          </a:prstGeom>
          <a:noFill/>
          <a:ln/>
        </p:spPr>
        <p:txBody>
          <a:bodyPr wrap="square" lIns="0" tIns="0" rIns="0" bIns="0" rtlCol="0" anchor="t"/>
          <a:lstStyle/>
          <a:p>
            <a:pPr marL="0" indent="0">
              <a:buNone/>
            </a:pPr>
            <a:r>
              <a:rPr lang="en-US" sz="3600" kern="0" spc="-140" dirty="0">
                <a:solidFill>
                  <a:srgbClr val="2B2D30"/>
                </a:solidFill>
                <a:latin typeface="Montserrat ExtraBold" pitchFamily="34" charset="0"/>
                <a:ea typeface="Montserrat ExtraBold" pitchFamily="34" charset="-122"/>
                <a:cs typeface="Montserrat ExtraBold" pitchFamily="34" charset="-120"/>
              </a:rPr>
              <a:t>52</a:t>
            </a:r>
            <a:endParaRPr lang="en-US" sz="3600" dirty="0"/>
          </a:p>
        </p:txBody>
      </p:sp>
      <p:sp>
        <p:nvSpPr>
          <p:cNvPr id="16" name="Text 12"/>
          <p:cNvSpPr txBox="1"/>
          <p:nvPr/>
        </p:nvSpPr>
        <p:spPr>
          <a:xfrm>
            <a:off x="9052560" y="3218688"/>
            <a:ext cx="2160727" cy="530352"/>
          </a:xfrm>
          <a:prstGeom prst="rect">
            <a:avLst/>
          </a:prstGeom>
          <a:noFill/>
          <a:ln/>
        </p:spPr>
        <p:txBody>
          <a:bodyPr wrap="square" lIns="0" tIns="0" rIns="0" bIns="0" rtlCol="0" anchor="t"/>
          <a:lstStyle/>
          <a:p>
            <a:pPr marL="0" indent="0">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were already fixed on every</a:t>
            </a:r>
            <a:endParaRPr lang="en-US" sz="950" dirty="0"/>
          </a:p>
          <a:p>
            <a:pPr marL="0" indent="0">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machine — nothing to do</a:t>
            </a:r>
            <a:endParaRPr lang="en-US" sz="950" dirty="0"/>
          </a:p>
        </p:txBody>
      </p:sp>
      <p:sp>
        <p:nvSpPr>
          <p:cNvPr id="17" name="Shape 13"/>
          <p:cNvSpPr/>
          <p:nvPr/>
        </p:nvSpPr>
        <p:spPr>
          <a:xfrm>
            <a:off x="7680960" y="4005072"/>
            <a:ext cx="3733495" cy="859536"/>
          </a:xfrm>
          <a:prstGeom prst="roundRect">
            <a:avLst>
              <a:gd name="adj" fmla="val 6383"/>
            </a:avLst>
          </a:prstGeom>
          <a:solidFill>
            <a:srgbClr val="F6EEF0"/>
          </a:solidFill>
          <a:ln w="9525">
            <a:solidFill>
              <a:srgbClr val="942838"/>
            </a:solidFill>
            <a:prstDash val="solid"/>
          </a:ln>
          <a:effectLst>
            <a:outerShdw algn="bl" rotWithShape="0">
              <a:srgbClr val="959092">
                <a:alpha val="0"/>
              </a:srgbClr>
            </a:outerShdw>
          </a:effectLst>
        </p:spPr>
        <p:txBody>
          <a:bodyPr/>
          <a:lstStyle/>
          <a:p>
            <a:endParaRPr lang="en-US"/>
          </a:p>
        </p:txBody>
      </p:sp>
      <p:sp>
        <p:nvSpPr>
          <p:cNvPr id="18" name="Text 14"/>
          <p:cNvSpPr txBox="1"/>
          <p:nvPr/>
        </p:nvSpPr>
        <p:spPr>
          <a:xfrm>
            <a:off x="7882128" y="4151376"/>
            <a:ext cx="1097280" cy="566928"/>
          </a:xfrm>
          <a:prstGeom prst="rect">
            <a:avLst/>
          </a:prstGeom>
          <a:noFill/>
          <a:ln/>
        </p:spPr>
        <p:txBody>
          <a:bodyPr wrap="square" lIns="0" tIns="0" rIns="0" bIns="0" rtlCol="0" anchor="t"/>
          <a:lstStyle/>
          <a:p>
            <a:pPr marL="0" indent="0">
              <a:buNone/>
            </a:pPr>
            <a:r>
              <a:rPr lang="en-US" sz="3600" kern="0" spc="-140" dirty="0">
                <a:solidFill>
                  <a:srgbClr val="942838"/>
                </a:solidFill>
                <a:latin typeface="Montserrat ExtraBold" pitchFamily="34" charset="0"/>
                <a:ea typeface="Montserrat ExtraBold" pitchFamily="34" charset="-122"/>
                <a:cs typeface="Montserrat ExtraBold" pitchFamily="34" charset="-120"/>
              </a:rPr>
              <a:t>65</a:t>
            </a:r>
            <a:endParaRPr lang="en-US" sz="3600" dirty="0"/>
          </a:p>
        </p:txBody>
      </p:sp>
      <p:sp>
        <p:nvSpPr>
          <p:cNvPr id="19" name="Text 15"/>
          <p:cNvSpPr txBox="1"/>
          <p:nvPr/>
        </p:nvSpPr>
        <p:spPr>
          <a:xfrm>
            <a:off x="9052560" y="4187952"/>
            <a:ext cx="2160727" cy="530352"/>
          </a:xfrm>
          <a:prstGeom prst="rect">
            <a:avLst/>
          </a:prstGeom>
          <a:noFill/>
          <a:ln/>
        </p:spPr>
        <p:txBody>
          <a:bodyPr wrap="square" lIns="0" tIns="0" rIns="0" bIns="0" rtlCol="0" anchor="t"/>
          <a:lstStyle/>
          <a:p>
            <a:pPr marL="0" indent="0">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were genuinely still open</a:t>
            </a:r>
            <a:endParaRPr lang="en-US" sz="950" dirty="0"/>
          </a:p>
          <a:p>
            <a:pPr marL="0" indent="0">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somewhere</a:t>
            </a:r>
            <a:endParaRPr lang="en-US" sz="950" dirty="0"/>
          </a:p>
        </p:txBody>
      </p:sp>
      <p:pic>
        <p:nvPicPr>
          <p:cNvPr id="20" name="Image 2" descr="/home/user/ai/assets/gen/chart-no-action.png"/>
          <p:cNvPicPr>
            <a:picLocks noChangeAspect="1"/>
          </p:cNvPicPr>
          <p:nvPr/>
        </p:nvPicPr>
        <p:blipFill>
          <a:blip r:embed="rId5"/>
          <a:stretch>
            <a:fillRect/>
          </a:stretch>
        </p:blipFill>
        <p:spPr>
          <a:xfrm>
            <a:off x="777240" y="5029200"/>
            <a:ext cx="10637215" cy="767634"/>
          </a:xfrm>
          <a:prstGeom prst="rect">
            <a:avLst/>
          </a:prstGeom>
        </p:spPr>
      </p:pic>
      <p:sp>
        <p:nvSpPr>
          <p:cNvPr id="21" name="Text 16"/>
          <p:cNvSpPr txBox="1"/>
          <p:nvPr/>
        </p:nvSpPr>
        <p:spPr>
          <a:xfrm>
            <a:off x="777240" y="5869986"/>
            <a:ext cx="4572000" cy="256032"/>
          </a:xfrm>
          <a:prstGeom prst="rect">
            <a:avLst/>
          </a:prstGeom>
          <a:noFill/>
          <a:ln/>
        </p:spPr>
        <p:txBody>
          <a:bodyPr wrap="square" lIns="0" tIns="0" rIns="0" bIns="0" rtlCol="0" anchor="t"/>
          <a:lstStyle/>
          <a:p>
            <a:pPr marL="0" indent="0">
              <a:buNone/>
            </a:pPr>
            <a:r>
              <a:rPr lang="en-US" sz="1150" dirty="0">
                <a:solidFill>
                  <a:srgbClr val="942838"/>
                </a:solidFill>
                <a:latin typeface="Montserrat SemiBold" pitchFamily="34" charset="0"/>
                <a:ea typeface="Montserrat SemiBold" pitchFamily="34" charset="-122"/>
                <a:cs typeface="Montserrat SemiBold" pitchFamily="34" charset="-120"/>
              </a:rPr>
              <a:t>65 still needed patching</a:t>
            </a:r>
            <a:endParaRPr lang="en-US" sz="1150" dirty="0"/>
          </a:p>
        </p:txBody>
      </p:sp>
      <p:sp>
        <p:nvSpPr>
          <p:cNvPr id="22" name="Text 17"/>
          <p:cNvSpPr txBox="1"/>
          <p:nvPr/>
        </p:nvSpPr>
        <p:spPr>
          <a:xfrm>
            <a:off x="5013655" y="5869986"/>
            <a:ext cx="6400800" cy="256032"/>
          </a:xfrm>
          <a:prstGeom prst="rect">
            <a:avLst/>
          </a:prstGeom>
          <a:noFill/>
          <a:ln/>
        </p:spPr>
        <p:txBody>
          <a:bodyPr wrap="square" lIns="0" tIns="0" rIns="0" bIns="0" rtlCol="0" anchor="t"/>
          <a:lstStyle/>
          <a:p>
            <a:pPr marL="0" indent="0" algn="r">
              <a:buNone/>
            </a:pPr>
            <a:r>
              <a:rPr lang="en-US" sz="1150" dirty="0">
                <a:solidFill>
                  <a:srgbClr val="6E7175"/>
                </a:solidFill>
                <a:latin typeface="Montserrat SemiBold" pitchFamily="34" charset="0"/>
                <a:ea typeface="Montserrat SemiBold" pitchFamily="34" charset="-122"/>
                <a:cs typeface="Montserrat SemiBold" pitchFamily="34" charset="-120"/>
              </a:rPr>
              <a:t>52 already covered — nobody had to do anything for these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GOING DEEPER</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Why 65 flaws turn into 209 rows</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20</a:t>
            </a:r>
            <a:endParaRPr lang="en-US" sz="850" dirty="0"/>
          </a:p>
        </p:txBody>
      </p:sp>
      <p:sp>
        <p:nvSpPr>
          <p:cNvPr id="9" name="Text 6"/>
          <p:cNvSpPr txBox="1"/>
          <p:nvPr/>
        </p:nvSpPr>
        <p:spPr>
          <a:xfrm>
            <a:off x="777240" y="1956816"/>
            <a:ext cx="10241280" cy="310896"/>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One flaw does not mean one patch. The same flaw needs a differently numbered patch on each version of Windows we run — so one flaw becomes several rows on the list.</a:t>
            </a:r>
            <a:endParaRPr lang="en-US" sz="1400" dirty="0"/>
          </a:p>
        </p:txBody>
      </p:sp>
      <p:pic>
        <p:nvPicPr>
          <p:cNvPr id="10" name="Image 1" descr="/home/user/ai/assets/gen/one-flaw-many-patches.png"/>
          <p:cNvPicPr>
            <a:picLocks noChangeAspect="1"/>
          </p:cNvPicPr>
          <p:nvPr/>
        </p:nvPicPr>
        <p:blipFill>
          <a:blip r:embed="rId4"/>
          <a:stretch>
            <a:fillRect/>
          </a:stretch>
        </p:blipFill>
        <p:spPr>
          <a:xfrm>
            <a:off x="685800" y="2450592"/>
            <a:ext cx="5943600" cy="2286000"/>
          </a:xfrm>
          <a:prstGeom prst="rect">
            <a:avLst/>
          </a:prstGeom>
        </p:spPr>
      </p:pic>
      <p:sp>
        <p:nvSpPr>
          <p:cNvPr id="11" name="Shape 7"/>
          <p:cNvSpPr/>
          <p:nvPr/>
        </p:nvSpPr>
        <p:spPr>
          <a:xfrm>
            <a:off x="6949440" y="2450592"/>
            <a:ext cx="4465015" cy="2212848"/>
          </a:xfrm>
          <a:prstGeom prst="roundRect">
            <a:avLst>
              <a:gd name="adj" fmla="val 2479"/>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2" name="Text 8"/>
          <p:cNvSpPr txBox="1"/>
          <p:nvPr/>
        </p:nvSpPr>
        <p:spPr>
          <a:xfrm>
            <a:off x="7242048" y="2688336"/>
            <a:ext cx="3879799"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WHERE 209 COMES FROM</a:t>
            </a:r>
            <a:endParaRPr lang="en-US" sz="850" dirty="0"/>
          </a:p>
        </p:txBody>
      </p:sp>
      <p:sp>
        <p:nvSpPr>
          <p:cNvPr id="13" name="Text 9"/>
          <p:cNvSpPr txBox="1"/>
          <p:nvPr/>
        </p:nvSpPr>
        <p:spPr>
          <a:xfrm>
            <a:off x="7242048" y="2944368"/>
            <a:ext cx="3879799" cy="384048"/>
          </a:xfrm>
          <a:prstGeom prst="rect">
            <a:avLst/>
          </a:prstGeom>
          <a:noFill/>
          <a:ln/>
        </p:spPr>
        <p:txBody>
          <a:bodyPr wrap="square" lIns="0" tIns="0" rIns="0" bIns="0" rtlCol="0" anchor="t"/>
          <a:lstStyle/>
          <a:p>
            <a:pPr marL="0" indent="0">
              <a:buNone/>
            </a:pPr>
            <a:r>
              <a:rPr lang="en-US" sz="2200" kern="0" spc="-70" dirty="0">
                <a:solidFill>
                  <a:srgbClr val="2B2D30"/>
                </a:solidFill>
                <a:latin typeface="Montserrat ExtraBold" pitchFamily="34" charset="0"/>
                <a:ea typeface="Montserrat ExtraBold" pitchFamily="34" charset="-122"/>
                <a:cs typeface="Montserrat ExtraBold" pitchFamily="34" charset="-120"/>
              </a:rPr>
              <a:t>Kevlar’s own report</a:t>
            </a:r>
            <a:endParaRPr lang="en-US" sz="2200" dirty="0"/>
          </a:p>
        </p:txBody>
      </p:sp>
      <p:sp>
        <p:nvSpPr>
          <p:cNvPr id="14" name="Text 10"/>
          <p:cNvSpPr txBox="1"/>
          <p:nvPr/>
        </p:nvSpPr>
        <p:spPr>
          <a:xfrm>
            <a:off x="7242048" y="3438144"/>
            <a:ext cx="3879799" cy="1005840"/>
          </a:xfrm>
          <a:prstGeom prst="rect">
            <a:avLst/>
          </a:prstGeom>
          <a:noFill/>
          <a:ln/>
        </p:spPr>
        <p:txBody>
          <a:bodyPr wrap="square" lIns="0" tIns="0" rIns="0" bIns="0" rtlCol="0" anchor="t"/>
          <a:lstStyle/>
          <a:p>
            <a:pPr marL="0" indent="0">
              <a:lnSpc>
                <a:spcPct val="126000"/>
              </a:lnSpc>
              <a:buNone/>
            </a:pPr>
            <a:r>
              <a:rPr lang="en-US" sz="1100" dirty="0">
                <a:solidFill>
                  <a:srgbClr val="43464A"/>
                </a:solidFill>
                <a:latin typeface="Montserrat" pitchFamily="34" charset="0"/>
                <a:ea typeface="Montserrat" pitchFamily="34" charset="-122"/>
                <a:cs typeface="Montserrat" pitchFamily="34" charset="-120"/>
              </a:rPr>
              <a:t>Do that fan-out for all 65 open flaws, across every Windows version in the fleet, and it adds up to 209 rows. Kevlar already publishes that list  I opened it and counted; I did not calculate it.</a:t>
            </a:r>
            <a:endParaRPr lang="en-US" sz="1100" dirty="0"/>
          </a:p>
        </p:txBody>
      </p:sp>
      <p:sp>
        <p:nvSpPr>
          <p:cNvPr id="15" name="Text 11"/>
          <p:cNvSpPr txBox="1"/>
          <p:nvPr/>
        </p:nvSpPr>
        <p:spPr>
          <a:xfrm>
            <a:off x="777240" y="4846320"/>
            <a:ext cx="548640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THE WHOLE CHAIN</a:t>
            </a:r>
            <a:endParaRPr lang="en-US" sz="850" dirty="0"/>
          </a:p>
        </p:txBody>
      </p:sp>
      <p:sp>
        <p:nvSpPr>
          <p:cNvPr id="16" name="Shape 12"/>
          <p:cNvSpPr/>
          <p:nvPr/>
        </p:nvSpPr>
        <p:spPr>
          <a:xfrm>
            <a:off x="777240" y="5138928"/>
            <a:ext cx="2487168" cy="932688"/>
          </a:xfrm>
          <a:prstGeom prst="roundRect">
            <a:avLst>
              <a:gd name="adj" fmla="val 5882"/>
            </a:avLst>
          </a:prstGeom>
          <a:solidFill>
            <a:srgbClr val="F5F4F3"/>
          </a:solidFill>
          <a:ln w="9525">
            <a:solidFill>
              <a:srgbClr val="E6E4E2"/>
            </a:solidFill>
            <a:prstDash val="solid"/>
          </a:ln>
          <a:effectLst>
            <a:outerShdw blurRad="101600" dist="50800" dir="5400000" algn="bl" rotWithShape="0">
              <a:srgbClr val="FFFFFF">
                <a:alpha val="75000"/>
              </a:srgbClr>
            </a:outerShdw>
          </a:effectLst>
        </p:spPr>
        <p:txBody>
          <a:bodyPr/>
          <a:lstStyle/>
          <a:p>
            <a:endParaRPr lang="en-US"/>
          </a:p>
        </p:txBody>
      </p:sp>
      <p:sp>
        <p:nvSpPr>
          <p:cNvPr id="17" name="Text 13"/>
          <p:cNvSpPr txBox="1"/>
          <p:nvPr/>
        </p:nvSpPr>
        <p:spPr>
          <a:xfrm>
            <a:off x="960120" y="5248656"/>
            <a:ext cx="2121408" cy="402336"/>
          </a:xfrm>
          <a:prstGeom prst="rect">
            <a:avLst/>
          </a:prstGeom>
          <a:noFill/>
          <a:ln/>
        </p:spPr>
        <p:txBody>
          <a:bodyPr wrap="square" lIns="0" tIns="0" rIns="0" bIns="0" rtlCol="0" anchor="ctr"/>
          <a:lstStyle/>
          <a:p>
            <a:pPr marL="0" indent="0" algn="ctr">
              <a:buNone/>
            </a:pPr>
            <a:r>
              <a:rPr lang="en-US" sz="2500" kern="0" spc="-90" dirty="0">
                <a:solidFill>
                  <a:srgbClr val="2B2D30"/>
                </a:solidFill>
                <a:latin typeface="Montserrat ExtraBold" pitchFamily="34" charset="0"/>
                <a:ea typeface="Montserrat ExtraBold" pitchFamily="34" charset="-122"/>
                <a:cs typeface="Montserrat ExtraBold" pitchFamily="34" charset="-120"/>
              </a:rPr>
              <a:t>117</a:t>
            </a:r>
            <a:endParaRPr lang="en-US" sz="2500" dirty="0"/>
          </a:p>
        </p:txBody>
      </p:sp>
      <p:sp>
        <p:nvSpPr>
          <p:cNvPr id="18" name="Text 14"/>
          <p:cNvSpPr txBox="1"/>
          <p:nvPr/>
        </p:nvSpPr>
        <p:spPr>
          <a:xfrm>
            <a:off x="923544" y="5669280"/>
            <a:ext cx="2194560" cy="365760"/>
          </a:xfrm>
          <a:prstGeom prst="rect">
            <a:avLst/>
          </a:prstGeom>
          <a:noFill/>
          <a:ln/>
        </p:spPr>
        <p:txBody>
          <a:bodyPr wrap="square" lIns="0" tIns="0" rIns="0" bIns="0" rtlCol="0" anchor="t"/>
          <a:lstStyle/>
          <a:p>
            <a:pPr marL="0" indent="0" algn="ctr">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flaws tracked</a:t>
            </a:r>
            <a:endParaRPr lang="en-US" sz="950" dirty="0"/>
          </a:p>
        </p:txBody>
      </p:sp>
      <p:sp>
        <p:nvSpPr>
          <p:cNvPr id="19" name="Text 15"/>
          <p:cNvSpPr txBox="1"/>
          <p:nvPr/>
        </p:nvSpPr>
        <p:spPr>
          <a:xfrm>
            <a:off x="3196285" y="5394960"/>
            <a:ext cx="365760" cy="420624"/>
          </a:xfrm>
          <a:prstGeom prst="rect">
            <a:avLst/>
          </a:prstGeom>
          <a:noFill/>
          <a:ln/>
        </p:spPr>
        <p:txBody>
          <a:bodyPr wrap="square" lIns="0" tIns="0" rIns="0" bIns="0" rtlCol="0" anchor="ctr"/>
          <a:lstStyle/>
          <a:p>
            <a:pPr marL="0" indent="0" algn="ctr">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0" name="Shape 16"/>
          <p:cNvSpPr/>
          <p:nvPr/>
        </p:nvSpPr>
        <p:spPr>
          <a:xfrm>
            <a:off x="3493922" y="5138928"/>
            <a:ext cx="2487168" cy="932688"/>
          </a:xfrm>
          <a:prstGeom prst="roundRect">
            <a:avLst>
              <a:gd name="adj" fmla="val 5882"/>
            </a:avLst>
          </a:prstGeom>
          <a:solidFill>
            <a:srgbClr val="F5F4F3"/>
          </a:solidFill>
          <a:ln w="9525">
            <a:solidFill>
              <a:srgbClr val="E6E4E2"/>
            </a:solidFill>
            <a:prstDash val="solid"/>
          </a:ln>
          <a:effectLst>
            <a:outerShdw blurRad="1290320000" dist="645160000" algn="bl" rotWithShape="0">
              <a:srgbClr val="FFFFFF">
                <a:alpha val="0"/>
              </a:srgbClr>
            </a:outerShdw>
          </a:effectLst>
        </p:spPr>
        <p:txBody>
          <a:bodyPr/>
          <a:lstStyle/>
          <a:p>
            <a:endParaRPr lang="en-US"/>
          </a:p>
        </p:txBody>
      </p:sp>
      <p:sp>
        <p:nvSpPr>
          <p:cNvPr id="21" name="Text 17"/>
          <p:cNvSpPr txBox="1"/>
          <p:nvPr/>
        </p:nvSpPr>
        <p:spPr>
          <a:xfrm>
            <a:off x="3676802" y="5248656"/>
            <a:ext cx="2121408" cy="402336"/>
          </a:xfrm>
          <a:prstGeom prst="rect">
            <a:avLst/>
          </a:prstGeom>
          <a:noFill/>
          <a:ln/>
        </p:spPr>
        <p:txBody>
          <a:bodyPr wrap="square" lIns="0" tIns="0" rIns="0" bIns="0" rtlCol="0" anchor="ctr"/>
          <a:lstStyle/>
          <a:p>
            <a:pPr marL="0" indent="0" algn="ctr">
              <a:buNone/>
            </a:pPr>
            <a:r>
              <a:rPr lang="en-US" sz="2500" kern="0" spc="-90" dirty="0">
                <a:solidFill>
                  <a:srgbClr val="2B2D30"/>
                </a:solidFill>
                <a:latin typeface="Montserrat ExtraBold" pitchFamily="34" charset="0"/>
                <a:ea typeface="Montserrat ExtraBold" pitchFamily="34" charset="-122"/>
                <a:cs typeface="Montserrat ExtraBold" pitchFamily="34" charset="-120"/>
              </a:rPr>
              <a:t>65</a:t>
            </a:r>
            <a:endParaRPr lang="en-US" sz="2500" dirty="0"/>
          </a:p>
        </p:txBody>
      </p:sp>
      <p:sp>
        <p:nvSpPr>
          <p:cNvPr id="22" name="Text 18"/>
          <p:cNvSpPr txBox="1"/>
          <p:nvPr/>
        </p:nvSpPr>
        <p:spPr>
          <a:xfrm>
            <a:off x="3640226" y="5669280"/>
            <a:ext cx="2194560" cy="365760"/>
          </a:xfrm>
          <a:prstGeom prst="rect">
            <a:avLst/>
          </a:prstGeom>
          <a:noFill/>
          <a:ln/>
        </p:spPr>
        <p:txBody>
          <a:bodyPr wrap="square" lIns="0" tIns="0" rIns="0" bIns="0" rtlCol="0" anchor="t"/>
          <a:lstStyle/>
          <a:p>
            <a:pPr marL="0" indent="0" algn="ctr">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still open</a:t>
            </a:r>
            <a:endParaRPr lang="en-US" sz="950" dirty="0"/>
          </a:p>
        </p:txBody>
      </p:sp>
      <p:sp>
        <p:nvSpPr>
          <p:cNvPr id="23" name="Text 19"/>
          <p:cNvSpPr txBox="1"/>
          <p:nvPr/>
        </p:nvSpPr>
        <p:spPr>
          <a:xfrm>
            <a:off x="5912968" y="5394960"/>
            <a:ext cx="365760" cy="420624"/>
          </a:xfrm>
          <a:prstGeom prst="rect">
            <a:avLst/>
          </a:prstGeom>
          <a:noFill/>
          <a:ln/>
        </p:spPr>
        <p:txBody>
          <a:bodyPr wrap="square" lIns="0" tIns="0" rIns="0" bIns="0" rtlCol="0" anchor="ctr"/>
          <a:lstStyle/>
          <a:p>
            <a:pPr marL="0" indent="0" algn="ctr">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4" name="Shape 20"/>
          <p:cNvSpPr/>
          <p:nvPr/>
        </p:nvSpPr>
        <p:spPr>
          <a:xfrm>
            <a:off x="6210605" y="5138928"/>
            <a:ext cx="2487168" cy="932688"/>
          </a:xfrm>
          <a:prstGeom prst="roundRect">
            <a:avLst>
              <a:gd name="adj" fmla="val 5882"/>
            </a:avLst>
          </a:prstGeom>
          <a:solidFill>
            <a:srgbClr val="F5F4F3"/>
          </a:solidFill>
          <a:ln w="9525">
            <a:solidFill>
              <a:srgbClr val="E6E4E2"/>
            </a:solidFill>
            <a:prstDash val="solid"/>
          </a:ln>
          <a:effectLst>
            <a:outerShdw algn="bl" rotWithShape="0">
              <a:srgbClr val="FFFFFF">
                <a:alpha val="0"/>
              </a:srgbClr>
            </a:outerShdw>
          </a:effectLst>
        </p:spPr>
        <p:txBody>
          <a:bodyPr/>
          <a:lstStyle/>
          <a:p>
            <a:endParaRPr lang="en-US"/>
          </a:p>
        </p:txBody>
      </p:sp>
      <p:sp>
        <p:nvSpPr>
          <p:cNvPr id="25" name="Text 21"/>
          <p:cNvSpPr txBox="1"/>
          <p:nvPr/>
        </p:nvSpPr>
        <p:spPr>
          <a:xfrm>
            <a:off x="6393485" y="5248656"/>
            <a:ext cx="2121408" cy="402336"/>
          </a:xfrm>
          <a:prstGeom prst="rect">
            <a:avLst/>
          </a:prstGeom>
          <a:noFill/>
          <a:ln/>
        </p:spPr>
        <p:txBody>
          <a:bodyPr wrap="square" lIns="0" tIns="0" rIns="0" bIns="0" rtlCol="0" anchor="ctr"/>
          <a:lstStyle/>
          <a:p>
            <a:pPr marL="0" indent="0" algn="ctr">
              <a:buNone/>
            </a:pPr>
            <a:r>
              <a:rPr lang="en-US" sz="2500" kern="0" spc="-90" dirty="0">
                <a:solidFill>
                  <a:srgbClr val="2B2D30"/>
                </a:solidFill>
                <a:latin typeface="Montserrat ExtraBold" pitchFamily="34" charset="0"/>
                <a:ea typeface="Montserrat ExtraBold" pitchFamily="34" charset="-122"/>
                <a:cs typeface="Montserrat ExtraBold" pitchFamily="34" charset="-120"/>
              </a:rPr>
              <a:t>209</a:t>
            </a:r>
            <a:endParaRPr lang="en-US" sz="2500" dirty="0"/>
          </a:p>
        </p:txBody>
      </p:sp>
      <p:sp>
        <p:nvSpPr>
          <p:cNvPr id="26" name="Text 22"/>
          <p:cNvSpPr txBox="1"/>
          <p:nvPr/>
        </p:nvSpPr>
        <p:spPr>
          <a:xfrm>
            <a:off x="6356909" y="5669280"/>
            <a:ext cx="2194560" cy="365760"/>
          </a:xfrm>
          <a:prstGeom prst="rect">
            <a:avLst/>
          </a:prstGeom>
          <a:noFill/>
          <a:ln/>
        </p:spPr>
        <p:txBody>
          <a:bodyPr wrap="square" lIns="0" tIns="0" rIns="0" bIns="0" rtlCol="0" anchor="t"/>
          <a:lstStyle/>
          <a:p>
            <a:pPr marL="0" indent="0" algn="ctr">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rows once split</a:t>
            </a:r>
            <a:endParaRPr lang="en-US" sz="950" dirty="0"/>
          </a:p>
          <a:p>
            <a:pPr marL="0" indent="0" algn="ctr">
              <a:lnSpc>
                <a:spcPct val="115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by Windows version</a:t>
            </a:r>
            <a:endParaRPr lang="en-US" sz="950" dirty="0"/>
          </a:p>
        </p:txBody>
      </p:sp>
      <p:sp>
        <p:nvSpPr>
          <p:cNvPr id="27" name="Text 23"/>
          <p:cNvSpPr txBox="1"/>
          <p:nvPr/>
        </p:nvSpPr>
        <p:spPr>
          <a:xfrm>
            <a:off x="8629650" y="5394960"/>
            <a:ext cx="365760" cy="420624"/>
          </a:xfrm>
          <a:prstGeom prst="rect">
            <a:avLst/>
          </a:prstGeom>
          <a:noFill/>
          <a:ln/>
        </p:spPr>
        <p:txBody>
          <a:bodyPr wrap="square" lIns="0" tIns="0" rIns="0" bIns="0" rtlCol="0" anchor="ctr"/>
          <a:lstStyle/>
          <a:p>
            <a:pPr marL="0" indent="0" algn="ctr">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8" name="Shape 24"/>
          <p:cNvSpPr/>
          <p:nvPr/>
        </p:nvSpPr>
        <p:spPr>
          <a:xfrm>
            <a:off x="8927287" y="5138928"/>
            <a:ext cx="2487168" cy="932688"/>
          </a:xfrm>
          <a:prstGeom prst="roundRect">
            <a:avLst>
              <a:gd name="adj" fmla="val 5882"/>
            </a:avLst>
          </a:prstGeom>
          <a:solidFill>
            <a:srgbClr val="942838"/>
          </a:solidFill>
          <a:ln w="9525">
            <a:solidFill>
              <a:srgbClr val="942838"/>
            </a:solidFill>
            <a:prstDash val="solid"/>
          </a:ln>
          <a:effectLst>
            <a:outerShdw blurRad="203200" dist="50800" dir="5400000" algn="bl" rotWithShape="0">
              <a:srgbClr val="5D1923">
                <a:alpha val="34000"/>
              </a:srgbClr>
            </a:outerShdw>
          </a:effectLst>
        </p:spPr>
        <p:txBody>
          <a:bodyPr/>
          <a:lstStyle/>
          <a:p>
            <a:endParaRPr lang="en-US"/>
          </a:p>
        </p:txBody>
      </p:sp>
      <p:sp>
        <p:nvSpPr>
          <p:cNvPr id="29" name="Text 25"/>
          <p:cNvSpPr txBox="1"/>
          <p:nvPr/>
        </p:nvSpPr>
        <p:spPr>
          <a:xfrm>
            <a:off x="9110167" y="5248656"/>
            <a:ext cx="2121408" cy="402336"/>
          </a:xfrm>
          <a:prstGeom prst="rect">
            <a:avLst/>
          </a:prstGeom>
          <a:noFill/>
          <a:ln/>
        </p:spPr>
        <p:txBody>
          <a:bodyPr wrap="square" lIns="0" tIns="0" rIns="0" bIns="0" rtlCol="0" anchor="ctr"/>
          <a:lstStyle/>
          <a:p>
            <a:pPr marL="0" indent="0" algn="ctr">
              <a:buNone/>
            </a:pPr>
            <a:r>
              <a:rPr lang="en-US" sz="2500" kern="0" spc="-90" dirty="0">
                <a:solidFill>
                  <a:srgbClr val="FFFFFF"/>
                </a:solidFill>
                <a:latin typeface="Montserrat ExtraBold" pitchFamily="34" charset="0"/>
                <a:ea typeface="Montserrat ExtraBold" pitchFamily="34" charset="-122"/>
                <a:cs typeface="Montserrat ExtraBold" pitchFamily="34" charset="-120"/>
              </a:rPr>
              <a:t>46</a:t>
            </a:r>
            <a:endParaRPr lang="en-US" sz="2500" dirty="0"/>
          </a:p>
        </p:txBody>
      </p:sp>
      <p:sp>
        <p:nvSpPr>
          <p:cNvPr id="30" name="Text 26"/>
          <p:cNvSpPr txBox="1"/>
          <p:nvPr/>
        </p:nvSpPr>
        <p:spPr>
          <a:xfrm>
            <a:off x="9073591" y="5669280"/>
            <a:ext cx="2194560" cy="365760"/>
          </a:xfrm>
          <a:prstGeom prst="rect">
            <a:avLst/>
          </a:prstGeom>
          <a:noFill/>
          <a:ln/>
        </p:spPr>
        <p:txBody>
          <a:bodyPr wrap="square" lIns="0" tIns="0" rIns="0" bIns="0" rtlCol="0" anchor="t"/>
          <a:lstStyle/>
          <a:p>
            <a:pPr marL="0" indent="0" algn="ctr">
              <a:lnSpc>
                <a:spcPct val="115000"/>
              </a:lnSpc>
              <a:buNone/>
            </a:pPr>
            <a:r>
              <a:rPr lang="en-US" sz="950" kern="0" spc="30" dirty="0">
                <a:solidFill>
                  <a:srgbClr val="E4C9CE"/>
                </a:solidFill>
                <a:latin typeface="Montserrat Medium" pitchFamily="34" charset="0"/>
                <a:ea typeface="Montserrat Medium" pitchFamily="34" charset="-122"/>
                <a:cs typeface="Montserrat Medium" pitchFamily="34" charset="-120"/>
              </a:rPr>
              <a:t>tickets, after the</a:t>
            </a:r>
            <a:endParaRPr lang="en-US" sz="950" dirty="0"/>
          </a:p>
          <a:p>
            <a:pPr marL="0" indent="0" algn="ctr">
              <a:lnSpc>
                <a:spcPct val="115000"/>
              </a:lnSpc>
              <a:buNone/>
            </a:pPr>
            <a:r>
              <a:rPr lang="en-US" sz="950" kern="0" spc="30" dirty="0">
                <a:solidFill>
                  <a:srgbClr val="E4C9CE"/>
                </a:solidFill>
                <a:latin typeface="Montserrat Medium" pitchFamily="34" charset="0"/>
                <a:ea typeface="Montserrat Medium" pitchFamily="34" charset="-122"/>
                <a:cs typeface="Montserrat Medium" pitchFamily="34" charset="-120"/>
              </a:rPr>
              <a:t>next slide’s rule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PROJECT 03  ·  THE PAYOFF</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209 rows became 46 tickets</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CVE-TO-PATCH AUTOMATION</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21</a:t>
            </a:r>
            <a:endParaRPr lang="en-US" sz="850" dirty="0"/>
          </a:p>
        </p:txBody>
      </p:sp>
      <p:sp>
        <p:nvSpPr>
          <p:cNvPr id="9" name="Shape 6"/>
          <p:cNvSpPr/>
          <p:nvPr/>
        </p:nvSpPr>
        <p:spPr>
          <a:xfrm>
            <a:off x="777240" y="1847088"/>
            <a:ext cx="10637215" cy="603504"/>
          </a:xfrm>
          <a:prstGeom prst="roundRect">
            <a:avLst>
              <a:gd name="adj" fmla="val 9091"/>
            </a:avLst>
          </a:prstGeom>
          <a:solidFill>
            <a:srgbClr val="F6EEF0"/>
          </a:solidFill>
          <a:ln/>
        </p:spPr>
        <p:txBody>
          <a:bodyPr/>
          <a:lstStyle/>
          <a:p>
            <a:endParaRPr lang="en-US"/>
          </a:p>
        </p:txBody>
      </p:sp>
      <p:sp>
        <p:nvSpPr>
          <p:cNvPr id="10" name="Shape 7"/>
          <p:cNvSpPr/>
          <p:nvPr/>
        </p:nvSpPr>
        <p:spPr>
          <a:xfrm>
            <a:off x="777240" y="1847088"/>
            <a:ext cx="50292" cy="603504"/>
          </a:xfrm>
          <a:prstGeom prst="rect">
            <a:avLst/>
          </a:prstGeom>
          <a:solidFill>
            <a:srgbClr val="942838"/>
          </a:solidFill>
          <a:ln/>
        </p:spPr>
        <p:txBody>
          <a:bodyPr/>
          <a:lstStyle/>
          <a:p>
            <a:endParaRPr lang="en-US"/>
          </a:p>
        </p:txBody>
      </p:sp>
      <p:sp>
        <p:nvSpPr>
          <p:cNvPr id="11" name="Text 8"/>
          <p:cNvSpPr txBox="1"/>
          <p:nvPr/>
        </p:nvSpPr>
        <p:spPr>
          <a:xfrm>
            <a:off x="1014984" y="2048256"/>
            <a:ext cx="10180015" cy="310896"/>
          </a:xfrm>
          <a:prstGeom prst="rect">
            <a:avLst/>
          </a:prstGeom>
          <a:noFill/>
          <a:ln/>
        </p:spPr>
        <p:txBody>
          <a:bodyPr wrap="square" lIns="0" tIns="0" rIns="0" bIns="0" rtlCol="0" anchor="t"/>
          <a:lstStyle/>
          <a:p>
            <a:pPr marL="0" indent="0">
              <a:buNone/>
            </a:pPr>
            <a:r>
              <a:rPr lang="en-US" sz="900" kern="0" spc="140" dirty="0">
                <a:solidFill>
                  <a:srgbClr val="942838"/>
                </a:solidFill>
                <a:latin typeface="Montserrat SemiBold" pitchFamily="34" charset="0"/>
                <a:ea typeface="Montserrat SemiBold" pitchFamily="34" charset="-122"/>
                <a:cs typeface="Montserrat SemiBold" pitchFamily="34" charset="-120"/>
              </a:rPr>
              <a:t>THE SAME FACT AGAIN   </a:t>
            </a:r>
            <a:r>
              <a:rPr lang="en-US" sz="1250" dirty="0">
                <a:solidFill>
                  <a:srgbClr val="2B2D30"/>
                </a:solidFill>
                <a:latin typeface="Montserrat SemiBold" pitchFamily="34" charset="0"/>
                <a:ea typeface="Montserrat SemiBold" pitchFamily="34" charset="-122"/>
                <a:cs typeface="Montserrat SemiBold" pitchFamily="34" charset="-120"/>
              </a:rPr>
              <a:t>Only now applied to one machine at a time — because the newest patch already contains the older ones, most of those rows are the same job twice.</a:t>
            </a:r>
            <a:endParaRPr lang="en-US" sz="900" dirty="0"/>
          </a:p>
        </p:txBody>
      </p:sp>
      <p:sp>
        <p:nvSpPr>
          <p:cNvPr id="12" name="Shape 9"/>
          <p:cNvSpPr/>
          <p:nvPr/>
        </p:nvSpPr>
        <p:spPr>
          <a:xfrm>
            <a:off x="777240" y="2633472"/>
            <a:ext cx="5577840" cy="1627632"/>
          </a:xfrm>
          <a:prstGeom prst="roundRect">
            <a:avLst>
              <a:gd name="adj" fmla="val 3371"/>
            </a:avLst>
          </a:prstGeom>
          <a:solidFill>
            <a:srgbClr val="FFFFFF"/>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13" name="Text 10"/>
          <p:cNvSpPr txBox="1"/>
          <p:nvPr/>
        </p:nvSpPr>
        <p:spPr>
          <a:xfrm>
            <a:off x="1051560" y="2852928"/>
            <a:ext cx="502920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ONE SERVER, THREE ROWS ON THE LIST</a:t>
            </a:r>
            <a:endParaRPr lang="en-US" sz="850" dirty="0"/>
          </a:p>
        </p:txBody>
      </p:sp>
      <p:sp>
        <p:nvSpPr>
          <p:cNvPr id="14" name="Text 11"/>
          <p:cNvSpPr txBox="1"/>
          <p:nvPr/>
        </p:nvSpPr>
        <p:spPr>
          <a:xfrm>
            <a:off x="1051560" y="3145536"/>
            <a:ext cx="219456" cy="237744"/>
          </a:xfrm>
          <a:prstGeom prst="rect">
            <a:avLst/>
          </a:prstGeom>
          <a:noFill/>
          <a:ln/>
        </p:spPr>
        <p:txBody>
          <a:bodyPr wrap="square" lIns="0" tIns="0" rIns="0" bIns="0" rtlCol="0" anchor="t"/>
          <a:lstStyle/>
          <a:p>
            <a:pPr marL="0" indent="0">
              <a:buNone/>
            </a:pPr>
            <a:r>
              <a:rPr lang="en-US" sz="1200" dirty="0">
                <a:solidFill>
                  <a:srgbClr val="C9C6C4"/>
                </a:solidFill>
                <a:latin typeface="Montserrat SemiBold" pitchFamily="34" charset="0"/>
                <a:ea typeface="Montserrat SemiBold" pitchFamily="34" charset="-122"/>
                <a:cs typeface="Montserrat SemiBold" pitchFamily="34" charset="-120"/>
              </a:rPr>
              <a:t>—</a:t>
            </a:r>
            <a:endParaRPr lang="en-US" sz="1200" dirty="0"/>
          </a:p>
        </p:txBody>
      </p:sp>
      <p:sp>
        <p:nvSpPr>
          <p:cNvPr id="15" name="Text 12"/>
          <p:cNvSpPr txBox="1"/>
          <p:nvPr/>
        </p:nvSpPr>
        <p:spPr>
          <a:xfrm>
            <a:off x="1325880" y="3145536"/>
            <a:ext cx="4754880" cy="237744"/>
          </a:xfrm>
          <a:prstGeom prst="rect">
            <a:avLst/>
          </a:prstGeom>
          <a:noFill/>
          <a:ln/>
        </p:spPr>
        <p:txBody>
          <a:bodyPr wrap="square" lIns="0" tIns="0" rIns="0" bIns="0" rtlCol="0" anchor="t"/>
          <a:lstStyle/>
          <a:p>
            <a:pPr marL="0" indent="0">
              <a:buNone/>
            </a:pPr>
            <a:r>
              <a:rPr lang="en-US" sz="1200" dirty="0">
                <a:solidFill>
                  <a:srgbClr val="6E7175"/>
                </a:solidFill>
                <a:latin typeface="Montserrat" pitchFamily="34" charset="0"/>
                <a:ea typeface="Montserrat" pitchFamily="34" charset="-122"/>
                <a:cs typeface="Montserrat" pitchFamily="34" charset="-120"/>
              </a:rPr>
              <a:t>March patch</a:t>
            </a:r>
            <a:r>
              <a:rPr lang="en-US" sz="1100" dirty="0">
                <a:solidFill>
                  <a:srgbClr val="6E7175"/>
                </a:solidFill>
                <a:latin typeface="Montserrat" pitchFamily="34" charset="0"/>
                <a:ea typeface="Montserrat" pitchFamily="34" charset="-122"/>
                <a:cs typeface="Montserrat" pitchFamily="34" charset="-120"/>
              </a:rPr>
              <a:t>   for flaw 1</a:t>
            </a:r>
            <a:endParaRPr lang="en-US" sz="1200" dirty="0"/>
          </a:p>
        </p:txBody>
      </p:sp>
      <p:sp>
        <p:nvSpPr>
          <p:cNvPr id="16" name="Text 13"/>
          <p:cNvSpPr txBox="1"/>
          <p:nvPr/>
        </p:nvSpPr>
        <p:spPr>
          <a:xfrm>
            <a:off x="1051560" y="3456432"/>
            <a:ext cx="219456" cy="237744"/>
          </a:xfrm>
          <a:prstGeom prst="rect">
            <a:avLst/>
          </a:prstGeom>
          <a:noFill/>
          <a:ln/>
        </p:spPr>
        <p:txBody>
          <a:bodyPr wrap="square" lIns="0" tIns="0" rIns="0" bIns="0" rtlCol="0" anchor="t"/>
          <a:lstStyle/>
          <a:p>
            <a:pPr marL="0" indent="0">
              <a:buNone/>
            </a:pPr>
            <a:r>
              <a:rPr lang="en-US" sz="1200" dirty="0">
                <a:solidFill>
                  <a:srgbClr val="C9C6C4"/>
                </a:solidFill>
                <a:latin typeface="Montserrat SemiBold" pitchFamily="34" charset="0"/>
                <a:ea typeface="Montserrat SemiBold" pitchFamily="34" charset="-122"/>
                <a:cs typeface="Montserrat SemiBold" pitchFamily="34" charset="-120"/>
              </a:rPr>
              <a:t>—</a:t>
            </a:r>
            <a:endParaRPr lang="en-US" sz="1200" dirty="0"/>
          </a:p>
        </p:txBody>
      </p:sp>
      <p:sp>
        <p:nvSpPr>
          <p:cNvPr id="17" name="Text 14"/>
          <p:cNvSpPr txBox="1"/>
          <p:nvPr/>
        </p:nvSpPr>
        <p:spPr>
          <a:xfrm>
            <a:off x="1325880" y="3456432"/>
            <a:ext cx="4754880" cy="237744"/>
          </a:xfrm>
          <a:prstGeom prst="rect">
            <a:avLst/>
          </a:prstGeom>
          <a:noFill/>
          <a:ln/>
        </p:spPr>
        <p:txBody>
          <a:bodyPr wrap="square" lIns="0" tIns="0" rIns="0" bIns="0" rtlCol="0" anchor="t"/>
          <a:lstStyle/>
          <a:p>
            <a:pPr marL="0" indent="0">
              <a:buNone/>
            </a:pPr>
            <a:r>
              <a:rPr lang="en-US" sz="1200" dirty="0">
                <a:solidFill>
                  <a:srgbClr val="6E7175"/>
                </a:solidFill>
                <a:latin typeface="Montserrat" pitchFamily="34" charset="0"/>
                <a:ea typeface="Montserrat" pitchFamily="34" charset="-122"/>
                <a:cs typeface="Montserrat" pitchFamily="34" charset="-120"/>
              </a:rPr>
              <a:t>June patch</a:t>
            </a:r>
            <a:r>
              <a:rPr lang="en-US" sz="1100" dirty="0">
                <a:solidFill>
                  <a:srgbClr val="6E7175"/>
                </a:solidFill>
                <a:latin typeface="Montserrat" pitchFamily="34" charset="0"/>
                <a:ea typeface="Montserrat" pitchFamily="34" charset="-122"/>
                <a:cs typeface="Montserrat" pitchFamily="34" charset="-120"/>
              </a:rPr>
              <a:t>   for flaw 2</a:t>
            </a:r>
            <a:endParaRPr lang="en-US" sz="1200" dirty="0"/>
          </a:p>
        </p:txBody>
      </p:sp>
      <p:sp>
        <p:nvSpPr>
          <p:cNvPr id="18" name="Text 15"/>
          <p:cNvSpPr txBox="1"/>
          <p:nvPr/>
        </p:nvSpPr>
        <p:spPr>
          <a:xfrm>
            <a:off x="1051560" y="3767328"/>
            <a:ext cx="219456" cy="237744"/>
          </a:xfrm>
          <a:prstGeom prst="rect">
            <a:avLst/>
          </a:prstGeom>
          <a:noFill/>
          <a:ln/>
        </p:spPr>
        <p:txBody>
          <a:bodyPr wrap="square" lIns="0" tIns="0" rIns="0" bIns="0" rtlCol="0" anchor="t"/>
          <a:lstStyle/>
          <a:p>
            <a:pPr marL="0" indent="0">
              <a:buNone/>
            </a:pPr>
            <a:r>
              <a:rPr lang="en-US" sz="1200" dirty="0">
                <a:solidFill>
                  <a:srgbClr val="942838"/>
                </a:solidFill>
                <a:latin typeface="Montserrat SemiBold" pitchFamily="34" charset="0"/>
                <a:ea typeface="Montserrat SemiBold" pitchFamily="34" charset="-122"/>
                <a:cs typeface="Montserrat SemiBold" pitchFamily="34" charset="-120"/>
              </a:rPr>
              <a:t>✓</a:t>
            </a:r>
            <a:endParaRPr lang="en-US" sz="1200" dirty="0"/>
          </a:p>
        </p:txBody>
      </p:sp>
      <p:sp>
        <p:nvSpPr>
          <p:cNvPr id="19" name="Text 16"/>
          <p:cNvSpPr txBox="1"/>
          <p:nvPr/>
        </p:nvSpPr>
        <p:spPr>
          <a:xfrm>
            <a:off x="1325880" y="3767328"/>
            <a:ext cx="4754880" cy="237744"/>
          </a:xfrm>
          <a:prstGeom prst="rect">
            <a:avLst/>
          </a:prstGeom>
          <a:noFill/>
          <a:ln/>
        </p:spPr>
        <p:txBody>
          <a:bodyPr wrap="square" lIns="0" tIns="0" rIns="0" bIns="0" rtlCol="0" anchor="t"/>
          <a:lstStyle/>
          <a:p>
            <a:pPr marL="0" indent="0">
              <a:buNone/>
            </a:pPr>
            <a:r>
              <a:rPr lang="en-US" sz="1200" dirty="0">
                <a:solidFill>
                  <a:srgbClr val="2B2D30"/>
                </a:solidFill>
                <a:latin typeface="Montserrat SemiBold" pitchFamily="34" charset="0"/>
                <a:ea typeface="Montserrat SemiBold" pitchFamily="34" charset="-122"/>
                <a:cs typeface="Montserrat SemiBold" pitchFamily="34" charset="-120"/>
              </a:rPr>
              <a:t>September patch</a:t>
            </a:r>
            <a:r>
              <a:rPr lang="en-US" sz="1100" dirty="0">
                <a:solidFill>
                  <a:srgbClr val="6E7175"/>
                </a:solidFill>
                <a:latin typeface="Montserrat" pitchFamily="34" charset="0"/>
                <a:ea typeface="Montserrat" pitchFamily="34" charset="-122"/>
                <a:cs typeface="Montserrat" pitchFamily="34" charset="-120"/>
              </a:rPr>
              <a:t>   for flaw 3</a:t>
            </a:r>
            <a:endParaRPr lang="en-US" sz="1200" dirty="0"/>
          </a:p>
        </p:txBody>
      </p:sp>
      <p:sp>
        <p:nvSpPr>
          <p:cNvPr id="20" name="Text 17"/>
          <p:cNvSpPr txBox="1"/>
          <p:nvPr/>
        </p:nvSpPr>
        <p:spPr>
          <a:xfrm>
            <a:off x="1051560" y="3950208"/>
            <a:ext cx="5029200" cy="237744"/>
          </a:xfrm>
          <a:prstGeom prst="rect">
            <a:avLst/>
          </a:prstGeom>
          <a:noFill/>
          <a:ln/>
        </p:spPr>
        <p:txBody>
          <a:bodyPr wrap="square" lIns="0" tIns="0" rIns="0" bIns="0" rtlCol="0" anchor="t"/>
          <a:lstStyle/>
          <a:p>
            <a:pPr marL="0" indent="0">
              <a:buNone/>
            </a:pPr>
            <a:r>
              <a:rPr lang="en-US" sz="1100" dirty="0">
                <a:solidFill>
                  <a:srgbClr val="942838"/>
                </a:solidFill>
                <a:latin typeface="Montserrat SemiBold" pitchFamily="34" charset="0"/>
                <a:ea typeface="Montserrat SemiBold" pitchFamily="34" charset="-122"/>
                <a:cs typeface="Montserrat SemiBold" pitchFamily="34" charset="-120"/>
              </a:rPr>
              <a:t>September already contains March and June — one action, not three.</a:t>
            </a:r>
            <a:endParaRPr lang="en-US" sz="1100" dirty="0"/>
          </a:p>
        </p:txBody>
      </p:sp>
      <p:sp>
        <p:nvSpPr>
          <p:cNvPr id="21" name="Shape 18"/>
          <p:cNvSpPr/>
          <p:nvPr/>
        </p:nvSpPr>
        <p:spPr>
          <a:xfrm>
            <a:off x="6766560" y="2633472"/>
            <a:ext cx="1402994" cy="1627632"/>
          </a:xfrm>
          <a:prstGeom prst="roundRect">
            <a:avLst>
              <a:gd name="adj" fmla="val 3910"/>
            </a:avLst>
          </a:prstGeom>
          <a:solidFill>
            <a:srgbClr val="F5F4F3"/>
          </a:solidFill>
          <a:ln w="9525">
            <a:solidFill>
              <a:srgbClr val="E6E4E2"/>
            </a:solidFill>
            <a:prstDash val="solid"/>
          </a:ln>
          <a:effectLst>
            <a:outerShdw algn="bl" rotWithShape="0">
              <a:srgbClr val="959092">
                <a:alpha val="0"/>
              </a:srgbClr>
            </a:outerShdw>
          </a:effectLst>
        </p:spPr>
        <p:txBody>
          <a:bodyPr/>
          <a:lstStyle/>
          <a:p>
            <a:endParaRPr lang="en-US"/>
          </a:p>
        </p:txBody>
      </p:sp>
      <p:sp>
        <p:nvSpPr>
          <p:cNvPr id="22" name="Text 19"/>
          <p:cNvSpPr txBox="1"/>
          <p:nvPr/>
        </p:nvSpPr>
        <p:spPr>
          <a:xfrm>
            <a:off x="6894576" y="3017520"/>
            <a:ext cx="1146962" cy="640080"/>
          </a:xfrm>
          <a:prstGeom prst="rect">
            <a:avLst/>
          </a:prstGeom>
          <a:noFill/>
          <a:ln/>
        </p:spPr>
        <p:txBody>
          <a:bodyPr wrap="square" lIns="0" tIns="0" rIns="0" bIns="0" rtlCol="0" anchor="t"/>
          <a:lstStyle/>
          <a:p>
            <a:pPr marL="0" indent="0" algn="ctr">
              <a:buNone/>
            </a:pPr>
            <a:r>
              <a:rPr lang="en-US" sz="4000" kern="0" spc="-160" dirty="0">
                <a:solidFill>
                  <a:srgbClr val="2B2D30"/>
                </a:solidFill>
                <a:latin typeface="Montserrat ExtraBold" pitchFamily="34" charset="0"/>
                <a:ea typeface="Montserrat ExtraBold" pitchFamily="34" charset="-122"/>
                <a:cs typeface="Montserrat ExtraBold" pitchFamily="34" charset="-120"/>
              </a:rPr>
              <a:t>209</a:t>
            </a:r>
            <a:endParaRPr lang="en-US" sz="4000" dirty="0"/>
          </a:p>
        </p:txBody>
      </p:sp>
      <p:sp>
        <p:nvSpPr>
          <p:cNvPr id="23" name="Text 20"/>
          <p:cNvSpPr txBox="1"/>
          <p:nvPr/>
        </p:nvSpPr>
        <p:spPr>
          <a:xfrm>
            <a:off x="6894576" y="3730752"/>
            <a:ext cx="1146962" cy="457200"/>
          </a:xfrm>
          <a:prstGeom prst="rect">
            <a:avLst/>
          </a:prstGeom>
          <a:noFill/>
          <a:ln/>
        </p:spPr>
        <p:txBody>
          <a:bodyPr wrap="square" lIns="0" tIns="0" rIns="0" bIns="0" rtlCol="0" anchor="t"/>
          <a:lstStyle/>
          <a:p>
            <a:pPr marL="0" indent="0" algn="ctr">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rows on Kevlar’s list</a:t>
            </a:r>
            <a:endParaRPr lang="en-US" sz="950" dirty="0"/>
          </a:p>
        </p:txBody>
      </p:sp>
      <p:sp>
        <p:nvSpPr>
          <p:cNvPr id="24" name="Shape 21"/>
          <p:cNvSpPr/>
          <p:nvPr/>
        </p:nvSpPr>
        <p:spPr>
          <a:xfrm>
            <a:off x="8389010" y="2633472"/>
            <a:ext cx="1402994" cy="1627632"/>
          </a:xfrm>
          <a:prstGeom prst="roundRect">
            <a:avLst>
              <a:gd name="adj" fmla="val 3910"/>
            </a:avLst>
          </a:prstGeom>
          <a:solidFill>
            <a:srgbClr val="F6EEF0"/>
          </a:solidFill>
          <a:ln w="9525">
            <a:solidFill>
              <a:srgbClr val="942838"/>
            </a:solidFill>
            <a:prstDash val="solid"/>
          </a:ln>
          <a:effectLst>
            <a:outerShdw algn="bl" rotWithShape="0">
              <a:srgbClr val="959092">
                <a:alpha val="0"/>
              </a:srgbClr>
            </a:outerShdw>
          </a:effectLst>
        </p:spPr>
        <p:txBody>
          <a:bodyPr/>
          <a:lstStyle/>
          <a:p>
            <a:endParaRPr lang="en-US"/>
          </a:p>
        </p:txBody>
      </p:sp>
      <p:sp>
        <p:nvSpPr>
          <p:cNvPr id="25" name="Text 22"/>
          <p:cNvSpPr txBox="1"/>
          <p:nvPr/>
        </p:nvSpPr>
        <p:spPr>
          <a:xfrm>
            <a:off x="8517026" y="3017520"/>
            <a:ext cx="1146962" cy="640080"/>
          </a:xfrm>
          <a:prstGeom prst="rect">
            <a:avLst/>
          </a:prstGeom>
          <a:noFill/>
          <a:ln/>
        </p:spPr>
        <p:txBody>
          <a:bodyPr wrap="square" lIns="0" tIns="0" rIns="0" bIns="0" rtlCol="0" anchor="t"/>
          <a:lstStyle/>
          <a:p>
            <a:pPr marL="0" indent="0" algn="ctr">
              <a:buNone/>
            </a:pPr>
            <a:r>
              <a:rPr lang="en-US" sz="4000" kern="0" spc="-160" dirty="0">
                <a:solidFill>
                  <a:srgbClr val="942838"/>
                </a:solidFill>
                <a:latin typeface="Montserrat ExtraBold" pitchFamily="34" charset="0"/>
                <a:ea typeface="Montserrat ExtraBold" pitchFamily="34" charset="-122"/>
                <a:cs typeface="Montserrat ExtraBold" pitchFamily="34" charset="-120"/>
              </a:rPr>
              <a:t>46</a:t>
            </a:r>
            <a:endParaRPr lang="en-US" sz="4000" dirty="0"/>
          </a:p>
        </p:txBody>
      </p:sp>
      <p:sp>
        <p:nvSpPr>
          <p:cNvPr id="26" name="Text 23"/>
          <p:cNvSpPr txBox="1"/>
          <p:nvPr/>
        </p:nvSpPr>
        <p:spPr>
          <a:xfrm>
            <a:off x="8517026" y="3730752"/>
            <a:ext cx="1146962" cy="457200"/>
          </a:xfrm>
          <a:prstGeom prst="rect">
            <a:avLst/>
          </a:prstGeom>
          <a:noFill/>
          <a:ln/>
        </p:spPr>
        <p:txBody>
          <a:bodyPr wrap="square" lIns="0" tIns="0" rIns="0" bIns="0" rtlCol="0" anchor="t"/>
          <a:lstStyle/>
          <a:p>
            <a:pPr marL="0" indent="0" algn="ctr">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tickets actually opened</a:t>
            </a:r>
            <a:endParaRPr lang="en-US" sz="950" dirty="0"/>
          </a:p>
        </p:txBody>
      </p:sp>
      <p:sp>
        <p:nvSpPr>
          <p:cNvPr id="27" name="Shape 24"/>
          <p:cNvSpPr/>
          <p:nvPr/>
        </p:nvSpPr>
        <p:spPr>
          <a:xfrm>
            <a:off x="10011461" y="2633472"/>
            <a:ext cx="1402994" cy="1627632"/>
          </a:xfrm>
          <a:prstGeom prst="roundRect">
            <a:avLst>
              <a:gd name="adj" fmla="val 3910"/>
            </a:avLst>
          </a:prstGeom>
          <a:solidFill>
            <a:srgbClr val="F6EEF0"/>
          </a:solidFill>
          <a:ln w="9525">
            <a:solidFill>
              <a:srgbClr val="942838"/>
            </a:solidFill>
            <a:prstDash val="solid"/>
          </a:ln>
          <a:effectLst>
            <a:outerShdw algn="bl" rotWithShape="0">
              <a:srgbClr val="959092">
                <a:alpha val="0"/>
              </a:srgbClr>
            </a:outerShdw>
          </a:effectLst>
        </p:spPr>
        <p:txBody>
          <a:bodyPr/>
          <a:lstStyle/>
          <a:p>
            <a:endParaRPr lang="en-US"/>
          </a:p>
        </p:txBody>
      </p:sp>
      <p:sp>
        <p:nvSpPr>
          <p:cNvPr id="28" name="Text 25"/>
          <p:cNvSpPr txBox="1"/>
          <p:nvPr/>
        </p:nvSpPr>
        <p:spPr>
          <a:xfrm>
            <a:off x="10139477" y="3017520"/>
            <a:ext cx="1146962" cy="640080"/>
          </a:xfrm>
          <a:prstGeom prst="rect">
            <a:avLst/>
          </a:prstGeom>
          <a:noFill/>
          <a:ln/>
        </p:spPr>
        <p:txBody>
          <a:bodyPr wrap="square" lIns="0" tIns="0" rIns="0" bIns="0" rtlCol="0" anchor="t"/>
          <a:lstStyle/>
          <a:p>
            <a:pPr marL="0" indent="0" algn="ctr">
              <a:buNone/>
            </a:pPr>
            <a:r>
              <a:rPr lang="en-US" sz="4000" kern="0" spc="-160" dirty="0">
                <a:solidFill>
                  <a:srgbClr val="942838"/>
                </a:solidFill>
                <a:latin typeface="Montserrat ExtraBold" pitchFamily="34" charset="0"/>
                <a:ea typeface="Montserrat ExtraBold" pitchFamily="34" charset="-122"/>
                <a:cs typeface="Montserrat ExtraBold" pitchFamily="34" charset="-120"/>
              </a:rPr>
              <a:t>78%</a:t>
            </a:r>
            <a:endParaRPr lang="en-US" sz="4000" dirty="0"/>
          </a:p>
        </p:txBody>
      </p:sp>
      <p:sp>
        <p:nvSpPr>
          <p:cNvPr id="29" name="Text 26"/>
          <p:cNvSpPr txBox="1"/>
          <p:nvPr/>
        </p:nvSpPr>
        <p:spPr>
          <a:xfrm>
            <a:off x="10139477" y="3730752"/>
            <a:ext cx="1146962" cy="457200"/>
          </a:xfrm>
          <a:prstGeom prst="rect">
            <a:avLst/>
          </a:prstGeom>
          <a:noFill/>
          <a:ln/>
        </p:spPr>
        <p:txBody>
          <a:bodyPr wrap="square" lIns="0" tIns="0" rIns="0" bIns="0" rtlCol="0" anchor="t"/>
          <a:lstStyle/>
          <a:p>
            <a:pPr marL="0" indent="0" algn="ctr">
              <a:lnSpc>
                <a:spcPct val="120000"/>
              </a:lnSpc>
              <a:buNone/>
            </a:pPr>
            <a:r>
              <a:rPr lang="en-US" sz="950" kern="0" spc="30" dirty="0">
                <a:solidFill>
                  <a:srgbClr val="6E7175"/>
                </a:solidFill>
                <a:latin typeface="Montserrat Medium" pitchFamily="34" charset="0"/>
                <a:ea typeface="Montserrat Medium" pitchFamily="34" charset="-122"/>
                <a:cs typeface="Montserrat Medium" pitchFamily="34" charset="-120"/>
              </a:rPr>
              <a:t>fewer — 163 absorbed</a:t>
            </a:r>
            <a:endParaRPr lang="en-US" sz="950" dirty="0"/>
          </a:p>
        </p:txBody>
      </p:sp>
      <p:sp>
        <p:nvSpPr>
          <p:cNvPr id="30" name="Text 27"/>
          <p:cNvSpPr txBox="1"/>
          <p:nvPr/>
        </p:nvSpPr>
        <p:spPr>
          <a:xfrm>
            <a:off x="777240" y="4462272"/>
            <a:ext cx="7315200" cy="201168"/>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EVERY SQUARE IS ONE ROW ON KEVLAR’S LIST  ·  RED BECAME A TICKET</a:t>
            </a:r>
            <a:endParaRPr lang="en-US" sz="850" dirty="0"/>
          </a:p>
        </p:txBody>
      </p:sp>
      <p:pic>
        <p:nvPicPr>
          <p:cNvPr id="31" name="Image 1" descr="/home/user/ai/assets/gen/chart-consolidation.png"/>
          <p:cNvPicPr>
            <a:picLocks noChangeAspect="1"/>
          </p:cNvPicPr>
          <p:nvPr/>
        </p:nvPicPr>
        <p:blipFill>
          <a:blip r:embed="rId4"/>
          <a:stretch>
            <a:fillRect/>
          </a:stretch>
        </p:blipFill>
        <p:spPr>
          <a:xfrm>
            <a:off x="1340968" y="4736592"/>
            <a:ext cx="9509760" cy="1092030"/>
          </a:xfrm>
          <a:prstGeom prst="rect">
            <a:avLst/>
          </a:prstGeom>
        </p:spPr>
      </p:pic>
      <p:sp>
        <p:nvSpPr>
          <p:cNvPr id="32" name="Text 28"/>
          <p:cNvSpPr txBox="1"/>
          <p:nvPr/>
        </p:nvSpPr>
        <p:spPr>
          <a:xfrm>
            <a:off x="777240" y="5907024"/>
            <a:ext cx="10637215" cy="274320"/>
          </a:xfrm>
          <a:prstGeom prst="rect">
            <a:avLst/>
          </a:prstGeom>
          <a:noFill/>
          <a:ln/>
        </p:spPr>
        <p:txBody>
          <a:bodyPr wrap="square" lIns="0" tIns="0" rIns="0" bIns="0" rtlCol="0" anchor="t"/>
          <a:lstStyle/>
          <a:p>
            <a:pPr marL="0" indent="0">
              <a:buNone/>
            </a:pPr>
            <a:r>
              <a:rPr lang="en-US" sz="1150" dirty="0">
                <a:solidFill>
                  <a:srgbClr val="2B2D30"/>
                </a:solidFill>
                <a:latin typeface="Montserrat SemiBold" pitchFamily="34" charset="0"/>
                <a:ea typeface="Montserrat SemiBold" pitchFamily="34" charset="-122"/>
                <a:cs typeface="Montserrat SemiBold" pitchFamily="34" charset="-120"/>
              </a:rPr>
              <a:t>Nothing was skipped. </a:t>
            </a:r>
            <a:r>
              <a:rPr lang="en-US" sz="1150" dirty="0">
                <a:solidFill>
                  <a:srgbClr val="6E7175"/>
                </a:solidFill>
                <a:latin typeface="Montserrat" pitchFamily="34" charset="0"/>
                <a:ea typeface="Montserrat" pitchFamily="34" charset="-122"/>
                <a:cs typeface="Montserrat" pitchFamily="34" charset="-120"/>
              </a:rPr>
              <a:t> Checked across all 2,658 machine-and-product combinations, not a sample.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user/ai/assets/gen/logo-red.png"/>
          <p:cNvPicPr>
            <a:picLocks noChangeAspect="1"/>
          </p:cNvPicPr>
          <p:nvPr/>
        </p:nvPicPr>
        <p:blipFill>
          <a:blip r:embed="rId3"/>
          <a:stretch>
            <a:fillRect/>
          </a:stretch>
        </p:blipFill>
        <p:spPr>
          <a:xfrm>
            <a:off x="9768535" y="457200"/>
            <a:ext cx="1645920" cy="166053"/>
          </a:xfrm>
          <a:prstGeom prst="rect">
            <a:avLst/>
          </a:prstGeom>
        </p:spPr>
      </p:pic>
      <p:sp>
        <p:nvSpPr>
          <p:cNvPr id="3" name="Text 0"/>
          <p:cNvSpPr txBox="1"/>
          <p:nvPr/>
        </p:nvSpPr>
        <p:spPr>
          <a:xfrm>
            <a:off x="777240" y="658368"/>
            <a:ext cx="7315200" cy="219456"/>
          </a:xfrm>
          <a:prstGeom prst="rect">
            <a:avLst/>
          </a:prstGeom>
          <a:noFill/>
          <a:ln/>
        </p:spPr>
        <p:txBody>
          <a:bodyPr wrap="square" lIns="0" tIns="0" rIns="0" bIns="0" rtlCol="0" anchor="t"/>
          <a:lstStyle/>
          <a:p>
            <a:pPr marL="0" indent="0">
              <a:buNone/>
            </a:pPr>
            <a:r>
              <a:rPr lang="en-US" sz="1000" kern="0" spc="220" dirty="0">
                <a:solidFill>
                  <a:srgbClr val="942838"/>
                </a:solidFill>
                <a:latin typeface="Montserrat SemiBold" pitchFamily="34" charset="0"/>
                <a:ea typeface="Montserrat SemiBold" pitchFamily="34" charset="-122"/>
                <a:cs typeface="Montserrat SemiBold" pitchFamily="34" charset="-120"/>
              </a:rPr>
              <a:t>SUMMARY</a:t>
            </a:r>
            <a:endParaRPr lang="en-US" sz="1000" dirty="0"/>
          </a:p>
        </p:txBody>
      </p:sp>
      <p:sp>
        <p:nvSpPr>
          <p:cNvPr id="4" name="Text 1"/>
          <p:cNvSpPr txBox="1"/>
          <p:nvPr/>
        </p:nvSpPr>
        <p:spPr>
          <a:xfrm>
            <a:off x="777240" y="932688"/>
            <a:ext cx="10515600" cy="868680"/>
          </a:xfrm>
          <a:prstGeom prst="rect">
            <a:avLst/>
          </a:prstGeom>
          <a:noFill/>
          <a:ln/>
        </p:spPr>
        <p:txBody>
          <a:bodyPr wrap="square" lIns="0" tIns="0" rIns="0" bIns="0" rtlCol="0" anchor="t"/>
          <a:lstStyle/>
          <a:p>
            <a:pPr marL="0" indent="0">
              <a:lnSpc>
                <a:spcPct val="98000"/>
              </a:lnSpc>
              <a:buNone/>
            </a:pPr>
            <a:r>
              <a:rPr lang="en-US" sz="2900" kern="0" spc="-50" dirty="0">
                <a:solidFill>
                  <a:srgbClr val="2B2D30"/>
                </a:solidFill>
                <a:latin typeface="Montserrat ExtraBold" pitchFamily="34" charset="0"/>
                <a:ea typeface="Montserrat ExtraBold" pitchFamily="34" charset="-122"/>
                <a:cs typeface="Montserrat ExtraBold" pitchFamily="34" charset="-120"/>
              </a:rPr>
              <a:t>What this means for Stewart</a:t>
            </a:r>
            <a:endParaRPr lang="en-US" sz="2900" dirty="0"/>
          </a:p>
        </p:txBody>
      </p:sp>
      <p:sp>
        <p:nvSpPr>
          <p:cNvPr id="5" name="Shape 2"/>
          <p:cNvSpPr/>
          <p:nvPr/>
        </p:nvSpPr>
        <p:spPr>
          <a:xfrm>
            <a:off x="777240" y="1700784"/>
            <a:ext cx="566928" cy="50292"/>
          </a:xfrm>
          <a:prstGeom prst="rect">
            <a:avLst/>
          </a:prstGeom>
          <a:solidFill>
            <a:srgbClr val="942838"/>
          </a:solidFill>
          <a:ln/>
        </p:spPr>
        <p:txBody>
          <a:bodyPr/>
          <a:lstStyle/>
          <a:p>
            <a:endParaRPr lang="en-US"/>
          </a:p>
        </p:txBody>
      </p:sp>
      <p:sp>
        <p:nvSpPr>
          <p:cNvPr id="6" name="Shape 3"/>
          <p:cNvSpPr/>
          <p:nvPr/>
        </p:nvSpPr>
        <p:spPr>
          <a:xfrm>
            <a:off x="777240" y="6181344"/>
            <a:ext cx="10637215" cy="10973"/>
          </a:xfrm>
          <a:prstGeom prst="rect">
            <a:avLst/>
          </a:prstGeom>
          <a:solidFill>
            <a:srgbClr val="E6E4E2"/>
          </a:solidFill>
          <a:ln/>
        </p:spPr>
        <p:txBody>
          <a:bodyPr/>
          <a:lstStyle/>
          <a:p>
            <a:endParaRPr lang="en-US"/>
          </a:p>
        </p:txBody>
      </p:sp>
      <p:sp>
        <p:nvSpPr>
          <p:cNvPr id="7" name="Text 4"/>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SUMMARY</a:t>
            </a:r>
            <a:endParaRPr lang="en-US" sz="850" dirty="0"/>
          </a:p>
        </p:txBody>
      </p:sp>
      <p:sp>
        <p:nvSpPr>
          <p:cNvPr id="8" name="Text 5"/>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6E7175"/>
                </a:solidFill>
                <a:latin typeface="Montserrat SemiBold" pitchFamily="34" charset="0"/>
                <a:ea typeface="Montserrat SemiBold" pitchFamily="34" charset="-122"/>
                <a:cs typeface="Montserrat SemiBold" pitchFamily="34" charset="-120"/>
              </a:rPr>
              <a:t>23</a:t>
            </a:r>
            <a:endParaRPr lang="en-US" sz="850" dirty="0"/>
          </a:p>
        </p:txBody>
      </p:sp>
      <p:sp>
        <p:nvSpPr>
          <p:cNvPr id="9" name="Text 6"/>
          <p:cNvSpPr txBox="1"/>
          <p:nvPr/>
        </p:nvSpPr>
        <p:spPr>
          <a:xfrm>
            <a:off x="777240" y="1956816"/>
            <a:ext cx="10241280" cy="310896"/>
          </a:xfrm>
          <a:prstGeom prst="rect">
            <a:avLst/>
          </a:prstGeom>
          <a:noFill/>
          <a:ln/>
        </p:spPr>
        <p:txBody>
          <a:bodyPr wrap="square" lIns="0" tIns="0" rIns="0" bIns="0" rtlCol="0" anchor="t"/>
          <a:lstStyle/>
          <a:p>
            <a:pPr marL="0" indent="0">
              <a:buNone/>
            </a:pPr>
            <a:r>
              <a:rPr lang="en-US" sz="1400" dirty="0">
                <a:solidFill>
                  <a:srgbClr val="6E7175"/>
                </a:solidFill>
                <a:latin typeface="Montserrat Medium" pitchFamily="34" charset="0"/>
                <a:ea typeface="Montserrat Medium" pitchFamily="34" charset="-122"/>
                <a:cs typeface="Montserrat Medium" pitchFamily="34" charset="-120"/>
              </a:rPr>
              <a:t>Three gaps going in. Where each one stands now.</a:t>
            </a:r>
            <a:endParaRPr lang="en-US" sz="1400" dirty="0"/>
          </a:p>
        </p:txBody>
      </p:sp>
      <p:sp>
        <p:nvSpPr>
          <p:cNvPr id="10" name="Text 7"/>
          <p:cNvSpPr txBox="1"/>
          <p:nvPr/>
        </p:nvSpPr>
        <p:spPr>
          <a:xfrm>
            <a:off x="777240" y="2505456"/>
            <a:ext cx="640080" cy="365760"/>
          </a:xfrm>
          <a:prstGeom prst="rect">
            <a:avLst/>
          </a:prstGeom>
          <a:noFill/>
          <a:ln/>
        </p:spPr>
        <p:txBody>
          <a:bodyPr wrap="square" lIns="0" tIns="0" rIns="0" bIns="0" rtlCol="0" anchor="t"/>
          <a:lstStyle/>
          <a:p>
            <a:pPr marL="0" indent="0">
              <a:buNone/>
            </a:pPr>
            <a:r>
              <a:rPr lang="en-US" sz="2400" kern="0" spc="-40" dirty="0">
                <a:solidFill>
                  <a:srgbClr val="DFBEC4"/>
                </a:solidFill>
                <a:latin typeface="Montserrat ExtraBold" pitchFamily="34" charset="0"/>
                <a:ea typeface="Montserrat ExtraBold" pitchFamily="34" charset="-122"/>
                <a:cs typeface="Montserrat ExtraBold" pitchFamily="34" charset="-120"/>
              </a:rPr>
              <a:t>01</a:t>
            </a:r>
            <a:endParaRPr lang="en-US" sz="2400" dirty="0"/>
          </a:p>
        </p:txBody>
      </p:sp>
      <p:sp>
        <p:nvSpPr>
          <p:cNvPr id="11" name="Text 8"/>
          <p:cNvSpPr txBox="1"/>
          <p:nvPr/>
        </p:nvSpPr>
        <p:spPr>
          <a:xfrm>
            <a:off x="1527048" y="2450592"/>
            <a:ext cx="1828800" cy="182880"/>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WAS</a:t>
            </a:r>
            <a:endParaRPr lang="en-US" sz="850" dirty="0"/>
          </a:p>
        </p:txBody>
      </p:sp>
      <p:sp>
        <p:nvSpPr>
          <p:cNvPr id="12" name="Text 9"/>
          <p:cNvSpPr txBox="1"/>
          <p:nvPr/>
        </p:nvSpPr>
        <p:spPr>
          <a:xfrm>
            <a:off x="1527048" y="2670048"/>
            <a:ext cx="3310128" cy="603504"/>
          </a:xfrm>
          <a:prstGeom prst="rect">
            <a:avLst/>
          </a:prstGeom>
          <a:noFill/>
          <a:ln/>
        </p:spPr>
        <p:txBody>
          <a:bodyPr wrap="square" lIns="0" tIns="0" rIns="0" bIns="0" rtlCol="0" anchor="t"/>
          <a:lstStyle/>
          <a:p>
            <a:pPr marL="0" indent="0">
              <a:lnSpc>
                <a:spcPct val="122000"/>
              </a:lnSpc>
              <a:buNone/>
            </a:pPr>
            <a:r>
              <a:rPr lang="en-US" sz="1100" dirty="0">
                <a:solidFill>
                  <a:srgbClr val="43464A"/>
                </a:solidFill>
                <a:latin typeface="Montserrat" pitchFamily="34" charset="0"/>
                <a:ea typeface="Montserrat" pitchFamily="34" charset="-122"/>
                <a:cs typeface="Montserrat" pitchFamily="34" charset="-120"/>
              </a:rPr>
              <a:t>Machines could ship without their security baseline.</a:t>
            </a:r>
            <a:endParaRPr lang="en-US" sz="1100" dirty="0"/>
          </a:p>
        </p:txBody>
      </p:sp>
      <p:sp>
        <p:nvSpPr>
          <p:cNvPr id="13" name="Text 10"/>
          <p:cNvSpPr txBox="1"/>
          <p:nvPr/>
        </p:nvSpPr>
        <p:spPr>
          <a:xfrm>
            <a:off x="4882896" y="2615184"/>
            <a:ext cx="365760" cy="420624"/>
          </a:xfrm>
          <a:prstGeom prst="rect">
            <a:avLst/>
          </a:prstGeom>
          <a:noFill/>
          <a:ln/>
        </p:spPr>
        <p:txBody>
          <a:bodyPr wrap="square" lIns="0" tIns="0" rIns="0" bIns="0" rtlCol="0" anchor="ctr"/>
          <a:lstStyle/>
          <a:p>
            <a:pPr marL="0" indent="0" algn="ctr">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14" name="Shape 11"/>
          <p:cNvSpPr/>
          <p:nvPr/>
        </p:nvSpPr>
        <p:spPr>
          <a:xfrm>
            <a:off x="5486400" y="2395728"/>
            <a:ext cx="5928055" cy="914400"/>
          </a:xfrm>
          <a:prstGeom prst="roundRect">
            <a:avLst>
              <a:gd name="adj" fmla="val 5000"/>
            </a:avLst>
          </a:prstGeom>
          <a:solidFill>
            <a:srgbClr val="F6EEF0"/>
          </a:solidFill>
          <a:ln/>
        </p:spPr>
        <p:txBody>
          <a:bodyPr/>
          <a:lstStyle/>
          <a:p>
            <a:endParaRPr lang="en-US"/>
          </a:p>
        </p:txBody>
      </p:sp>
      <p:sp>
        <p:nvSpPr>
          <p:cNvPr id="15" name="Shape 12"/>
          <p:cNvSpPr/>
          <p:nvPr/>
        </p:nvSpPr>
        <p:spPr>
          <a:xfrm>
            <a:off x="5486400" y="2395728"/>
            <a:ext cx="45720" cy="914400"/>
          </a:xfrm>
          <a:prstGeom prst="rect">
            <a:avLst/>
          </a:prstGeom>
          <a:solidFill>
            <a:srgbClr val="942838"/>
          </a:solidFill>
          <a:ln/>
        </p:spPr>
        <p:txBody>
          <a:bodyPr/>
          <a:lstStyle/>
          <a:p>
            <a:endParaRPr lang="en-US"/>
          </a:p>
        </p:txBody>
      </p:sp>
      <p:sp>
        <p:nvSpPr>
          <p:cNvPr id="16" name="Text 13"/>
          <p:cNvSpPr txBox="1"/>
          <p:nvPr/>
        </p:nvSpPr>
        <p:spPr>
          <a:xfrm>
            <a:off x="5724144" y="2523744"/>
            <a:ext cx="1828800" cy="182880"/>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NOW</a:t>
            </a:r>
            <a:endParaRPr lang="en-US" sz="850" dirty="0"/>
          </a:p>
        </p:txBody>
      </p:sp>
      <p:sp>
        <p:nvSpPr>
          <p:cNvPr id="17" name="Text 14"/>
          <p:cNvSpPr txBox="1"/>
          <p:nvPr/>
        </p:nvSpPr>
        <p:spPr>
          <a:xfrm>
            <a:off x="5724144" y="2743200"/>
            <a:ext cx="5452567" cy="548640"/>
          </a:xfrm>
          <a:prstGeom prst="rect">
            <a:avLst/>
          </a:prstGeom>
          <a:noFill/>
          <a:ln/>
        </p:spPr>
        <p:txBody>
          <a:bodyPr wrap="square" lIns="0" tIns="0" rIns="0" bIns="0" rtlCol="0" anchor="t"/>
          <a:lstStyle/>
          <a:p>
            <a:pPr marL="0" indent="0">
              <a:lnSpc>
                <a:spcPct val="122000"/>
              </a:lnSpc>
              <a:buNone/>
            </a:pPr>
            <a:r>
              <a:rPr lang="en-US" sz="1150" dirty="0">
                <a:solidFill>
                  <a:srgbClr val="2B2D30"/>
                </a:solidFill>
                <a:latin typeface="Montserrat SemiBold" pitchFamily="34" charset="0"/>
                <a:ea typeface="Montserrat SemiBold" pitchFamily="34" charset="-122"/>
                <a:cs typeface="Montserrat SemiBold" pitchFamily="34" charset="-120"/>
              </a:rPr>
              <a:t>Nine required tools named, owners assigned, and a written framework staged for Q4 sign-off.</a:t>
            </a:r>
            <a:endParaRPr lang="en-US" sz="1150" dirty="0"/>
          </a:p>
        </p:txBody>
      </p:sp>
      <p:sp>
        <p:nvSpPr>
          <p:cNvPr id="18" name="Shape 15"/>
          <p:cNvSpPr/>
          <p:nvPr/>
        </p:nvSpPr>
        <p:spPr>
          <a:xfrm>
            <a:off x="777240" y="3419856"/>
            <a:ext cx="10637215" cy="10973"/>
          </a:xfrm>
          <a:prstGeom prst="rect">
            <a:avLst/>
          </a:prstGeom>
          <a:solidFill>
            <a:srgbClr val="E6E4E2"/>
          </a:solidFill>
          <a:ln/>
        </p:spPr>
        <p:txBody>
          <a:bodyPr/>
          <a:lstStyle/>
          <a:p>
            <a:endParaRPr lang="en-US"/>
          </a:p>
        </p:txBody>
      </p:sp>
      <p:sp>
        <p:nvSpPr>
          <p:cNvPr id="19" name="Text 16"/>
          <p:cNvSpPr txBox="1"/>
          <p:nvPr/>
        </p:nvSpPr>
        <p:spPr>
          <a:xfrm>
            <a:off x="777240" y="3602736"/>
            <a:ext cx="640080" cy="365760"/>
          </a:xfrm>
          <a:prstGeom prst="rect">
            <a:avLst/>
          </a:prstGeom>
          <a:noFill/>
          <a:ln/>
        </p:spPr>
        <p:txBody>
          <a:bodyPr wrap="square" lIns="0" tIns="0" rIns="0" bIns="0" rtlCol="0" anchor="t"/>
          <a:lstStyle/>
          <a:p>
            <a:pPr marL="0" indent="0">
              <a:buNone/>
            </a:pPr>
            <a:r>
              <a:rPr lang="en-US" sz="2400" kern="0" spc="-40" dirty="0">
                <a:solidFill>
                  <a:srgbClr val="DFBEC4"/>
                </a:solidFill>
                <a:latin typeface="Montserrat ExtraBold" pitchFamily="34" charset="0"/>
                <a:ea typeface="Montserrat ExtraBold" pitchFamily="34" charset="-122"/>
                <a:cs typeface="Montserrat ExtraBold" pitchFamily="34" charset="-120"/>
              </a:rPr>
              <a:t>02</a:t>
            </a:r>
            <a:endParaRPr lang="en-US" sz="2400" dirty="0"/>
          </a:p>
        </p:txBody>
      </p:sp>
      <p:sp>
        <p:nvSpPr>
          <p:cNvPr id="20" name="Text 17"/>
          <p:cNvSpPr txBox="1"/>
          <p:nvPr/>
        </p:nvSpPr>
        <p:spPr>
          <a:xfrm>
            <a:off x="1527048" y="3547872"/>
            <a:ext cx="1828800" cy="182880"/>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WAS</a:t>
            </a:r>
            <a:endParaRPr lang="en-US" sz="850" dirty="0"/>
          </a:p>
        </p:txBody>
      </p:sp>
      <p:sp>
        <p:nvSpPr>
          <p:cNvPr id="21" name="Text 18"/>
          <p:cNvSpPr txBox="1"/>
          <p:nvPr/>
        </p:nvSpPr>
        <p:spPr>
          <a:xfrm>
            <a:off x="1527048" y="3767328"/>
            <a:ext cx="3310128" cy="603504"/>
          </a:xfrm>
          <a:prstGeom prst="rect">
            <a:avLst/>
          </a:prstGeom>
          <a:noFill/>
          <a:ln/>
        </p:spPr>
        <p:txBody>
          <a:bodyPr wrap="square" lIns="0" tIns="0" rIns="0" bIns="0" rtlCol="0" anchor="t"/>
          <a:lstStyle/>
          <a:p>
            <a:pPr marL="0" indent="0">
              <a:lnSpc>
                <a:spcPct val="122000"/>
              </a:lnSpc>
              <a:buNone/>
            </a:pPr>
            <a:r>
              <a:rPr lang="en-US" sz="1100" dirty="0">
                <a:solidFill>
                  <a:srgbClr val="43464A"/>
                </a:solidFill>
                <a:latin typeface="Montserrat" pitchFamily="34" charset="0"/>
                <a:ea typeface="Montserrat" pitchFamily="34" charset="-122"/>
                <a:cs typeface="Montserrat" pitchFamily="34" charset="-120"/>
              </a:rPr>
              <a:t>Attackers hide malicious code inside the open-source packages we depend on.</a:t>
            </a:r>
            <a:endParaRPr lang="en-US" sz="1100" dirty="0"/>
          </a:p>
        </p:txBody>
      </p:sp>
      <p:sp>
        <p:nvSpPr>
          <p:cNvPr id="22" name="Text 19"/>
          <p:cNvSpPr txBox="1"/>
          <p:nvPr/>
        </p:nvSpPr>
        <p:spPr>
          <a:xfrm>
            <a:off x="4882896" y="3712464"/>
            <a:ext cx="365760" cy="420624"/>
          </a:xfrm>
          <a:prstGeom prst="rect">
            <a:avLst/>
          </a:prstGeom>
          <a:noFill/>
          <a:ln/>
        </p:spPr>
        <p:txBody>
          <a:bodyPr wrap="square" lIns="0" tIns="0" rIns="0" bIns="0" rtlCol="0" anchor="ctr"/>
          <a:lstStyle/>
          <a:p>
            <a:pPr marL="0" indent="0" algn="ctr">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23" name="Shape 20"/>
          <p:cNvSpPr/>
          <p:nvPr/>
        </p:nvSpPr>
        <p:spPr>
          <a:xfrm>
            <a:off x="5486400" y="3493008"/>
            <a:ext cx="5928055" cy="914400"/>
          </a:xfrm>
          <a:prstGeom prst="roundRect">
            <a:avLst>
              <a:gd name="adj" fmla="val 5000"/>
            </a:avLst>
          </a:prstGeom>
          <a:solidFill>
            <a:srgbClr val="F6EEF0"/>
          </a:solidFill>
          <a:ln/>
        </p:spPr>
        <p:txBody>
          <a:bodyPr/>
          <a:lstStyle/>
          <a:p>
            <a:endParaRPr lang="en-US"/>
          </a:p>
        </p:txBody>
      </p:sp>
      <p:sp>
        <p:nvSpPr>
          <p:cNvPr id="24" name="Shape 21"/>
          <p:cNvSpPr/>
          <p:nvPr/>
        </p:nvSpPr>
        <p:spPr>
          <a:xfrm>
            <a:off x="5486400" y="3493008"/>
            <a:ext cx="45720" cy="914400"/>
          </a:xfrm>
          <a:prstGeom prst="rect">
            <a:avLst/>
          </a:prstGeom>
          <a:solidFill>
            <a:srgbClr val="942838"/>
          </a:solidFill>
          <a:ln/>
        </p:spPr>
        <p:txBody>
          <a:bodyPr/>
          <a:lstStyle/>
          <a:p>
            <a:endParaRPr lang="en-US"/>
          </a:p>
        </p:txBody>
      </p:sp>
      <p:sp>
        <p:nvSpPr>
          <p:cNvPr id="25" name="Text 22"/>
          <p:cNvSpPr txBox="1"/>
          <p:nvPr/>
        </p:nvSpPr>
        <p:spPr>
          <a:xfrm>
            <a:off x="5724144" y="3621024"/>
            <a:ext cx="1828800" cy="182880"/>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NOW</a:t>
            </a:r>
            <a:endParaRPr lang="en-US" sz="850" dirty="0"/>
          </a:p>
        </p:txBody>
      </p:sp>
      <p:sp>
        <p:nvSpPr>
          <p:cNvPr id="26" name="Text 23"/>
          <p:cNvSpPr txBox="1"/>
          <p:nvPr/>
        </p:nvSpPr>
        <p:spPr>
          <a:xfrm>
            <a:off x="5724144" y="3840480"/>
            <a:ext cx="5452567" cy="548640"/>
          </a:xfrm>
          <a:prstGeom prst="rect">
            <a:avLst/>
          </a:prstGeom>
          <a:noFill/>
          <a:ln/>
        </p:spPr>
        <p:txBody>
          <a:bodyPr wrap="square" lIns="0" tIns="0" rIns="0" bIns="0" rtlCol="0" anchor="t"/>
          <a:lstStyle/>
          <a:p>
            <a:pPr marL="0" indent="0">
              <a:lnSpc>
                <a:spcPct val="122000"/>
              </a:lnSpc>
              <a:buNone/>
            </a:pPr>
            <a:r>
              <a:rPr lang="en-US" sz="1150" dirty="0">
                <a:solidFill>
                  <a:srgbClr val="2B2D30"/>
                </a:solidFill>
                <a:latin typeface="Montserrat SemiBold" pitchFamily="34" charset="0"/>
                <a:ea typeface="Montserrat SemiBold" pitchFamily="34" charset="-122"/>
                <a:cs typeface="Montserrat SemiBold" pitchFamily="34" charset="-120"/>
              </a:rPr>
              <a:t>AEGIS built and its safety rails tested — five stages, and 5,675 packages scanned in production by an earlier version.</a:t>
            </a:r>
            <a:endParaRPr lang="en-US" sz="1150" dirty="0"/>
          </a:p>
        </p:txBody>
      </p:sp>
      <p:sp>
        <p:nvSpPr>
          <p:cNvPr id="27" name="Shape 24"/>
          <p:cNvSpPr/>
          <p:nvPr/>
        </p:nvSpPr>
        <p:spPr>
          <a:xfrm>
            <a:off x="777240" y="4517136"/>
            <a:ext cx="10637215" cy="10973"/>
          </a:xfrm>
          <a:prstGeom prst="rect">
            <a:avLst/>
          </a:prstGeom>
          <a:solidFill>
            <a:srgbClr val="E6E4E2"/>
          </a:solidFill>
          <a:ln/>
        </p:spPr>
        <p:txBody>
          <a:bodyPr/>
          <a:lstStyle/>
          <a:p>
            <a:endParaRPr lang="en-US"/>
          </a:p>
        </p:txBody>
      </p:sp>
      <p:sp>
        <p:nvSpPr>
          <p:cNvPr id="28" name="Text 25"/>
          <p:cNvSpPr txBox="1"/>
          <p:nvPr/>
        </p:nvSpPr>
        <p:spPr>
          <a:xfrm>
            <a:off x="777240" y="4700016"/>
            <a:ext cx="640080" cy="365760"/>
          </a:xfrm>
          <a:prstGeom prst="rect">
            <a:avLst/>
          </a:prstGeom>
          <a:noFill/>
          <a:ln/>
        </p:spPr>
        <p:txBody>
          <a:bodyPr wrap="square" lIns="0" tIns="0" rIns="0" bIns="0" rtlCol="0" anchor="t"/>
          <a:lstStyle/>
          <a:p>
            <a:pPr marL="0" indent="0">
              <a:buNone/>
            </a:pPr>
            <a:r>
              <a:rPr lang="en-US" sz="2400" kern="0" spc="-40" dirty="0">
                <a:solidFill>
                  <a:srgbClr val="DFBEC4"/>
                </a:solidFill>
                <a:latin typeface="Montserrat ExtraBold" pitchFamily="34" charset="0"/>
                <a:ea typeface="Montserrat ExtraBold" pitchFamily="34" charset="-122"/>
                <a:cs typeface="Montserrat ExtraBold" pitchFamily="34" charset="-120"/>
              </a:rPr>
              <a:t>03</a:t>
            </a:r>
            <a:endParaRPr lang="en-US" sz="2400" dirty="0"/>
          </a:p>
        </p:txBody>
      </p:sp>
      <p:sp>
        <p:nvSpPr>
          <p:cNvPr id="29" name="Text 26"/>
          <p:cNvSpPr txBox="1"/>
          <p:nvPr/>
        </p:nvSpPr>
        <p:spPr>
          <a:xfrm>
            <a:off x="1527048" y="4645152"/>
            <a:ext cx="1828800" cy="182880"/>
          </a:xfrm>
          <a:prstGeom prst="rect">
            <a:avLst/>
          </a:prstGeom>
          <a:noFill/>
          <a:ln/>
        </p:spPr>
        <p:txBody>
          <a:bodyPr wrap="square" lIns="0" tIns="0" rIns="0" bIns="0" rtlCol="0" anchor="t"/>
          <a:lstStyle/>
          <a:p>
            <a:pPr marL="0" indent="0">
              <a:buNone/>
            </a:pPr>
            <a:r>
              <a:rPr lang="en-US" sz="850" kern="0" spc="140" dirty="0">
                <a:solidFill>
                  <a:srgbClr val="6E7175"/>
                </a:solidFill>
                <a:latin typeface="Montserrat SemiBold" pitchFamily="34" charset="0"/>
                <a:ea typeface="Montserrat SemiBold" pitchFamily="34" charset="-122"/>
                <a:cs typeface="Montserrat SemiBold" pitchFamily="34" charset="-120"/>
              </a:rPr>
              <a:t>WAS</a:t>
            </a:r>
            <a:endParaRPr lang="en-US" sz="850" dirty="0"/>
          </a:p>
        </p:txBody>
      </p:sp>
      <p:sp>
        <p:nvSpPr>
          <p:cNvPr id="30" name="Text 27"/>
          <p:cNvSpPr txBox="1"/>
          <p:nvPr/>
        </p:nvSpPr>
        <p:spPr>
          <a:xfrm>
            <a:off x="1527048" y="4864608"/>
            <a:ext cx="3310128" cy="603504"/>
          </a:xfrm>
          <a:prstGeom prst="rect">
            <a:avLst/>
          </a:prstGeom>
          <a:noFill/>
          <a:ln/>
        </p:spPr>
        <p:txBody>
          <a:bodyPr wrap="square" lIns="0" tIns="0" rIns="0" bIns="0" rtlCol="0" anchor="t"/>
          <a:lstStyle/>
          <a:p>
            <a:pPr marL="0" indent="0">
              <a:lnSpc>
                <a:spcPct val="122000"/>
              </a:lnSpc>
              <a:buNone/>
            </a:pPr>
            <a:r>
              <a:rPr lang="en-US" sz="1100" dirty="0">
                <a:solidFill>
                  <a:srgbClr val="43464A"/>
                </a:solidFill>
                <a:latin typeface="Montserrat" pitchFamily="34" charset="0"/>
                <a:ea typeface="Montserrat" pitchFamily="34" charset="-122"/>
                <a:cs typeface="Montserrat" pitchFamily="34" charset="-120"/>
              </a:rPr>
              <a:t>Matching every tracked flaw to its patch took about two days of analyst time.</a:t>
            </a:r>
            <a:endParaRPr lang="en-US" sz="1100" dirty="0"/>
          </a:p>
        </p:txBody>
      </p:sp>
      <p:sp>
        <p:nvSpPr>
          <p:cNvPr id="31" name="Text 28"/>
          <p:cNvSpPr txBox="1"/>
          <p:nvPr/>
        </p:nvSpPr>
        <p:spPr>
          <a:xfrm>
            <a:off x="4882896" y="4809744"/>
            <a:ext cx="365760" cy="420624"/>
          </a:xfrm>
          <a:prstGeom prst="rect">
            <a:avLst/>
          </a:prstGeom>
          <a:noFill/>
          <a:ln/>
        </p:spPr>
        <p:txBody>
          <a:bodyPr wrap="square" lIns="0" tIns="0" rIns="0" bIns="0" rtlCol="0" anchor="ctr"/>
          <a:lstStyle/>
          <a:p>
            <a:pPr marL="0" indent="0" algn="ctr">
              <a:buNone/>
            </a:pPr>
            <a:r>
              <a:rPr lang="en-US" sz="2600" b="1" dirty="0">
                <a:solidFill>
                  <a:srgbClr val="C9C6C4"/>
                </a:solidFill>
                <a:latin typeface="Montserrat" pitchFamily="34" charset="0"/>
                <a:ea typeface="Montserrat" pitchFamily="34" charset="-122"/>
                <a:cs typeface="Montserrat" pitchFamily="34" charset="-120"/>
              </a:rPr>
              <a:t>›</a:t>
            </a:r>
            <a:endParaRPr lang="en-US" sz="2600" dirty="0"/>
          </a:p>
        </p:txBody>
      </p:sp>
      <p:sp>
        <p:nvSpPr>
          <p:cNvPr id="32" name="Shape 29"/>
          <p:cNvSpPr/>
          <p:nvPr/>
        </p:nvSpPr>
        <p:spPr>
          <a:xfrm>
            <a:off x="5486400" y="4590288"/>
            <a:ext cx="5928055" cy="914400"/>
          </a:xfrm>
          <a:prstGeom prst="roundRect">
            <a:avLst>
              <a:gd name="adj" fmla="val 5000"/>
            </a:avLst>
          </a:prstGeom>
          <a:solidFill>
            <a:srgbClr val="F6EEF0"/>
          </a:solidFill>
          <a:ln/>
        </p:spPr>
        <p:txBody>
          <a:bodyPr/>
          <a:lstStyle/>
          <a:p>
            <a:endParaRPr lang="en-US"/>
          </a:p>
        </p:txBody>
      </p:sp>
      <p:sp>
        <p:nvSpPr>
          <p:cNvPr id="33" name="Shape 30"/>
          <p:cNvSpPr/>
          <p:nvPr/>
        </p:nvSpPr>
        <p:spPr>
          <a:xfrm>
            <a:off x="5486400" y="4590288"/>
            <a:ext cx="45720" cy="914400"/>
          </a:xfrm>
          <a:prstGeom prst="rect">
            <a:avLst/>
          </a:prstGeom>
          <a:solidFill>
            <a:srgbClr val="942838"/>
          </a:solidFill>
          <a:ln/>
        </p:spPr>
        <p:txBody>
          <a:bodyPr/>
          <a:lstStyle/>
          <a:p>
            <a:endParaRPr lang="en-US"/>
          </a:p>
        </p:txBody>
      </p:sp>
      <p:sp>
        <p:nvSpPr>
          <p:cNvPr id="34" name="Text 31"/>
          <p:cNvSpPr txBox="1"/>
          <p:nvPr/>
        </p:nvSpPr>
        <p:spPr>
          <a:xfrm>
            <a:off x="5724144" y="4718304"/>
            <a:ext cx="1828800" cy="182880"/>
          </a:xfrm>
          <a:prstGeom prst="rect">
            <a:avLst/>
          </a:prstGeom>
          <a:noFill/>
          <a:ln/>
        </p:spPr>
        <p:txBody>
          <a:bodyPr wrap="square" lIns="0" tIns="0" rIns="0" bIns="0" rtlCol="0" anchor="t"/>
          <a:lstStyle/>
          <a:p>
            <a:pPr marL="0" indent="0">
              <a:buNone/>
            </a:pPr>
            <a:r>
              <a:rPr lang="en-US" sz="850" kern="0" spc="140" dirty="0">
                <a:solidFill>
                  <a:srgbClr val="942838"/>
                </a:solidFill>
                <a:latin typeface="Montserrat SemiBold" pitchFamily="34" charset="0"/>
                <a:ea typeface="Montserrat SemiBold" pitchFamily="34" charset="-122"/>
                <a:cs typeface="Montserrat SemiBold" pitchFamily="34" charset="-120"/>
              </a:rPr>
              <a:t>NOW</a:t>
            </a:r>
            <a:endParaRPr lang="en-US" sz="850" dirty="0"/>
          </a:p>
        </p:txBody>
      </p:sp>
      <p:sp>
        <p:nvSpPr>
          <p:cNvPr id="35" name="Text 32"/>
          <p:cNvSpPr txBox="1"/>
          <p:nvPr/>
        </p:nvSpPr>
        <p:spPr>
          <a:xfrm>
            <a:off x="5724144" y="4937760"/>
            <a:ext cx="5452567" cy="548640"/>
          </a:xfrm>
          <a:prstGeom prst="rect">
            <a:avLst/>
          </a:prstGeom>
          <a:noFill/>
          <a:ln/>
        </p:spPr>
        <p:txBody>
          <a:bodyPr wrap="square" lIns="0" tIns="0" rIns="0" bIns="0" rtlCol="0" anchor="t"/>
          <a:lstStyle/>
          <a:p>
            <a:pPr marL="0" indent="0">
              <a:lnSpc>
                <a:spcPct val="122000"/>
              </a:lnSpc>
              <a:buNone/>
            </a:pPr>
            <a:r>
              <a:rPr lang="en-US" sz="1150" dirty="0">
                <a:solidFill>
                  <a:srgbClr val="2B2D30"/>
                </a:solidFill>
                <a:latin typeface="Montserrat SemiBold" pitchFamily="34" charset="0"/>
                <a:ea typeface="Montserrat SemiBold" pitchFamily="34" charset="-122"/>
                <a:cs typeface="Montserrat SemiBold" pitchFamily="34" charset="-120"/>
              </a:rPr>
              <a:t>117 matched in ~12 seconds, and 209 rows collapsed to 46 tickets with nothing skipped.</a:t>
            </a:r>
            <a:endParaRPr lang="en-US" sz="1150" dirty="0"/>
          </a:p>
        </p:txBody>
      </p:sp>
      <p:sp>
        <p:nvSpPr>
          <p:cNvPr id="36" name="Text 33"/>
          <p:cNvSpPr txBox="1"/>
          <p:nvPr/>
        </p:nvSpPr>
        <p:spPr>
          <a:xfrm>
            <a:off x="777240" y="5797296"/>
            <a:ext cx="10637215" cy="310896"/>
          </a:xfrm>
          <a:prstGeom prst="rect">
            <a:avLst/>
          </a:prstGeom>
          <a:noFill/>
          <a:ln/>
        </p:spPr>
        <p:txBody>
          <a:bodyPr wrap="square" lIns="0" tIns="0" rIns="0" bIns="0" rtlCol="0" anchor="t"/>
          <a:lstStyle/>
          <a:p>
            <a:pPr marL="0" indent="0">
              <a:buNone/>
            </a:pPr>
            <a:r>
              <a:rPr lang="en-US" sz="1250" dirty="0">
                <a:solidFill>
                  <a:srgbClr val="942838"/>
                </a:solidFill>
                <a:latin typeface="Montserrat SemiBold" pitchFamily="34" charset="0"/>
                <a:ea typeface="Montserrat SemiBold" pitchFamily="34" charset="-122"/>
                <a:cs typeface="Montserrat SemiBold" pitchFamily="34" charset="-120"/>
              </a:rPr>
              <a:t>All three leave something behind: a written framework, a working scanner, and a script the team can run every cycle.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ome/user/ai/assets/gen/panel-r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user/ai/assets/gen/mark-slash-faint.png"/>
          <p:cNvPicPr>
            <a:picLocks noChangeAspect="1"/>
          </p:cNvPicPr>
          <p:nvPr/>
        </p:nvPicPr>
        <p:blipFill>
          <a:blip r:embed="rId4"/>
          <a:stretch>
            <a:fillRect/>
          </a:stretch>
        </p:blipFill>
        <p:spPr>
          <a:xfrm>
            <a:off x="8595360" y="2377440"/>
            <a:ext cx="5120640" cy="5120640"/>
          </a:xfrm>
          <a:prstGeom prst="rect">
            <a:avLst/>
          </a:prstGeom>
        </p:spPr>
      </p:pic>
      <p:pic>
        <p:nvPicPr>
          <p:cNvPr id="4" name="Image 2" descr="/home/user/ai/assets/gen/logo-white.png"/>
          <p:cNvPicPr>
            <a:picLocks noChangeAspect="1"/>
          </p:cNvPicPr>
          <p:nvPr/>
        </p:nvPicPr>
        <p:blipFill>
          <a:blip r:embed="rId5"/>
          <a:stretch>
            <a:fillRect/>
          </a:stretch>
        </p:blipFill>
        <p:spPr>
          <a:xfrm>
            <a:off x="9768535" y="457200"/>
            <a:ext cx="1645920" cy="166053"/>
          </a:xfrm>
          <a:prstGeom prst="rect">
            <a:avLst/>
          </a:prstGeom>
        </p:spPr>
      </p:pic>
      <p:sp>
        <p:nvSpPr>
          <p:cNvPr id="5" name="Text 0"/>
          <p:cNvSpPr txBox="1"/>
          <p:nvPr/>
        </p:nvSpPr>
        <p:spPr>
          <a:xfrm>
            <a:off x="777240" y="713232"/>
            <a:ext cx="5486400" cy="237744"/>
          </a:xfrm>
          <a:prstGeom prst="rect">
            <a:avLst/>
          </a:prstGeom>
          <a:noFill/>
          <a:ln/>
        </p:spPr>
        <p:txBody>
          <a:bodyPr wrap="square" lIns="0" tIns="0" rIns="0" bIns="0" rtlCol="0" anchor="t"/>
          <a:lstStyle/>
          <a:p>
            <a:pPr marL="0" indent="0">
              <a:buNone/>
            </a:pPr>
            <a:r>
              <a:rPr lang="en-US" sz="1000" kern="0" spc="220" dirty="0">
                <a:solidFill>
                  <a:srgbClr val="E4C9CE"/>
                </a:solidFill>
                <a:latin typeface="Montserrat SemiBold" pitchFamily="34" charset="0"/>
                <a:ea typeface="Montserrat SemiBold" pitchFamily="34" charset="-122"/>
                <a:cs typeface="Montserrat SemiBold" pitchFamily="34" charset="-120"/>
              </a:rPr>
              <a:t>IN CLOSING</a:t>
            </a:r>
            <a:endParaRPr lang="en-US" sz="1000" dirty="0"/>
          </a:p>
        </p:txBody>
      </p:sp>
      <p:sp>
        <p:nvSpPr>
          <p:cNvPr id="6" name="Text 1"/>
          <p:cNvSpPr txBox="1"/>
          <p:nvPr/>
        </p:nvSpPr>
        <p:spPr>
          <a:xfrm>
            <a:off x="777240" y="1042416"/>
            <a:ext cx="7315200" cy="896112"/>
          </a:xfrm>
          <a:prstGeom prst="rect">
            <a:avLst/>
          </a:prstGeom>
          <a:noFill/>
          <a:ln/>
        </p:spPr>
        <p:txBody>
          <a:bodyPr wrap="square" lIns="0" tIns="0" rIns="0" bIns="0" rtlCol="0" anchor="t"/>
          <a:lstStyle/>
          <a:p>
            <a:pPr marL="0" indent="0">
              <a:buNone/>
            </a:pPr>
            <a:r>
              <a:rPr lang="en-US" sz="4600" kern="0" spc="-120" dirty="0">
                <a:solidFill>
                  <a:srgbClr val="FFFFFF"/>
                </a:solidFill>
                <a:latin typeface="Montserrat ExtraBold" pitchFamily="34" charset="0"/>
                <a:ea typeface="Montserrat ExtraBold" pitchFamily="34" charset="-122"/>
                <a:cs typeface="Montserrat ExtraBold" pitchFamily="34" charset="-120"/>
              </a:rPr>
              <a:t>Thank you</a:t>
            </a:r>
            <a:endParaRPr lang="en-US" sz="4600" dirty="0"/>
          </a:p>
        </p:txBody>
      </p:sp>
      <p:sp>
        <p:nvSpPr>
          <p:cNvPr id="7" name="Shape 2"/>
          <p:cNvSpPr/>
          <p:nvPr/>
        </p:nvSpPr>
        <p:spPr>
          <a:xfrm>
            <a:off x="777240" y="2066544"/>
            <a:ext cx="640080" cy="50292"/>
          </a:xfrm>
          <a:prstGeom prst="rect">
            <a:avLst/>
          </a:prstGeom>
          <a:solidFill>
            <a:srgbClr val="FFFFFF"/>
          </a:solidFill>
          <a:ln/>
        </p:spPr>
        <p:txBody>
          <a:bodyPr/>
          <a:lstStyle/>
          <a:p>
            <a:endParaRPr lang="en-US"/>
          </a:p>
        </p:txBody>
      </p:sp>
      <p:sp>
        <p:nvSpPr>
          <p:cNvPr id="8" name="Text 3"/>
          <p:cNvSpPr txBox="1"/>
          <p:nvPr/>
        </p:nvSpPr>
        <p:spPr>
          <a:xfrm>
            <a:off x="777240" y="2340864"/>
            <a:ext cx="7863840" cy="566928"/>
          </a:xfrm>
          <a:prstGeom prst="rect">
            <a:avLst/>
          </a:prstGeom>
          <a:noFill/>
          <a:ln/>
        </p:spPr>
        <p:txBody>
          <a:bodyPr wrap="square" lIns="0" tIns="0" rIns="0" bIns="0" rtlCol="0" anchor="t"/>
          <a:lstStyle/>
          <a:p>
            <a:pPr marL="0" indent="0">
              <a:lnSpc>
                <a:spcPct val="130000"/>
              </a:lnSpc>
              <a:buNone/>
            </a:pPr>
            <a:r>
              <a:rPr lang="en-US" sz="1400" dirty="0">
                <a:solidFill>
                  <a:srgbClr val="DAB4BA"/>
                </a:solidFill>
                <a:latin typeface="Montserrat Medium" pitchFamily="34" charset="0"/>
                <a:ea typeface="Montserrat Medium" pitchFamily="34" charset="-122"/>
                <a:cs typeface="Montserrat Medium" pitchFamily="34" charset="-120"/>
              </a:rPr>
              <a:t>Everything in this deck exists because people here made room for an intern to do real work and because plenty of them guided me towards the correct answers.</a:t>
            </a:r>
            <a:endParaRPr lang="en-US" sz="1400" dirty="0"/>
          </a:p>
        </p:txBody>
      </p:sp>
      <p:sp>
        <p:nvSpPr>
          <p:cNvPr id="9" name="Shape 4"/>
          <p:cNvSpPr/>
          <p:nvPr/>
        </p:nvSpPr>
        <p:spPr>
          <a:xfrm>
            <a:off x="777240" y="3182112"/>
            <a:ext cx="45720" cy="384048"/>
          </a:xfrm>
          <a:prstGeom prst="rect">
            <a:avLst/>
          </a:prstGeom>
          <a:solidFill>
            <a:srgbClr val="FFFFFF"/>
          </a:solidFill>
          <a:ln/>
        </p:spPr>
        <p:txBody>
          <a:bodyPr/>
          <a:lstStyle/>
          <a:p>
            <a:endParaRPr lang="en-US"/>
          </a:p>
        </p:txBody>
      </p:sp>
      <p:sp>
        <p:nvSpPr>
          <p:cNvPr id="10" name="Text 5"/>
          <p:cNvSpPr txBox="1"/>
          <p:nvPr/>
        </p:nvSpPr>
        <p:spPr>
          <a:xfrm>
            <a:off x="1014984" y="3127248"/>
            <a:ext cx="9692640" cy="274320"/>
          </a:xfrm>
          <a:prstGeom prst="rect">
            <a:avLst/>
          </a:prstGeom>
          <a:noFill/>
          <a:ln/>
        </p:spPr>
        <p:txBody>
          <a:bodyPr wrap="square" lIns="0" tIns="0" rIns="0" bIns="0" rtlCol="0" anchor="t"/>
          <a:lstStyle/>
          <a:p>
            <a:pPr marL="0" indent="0">
              <a:buNone/>
            </a:pPr>
            <a:r>
              <a:rPr lang="en-US" sz="1400" dirty="0">
                <a:solidFill>
                  <a:srgbClr val="FFFFFF"/>
                </a:solidFill>
                <a:latin typeface="Montserrat SemiBold" pitchFamily="34" charset="0"/>
                <a:ea typeface="Montserrat SemiBold" pitchFamily="34" charset="-122"/>
                <a:cs typeface="Montserrat SemiBold" pitchFamily="34" charset="-120"/>
              </a:rPr>
              <a:t>To the Information Security team</a:t>
            </a:r>
            <a:endParaRPr lang="en-US" sz="1400" dirty="0"/>
          </a:p>
        </p:txBody>
      </p:sp>
      <p:sp>
        <p:nvSpPr>
          <p:cNvPr id="11" name="Text 6"/>
          <p:cNvSpPr txBox="1"/>
          <p:nvPr/>
        </p:nvSpPr>
        <p:spPr>
          <a:xfrm>
            <a:off x="1014984" y="3419856"/>
            <a:ext cx="9326880" cy="310896"/>
          </a:xfrm>
          <a:prstGeom prst="rect">
            <a:avLst/>
          </a:prstGeom>
          <a:noFill/>
          <a:ln/>
        </p:spPr>
        <p:txBody>
          <a:bodyPr wrap="square" lIns="0" tIns="0" rIns="0" bIns="0" rtlCol="0" anchor="t"/>
          <a:lstStyle/>
          <a:p>
            <a:pPr marL="0" indent="0">
              <a:lnSpc>
                <a:spcPct val="120000"/>
              </a:lnSpc>
              <a:buNone/>
            </a:pPr>
            <a:r>
              <a:rPr lang="en-US" sz="1100" dirty="0">
                <a:solidFill>
                  <a:srgbClr val="DAB4BA"/>
                </a:solidFill>
                <a:latin typeface="Montserrat" pitchFamily="34" charset="0"/>
                <a:ea typeface="Montserrat" pitchFamily="34" charset="-122"/>
                <a:cs typeface="Montserrat" pitchFamily="34" charset="-120"/>
              </a:rPr>
              <a:t>For handing me problems that mattered and trusting me to work on them properly.</a:t>
            </a:r>
            <a:endParaRPr lang="en-US" sz="1100" dirty="0"/>
          </a:p>
        </p:txBody>
      </p:sp>
      <p:sp>
        <p:nvSpPr>
          <p:cNvPr id="12" name="Shape 7"/>
          <p:cNvSpPr/>
          <p:nvPr/>
        </p:nvSpPr>
        <p:spPr>
          <a:xfrm>
            <a:off x="777240" y="3858768"/>
            <a:ext cx="10637215" cy="7315"/>
          </a:xfrm>
          <a:prstGeom prst="rect">
            <a:avLst/>
          </a:prstGeom>
          <a:solidFill>
            <a:srgbClr val="CA949C"/>
          </a:solidFill>
          <a:ln/>
        </p:spPr>
        <p:txBody>
          <a:bodyPr/>
          <a:lstStyle/>
          <a:p>
            <a:endParaRPr lang="en-US"/>
          </a:p>
        </p:txBody>
      </p:sp>
      <p:sp>
        <p:nvSpPr>
          <p:cNvPr id="13" name="Shape 8"/>
          <p:cNvSpPr/>
          <p:nvPr/>
        </p:nvSpPr>
        <p:spPr>
          <a:xfrm>
            <a:off x="777240" y="4041648"/>
            <a:ext cx="45720" cy="384048"/>
          </a:xfrm>
          <a:prstGeom prst="rect">
            <a:avLst/>
          </a:prstGeom>
          <a:solidFill>
            <a:srgbClr val="FFFFFF"/>
          </a:solidFill>
          <a:ln/>
        </p:spPr>
        <p:txBody>
          <a:bodyPr/>
          <a:lstStyle/>
          <a:p>
            <a:endParaRPr lang="en-US"/>
          </a:p>
        </p:txBody>
      </p:sp>
      <p:sp>
        <p:nvSpPr>
          <p:cNvPr id="14" name="Text 9"/>
          <p:cNvSpPr txBox="1"/>
          <p:nvPr/>
        </p:nvSpPr>
        <p:spPr>
          <a:xfrm>
            <a:off x="1014984" y="3986784"/>
            <a:ext cx="9692640" cy="274320"/>
          </a:xfrm>
          <a:prstGeom prst="rect">
            <a:avLst/>
          </a:prstGeom>
          <a:noFill/>
          <a:ln/>
        </p:spPr>
        <p:txBody>
          <a:bodyPr wrap="square" lIns="0" tIns="0" rIns="0" bIns="0" rtlCol="0" anchor="t"/>
          <a:lstStyle/>
          <a:p>
            <a:pPr marL="0" indent="0">
              <a:buNone/>
            </a:pPr>
            <a:r>
              <a:rPr lang="en-US" sz="1400" dirty="0">
                <a:solidFill>
                  <a:srgbClr val="FFFFFF"/>
                </a:solidFill>
                <a:latin typeface="Montserrat SemiBold" pitchFamily="34" charset="0"/>
                <a:ea typeface="Montserrat SemiBold" pitchFamily="34" charset="-122"/>
                <a:cs typeface="Montserrat SemiBold" pitchFamily="34" charset="-120"/>
              </a:rPr>
              <a:t>To Vulnerability Management, Application Security and Network Security</a:t>
            </a:r>
            <a:endParaRPr lang="en-US" sz="1400" dirty="0"/>
          </a:p>
        </p:txBody>
      </p:sp>
      <p:sp>
        <p:nvSpPr>
          <p:cNvPr id="15" name="Text 10"/>
          <p:cNvSpPr txBox="1"/>
          <p:nvPr/>
        </p:nvSpPr>
        <p:spPr>
          <a:xfrm>
            <a:off x="1014984" y="4279392"/>
            <a:ext cx="9326880" cy="310896"/>
          </a:xfrm>
          <a:prstGeom prst="rect">
            <a:avLst/>
          </a:prstGeom>
          <a:noFill/>
          <a:ln/>
        </p:spPr>
        <p:txBody>
          <a:bodyPr wrap="square" lIns="0" tIns="0" rIns="0" bIns="0" rtlCol="0" anchor="t"/>
          <a:lstStyle/>
          <a:p>
            <a:pPr marL="0" indent="0">
              <a:lnSpc>
                <a:spcPct val="120000"/>
              </a:lnSpc>
              <a:buNone/>
            </a:pPr>
            <a:r>
              <a:rPr lang="en-US" sz="1100" dirty="0">
                <a:solidFill>
                  <a:srgbClr val="DAB4BA"/>
                </a:solidFill>
                <a:latin typeface="Montserrat" pitchFamily="34" charset="0"/>
                <a:ea typeface="Montserrat" pitchFamily="34" charset="-122"/>
                <a:cs typeface="Montserrat" pitchFamily="34" charset="-120"/>
              </a:rPr>
              <a:t>Three rotations, three different ways of looking at the same job. I learned something distinct in each one.</a:t>
            </a:r>
            <a:endParaRPr lang="en-US" sz="1100" dirty="0"/>
          </a:p>
        </p:txBody>
      </p:sp>
      <p:sp>
        <p:nvSpPr>
          <p:cNvPr id="16" name="Shape 11"/>
          <p:cNvSpPr/>
          <p:nvPr/>
        </p:nvSpPr>
        <p:spPr>
          <a:xfrm>
            <a:off x="777240" y="4718304"/>
            <a:ext cx="10637215" cy="7315"/>
          </a:xfrm>
          <a:prstGeom prst="rect">
            <a:avLst/>
          </a:prstGeom>
          <a:solidFill>
            <a:srgbClr val="CA949C"/>
          </a:solidFill>
          <a:ln/>
        </p:spPr>
        <p:txBody>
          <a:bodyPr/>
          <a:lstStyle/>
          <a:p>
            <a:endParaRPr lang="en-US"/>
          </a:p>
        </p:txBody>
      </p:sp>
      <p:sp>
        <p:nvSpPr>
          <p:cNvPr id="17" name="Shape 12"/>
          <p:cNvSpPr/>
          <p:nvPr/>
        </p:nvSpPr>
        <p:spPr>
          <a:xfrm>
            <a:off x="777240" y="4901184"/>
            <a:ext cx="45720" cy="384048"/>
          </a:xfrm>
          <a:prstGeom prst="rect">
            <a:avLst/>
          </a:prstGeom>
          <a:solidFill>
            <a:srgbClr val="FFFFFF"/>
          </a:solidFill>
          <a:ln/>
        </p:spPr>
        <p:txBody>
          <a:bodyPr/>
          <a:lstStyle/>
          <a:p>
            <a:endParaRPr lang="en-US"/>
          </a:p>
        </p:txBody>
      </p:sp>
      <p:sp>
        <p:nvSpPr>
          <p:cNvPr id="18" name="Text 13"/>
          <p:cNvSpPr txBox="1"/>
          <p:nvPr/>
        </p:nvSpPr>
        <p:spPr>
          <a:xfrm>
            <a:off x="1014984" y="4846320"/>
            <a:ext cx="9692640" cy="274320"/>
          </a:xfrm>
          <a:prstGeom prst="rect">
            <a:avLst/>
          </a:prstGeom>
          <a:noFill/>
          <a:ln/>
        </p:spPr>
        <p:txBody>
          <a:bodyPr wrap="square" lIns="0" tIns="0" rIns="0" bIns="0" rtlCol="0" anchor="t"/>
          <a:lstStyle/>
          <a:p>
            <a:pPr marL="0" indent="0">
              <a:buNone/>
            </a:pPr>
            <a:r>
              <a:rPr lang="en-US" sz="1400" dirty="0">
                <a:solidFill>
                  <a:srgbClr val="FFFFFF"/>
                </a:solidFill>
                <a:latin typeface="Montserrat SemiBold" pitchFamily="34" charset="0"/>
                <a:ea typeface="Montserrat SemiBold" pitchFamily="34" charset="-122"/>
                <a:cs typeface="Montserrat SemiBold" pitchFamily="34" charset="-120"/>
              </a:rPr>
              <a:t>To Cloud Operations and Development</a:t>
            </a:r>
            <a:endParaRPr lang="en-US" sz="1400" dirty="0"/>
          </a:p>
        </p:txBody>
      </p:sp>
      <p:sp>
        <p:nvSpPr>
          <p:cNvPr id="19" name="Text 14"/>
          <p:cNvSpPr txBox="1"/>
          <p:nvPr/>
        </p:nvSpPr>
        <p:spPr>
          <a:xfrm>
            <a:off x="1014984" y="5138928"/>
            <a:ext cx="9326880" cy="310896"/>
          </a:xfrm>
          <a:prstGeom prst="rect">
            <a:avLst/>
          </a:prstGeom>
          <a:noFill/>
          <a:ln/>
        </p:spPr>
        <p:txBody>
          <a:bodyPr wrap="square" lIns="0" tIns="0" rIns="0" bIns="0" rtlCol="0" anchor="t"/>
          <a:lstStyle/>
          <a:p>
            <a:pPr marL="0" indent="0">
              <a:lnSpc>
                <a:spcPct val="120000"/>
              </a:lnSpc>
              <a:buNone/>
            </a:pPr>
            <a:r>
              <a:rPr lang="en-US" sz="1100" dirty="0">
                <a:solidFill>
                  <a:srgbClr val="DAB4BA"/>
                </a:solidFill>
                <a:latin typeface="Montserrat" pitchFamily="34" charset="0"/>
                <a:ea typeface="Montserrat" pitchFamily="34" charset="-122"/>
                <a:cs typeface="Montserrat" pitchFamily="34" charset="-120"/>
              </a:rPr>
              <a:t>For being available for someone from another team who kept turning up with questions.</a:t>
            </a:r>
            <a:endParaRPr lang="en-US" sz="1100" dirty="0"/>
          </a:p>
        </p:txBody>
      </p:sp>
      <p:sp>
        <p:nvSpPr>
          <p:cNvPr id="20" name="Text 15"/>
          <p:cNvSpPr txBox="1"/>
          <p:nvPr/>
        </p:nvSpPr>
        <p:spPr>
          <a:xfrm>
            <a:off x="777240" y="5872277"/>
            <a:ext cx="6949440" cy="310896"/>
          </a:xfrm>
          <a:prstGeom prst="rect">
            <a:avLst/>
          </a:prstGeom>
          <a:noFill/>
          <a:ln/>
        </p:spPr>
        <p:txBody>
          <a:bodyPr wrap="square" lIns="0" tIns="0" rIns="0" bIns="0" rtlCol="0" anchor="t"/>
          <a:lstStyle/>
          <a:p>
            <a:pPr marL="0" indent="0">
              <a:buNone/>
            </a:pPr>
            <a:r>
              <a:rPr lang="en-US" sz="1600" dirty="0">
                <a:solidFill>
                  <a:srgbClr val="FFFFFF"/>
                </a:solidFill>
                <a:latin typeface="Montserrat SemiBold" pitchFamily="34" charset="0"/>
                <a:ea typeface="Montserrat SemiBold" pitchFamily="34" charset="-122"/>
                <a:cs typeface="Montserrat SemiBold" pitchFamily="34" charset="-120"/>
              </a:rPr>
              <a:t>Happy to take any questions.</a:t>
            </a:r>
            <a:endParaRPr lang="en-US" sz="1600" dirty="0"/>
          </a:p>
        </p:txBody>
      </p:sp>
      <p:sp>
        <p:nvSpPr>
          <p:cNvPr id="22" name="Text 17"/>
          <p:cNvSpPr txBox="1"/>
          <p:nvPr/>
        </p:nvSpPr>
        <p:spPr>
          <a:xfrm>
            <a:off x="777240" y="6327648"/>
            <a:ext cx="7315200" cy="201168"/>
          </a:xfrm>
          <a:prstGeom prst="rect">
            <a:avLst/>
          </a:prstGeom>
          <a:noFill/>
          <a:ln/>
        </p:spPr>
        <p:txBody>
          <a:bodyPr wrap="square" lIns="0" tIns="0" rIns="0" bIns="0" rtlCol="0" anchor="t"/>
          <a:lstStyle/>
          <a:p>
            <a:pPr marL="0" indent="0">
              <a:buNone/>
            </a:pPr>
            <a:r>
              <a:rPr lang="en-US" sz="850" kern="0" spc="140" dirty="0">
                <a:solidFill>
                  <a:srgbClr val="E4C9CE"/>
                </a:solidFill>
                <a:latin typeface="Montserrat SemiBold" pitchFamily="34" charset="0"/>
                <a:ea typeface="Montserrat SemiBold" pitchFamily="34" charset="-122"/>
                <a:cs typeface="Montserrat SemiBold" pitchFamily="34" charset="-120"/>
              </a:rPr>
              <a:t>THANK YOU</a:t>
            </a:r>
            <a:endParaRPr lang="en-US" sz="850" dirty="0"/>
          </a:p>
        </p:txBody>
      </p:sp>
      <p:sp>
        <p:nvSpPr>
          <p:cNvPr id="23" name="Text 18"/>
          <p:cNvSpPr txBox="1"/>
          <p:nvPr/>
        </p:nvSpPr>
        <p:spPr>
          <a:xfrm>
            <a:off x="10317175" y="6327648"/>
            <a:ext cx="1097280" cy="201168"/>
          </a:xfrm>
          <a:prstGeom prst="rect">
            <a:avLst/>
          </a:prstGeom>
          <a:noFill/>
          <a:ln/>
        </p:spPr>
        <p:txBody>
          <a:bodyPr wrap="square" lIns="0" tIns="0" rIns="0" bIns="0" rtlCol="0" anchor="t"/>
          <a:lstStyle/>
          <a:p>
            <a:pPr marL="0" indent="0" algn="r">
              <a:buNone/>
            </a:pPr>
            <a:r>
              <a:rPr lang="en-US" sz="850" kern="0" spc="140" dirty="0">
                <a:solidFill>
                  <a:srgbClr val="E4C9CE"/>
                </a:solidFill>
                <a:latin typeface="Montserrat SemiBold" pitchFamily="34" charset="0"/>
                <a:ea typeface="Montserrat SemiBold" pitchFamily="34" charset="-122"/>
                <a:cs typeface="Montserrat SemiBold" pitchFamily="34" charset="-120"/>
              </a:rPr>
              <a:t>23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A3EF07-BCD6-461A-AB84-F7DD7ECBEB6E}">
  <we:reference id="WA200010001" version="1.0.0.1" store="Omex" storeType="OMEX"/>
  <we:alternateReferences>
    <we:reference id="WA200010001" version="1.0.0.1" store="WA200010001" storeType="OMEX"/>
  </we:alternateReferences>
  <we:properties>
    <we:property name="claude.fileId" value="&quot;7f478986-6973-426e-b5a3-36a112a7e96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107</TotalTime>
  <Words>2489</Words>
  <Application>Microsoft Office PowerPoint</Application>
  <PresentationFormat>Widescreen</PresentationFormat>
  <Paragraphs>336</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Montserrat</vt:lpstr>
      <vt:lpstr>Montserrat ExtraBold</vt:lpstr>
      <vt:lpstr>Montserrat Medium</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Stewart Title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Analyst Internship — Exit Presentation</dc:title>
  <dc:subject>PptxGenJS Presentation</dc:subject>
  <dc:creator>Jair Maldonado</dc:creator>
  <cp:lastModifiedBy>JAIR MALDONADO</cp:lastModifiedBy>
  <cp:revision>2</cp:revision>
  <dcterms:created xsi:type="dcterms:W3CDTF">2026-07-28T00:15:23Z</dcterms:created>
  <dcterms:modified xsi:type="dcterms:W3CDTF">2026-07-28T15:53:35Z</dcterms:modified>
</cp:coreProperties>
</file>