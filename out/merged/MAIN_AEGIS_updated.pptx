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9"/>
    <p:sldId id="277" r:id="rId3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E59ACAB-3EF0-44EC-AD58-85B42138B918}" v="8" dt="2026-07-28T15:51:46.90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989" autoAdjust="0"/>
    <p:restoredTop sz="86009" autoAdjust="0"/>
  </p:normalViewPr>
  <p:slideViewPr>
    <p:cSldViewPr snapToGrid="0" snapToObjects="1">
      <p:cViewPr varScale="1">
        <p:scale>
          <a:sx n="109" d="100"/>
          <a:sy n="109" d="100"/>
        </p:scale>
        <p:origin x="384"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microsoft.com/office/2016/11/relationships/changesInfo" Target="changesInfos/changesInfo1.xml"/><Relationship Id="rId28" Type="http://schemas.microsoft.com/office/2015/10/relationships/revisionInfo" Target="revisionInfo.xml"/><Relationship Id="rId29" Type="http://schemas.openxmlformats.org/officeDocument/2006/relationships/slide" Target="slides/slide21.xml"/><Relationship Id="rId30" Type="http://schemas.openxmlformats.org/officeDocument/2006/relationships/slide" Target="slides/slide2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IR MALDONADO" userId="bb15d74f-e7f4-4c6e-b578-99b3dbe7a047" providerId="ADAL" clId="{77748564-CBFC-4B7B-9D7A-4A5CD95BEB43}"/>
    <pc:docChg chg="undo custSel addSld delSld modSld sldOrd">
      <pc:chgData name="JAIR MALDONADO" userId="bb15d74f-e7f4-4c6e-b578-99b3dbe7a047" providerId="ADAL" clId="{77748564-CBFC-4B7B-9D7A-4A5CD95BEB43}" dt="2026-07-28T15:53:28.322" v="917" actId="2696"/>
      <pc:docMkLst>
        <pc:docMk/>
      </pc:docMkLst>
      <pc:sldChg chg="modSp mod">
        <pc:chgData name="JAIR MALDONADO" userId="bb15d74f-e7f4-4c6e-b578-99b3dbe7a047" providerId="ADAL" clId="{77748564-CBFC-4B7B-9D7A-4A5CD95BEB43}" dt="2026-07-28T15:36:43.942" v="899" actId="20577"/>
        <pc:sldMkLst>
          <pc:docMk/>
          <pc:sldMk cId="0" sldId="257"/>
        </pc:sldMkLst>
        <pc:spChg chg="mod">
          <ac:chgData name="JAIR MALDONADO" userId="bb15d74f-e7f4-4c6e-b578-99b3dbe7a047" providerId="ADAL" clId="{77748564-CBFC-4B7B-9D7A-4A5CD95BEB43}" dt="2026-07-28T15:36:43.942" v="899" actId="20577"/>
          <ac:spMkLst>
            <pc:docMk/>
            <pc:sldMk cId="0" sldId="257"/>
            <ac:spMk id="26" creationId="{00000000-0000-0000-0000-000000000000}"/>
          </ac:spMkLst>
        </pc:spChg>
      </pc:sldChg>
      <pc:sldChg chg="modSp del mod">
        <pc:chgData name="JAIR MALDONADO" userId="bb15d74f-e7f4-4c6e-b578-99b3dbe7a047" providerId="ADAL" clId="{77748564-CBFC-4B7B-9D7A-4A5CD95BEB43}" dt="2026-07-28T14:56:57.438" v="724" actId="2696"/>
        <pc:sldMkLst>
          <pc:docMk/>
          <pc:sldMk cId="0" sldId="258"/>
        </pc:sldMkLst>
        <pc:spChg chg="mod">
          <ac:chgData name="JAIR MALDONADO" userId="bb15d74f-e7f4-4c6e-b578-99b3dbe7a047" providerId="ADAL" clId="{77748564-CBFC-4B7B-9D7A-4A5CD95BEB43}" dt="2026-07-28T00:36:09.996" v="129" actId="20577"/>
          <ac:spMkLst>
            <pc:docMk/>
            <pc:sldMk cId="0" sldId="258"/>
            <ac:spMk id="17" creationId="{00000000-0000-0000-0000-000000000000}"/>
          </ac:spMkLst>
        </pc:spChg>
        <pc:spChg chg="mod">
          <ac:chgData name="JAIR MALDONADO" userId="bb15d74f-e7f4-4c6e-b578-99b3dbe7a047" providerId="ADAL" clId="{77748564-CBFC-4B7B-9D7A-4A5CD95BEB43}" dt="2026-07-28T14:55:13.384" v="723" actId="33524"/>
          <ac:spMkLst>
            <pc:docMk/>
            <pc:sldMk cId="0" sldId="258"/>
            <ac:spMk id="20" creationId="{00000000-0000-0000-0000-000000000000}"/>
          </ac:spMkLst>
        </pc:spChg>
      </pc:sldChg>
      <pc:sldChg chg="modSp mod ord">
        <pc:chgData name="JAIR MALDONADO" userId="bb15d74f-e7f4-4c6e-b578-99b3dbe7a047" providerId="ADAL" clId="{77748564-CBFC-4B7B-9D7A-4A5CD95BEB43}" dt="2026-07-28T14:58:03.493" v="754" actId="20577"/>
        <pc:sldMkLst>
          <pc:docMk/>
          <pc:sldMk cId="0" sldId="259"/>
        </pc:sldMkLst>
        <pc:spChg chg="mod">
          <ac:chgData name="JAIR MALDONADO" userId="bb15d74f-e7f4-4c6e-b578-99b3dbe7a047" providerId="ADAL" clId="{77748564-CBFC-4B7B-9D7A-4A5CD95BEB43}" dt="2026-07-28T14:50:55.472" v="303" actId="313"/>
          <ac:spMkLst>
            <pc:docMk/>
            <pc:sldMk cId="0" sldId="259"/>
            <ac:spMk id="13" creationId="{00000000-0000-0000-0000-000000000000}"/>
          </ac:spMkLst>
        </pc:spChg>
        <pc:spChg chg="mod">
          <ac:chgData name="JAIR MALDONADO" userId="bb15d74f-e7f4-4c6e-b578-99b3dbe7a047" providerId="ADAL" clId="{77748564-CBFC-4B7B-9D7A-4A5CD95BEB43}" dt="2026-07-28T14:57:44.450" v="739" actId="20577"/>
          <ac:spMkLst>
            <pc:docMk/>
            <pc:sldMk cId="0" sldId="259"/>
            <ac:spMk id="16" creationId="{00000000-0000-0000-0000-000000000000}"/>
          </ac:spMkLst>
        </pc:spChg>
        <pc:spChg chg="mod">
          <ac:chgData name="JAIR MALDONADO" userId="bb15d74f-e7f4-4c6e-b578-99b3dbe7a047" providerId="ADAL" clId="{77748564-CBFC-4B7B-9D7A-4A5CD95BEB43}" dt="2026-07-28T14:52:04.397" v="522" actId="20577"/>
          <ac:spMkLst>
            <pc:docMk/>
            <pc:sldMk cId="0" sldId="259"/>
            <ac:spMk id="19" creationId="{00000000-0000-0000-0000-000000000000}"/>
          </ac:spMkLst>
        </pc:spChg>
        <pc:spChg chg="mod">
          <ac:chgData name="JAIR MALDONADO" userId="bb15d74f-e7f4-4c6e-b578-99b3dbe7a047" providerId="ADAL" clId="{77748564-CBFC-4B7B-9D7A-4A5CD95BEB43}" dt="2026-07-28T14:58:03.493" v="754" actId="20577"/>
          <ac:spMkLst>
            <pc:docMk/>
            <pc:sldMk cId="0" sldId="259"/>
            <ac:spMk id="22" creationId="{00000000-0000-0000-0000-000000000000}"/>
          </ac:spMkLst>
        </pc:spChg>
      </pc:sldChg>
      <pc:sldChg chg="modSp mod ord">
        <pc:chgData name="JAIR MALDONADO" userId="bb15d74f-e7f4-4c6e-b578-99b3dbe7a047" providerId="ADAL" clId="{77748564-CBFC-4B7B-9D7A-4A5CD95BEB43}" dt="2026-07-28T14:58:34.080" v="755" actId="33524"/>
        <pc:sldMkLst>
          <pc:docMk/>
          <pc:sldMk cId="0" sldId="260"/>
        </pc:sldMkLst>
        <pc:spChg chg="mod">
          <ac:chgData name="JAIR MALDONADO" userId="bb15d74f-e7f4-4c6e-b578-99b3dbe7a047" providerId="ADAL" clId="{77748564-CBFC-4B7B-9D7A-4A5CD95BEB43}" dt="2026-07-28T14:58:34.080" v="755" actId="33524"/>
          <ac:spMkLst>
            <pc:docMk/>
            <pc:sldMk cId="0" sldId="260"/>
            <ac:spMk id="16" creationId="{00000000-0000-0000-0000-000000000000}"/>
          </ac:spMkLst>
        </pc:spChg>
        <pc:spChg chg="mod">
          <ac:chgData name="JAIR MALDONADO" userId="bb15d74f-e7f4-4c6e-b578-99b3dbe7a047" providerId="ADAL" clId="{77748564-CBFC-4B7B-9D7A-4A5CD95BEB43}" dt="2026-07-28T14:52:58.984" v="722" actId="33524"/>
          <ac:spMkLst>
            <pc:docMk/>
            <pc:sldMk cId="0" sldId="260"/>
            <ac:spMk id="22" creationId="{00000000-0000-0000-0000-000000000000}"/>
          </ac:spMkLst>
        </pc:spChg>
      </pc:sldChg>
      <pc:sldChg chg="modSp mod">
        <pc:chgData name="JAIR MALDONADO" userId="bb15d74f-e7f4-4c6e-b578-99b3dbe7a047" providerId="ADAL" clId="{77748564-CBFC-4B7B-9D7A-4A5CD95BEB43}" dt="2026-07-28T14:18:28.622" v="135" actId="14100"/>
        <pc:sldMkLst>
          <pc:docMk/>
          <pc:sldMk cId="0" sldId="261"/>
        </pc:sldMkLst>
        <pc:spChg chg="mod">
          <ac:chgData name="JAIR MALDONADO" userId="bb15d74f-e7f4-4c6e-b578-99b3dbe7a047" providerId="ADAL" clId="{77748564-CBFC-4B7B-9D7A-4A5CD95BEB43}" dt="2026-07-28T14:18:28.622" v="135" actId="14100"/>
          <ac:spMkLst>
            <pc:docMk/>
            <pc:sldMk cId="0" sldId="261"/>
            <ac:spMk id="8" creationId="{00000000-0000-0000-0000-000000000000}"/>
          </ac:spMkLst>
        </pc:spChg>
      </pc:sldChg>
      <pc:sldChg chg="ord">
        <pc:chgData name="JAIR MALDONADO" userId="bb15d74f-e7f4-4c6e-b578-99b3dbe7a047" providerId="ADAL" clId="{77748564-CBFC-4B7B-9D7A-4A5CD95BEB43}" dt="2026-07-28T15:17:02.116" v="803"/>
        <pc:sldMkLst>
          <pc:docMk/>
          <pc:sldMk cId="0" sldId="262"/>
        </pc:sldMkLst>
      </pc:sldChg>
      <pc:sldChg chg="modSp mod ord">
        <pc:chgData name="JAIR MALDONADO" userId="bb15d74f-e7f4-4c6e-b578-99b3dbe7a047" providerId="ADAL" clId="{77748564-CBFC-4B7B-9D7A-4A5CD95BEB43}" dt="2026-07-28T15:15:19.857" v="801" actId="20577"/>
        <pc:sldMkLst>
          <pc:docMk/>
          <pc:sldMk cId="0" sldId="263"/>
        </pc:sldMkLst>
        <pc:spChg chg="mod">
          <ac:chgData name="JAIR MALDONADO" userId="bb15d74f-e7f4-4c6e-b578-99b3dbe7a047" providerId="ADAL" clId="{77748564-CBFC-4B7B-9D7A-4A5CD95BEB43}" dt="2026-07-28T15:15:19.857" v="801" actId="20577"/>
          <ac:spMkLst>
            <pc:docMk/>
            <pc:sldMk cId="0" sldId="263"/>
            <ac:spMk id="29" creationId="{00000000-0000-0000-0000-000000000000}"/>
          </ac:spMkLst>
        </pc:spChg>
      </pc:sldChg>
      <pc:sldChg chg="modSp mod">
        <pc:chgData name="JAIR MALDONADO" userId="bb15d74f-e7f4-4c6e-b578-99b3dbe7a047" providerId="ADAL" clId="{77748564-CBFC-4B7B-9D7A-4A5CD95BEB43}" dt="2026-07-28T15:53:16.500" v="916" actId="33524"/>
        <pc:sldMkLst>
          <pc:docMk/>
          <pc:sldMk cId="0" sldId="268"/>
        </pc:sldMkLst>
        <pc:spChg chg="mod">
          <ac:chgData name="JAIR MALDONADO" userId="bb15d74f-e7f4-4c6e-b578-99b3dbe7a047" providerId="ADAL" clId="{77748564-CBFC-4B7B-9D7A-4A5CD95BEB43}" dt="2026-07-28T15:53:16.500" v="916" actId="33524"/>
          <ac:spMkLst>
            <pc:docMk/>
            <pc:sldMk cId="0" sldId="268"/>
            <ac:spMk id="25" creationId="{00000000-0000-0000-0000-000000000000}"/>
          </ac:spMkLst>
        </pc:spChg>
        <pc:spChg chg="mod">
          <ac:chgData name="JAIR MALDONADO" userId="bb15d74f-e7f4-4c6e-b578-99b3dbe7a047" providerId="ADAL" clId="{77748564-CBFC-4B7B-9D7A-4A5CD95BEB43}" dt="2026-07-28T15:52:24.422" v="904" actId="14100"/>
          <ac:spMkLst>
            <pc:docMk/>
            <pc:sldMk cId="0" sldId="268"/>
            <ac:spMk id="46" creationId="{00000000-0000-0000-0000-000000000000}"/>
          </ac:spMkLst>
        </pc:spChg>
        <pc:spChg chg="mod">
          <ac:chgData name="JAIR MALDONADO" userId="bb15d74f-e7f4-4c6e-b578-99b3dbe7a047" providerId="ADAL" clId="{77748564-CBFC-4B7B-9D7A-4A5CD95BEB43}" dt="2026-07-28T15:52:32.048" v="907" actId="1076"/>
          <ac:spMkLst>
            <pc:docMk/>
            <pc:sldMk cId="0" sldId="268"/>
            <ac:spMk id="47" creationId="{00000000-0000-0000-0000-000000000000}"/>
          </ac:spMkLst>
        </pc:spChg>
        <pc:spChg chg="mod">
          <ac:chgData name="JAIR MALDONADO" userId="bb15d74f-e7f4-4c6e-b578-99b3dbe7a047" providerId="ADAL" clId="{77748564-CBFC-4B7B-9D7A-4A5CD95BEB43}" dt="2026-07-28T15:52:29.706" v="906" actId="1076"/>
          <ac:spMkLst>
            <pc:docMk/>
            <pc:sldMk cId="0" sldId="268"/>
            <ac:spMk id="48" creationId="{00000000-0000-0000-0000-000000000000}"/>
          </ac:spMkLst>
        </pc:spChg>
        <pc:spChg chg="mod">
          <ac:chgData name="JAIR MALDONADO" userId="bb15d74f-e7f4-4c6e-b578-99b3dbe7a047" providerId="ADAL" clId="{77748564-CBFC-4B7B-9D7A-4A5CD95BEB43}" dt="2026-07-28T15:52:27.499" v="905" actId="1076"/>
          <ac:spMkLst>
            <pc:docMk/>
            <pc:sldMk cId="0" sldId="268"/>
            <ac:spMk id="49" creationId="{00000000-0000-0000-0000-000000000000}"/>
          </ac:spMkLst>
        </pc:spChg>
        <pc:spChg chg="mod">
          <ac:chgData name="JAIR MALDONADO" userId="bb15d74f-e7f4-4c6e-b578-99b3dbe7a047" providerId="ADAL" clId="{77748564-CBFC-4B7B-9D7A-4A5CD95BEB43}" dt="2026-07-28T15:52:58.748" v="914" actId="1076"/>
          <ac:spMkLst>
            <pc:docMk/>
            <pc:sldMk cId="0" sldId="268"/>
            <ac:spMk id="50" creationId="{00000000-0000-0000-0000-000000000000}"/>
          </ac:spMkLst>
        </pc:spChg>
        <pc:spChg chg="mod">
          <ac:chgData name="JAIR MALDONADO" userId="bb15d74f-e7f4-4c6e-b578-99b3dbe7a047" providerId="ADAL" clId="{77748564-CBFC-4B7B-9D7A-4A5CD95BEB43}" dt="2026-07-28T15:53:01.337" v="915" actId="1076"/>
          <ac:spMkLst>
            <pc:docMk/>
            <pc:sldMk cId="0" sldId="268"/>
            <ac:spMk id="51" creationId="{00000000-0000-0000-0000-000000000000}"/>
          </ac:spMkLst>
        </pc:spChg>
        <pc:spChg chg="mod">
          <ac:chgData name="JAIR MALDONADO" userId="bb15d74f-e7f4-4c6e-b578-99b3dbe7a047" providerId="ADAL" clId="{77748564-CBFC-4B7B-9D7A-4A5CD95BEB43}" dt="2026-07-28T15:52:54.206" v="913" actId="1076"/>
          <ac:spMkLst>
            <pc:docMk/>
            <pc:sldMk cId="0" sldId="268"/>
            <ac:spMk id="52" creationId="{00000000-0000-0000-0000-000000000000}"/>
          </ac:spMkLst>
        </pc:spChg>
        <pc:spChg chg="mod">
          <ac:chgData name="JAIR MALDONADO" userId="bb15d74f-e7f4-4c6e-b578-99b3dbe7a047" providerId="ADAL" clId="{77748564-CBFC-4B7B-9D7A-4A5CD95BEB43}" dt="2026-07-28T15:52:50.788" v="912" actId="1076"/>
          <ac:spMkLst>
            <pc:docMk/>
            <pc:sldMk cId="0" sldId="268"/>
            <ac:spMk id="53" creationId="{00000000-0000-0000-0000-000000000000}"/>
          </ac:spMkLst>
        </pc:spChg>
        <pc:spChg chg="mod">
          <ac:chgData name="JAIR MALDONADO" userId="bb15d74f-e7f4-4c6e-b578-99b3dbe7a047" providerId="ADAL" clId="{77748564-CBFC-4B7B-9D7A-4A5CD95BEB43}" dt="2026-07-28T15:52:43.765" v="910" actId="1076"/>
          <ac:spMkLst>
            <pc:docMk/>
            <pc:sldMk cId="0" sldId="268"/>
            <ac:spMk id="54" creationId="{00000000-0000-0000-0000-000000000000}"/>
          </ac:spMkLst>
        </pc:spChg>
        <pc:spChg chg="mod">
          <ac:chgData name="JAIR MALDONADO" userId="bb15d74f-e7f4-4c6e-b578-99b3dbe7a047" providerId="ADAL" clId="{77748564-CBFC-4B7B-9D7A-4A5CD95BEB43}" dt="2026-07-28T15:52:40.665" v="909" actId="1076"/>
          <ac:spMkLst>
            <pc:docMk/>
            <pc:sldMk cId="0" sldId="268"/>
            <ac:spMk id="55" creationId="{00000000-0000-0000-0000-000000000000}"/>
          </ac:spMkLst>
        </pc:spChg>
      </pc:sldChg>
      <pc:sldChg chg="del">
        <pc:chgData name="JAIR MALDONADO" userId="bb15d74f-e7f4-4c6e-b578-99b3dbe7a047" providerId="ADAL" clId="{77748564-CBFC-4B7B-9D7A-4A5CD95BEB43}" dt="2026-07-28T15:53:28.322" v="917" actId="2696"/>
        <pc:sldMkLst>
          <pc:docMk/>
          <pc:sldMk cId="0" sldId="270"/>
        </pc:sldMkLst>
      </pc:sldChg>
      <pc:sldChg chg="modSp mod">
        <pc:chgData name="JAIR MALDONADO" userId="bb15d74f-e7f4-4c6e-b578-99b3dbe7a047" providerId="ADAL" clId="{77748564-CBFC-4B7B-9D7A-4A5CD95BEB43}" dt="2026-07-28T15:36:00.719" v="841" actId="14100"/>
        <pc:sldMkLst>
          <pc:docMk/>
          <pc:sldMk cId="0" sldId="271"/>
        </pc:sldMkLst>
        <pc:spChg chg="mod">
          <ac:chgData name="JAIR MALDONADO" userId="bb15d74f-e7f4-4c6e-b578-99b3dbe7a047" providerId="ADAL" clId="{77748564-CBFC-4B7B-9D7A-4A5CD95BEB43}" dt="2026-07-28T15:36:00.719" v="841" actId="14100"/>
          <ac:spMkLst>
            <pc:docMk/>
            <pc:sldMk cId="0" sldId="271"/>
            <ac:spMk id="6" creationId="{00000000-0000-0000-0000-000000000000}"/>
          </ac:spMkLst>
        </pc:spChg>
      </pc:sldChg>
      <pc:sldChg chg="modSp mod">
        <pc:chgData name="JAIR MALDONADO" userId="bb15d74f-e7f4-4c6e-b578-99b3dbe7a047" providerId="ADAL" clId="{77748564-CBFC-4B7B-9D7A-4A5CD95BEB43}" dt="2026-07-28T14:47:37.951" v="179" actId="20577"/>
        <pc:sldMkLst>
          <pc:docMk/>
          <pc:sldMk cId="0" sldId="272"/>
        </pc:sldMkLst>
        <pc:spChg chg="mod">
          <ac:chgData name="JAIR MALDONADO" userId="bb15d74f-e7f4-4c6e-b578-99b3dbe7a047" providerId="ADAL" clId="{77748564-CBFC-4B7B-9D7A-4A5CD95BEB43}" dt="2026-07-28T14:47:11.375" v="177" actId="20577"/>
          <ac:spMkLst>
            <pc:docMk/>
            <pc:sldMk cId="0" sldId="272"/>
            <ac:spMk id="9" creationId="{00000000-0000-0000-0000-000000000000}"/>
          </ac:spMkLst>
        </pc:spChg>
        <pc:spChg chg="mod">
          <ac:chgData name="JAIR MALDONADO" userId="bb15d74f-e7f4-4c6e-b578-99b3dbe7a047" providerId="ADAL" clId="{77748564-CBFC-4B7B-9D7A-4A5CD95BEB43}" dt="2026-07-28T14:47:32.154" v="178" actId="33524"/>
          <ac:spMkLst>
            <pc:docMk/>
            <pc:sldMk cId="0" sldId="272"/>
            <ac:spMk id="17" creationId="{00000000-0000-0000-0000-000000000000}"/>
          </ac:spMkLst>
        </pc:spChg>
        <pc:spChg chg="mod">
          <ac:chgData name="JAIR MALDONADO" userId="bb15d74f-e7f4-4c6e-b578-99b3dbe7a047" providerId="ADAL" clId="{77748564-CBFC-4B7B-9D7A-4A5CD95BEB43}" dt="2026-07-28T14:47:37.951" v="179" actId="20577"/>
          <ac:spMkLst>
            <pc:docMk/>
            <pc:sldMk cId="0" sldId="272"/>
            <ac:spMk id="22" creationId="{00000000-0000-0000-0000-000000000000}"/>
          </ac:spMkLst>
        </pc:spChg>
      </pc:sldChg>
      <pc:sldChg chg="add del">
        <pc:chgData name="JAIR MALDONADO" userId="bb15d74f-e7f4-4c6e-b578-99b3dbe7a047" providerId="ADAL" clId="{77748564-CBFC-4B7B-9D7A-4A5CD95BEB43}" dt="2026-07-28T14:45:26.205" v="157" actId="2696"/>
        <pc:sldMkLst>
          <pc:docMk/>
          <pc:sldMk cId="0" sldId="274"/>
        </pc:sldMkLst>
      </pc:sldChg>
      <pc:sldChg chg="add del">
        <pc:chgData name="JAIR MALDONADO" userId="bb15d74f-e7f4-4c6e-b578-99b3dbe7a047" providerId="ADAL" clId="{77748564-CBFC-4B7B-9D7A-4A5CD95BEB43}" dt="2026-07-28T14:46:44.178" v="176" actId="47"/>
        <pc:sldMkLst>
          <pc:docMk/>
          <pc:sldMk cId="0" sldId="275"/>
        </pc:sldMkLst>
      </pc:sldChg>
      <pc:sldChg chg="add del">
        <pc:chgData name="JAIR MALDONADO" userId="bb15d74f-e7f4-4c6e-b578-99b3dbe7a047" providerId="ADAL" clId="{77748564-CBFC-4B7B-9D7A-4A5CD95BEB43}" dt="2026-07-28T14:46:23.578" v="172" actId="47"/>
        <pc:sldMkLst>
          <pc:docMk/>
          <pc:sldMk cId="0" sldId="276"/>
        </pc:sldMkLst>
      </pc:sldChg>
      <pc:sldChg chg="add del ord setBg">
        <pc:chgData name="JAIR MALDONADO" userId="bb15d74f-e7f4-4c6e-b578-99b3dbe7a047" providerId="ADAL" clId="{77748564-CBFC-4B7B-9D7A-4A5CD95BEB43}" dt="2026-07-28T14:45:48.372" v="165"/>
        <pc:sldMkLst>
          <pc:docMk/>
          <pc:sldMk cId="455097534" sldId="276"/>
        </pc:sldMkLst>
      </pc:sldChg>
      <pc:sldChg chg="del">
        <pc:chgData name="JAIR MALDONADO" userId="bb15d74f-e7f4-4c6e-b578-99b3dbe7a047" providerId="ADAL" clId="{77748564-CBFC-4B7B-9D7A-4A5CD95BEB43}" dt="2026-07-28T00:23:16.267" v="0" actId="2696"/>
        <pc:sldMkLst>
          <pc:docMk/>
          <pc:sldMk cId="0" sldId="277"/>
        </pc:sldMkLst>
      </pc:sldChg>
      <pc:sldChg chg="delSp modSp mod">
        <pc:chgData name="JAIR MALDONADO" userId="bb15d74f-e7f4-4c6e-b578-99b3dbe7a047" providerId="ADAL" clId="{77748564-CBFC-4B7B-9D7A-4A5CD95BEB43}" dt="2026-07-28T14:19:11.297" v="143" actId="1076"/>
        <pc:sldMkLst>
          <pc:docMk/>
          <pc:sldMk cId="0" sldId="278"/>
        </pc:sldMkLst>
        <pc:spChg chg="mod">
          <ac:chgData name="JAIR MALDONADO" userId="bb15d74f-e7f4-4c6e-b578-99b3dbe7a047" providerId="ADAL" clId="{77748564-CBFC-4B7B-9D7A-4A5CD95BEB43}" dt="2026-07-28T14:18:43.137" v="138" actId="20577"/>
          <ac:spMkLst>
            <pc:docMk/>
            <pc:sldMk cId="0" sldId="278"/>
            <ac:spMk id="8" creationId="{00000000-0000-0000-0000-000000000000}"/>
          </ac:spMkLst>
        </pc:spChg>
        <pc:spChg chg="mod">
          <ac:chgData name="JAIR MALDONADO" userId="bb15d74f-e7f4-4c6e-b578-99b3dbe7a047" providerId="ADAL" clId="{77748564-CBFC-4B7B-9D7A-4A5CD95BEB43}" dt="2026-07-28T14:18:48.402" v="139" actId="33524"/>
          <ac:spMkLst>
            <pc:docMk/>
            <pc:sldMk cId="0" sldId="278"/>
            <ac:spMk id="11" creationId="{00000000-0000-0000-0000-000000000000}"/>
          </ac:spMkLst>
        </pc:spChg>
        <pc:spChg chg="mod">
          <ac:chgData name="JAIR MALDONADO" userId="bb15d74f-e7f4-4c6e-b578-99b3dbe7a047" providerId="ADAL" clId="{77748564-CBFC-4B7B-9D7A-4A5CD95BEB43}" dt="2026-07-28T14:18:56.801" v="140" actId="33524"/>
          <ac:spMkLst>
            <pc:docMk/>
            <pc:sldMk cId="0" sldId="278"/>
            <ac:spMk id="19" creationId="{00000000-0000-0000-0000-000000000000}"/>
          </ac:spMkLst>
        </pc:spChg>
        <pc:spChg chg="mod">
          <ac:chgData name="JAIR MALDONADO" userId="bb15d74f-e7f4-4c6e-b578-99b3dbe7a047" providerId="ADAL" clId="{77748564-CBFC-4B7B-9D7A-4A5CD95BEB43}" dt="2026-07-28T14:19:11.297" v="143" actId="1076"/>
          <ac:spMkLst>
            <pc:docMk/>
            <pc:sldMk cId="0" sldId="278"/>
            <ac:spMk id="20" creationId="{00000000-0000-0000-0000-000000000000}"/>
          </ac:spMkLst>
        </pc:spChg>
        <pc:spChg chg="del mod">
          <ac:chgData name="JAIR MALDONADO" userId="bb15d74f-e7f4-4c6e-b578-99b3dbe7a047" providerId="ADAL" clId="{77748564-CBFC-4B7B-9D7A-4A5CD95BEB43}" dt="2026-07-28T14:19:05.965" v="142" actId="478"/>
          <ac:spMkLst>
            <pc:docMk/>
            <pc:sldMk cId="0" sldId="278"/>
            <ac:spMk id="21" creationId="{00000000-0000-0000-0000-000000000000}"/>
          </ac:spMkLst>
        </pc:spChg>
      </pc:sldChg>
      <pc:sldChg chg="add setBg">
        <pc:chgData name="JAIR MALDONADO" userId="bb15d74f-e7f4-4c6e-b578-99b3dbe7a047" providerId="ADAL" clId="{77748564-CBFC-4B7B-9D7A-4A5CD95BEB43}" dt="2026-07-28T14:45:24.046" v="156"/>
        <pc:sldMkLst>
          <pc:docMk/>
          <pc:sldMk cId="0" sldId="279"/>
        </pc:sldMkLst>
      </pc:sldChg>
      <pc:sldChg chg="add del">
        <pc:chgData name="JAIR MALDONADO" userId="bb15d74f-e7f4-4c6e-b578-99b3dbe7a047" providerId="ADAL" clId="{77748564-CBFC-4B7B-9D7A-4A5CD95BEB43}" dt="2026-07-28T14:45:58.126" v="169" actId="47"/>
        <pc:sldMkLst>
          <pc:docMk/>
          <pc:sldMk cId="1974090566" sldId="280"/>
        </pc:sldMkLst>
      </pc:sldChg>
      <pc:sldChg chg="modSp add mod ord setBg">
        <pc:chgData name="JAIR MALDONADO" userId="bb15d74f-e7f4-4c6e-b578-99b3dbe7a047" providerId="ADAL" clId="{77748564-CBFC-4B7B-9D7A-4A5CD95BEB43}" dt="2026-07-28T14:49:33.538" v="181" actId="20577"/>
        <pc:sldMkLst>
          <pc:docMk/>
          <pc:sldMk cId="0" sldId="281"/>
        </pc:sldMkLst>
        <pc:spChg chg="mod">
          <ac:chgData name="JAIR MALDONADO" userId="bb15d74f-e7f4-4c6e-b578-99b3dbe7a047" providerId="ADAL" clId="{77748564-CBFC-4B7B-9D7A-4A5CD95BEB43}" dt="2026-07-28T14:49:33.538" v="181" actId="20577"/>
          <ac:spMkLst>
            <pc:docMk/>
            <pc:sldMk cId="0" sldId="281"/>
            <ac:spMk id="14" creationId="{00000000-0000-0000-0000-000000000000}"/>
          </ac:spMkLst>
        </pc:spChg>
      </pc:sldChg>
      <pc:sldChg chg="add ord setBg">
        <pc:chgData name="JAIR MALDONADO" userId="bb15d74f-e7f4-4c6e-b578-99b3dbe7a047" providerId="ADAL" clId="{77748564-CBFC-4B7B-9D7A-4A5CD95BEB43}" dt="2026-07-28T14:46:27.089" v="175"/>
        <pc:sldMkLst>
          <pc:docMk/>
          <pc:sldMk cId="0" sldId="282"/>
        </pc:sldMkLst>
      </pc:sldChg>
      <pc:sldChg chg="add mod ord setBg chgLayout">
        <pc:chgData name="JAIR MALDONADO" userId="bb15d74f-e7f4-4c6e-b578-99b3dbe7a047" providerId="ADAL" clId="{77748564-CBFC-4B7B-9D7A-4A5CD95BEB43}" dt="2026-07-28T15:51:35.474" v="903" actId="6264"/>
        <pc:sldMkLst>
          <pc:docMk/>
          <pc:sldMk cId="0" sldId="283"/>
        </pc:sldMkLst>
      </pc:sldChg>
      <pc:sldChg chg="add del">
        <pc:chgData name="JAIR MALDONADO" userId="bb15d74f-e7f4-4c6e-b578-99b3dbe7a047" providerId="ADAL" clId="{77748564-CBFC-4B7B-9D7A-4A5CD95BEB43}" dt="2026-07-28T15:20:29.511" v="805" actId="2696"/>
        <pc:sldMkLst>
          <pc:docMk/>
          <pc:sldMk cId="2032070459" sldId="283"/>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2411928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Golden Image is the template every new virtual machine is built from. Set it up once and every machine after that inherits it. Q: Does this slow down provisioning? — No. The tools go into the image itself, so a machine built from it is already compliant on first boot.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When does this actually get adopted? — Q4, when the policy manager returns. It is drafted and staged for sign-off now, not adopted. Q: Who owns the rollout? — The infrastructure security team; each named team owns its own tool.</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Why 117 and not more? — Because that is the filtered set: high or critical severity AND directly affecting business operations. It is not a sample and it is not everything Kevlar sees.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~17.5 hour baseline is a reasoned estimate at 8-10 minutes per flaw, not a stopwatch measurement. Say so if asked. If precision matters, have an analyst time a sample of ten.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Were all 117 validated? — 29 were independently spot-checked and all 29 were correct. One entry, CVE-2025-47827, is double-classified in the Kevlar export (IGEL OS and Windows). That is a data-quality issue upstream, not a bug in the script, but worth flagging to whoever owns the export.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chain if asked: 2,658 real host-and-product assignments, which Kevlar groups into 209 KB Priority rows, which the highest-fixed-build rule collapses to 46 tickets. The 78% is measured against Kevlar's 209, not against the 117.</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version: someone poisons a popular free software package, and everyone who installs it gets the poison too. It has happened repeatedly in the last two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Can AEGIS catch zero-days? — No. It catches publicly known flaws in open-source dependencies. Zero-days need different tooling entirely. Q: What about false positives? — Every finding it labels reachable is a real code path; anything it cannot confirm is labelled "can't prove", never "safe". I have not measured a false-positive rate, so I am not going to quote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split: stages 00 to 03 only read. They cannot edit a file, open a pull request or touch a branch, so running AEGIS on a repository can never break it. Stage 04 is the only one that writes, and it will not start without someone asking for it. Q: What stops it running away with a fix? — It does one approved step at a time, refuses protected branches, never merges, and never marks its own work 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short version: it found real flaws in a real Stewart repository, and where it could not be certain it said so rather than guessing. Q: Why "can't prove" and not yes or no? — AEGIS has a hand-curated list of about nine packages where the exact dangerous function is documented. Angular is not on it yet, so the tool can confirm the app uses the package but not whether the vulnerable function specifically is called. That is a known limitation, not a bug, and it is why those two need a person. Earlier, testing against an open-source project, I also found and fixed two bugs in my own code — one where a "can't prove" result was being described as a confirmed absence.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Who maintains this after I leave? — The Vulnerability Management team. It is packaged as a plugin so it installs with one command, though that install flow still needs a real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6.png"/><Relationship Id="rId5"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6.png"/><Relationship Id="rId5"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image" Target="../media/image8.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11.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12.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13.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14.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 Id="rId5"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11.png"/><Relationship Id="rId5" Type="http://schemas.openxmlformats.org/officeDocument/2006/relationships/image" Target="../media/image1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4.png"/><Relationship Id="rId4" Type="http://schemas.openxmlformats.org/officeDocument/2006/relationships/image" Target="../media/image1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4.png"/><Relationship Id="rId4" Type="http://schemas.openxmlformats.org/officeDocument/2006/relationships/image" Target="../media/image14.png"/></Relationships>
</file>

<file path=ppt/slides/_rels/slide2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6.png"/><Relationship Id="rId3" Type="http://schemas.openxmlformats.org/officeDocument/2006/relationships/image" Target="../media/image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png"/><Relationship Id="rId4" Type="http://schemas.openxmlformats.org/officeDocument/2006/relationships/image" Target="../media/image6.png"/><Relationship Id="rId5"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user/ai/assets/gen/panel-red.png"/>
          <p:cNvPicPr>
            <a:picLocks noChangeAspect="1"/>
          </p:cNvPicPr>
          <p:nvPr/>
        </p:nvPicPr>
        <p:blipFill>
          <a:blip r:embed="rId3"/>
          <a:stretch>
            <a:fillRect/>
          </a:stretch>
        </p:blipFill>
        <p:spPr>
          <a:xfrm>
            <a:off x="0" y="0"/>
            <a:ext cx="12191695" cy="6858000"/>
          </a:xfrm>
          <a:prstGeom prst="rect">
            <a:avLst/>
          </a:prstGeom>
        </p:spPr>
      </p:pic>
      <p:pic>
        <p:nvPicPr>
          <p:cNvPr id="3" name="Image 1" descr="/home/user/ai/assets/gen/mark-slash.png"/>
          <p:cNvPicPr>
            <a:picLocks noChangeAspect="1"/>
          </p:cNvPicPr>
          <p:nvPr/>
        </p:nvPicPr>
        <p:blipFill>
          <a:blip r:embed="rId4"/>
          <a:stretch>
            <a:fillRect/>
          </a:stretch>
        </p:blipFill>
        <p:spPr>
          <a:xfrm>
            <a:off x="7040880" y="-822960"/>
            <a:ext cx="6035040" cy="6035040"/>
          </a:xfrm>
          <a:prstGeom prst="rect">
            <a:avLst/>
          </a:prstGeom>
        </p:spPr>
      </p:pic>
      <p:pic>
        <p:nvPicPr>
          <p:cNvPr id="4" name="Image 2" descr="/home/user/ai/assets/gen/logo-white.png"/>
          <p:cNvPicPr>
            <a:picLocks noChangeAspect="1"/>
          </p:cNvPicPr>
          <p:nvPr/>
        </p:nvPicPr>
        <p:blipFill>
          <a:blip r:embed="rId5"/>
          <a:stretch>
            <a:fillRect/>
          </a:stretch>
        </p:blipFill>
        <p:spPr>
          <a:xfrm>
            <a:off x="777240" y="566928"/>
            <a:ext cx="2194560" cy="221404"/>
          </a:xfrm>
          <a:prstGeom prst="rect">
            <a:avLst/>
          </a:prstGeom>
        </p:spPr>
      </p:pic>
      <p:sp>
        <p:nvSpPr>
          <p:cNvPr id="5" name="Text 0"/>
          <p:cNvSpPr txBox="1"/>
          <p:nvPr/>
        </p:nvSpPr>
        <p:spPr>
          <a:xfrm>
            <a:off x="777240" y="2304288"/>
            <a:ext cx="8229600" cy="237744"/>
          </a:xfrm>
          <a:prstGeom prst="rect">
            <a:avLst/>
          </a:prstGeom>
          <a:noFill/>
          <a:ln/>
        </p:spPr>
        <p:txBody>
          <a:bodyPr wrap="square" lIns="0" tIns="0" rIns="0" bIns="0" rtlCol="0" anchor="t"/>
          <a:lstStyle/>
          <a:p>
            <a:pPr marL="0" indent="0">
              <a:buNone/>
            </a:pPr>
            <a:r>
              <a:rPr lang="en-US" sz="1000" kern="0" spc="220" dirty="0">
                <a:solidFill>
                  <a:srgbClr val="E4C9CE"/>
                </a:solidFill>
                <a:latin typeface="Montserrat SemiBold" pitchFamily="34" charset="0"/>
                <a:ea typeface="Montserrat SemiBold" pitchFamily="34" charset="-122"/>
                <a:cs typeface="Montserrat SemiBold" pitchFamily="34" charset="-120"/>
              </a:rPr>
              <a:t>STEWART TITLE  ·  INFORMATION SECURITY</a:t>
            </a:r>
            <a:endParaRPr lang="en-US" sz="1000" dirty="0"/>
          </a:p>
        </p:txBody>
      </p:sp>
      <p:sp>
        <p:nvSpPr>
          <p:cNvPr id="6" name="Text 1"/>
          <p:cNvSpPr txBox="1"/>
          <p:nvPr/>
        </p:nvSpPr>
        <p:spPr>
          <a:xfrm>
            <a:off x="777240" y="2633472"/>
            <a:ext cx="8595360" cy="1600200"/>
          </a:xfrm>
          <a:prstGeom prst="rect">
            <a:avLst/>
          </a:prstGeom>
          <a:noFill/>
          <a:ln/>
        </p:spPr>
        <p:txBody>
          <a:bodyPr wrap="square" lIns="0" tIns="0" rIns="0" bIns="0" rtlCol="0" anchor="t"/>
          <a:lstStyle/>
          <a:p>
            <a:pPr marL="0" indent="0">
              <a:lnSpc>
                <a:spcPct val="96000"/>
              </a:lnSpc>
              <a:buNone/>
            </a:pPr>
            <a:r>
              <a:rPr lang="en-US" sz="5000" kern="0" spc="-100" dirty="0">
                <a:solidFill>
                  <a:srgbClr val="FFFFFF"/>
                </a:solidFill>
                <a:latin typeface="Montserrat ExtraBold" pitchFamily="34" charset="0"/>
                <a:ea typeface="Montserrat ExtraBold" pitchFamily="34" charset="-122"/>
                <a:cs typeface="Montserrat ExtraBold" pitchFamily="34" charset="-120"/>
              </a:rPr>
              <a:t>Information Security</a:t>
            </a:r>
            <a:endParaRPr lang="en-US" sz="5000" dirty="0"/>
          </a:p>
          <a:p>
            <a:pPr marL="0" indent="0">
              <a:lnSpc>
                <a:spcPct val="96000"/>
              </a:lnSpc>
              <a:buNone/>
            </a:pPr>
            <a:r>
              <a:rPr lang="en-US" sz="5000" kern="0" spc="-100" dirty="0">
                <a:solidFill>
                  <a:srgbClr val="FFFFFF"/>
                </a:solidFill>
                <a:latin typeface="Montserrat ExtraBold" pitchFamily="34" charset="0"/>
                <a:ea typeface="Montserrat ExtraBold" pitchFamily="34" charset="-122"/>
                <a:cs typeface="Montserrat ExtraBold" pitchFamily="34" charset="-120"/>
              </a:rPr>
              <a:t>Analyst Internship</a:t>
            </a:r>
            <a:endParaRPr lang="en-US" sz="5000" dirty="0"/>
          </a:p>
        </p:txBody>
      </p:sp>
      <p:sp>
        <p:nvSpPr>
          <p:cNvPr id="7" name="Shape 2"/>
          <p:cNvSpPr/>
          <p:nvPr/>
        </p:nvSpPr>
        <p:spPr>
          <a:xfrm>
            <a:off x="777240" y="4370832"/>
            <a:ext cx="713232" cy="54864"/>
          </a:xfrm>
          <a:prstGeom prst="rect">
            <a:avLst/>
          </a:prstGeom>
          <a:solidFill>
            <a:srgbClr val="FFFFFF"/>
          </a:solidFill>
          <a:ln/>
        </p:spPr>
        <p:txBody>
          <a:bodyPr/>
          <a:lstStyle/>
          <a:p>
            <a:endParaRPr lang="en-US"/>
          </a:p>
        </p:txBody>
      </p:sp>
      <p:sp>
        <p:nvSpPr>
          <p:cNvPr id="8" name="Text 3"/>
          <p:cNvSpPr txBox="1"/>
          <p:nvPr/>
        </p:nvSpPr>
        <p:spPr>
          <a:xfrm>
            <a:off x="777240" y="4645152"/>
            <a:ext cx="6400800" cy="365760"/>
          </a:xfrm>
          <a:prstGeom prst="rect">
            <a:avLst/>
          </a:prstGeom>
          <a:noFill/>
          <a:ln/>
        </p:spPr>
        <p:txBody>
          <a:bodyPr wrap="square" lIns="0" tIns="0" rIns="0" bIns="0" rtlCol="0" anchor="t"/>
          <a:lstStyle/>
          <a:p>
            <a:pPr marL="0" indent="0">
              <a:buNone/>
            </a:pPr>
            <a:r>
              <a:rPr lang="en-US" sz="1900" dirty="0">
                <a:solidFill>
                  <a:srgbClr val="FFFFFF"/>
                </a:solidFill>
                <a:latin typeface="Montserrat SemiBold" pitchFamily="34" charset="0"/>
                <a:ea typeface="Montserrat SemiBold" pitchFamily="34" charset="-122"/>
                <a:cs typeface="Montserrat SemiBold" pitchFamily="34" charset="-120"/>
              </a:rPr>
              <a:t>Jair Maldonado</a:t>
            </a:r>
            <a:endParaRPr lang="en-US" sz="1900" dirty="0"/>
          </a:p>
        </p:txBody>
      </p:sp>
      <p:sp>
        <p:nvSpPr>
          <p:cNvPr id="9" name="Text 4"/>
          <p:cNvSpPr txBox="1"/>
          <p:nvPr/>
        </p:nvSpPr>
        <p:spPr>
          <a:xfrm>
            <a:off x="777240" y="5029200"/>
            <a:ext cx="6400800" cy="274320"/>
          </a:xfrm>
          <a:prstGeom prst="rect">
            <a:avLst/>
          </a:prstGeom>
          <a:noFill/>
          <a:ln/>
        </p:spPr>
        <p:txBody>
          <a:bodyPr wrap="square" lIns="0" tIns="0" rIns="0" bIns="0" rtlCol="0" anchor="t"/>
          <a:lstStyle/>
          <a:p>
            <a:pPr marL="0" indent="0">
              <a:buNone/>
            </a:pPr>
            <a:r>
              <a:rPr lang="en-US" sz="950" kern="0" spc="30" dirty="0">
                <a:solidFill>
                  <a:srgbClr val="DAB4BA"/>
                </a:solidFill>
                <a:latin typeface="Montserrat Medium" pitchFamily="34" charset="0"/>
                <a:ea typeface="Montserrat Medium" pitchFamily="34" charset="-122"/>
                <a:cs typeface="Montserrat Medium" pitchFamily="34" charset="-120"/>
              </a:rPr>
              <a:t>Exit Presentation  ·  Summer 2026</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home/user/ai/assets/gen/logo-red.png"/>
          <p:cNvPicPr>
            <a:picLocks noChangeAspect="1"/>
          </p:cNvPicPr>
          <p:nvPr/>
        </p:nvPicPr>
        <p:blipFill>
          <a:blip r:embed="rId3"/>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marL="0" indent="0">
              <a:buNone/>
            </a:pPr>
            <a:r>
              <a:rPr lang="en-US" sz="1000" kern="0" spc="220" dirty="0">
                <a:solidFill>
                  <a:srgbClr val="942838"/>
                </a:solidFill>
                <a:latin typeface="Montserrat SemiBold" pitchFamily="34" charset="0"/>
                <a:ea typeface="Montserrat SemiBold" pitchFamily="34" charset="-122"/>
                <a:cs typeface="Montserrat SemiBold" pitchFamily="34" charset="-120"/>
              </a:rPr>
              <a:t>CONTENTS</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marL="0" indent="0">
              <a:lnSpc>
                <a:spcPct val="98000"/>
              </a:lnSpc>
              <a:buNone/>
            </a:pPr>
            <a:r>
              <a:rPr lang="en-US" sz="2900" kern="0" spc="-50" dirty="0">
                <a:solidFill>
                  <a:srgbClr val="2B2D30"/>
                </a:solidFill>
                <a:latin typeface="Montserrat ExtraBold" pitchFamily="34" charset="0"/>
                <a:ea typeface="Montserrat ExtraBold" pitchFamily="34" charset="-122"/>
                <a:cs typeface="Montserrat ExtraBold" pitchFamily="34" charset="-120"/>
              </a:rPr>
              <a:t>What I will walk through</a:t>
            </a:r>
            <a:endParaRPr lang="en-US" sz="2900" dirty="0"/>
          </a:p>
        </p:txBody>
      </p:sp>
      <p:sp>
        <p:nvSpPr>
          <p:cNvPr id="5" name="Shape 2"/>
          <p:cNvSpPr/>
          <p:nvPr/>
        </p:nvSpPr>
        <p:spPr>
          <a:xfrm>
            <a:off x="777240" y="1700784"/>
            <a:ext cx="566928" cy="50292"/>
          </a:xfrm>
          <a:prstGeom prst="rect">
            <a:avLst/>
          </a:prstGeom>
          <a:solidFill>
            <a:srgbClr val="942838"/>
          </a:solidFill>
          <a:ln/>
        </p:spPr>
        <p:txBody>
          <a:bodyPr/>
          <a:lstStyle/>
          <a:p>
            <a:endParaRPr lang="en-US"/>
          </a:p>
        </p:txBody>
      </p:sp>
      <p:sp>
        <p:nvSpPr>
          <p:cNvPr id="6" name="Shape 3"/>
          <p:cNvSpPr/>
          <p:nvPr/>
        </p:nvSpPr>
        <p:spPr>
          <a:xfrm>
            <a:off x="777240" y="6181344"/>
            <a:ext cx="10637215" cy="10973"/>
          </a:xfrm>
          <a:prstGeom prst="rect">
            <a:avLst/>
          </a:prstGeom>
          <a:solidFill>
            <a:srgbClr val="E6E4E2"/>
          </a:solidFill>
          <a:ln/>
        </p:spPr>
        <p:txBody>
          <a:bodyPr/>
          <a:lstStyle/>
          <a:p>
            <a:endParaRPr lang="en-US"/>
          </a:p>
        </p:txBody>
      </p:sp>
      <p:sp>
        <p:nvSpPr>
          <p:cNvPr id="7" name="Text 4"/>
          <p:cNvSpPr txBox="1"/>
          <p:nvPr/>
        </p:nvSpPr>
        <p:spPr>
          <a:xfrm>
            <a:off x="777240" y="6327648"/>
            <a:ext cx="7315200" cy="201168"/>
          </a:xfrm>
          <a:prstGeom prst="rect">
            <a:avLst/>
          </a:prstGeom>
          <a:noFill/>
          <a:ln/>
        </p:spPr>
        <p:txBody>
          <a:bodyPr wrap="square" lIns="0" tIns="0" rIns="0" bIns="0" rtlCol="0" anchor="t"/>
          <a:lstStyle/>
          <a:p>
            <a:pPr marL="0" indent="0">
              <a:buNone/>
            </a:pPr>
            <a:r>
              <a:rPr lang="en-US" sz="850" kern="0" spc="140" dirty="0">
                <a:solidFill>
                  <a:srgbClr val="6E7175"/>
                </a:solidFill>
                <a:latin typeface="Montserrat SemiBold" pitchFamily="34" charset="0"/>
                <a:ea typeface="Montserrat SemiBold" pitchFamily="34" charset="-122"/>
                <a:cs typeface="Montserrat SemiBold" pitchFamily="34" charset="-120"/>
              </a:rPr>
              <a:t>TABLE OF CONTENTS</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marL="0" indent="0" algn="r">
              <a:buNone/>
            </a:pPr>
            <a:r>
              <a:rPr lang="en-US" sz="850" kern="0" spc="140" dirty="0">
                <a:solidFill>
                  <a:srgbClr val="6E7175"/>
                </a:solidFill>
                <a:latin typeface="Montserrat SemiBold" pitchFamily="34" charset="0"/>
                <a:ea typeface="Montserrat SemiBold" pitchFamily="34" charset="-122"/>
                <a:cs typeface="Montserrat SemiBold" pitchFamily="34" charset="-120"/>
              </a:rPr>
              <a:t>02</a:t>
            </a:r>
            <a:endParaRPr lang="en-US" sz="850" dirty="0"/>
          </a:p>
        </p:txBody>
      </p:sp>
      <p:sp>
        <p:nvSpPr>
          <p:cNvPr id="9" name="Text 6"/>
          <p:cNvSpPr txBox="1"/>
          <p:nvPr/>
        </p:nvSpPr>
        <p:spPr>
          <a:xfrm>
            <a:off x="777240" y="2121408"/>
            <a:ext cx="777240" cy="384048"/>
          </a:xfrm>
          <a:prstGeom prst="rect">
            <a:avLst/>
          </a:prstGeom>
          <a:noFill/>
          <a:ln/>
        </p:spPr>
        <p:txBody>
          <a:bodyPr wrap="square" lIns="0" tIns="0" rIns="0" bIns="0" rtlCol="0" anchor="t"/>
          <a:lstStyle/>
          <a:p>
            <a:pPr marL="0" indent="0">
              <a:buNone/>
            </a:pPr>
            <a:r>
              <a:rPr lang="en-US" sz="2100" kern="0" spc="-50" dirty="0">
                <a:solidFill>
                  <a:srgbClr val="942838"/>
                </a:solidFill>
                <a:latin typeface="Montserrat ExtraBold" pitchFamily="34" charset="0"/>
                <a:ea typeface="Montserrat ExtraBold" pitchFamily="34" charset="-122"/>
                <a:cs typeface="Montserrat ExtraBold" pitchFamily="34" charset="-120"/>
              </a:rPr>
              <a:t>01</a:t>
            </a:r>
            <a:endParaRPr lang="en-US" sz="2100" dirty="0"/>
          </a:p>
        </p:txBody>
      </p:sp>
      <p:sp>
        <p:nvSpPr>
          <p:cNvPr id="10" name="Text 7"/>
          <p:cNvSpPr txBox="1"/>
          <p:nvPr/>
        </p:nvSpPr>
        <p:spPr>
          <a:xfrm>
            <a:off x="1618488" y="2103120"/>
            <a:ext cx="4663440" cy="310896"/>
          </a:xfrm>
          <a:prstGeom prst="rect">
            <a:avLst/>
          </a:prstGeom>
          <a:noFill/>
          <a:ln/>
        </p:spPr>
        <p:txBody>
          <a:bodyPr wrap="square" lIns="0" tIns="0" rIns="0" bIns="0" rtlCol="0" anchor="t"/>
          <a:lstStyle/>
          <a:p>
            <a:pPr marL="0" indent="0">
              <a:buNone/>
            </a:pPr>
            <a:r>
              <a:rPr lang="en-US" sz="1550" dirty="0">
                <a:solidFill>
                  <a:srgbClr val="2B2D30"/>
                </a:solidFill>
                <a:latin typeface="Montserrat SemiBold" pitchFamily="34" charset="0"/>
                <a:ea typeface="Montserrat SemiBold" pitchFamily="34" charset="-122"/>
                <a:cs typeface="Montserrat SemiBold" pitchFamily="34" charset="-120"/>
              </a:rPr>
              <a:t>About Me</a:t>
            </a:r>
            <a:endParaRPr lang="en-US" sz="1550" dirty="0"/>
          </a:p>
        </p:txBody>
      </p:sp>
      <p:sp>
        <p:nvSpPr>
          <p:cNvPr id="11" name="Text 8"/>
          <p:cNvSpPr txBox="1"/>
          <p:nvPr/>
        </p:nvSpPr>
        <p:spPr>
          <a:xfrm>
            <a:off x="5989320" y="2139696"/>
            <a:ext cx="4663440" cy="310896"/>
          </a:xfrm>
          <a:prstGeom prst="rect">
            <a:avLst/>
          </a:prstGeom>
          <a:noFill/>
          <a:ln/>
        </p:spPr>
        <p:txBody>
          <a:bodyPr wrap="square" lIns="0" tIns="0" rIns="0" bIns="0" rtlCol="0" anchor="t"/>
          <a:lstStyle/>
          <a:p>
            <a:pPr marL="0" indent="0">
              <a:buNone/>
            </a:pPr>
            <a:r>
              <a:rPr lang="en-US" sz="1100" dirty="0">
                <a:solidFill>
                  <a:srgbClr val="6E7175"/>
                </a:solidFill>
                <a:latin typeface="Montserrat" pitchFamily="34" charset="0"/>
                <a:ea typeface="Montserrat" pitchFamily="34" charset="-122"/>
                <a:cs typeface="Montserrat" pitchFamily="34" charset="-120"/>
              </a:rPr>
              <a:t>Who I am and where I am headed</a:t>
            </a:r>
            <a:endParaRPr lang="en-US" sz="1100" dirty="0"/>
          </a:p>
        </p:txBody>
      </p:sp>
      <p:sp>
        <p:nvSpPr>
          <p:cNvPr id="12" name="Shape 9"/>
          <p:cNvSpPr/>
          <p:nvPr/>
        </p:nvSpPr>
        <p:spPr>
          <a:xfrm>
            <a:off x="777240" y="2596896"/>
            <a:ext cx="10637215" cy="10973"/>
          </a:xfrm>
          <a:prstGeom prst="rect">
            <a:avLst/>
          </a:prstGeom>
          <a:solidFill>
            <a:srgbClr val="E6E4E2"/>
          </a:solidFill>
          <a:ln/>
        </p:spPr>
        <p:txBody>
          <a:bodyPr/>
          <a:lstStyle/>
          <a:p>
            <a:endParaRPr lang="en-US"/>
          </a:p>
        </p:txBody>
      </p:sp>
      <p:sp>
        <p:nvSpPr>
          <p:cNvPr id="13" name="Text 10"/>
          <p:cNvSpPr txBox="1"/>
          <p:nvPr/>
        </p:nvSpPr>
        <p:spPr>
          <a:xfrm>
            <a:off x="777240" y="2793492"/>
            <a:ext cx="777240" cy="384048"/>
          </a:xfrm>
          <a:prstGeom prst="rect">
            <a:avLst/>
          </a:prstGeom>
          <a:noFill/>
          <a:ln/>
        </p:spPr>
        <p:txBody>
          <a:bodyPr wrap="square" lIns="0" tIns="0" rIns="0" bIns="0" rtlCol="0" anchor="t"/>
          <a:lstStyle/>
          <a:p>
            <a:pPr marL="0" indent="0">
              <a:buNone/>
            </a:pPr>
            <a:r>
              <a:rPr lang="en-US" sz="2100" kern="0" spc="-50" dirty="0">
                <a:solidFill>
                  <a:srgbClr val="942838"/>
                </a:solidFill>
                <a:latin typeface="Montserrat ExtraBold" pitchFamily="34" charset="0"/>
                <a:ea typeface="Montserrat ExtraBold" pitchFamily="34" charset="-122"/>
                <a:cs typeface="Montserrat ExtraBold" pitchFamily="34" charset="-120"/>
              </a:rPr>
              <a:t>02</a:t>
            </a:r>
            <a:endParaRPr lang="en-US" sz="2100" dirty="0"/>
          </a:p>
        </p:txBody>
      </p:sp>
      <p:sp>
        <p:nvSpPr>
          <p:cNvPr id="14" name="Text 11"/>
          <p:cNvSpPr txBox="1"/>
          <p:nvPr/>
        </p:nvSpPr>
        <p:spPr>
          <a:xfrm>
            <a:off x="1618488" y="2775204"/>
            <a:ext cx="4663440" cy="310896"/>
          </a:xfrm>
          <a:prstGeom prst="rect">
            <a:avLst/>
          </a:prstGeom>
          <a:noFill/>
          <a:ln/>
        </p:spPr>
        <p:txBody>
          <a:bodyPr wrap="square" lIns="0" tIns="0" rIns="0" bIns="0" rtlCol="0" anchor="t"/>
          <a:lstStyle/>
          <a:p>
            <a:pPr marL="0" indent="0">
              <a:buNone/>
            </a:pPr>
            <a:r>
              <a:rPr lang="en-US" sz="1550" dirty="0">
                <a:solidFill>
                  <a:srgbClr val="2B2D30"/>
                </a:solidFill>
                <a:latin typeface="Montserrat SemiBold" pitchFamily="34" charset="0"/>
                <a:ea typeface="Montserrat SemiBold" pitchFamily="34" charset="-122"/>
                <a:cs typeface="Montserrat SemiBold" pitchFamily="34" charset="-120"/>
              </a:rPr>
              <a:t>Internship Overview</a:t>
            </a:r>
            <a:endParaRPr lang="en-US" sz="1550" dirty="0"/>
          </a:p>
        </p:txBody>
      </p:sp>
      <p:sp>
        <p:nvSpPr>
          <p:cNvPr id="15" name="Text 12"/>
          <p:cNvSpPr txBox="1"/>
          <p:nvPr/>
        </p:nvSpPr>
        <p:spPr>
          <a:xfrm>
            <a:off x="5989320" y="2811780"/>
            <a:ext cx="4663440" cy="310896"/>
          </a:xfrm>
          <a:prstGeom prst="rect">
            <a:avLst/>
          </a:prstGeom>
          <a:noFill/>
          <a:ln/>
        </p:spPr>
        <p:txBody>
          <a:bodyPr wrap="square" lIns="0" tIns="0" rIns="0" bIns="0" rtlCol="0" anchor="t"/>
          <a:lstStyle/>
          <a:p>
            <a:pPr marL="0" indent="0">
              <a:buNone/>
            </a:pPr>
            <a:r>
              <a:rPr lang="en-US" sz="1100" dirty="0">
                <a:solidFill>
                  <a:srgbClr val="6E7175"/>
                </a:solidFill>
                <a:latin typeface="Montserrat" pitchFamily="34" charset="0"/>
                <a:ea typeface="Montserrat" pitchFamily="34" charset="-122"/>
                <a:cs typeface="Montserrat" pitchFamily="34" charset="-120"/>
              </a:rPr>
              <a:t>Three rotations across the security team</a:t>
            </a:r>
            <a:endParaRPr lang="en-US" sz="1100" dirty="0"/>
          </a:p>
        </p:txBody>
      </p:sp>
      <p:sp>
        <p:nvSpPr>
          <p:cNvPr id="16" name="Shape 13"/>
          <p:cNvSpPr/>
          <p:nvPr/>
        </p:nvSpPr>
        <p:spPr>
          <a:xfrm>
            <a:off x="777240" y="3268980"/>
            <a:ext cx="10637215" cy="10973"/>
          </a:xfrm>
          <a:prstGeom prst="rect">
            <a:avLst/>
          </a:prstGeom>
          <a:solidFill>
            <a:srgbClr val="E6E4E2"/>
          </a:solidFill>
          <a:ln/>
        </p:spPr>
        <p:txBody>
          <a:bodyPr/>
          <a:lstStyle/>
          <a:p>
            <a:endParaRPr lang="en-US"/>
          </a:p>
        </p:txBody>
      </p:sp>
      <p:sp>
        <p:nvSpPr>
          <p:cNvPr id="17" name="Text 14"/>
          <p:cNvSpPr txBox="1"/>
          <p:nvPr/>
        </p:nvSpPr>
        <p:spPr>
          <a:xfrm>
            <a:off x="777240" y="3465576"/>
            <a:ext cx="777240" cy="384048"/>
          </a:xfrm>
          <a:prstGeom prst="rect">
            <a:avLst/>
          </a:prstGeom>
          <a:noFill/>
          <a:ln/>
        </p:spPr>
        <p:txBody>
          <a:bodyPr wrap="square" lIns="0" tIns="0" rIns="0" bIns="0" rtlCol="0" anchor="t"/>
          <a:lstStyle/>
          <a:p>
            <a:pPr marL="0" indent="0">
              <a:buNone/>
            </a:pPr>
            <a:r>
              <a:rPr lang="en-US" sz="2100" kern="0" spc="-50" dirty="0">
                <a:solidFill>
                  <a:srgbClr val="942838"/>
                </a:solidFill>
                <a:latin typeface="Montserrat ExtraBold" pitchFamily="34" charset="0"/>
                <a:ea typeface="Montserrat ExtraBold" pitchFamily="34" charset="-122"/>
                <a:cs typeface="Montserrat ExtraBold" pitchFamily="34" charset="-120"/>
              </a:rPr>
              <a:t>03</a:t>
            </a:r>
            <a:endParaRPr lang="en-US" sz="2100" dirty="0"/>
          </a:p>
        </p:txBody>
      </p:sp>
      <p:sp>
        <p:nvSpPr>
          <p:cNvPr id="18" name="Text 15"/>
          <p:cNvSpPr txBox="1"/>
          <p:nvPr/>
        </p:nvSpPr>
        <p:spPr>
          <a:xfrm>
            <a:off x="1618488" y="3447288"/>
            <a:ext cx="4663440" cy="310896"/>
          </a:xfrm>
          <a:prstGeom prst="rect">
            <a:avLst/>
          </a:prstGeom>
          <a:noFill/>
          <a:ln/>
        </p:spPr>
        <p:txBody>
          <a:bodyPr wrap="square" lIns="0" tIns="0" rIns="0" bIns="0" rtlCol="0" anchor="t"/>
          <a:lstStyle/>
          <a:p>
            <a:pPr marL="0" indent="0">
              <a:buNone/>
            </a:pPr>
            <a:r>
              <a:rPr lang="en-US" sz="1550" dirty="0">
                <a:solidFill>
                  <a:srgbClr val="2B2D30"/>
                </a:solidFill>
                <a:latin typeface="Montserrat SemiBold" pitchFamily="34" charset="0"/>
                <a:ea typeface="Montserrat SemiBold" pitchFamily="34" charset="-122"/>
                <a:cs typeface="Montserrat SemiBold" pitchFamily="34" charset="-120"/>
              </a:rPr>
              <a:t>Image Management Program</a:t>
            </a:r>
            <a:endParaRPr lang="en-US" sz="1550" dirty="0"/>
          </a:p>
        </p:txBody>
      </p:sp>
      <p:sp>
        <p:nvSpPr>
          <p:cNvPr id="19" name="Text 16"/>
          <p:cNvSpPr txBox="1"/>
          <p:nvPr/>
        </p:nvSpPr>
        <p:spPr>
          <a:xfrm>
            <a:off x="5989320" y="3483864"/>
            <a:ext cx="4663440" cy="310896"/>
          </a:xfrm>
          <a:prstGeom prst="rect">
            <a:avLst/>
          </a:prstGeom>
          <a:noFill/>
          <a:ln/>
        </p:spPr>
        <p:txBody>
          <a:bodyPr wrap="square" lIns="0" tIns="0" rIns="0" bIns="0" rtlCol="0" anchor="t"/>
          <a:lstStyle/>
          <a:p>
            <a:pPr marL="0" indent="0">
              <a:buNone/>
            </a:pPr>
            <a:r>
              <a:rPr lang="en-US" sz="1100" dirty="0">
                <a:solidFill>
                  <a:srgbClr val="6E7175"/>
                </a:solidFill>
                <a:latin typeface="Montserrat" pitchFamily="34" charset="0"/>
                <a:ea typeface="Montserrat" pitchFamily="34" charset="-122"/>
                <a:cs typeface="Montserrat" pitchFamily="34" charset="-120"/>
              </a:rPr>
              <a:t>Making sure every new machine starts secure</a:t>
            </a:r>
            <a:endParaRPr lang="en-US" sz="1100" dirty="0"/>
          </a:p>
        </p:txBody>
      </p:sp>
      <p:sp>
        <p:nvSpPr>
          <p:cNvPr id="20" name="Shape 17"/>
          <p:cNvSpPr/>
          <p:nvPr/>
        </p:nvSpPr>
        <p:spPr>
          <a:xfrm>
            <a:off x="777240" y="3941064"/>
            <a:ext cx="10637215" cy="10973"/>
          </a:xfrm>
          <a:prstGeom prst="rect">
            <a:avLst/>
          </a:prstGeom>
          <a:solidFill>
            <a:srgbClr val="E6E4E2"/>
          </a:solidFill>
          <a:ln/>
        </p:spPr>
        <p:txBody>
          <a:bodyPr/>
          <a:lstStyle/>
          <a:p>
            <a:endParaRPr lang="en-US"/>
          </a:p>
        </p:txBody>
      </p:sp>
      <p:sp>
        <p:nvSpPr>
          <p:cNvPr id="21" name="Text 18"/>
          <p:cNvSpPr txBox="1"/>
          <p:nvPr/>
        </p:nvSpPr>
        <p:spPr>
          <a:xfrm>
            <a:off x="777240" y="4137660"/>
            <a:ext cx="777240" cy="384048"/>
          </a:xfrm>
          <a:prstGeom prst="rect">
            <a:avLst/>
          </a:prstGeom>
          <a:noFill/>
          <a:ln/>
        </p:spPr>
        <p:txBody>
          <a:bodyPr wrap="square" lIns="0" tIns="0" rIns="0" bIns="0" rtlCol="0" anchor="t"/>
          <a:lstStyle/>
          <a:p>
            <a:pPr marL="0" indent="0">
              <a:buNone/>
            </a:pPr>
            <a:r>
              <a:rPr lang="en-US" sz="2100" kern="0" spc="-50" dirty="0">
                <a:solidFill>
                  <a:srgbClr val="942838"/>
                </a:solidFill>
                <a:latin typeface="Montserrat ExtraBold" pitchFamily="34" charset="0"/>
                <a:ea typeface="Montserrat ExtraBold" pitchFamily="34" charset="-122"/>
                <a:cs typeface="Montserrat ExtraBold" pitchFamily="34" charset="-120"/>
              </a:rPr>
              <a:t>04</a:t>
            </a:r>
            <a:endParaRPr lang="en-US" sz="2100" dirty="0"/>
          </a:p>
        </p:txBody>
      </p:sp>
      <p:sp>
        <p:nvSpPr>
          <p:cNvPr id="22" name="Text 19"/>
          <p:cNvSpPr txBox="1"/>
          <p:nvPr/>
        </p:nvSpPr>
        <p:spPr>
          <a:xfrm>
            <a:off x="1618488" y="4119372"/>
            <a:ext cx="4663440" cy="310896"/>
          </a:xfrm>
          <a:prstGeom prst="rect">
            <a:avLst/>
          </a:prstGeom>
          <a:noFill/>
          <a:ln/>
        </p:spPr>
        <p:txBody>
          <a:bodyPr wrap="square" lIns="0" tIns="0" rIns="0" bIns="0" rtlCol="0" anchor="t"/>
          <a:lstStyle/>
          <a:p>
            <a:pPr marL="0" indent="0">
              <a:buNone/>
            </a:pPr>
            <a:r>
              <a:rPr lang="en-US" sz="1550" dirty="0">
                <a:solidFill>
                  <a:srgbClr val="2B2D30"/>
                </a:solidFill>
                <a:latin typeface="Montserrat SemiBold" pitchFamily="34" charset="0"/>
                <a:ea typeface="Montserrat SemiBold" pitchFamily="34" charset="-122"/>
                <a:cs typeface="Montserrat SemiBold" pitchFamily="34" charset="-120"/>
              </a:rPr>
              <a:t>AEGIS</a:t>
            </a:r>
            <a:endParaRPr lang="en-US" sz="1550" dirty="0"/>
          </a:p>
        </p:txBody>
      </p:sp>
      <p:sp>
        <p:nvSpPr>
          <p:cNvPr id="23" name="Text 20"/>
          <p:cNvSpPr txBox="1"/>
          <p:nvPr/>
        </p:nvSpPr>
        <p:spPr>
          <a:xfrm>
            <a:off x="5989320" y="4155948"/>
            <a:ext cx="4663440" cy="310896"/>
          </a:xfrm>
          <a:prstGeom prst="rect">
            <a:avLst/>
          </a:prstGeom>
          <a:noFill/>
          <a:ln/>
        </p:spPr>
        <p:txBody>
          <a:bodyPr wrap="square" lIns="0" tIns="0" rIns="0" bIns="0" rtlCol="0" anchor="t"/>
          <a:lstStyle/>
          <a:p>
            <a:pPr marL="0" indent="0">
              <a:buNone/>
            </a:pPr>
            <a:r>
              <a:rPr lang="en-US" sz="1100" dirty="0">
                <a:solidFill>
                  <a:srgbClr val="6E7175"/>
                </a:solidFill>
                <a:latin typeface="Montserrat" pitchFamily="34" charset="0"/>
                <a:ea typeface="Montserrat" pitchFamily="34" charset="-122"/>
                <a:cs typeface="Montserrat" pitchFamily="34" charset="-120"/>
              </a:rPr>
              <a:t>Catching supply-chain attacks before they reach us</a:t>
            </a:r>
            <a:endParaRPr lang="en-US" sz="1100" dirty="0"/>
          </a:p>
        </p:txBody>
      </p:sp>
      <p:sp>
        <p:nvSpPr>
          <p:cNvPr id="24" name="Shape 21"/>
          <p:cNvSpPr/>
          <p:nvPr/>
        </p:nvSpPr>
        <p:spPr>
          <a:xfrm>
            <a:off x="777240" y="4613148"/>
            <a:ext cx="10637215" cy="10973"/>
          </a:xfrm>
          <a:prstGeom prst="rect">
            <a:avLst/>
          </a:prstGeom>
          <a:solidFill>
            <a:srgbClr val="E6E4E2"/>
          </a:solidFill>
          <a:ln/>
        </p:spPr>
        <p:txBody>
          <a:bodyPr/>
          <a:lstStyle/>
          <a:p>
            <a:endParaRPr lang="en-US"/>
          </a:p>
        </p:txBody>
      </p:sp>
      <p:sp>
        <p:nvSpPr>
          <p:cNvPr id="25" name="Text 22"/>
          <p:cNvSpPr txBox="1"/>
          <p:nvPr/>
        </p:nvSpPr>
        <p:spPr>
          <a:xfrm>
            <a:off x="777240" y="4809744"/>
            <a:ext cx="777240" cy="384048"/>
          </a:xfrm>
          <a:prstGeom prst="rect">
            <a:avLst/>
          </a:prstGeom>
          <a:noFill/>
          <a:ln/>
        </p:spPr>
        <p:txBody>
          <a:bodyPr wrap="square" lIns="0" tIns="0" rIns="0" bIns="0" rtlCol="0" anchor="t"/>
          <a:lstStyle/>
          <a:p>
            <a:pPr marL="0" indent="0">
              <a:buNone/>
            </a:pPr>
            <a:r>
              <a:rPr lang="en-US" sz="2100" kern="0" spc="-50" dirty="0">
                <a:solidFill>
                  <a:srgbClr val="942838"/>
                </a:solidFill>
                <a:latin typeface="Montserrat ExtraBold" pitchFamily="34" charset="0"/>
                <a:ea typeface="Montserrat ExtraBold" pitchFamily="34" charset="-122"/>
                <a:cs typeface="Montserrat ExtraBold" pitchFamily="34" charset="-120"/>
              </a:rPr>
              <a:t>05</a:t>
            </a:r>
            <a:endParaRPr lang="en-US" sz="2100" dirty="0"/>
          </a:p>
        </p:txBody>
      </p:sp>
      <p:sp>
        <p:nvSpPr>
          <p:cNvPr id="26" name="Text 23"/>
          <p:cNvSpPr txBox="1"/>
          <p:nvPr/>
        </p:nvSpPr>
        <p:spPr>
          <a:xfrm>
            <a:off x="1618488" y="4791456"/>
            <a:ext cx="4663440" cy="310896"/>
          </a:xfrm>
          <a:prstGeom prst="rect">
            <a:avLst/>
          </a:prstGeom>
          <a:noFill/>
          <a:ln/>
        </p:spPr>
        <p:txBody>
          <a:bodyPr wrap="square" lIns="0" tIns="0" rIns="0" bIns="0" rtlCol="0" anchor="t"/>
          <a:lstStyle/>
          <a:p>
            <a:pPr marL="0" indent="0">
              <a:buNone/>
            </a:pPr>
            <a:r>
              <a:rPr lang="en-US" sz="1550" dirty="0" err="1">
                <a:solidFill>
                  <a:srgbClr val="2B2D30"/>
                </a:solidFill>
                <a:latin typeface="Montserrat SemiBold" pitchFamily="34" charset="0"/>
              </a:rPr>
              <a:t>KEVlar</a:t>
            </a:r>
            <a:r>
              <a:rPr lang="en-US" sz="1550" dirty="0">
                <a:solidFill>
                  <a:srgbClr val="2B2D30"/>
                </a:solidFill>
                <a:latin typeface="Montserrat SemiBold" pitchFamily="34" charset="0"/>
              </a:rPr>
              <a:t> Patch Automation</a:t>
            </a:r>
            <a:endParaRPr lang="en-US" sz="1550" dirty="0"/>
          </a:p>
        </p:txBody>
      </p:sp>
      <p:sp>
        <p:nvSpPr>
          <p:cNvPr id="27" name="Text 24"/>
          <p:cNvSpPr txBox="1"/>
          <p:nvPr/>
        </p:nvSpPr>
        <p:spPr>
          <a:xfrm>
            <a:off x="5989320" y="4828032"/>
            <a:ext cx="4663440" cy="310896"/>
          </a:xfrm>
          <a:prstGeom prst="rect">
            <a:avLst/>
          </a:prstGeom>
          <a:noFill/>
          <a:ln/>
        </p:spPr>
        <p:txBody>
          <a:bodyPr wrap="square" lIns="0" tIns="0" rIns="0" bIns="0" rtlCol="0" anchor="t"/>
          <a:lstStyle/>
          <a:p>
            <a:pPr marL="0" indent="0">
              <a:buNone/>
            </a:pPr>
            <a:r>
              <a:rPr lang="en-US" sz="1100" dirty="0">
                <a:solidFill>
                  <a:srgbClr val="6E7175"/>
                </a:solidFill>
                <a:latin typeface="Montserrat" pitchFamily="34" charset="0"/>
                <a:ea typeface="Montserrat" pitchFamily="34" charset="-122"/>
                <a:cs typeface="Montserrat" pitchFamily="34" charset="-120"/>
              </a:rPr>
              <a:t>Turning two days of patch work into twelve seconds</a:t>
            </a:r>
            <a:endParaRPr lang="en-US" sz="1100" dirty="0"/>
          </a:p>
        </p:txBody>
      </p:sp>
      <p:sp>
        <p:nvSpPr>
          <p:cNvPr id="28" name="Shape 25"/>
          <p:cNvSpPr/>
          <p:nvPr/>
        </p:nvSpPr>
        <p:spPr>
          <a:xfrm>
            <a:off x="777240" y="5285232"/>
            <a:ext cx="10637215" cy="10973"/>
          </a:xfrm>
          <a:prstGeom prst="rect">
            <a:avLst/>
          </a:prstGeom>
          <a:solidFill>
            <a:srgbClr val="E6E4E2"/>
          </a:solidFill>
          <a:ln/>
        </p:spPr>
        <p:txBody>
          <a:bodyPr/>
          <a:lstStyle/>
          <a:p>
            <a:endParaRPr lang="en-US"/>
          </a:p>
        </p:txBody>
      </p:sp>
      <p:sp>
        <p:nvSpPr>
          <p:cNvPr id="29" name="Text 26"/>
          <p:cNvSpPr txBox="1"/>
          <p:nvPr/>
        </p:nvSpPr>
        <p:spPr>
          <a:xfrm>
            <a:off x="777240" y="5481828"/>
            <a:ext cx="777240" cy="384048"/>
          </a:xfrm>
          <a:prstGeom prst="rect">
            <a:avLst/>
          </a:prstGeom>
          <a:noFill/>
          <a:ln/>
        </p:spPr>
        <p:txBody>
          <a:bodyPr wrap="square" lIns="0" tIns="0" rIns="0" bIns="0" rtlCol="0" anchor="t"/>
          <a:lstStyle/>
          <a:p>
            <a:pPr marL="0" indent="0">
              <a:buNone/>
            </a:pPr>
            <a:r>
              <a:rPr lang="en-US" sz="2100" kern="0" spc="-50" dirty="0">
                <a:solidFill>
                  <a:srgbClr val="942838"/>
                </a:solidFill>
                <a:latin typeface="Montserrat ExtraBold" pitchFamily="34" charset="0"/>
                <a:ea typeface="Montserrat ExtraBold" pitchFamily="34" charset="-122"/>
                <a:cs typeface="Montserrat ExtraBold" pitchFamily="34" charset="-120"/>
              </a:rPr>
              <a:t>06</a:t>
            </a:r>
            <a:endParaRPr lang="en-US" sz="2100" dirty="0"/>
          </a:p>
        </p:txBody>
      </p:sp>
      <p:sp>
        <p:nvSpPr>
          <p:cNvPr id="30" name="Text 27"/>
          <p:cNvSpPr txBox="1"/>
          <p:nvPr/>
        </p:nvSpPr>
        <p:spPr>
          <a:xfrm>
            <a:off x="1618488" y="5463540"/>
            <a:ext cx="4663440" cy="310896"/>
          </a:xfrm>
          <a:prstGeom prst="rect">
            <a:avLst/>
          </a:prstGeom>
          <a:noFill/>
          <a:ln/>
        </p:spPr>
        <p:txBody>
          <a:bodyPr wrap="square" lIns="0" tIns="0" rIns="0" bIns="0" rtlCol="0" anchor="t"/>
          <a:lstStyle/>
          <a:p>
            <a:pPr marL="0" indent="0">
              <a:buNone/>
            </a:pPr>
            <a:r>
              <a:rPr lang="en-US" sz="1550" dirty="0">
                <a:solidFill>
                  <a:srgbClr val="2B2D30"/>
                </a:solidFill>
                <a:latin typeface="Montserrat SemiBold" pitchFamily="34" charset="0"/>
                <a:ea typeface="Montserrat SemiBold" pitchFamily="34" charset="-122"/>
                <a:cs typeface="Montserrat SemiBold" pitchFamily="34" charset="-120"/>
              </a:rPr>
              <a:t>Summary</a:t>
            </a:r>
            <a:endParaRPr lang="en-US" sz="1550" dirty="0"/>
          </a:p>
        </p:txBody>
      </p:sp>
      <p:sp>
        <p:nvSpPr>
          <p:cNvPr id="31" name="Text 28"/>
          <p:cNvSpPr txBox="1"/>
          <p:nvPr/>
        </p:nvSpPr>
        <p:spPr>
          <a:xfrm>
            <a:off x="5989320" y="5500116"/>
            <a:ext cx="4663440" cy="310896"/>
          </a:xfrm>
          <a:prstGeom prst="rect">
            <a:avLst/>
          </a:prstGeom>
          <a:noFill/>
          <a:ln/>
        </p:spPr>
        <p:txBody>
          <a:bodyPr wrap="square" lIns="0" tIns="0" rIns="0" bIns="0" rtlCol="0" anchor="t"/>
          <a:lstStyle/>
          <a:p>
            <a:pPr marL="0" indent="0">
              <a:buNone/>
            </a:pPr>
            <a:r>
              <a:rPr lang="en-US" sz="1100" dirty="0">
                <a:solidFill>
                  <a:srgbClr val="6E7175"/>
                </a:solidFill>
                <a:latin typeface="Montserrat" pitchFamily="34" charset="0"/>
                <a:ea typeface="Montserrat" pitchFamily="34" charset="-122"/>
                <a:cs typeface="Montserrat" pitchFamily="34" charset="-120"/>
              </a:rPr>
              <a:t>What this means for Stewart</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pic>
        <p:nvPicPr>
          <p:cNvPr id="2" name="Image 0" descr="/home/user/ai/assets/gen/panel-red-left.png"/>
          <p:cNvPicPr>
            <a:picLocks noChangeAspect="1"/>
          </p:cNvPicPr>
          <p:nvPr/>
        </p:nvPicPr>
        <p:blipFill>
          <a:blip r:embed="rId3"/>
          <a:stretch>
            <a:fillRect/>
          </a:stretch>
        </p:blipFill>
        <p:spPr>
          <a:xfrm>
            <a:off x="0" y="0"/>
            <a:ext cx="4343400" cy="6858000"/>
          </a:xfrm>
          <a:prstGeom prst="rect">
            <a:avLst/>
          </a:prstGeom>
        </p:spPr>
      </p:pic>
      <p:pic>
        <p:nvPicPr>
          <p:cNvPr id="3" name="Image 1" descr="/home/user/ai/assets/gen/mark-slash-faint.png"/>
          <p:cNvPicPr>
            <a:picLocks noChangeAspect="1"/>
          </p:cNvPicPr>
          <p:nvPr/>
        </p:nvPicPr>
        <p:blipFill>
          <a:blip r:embed="rId4"/>
          <a:stretch>
            <a:fillRect/>
          </a:stretch>
        </p:blipFill>
        <p:spPr>
          <a:xfrm>
            <a:off x="-640080" y="3931920"/>
            <a:ext cx="3840480" cy="3840480"/>
          </a:xfrm>
          <a:prstGeom prst="rect">
            <a:avLst/>
          </a:prstGeom>
        </p:spPr>
      </p:pic>
      <p:sp>
        <p:nvSpPr>
          <p:cNvPr id="4" name="Text 0"/>
          <p:cNvSpPr txBox="1"/>
          <p:nvPr/>
        </p:nvSpPr>
        <p:spPr>
          <a:xfrm>
            <a:off x="777240" y="1371600"/>
            <a:ext cx="3108960" cy="237744"/>
          </a:xfrm>
          <a:prstGeom prst="rect">
            <a:avLst/>
          </a:prstGeom>
          <a:noFill/>
          <a:ln/>
        </p:spPr>
        <p:txBody>
          <a:bodyPr wrap="square" lIns="0" tIns="0" rIns="0" bIns="0" rtlCol="0" anchor="t"/>
          <a:lstStyle/>
          <a:p>
            <a:pPr marL="0" indent="0">
              <a:buNone/>
            </a:pPr>
            <a:r>
              <a:rPr lang="en-US" sz="1000" kern="0" spc="220" dirty="0">
                <a:solidFill>
                  <a:srgbClr val="E4C9CE"/>
                </a:solidFill>
                <a:latin typeface="Montserrat SemiBold" pitchFamily="34" charset="0"/>
                <a:ea typeface="Montserrat SemiBold" pitchFamily="34" charset="-122"/>
                <a:cs typeface="Montserrat SemiBold" pitchFamily="34" charset="-120"/>
              </a:rPr>
              <a:t>ABOUT ME</a:t>
            </a:r>
            <a:endParaRPr lang="en-US" sz="1000" dirty="0"/>
          </a:p>
        </p:txBody>
      </p:sp>
      <p:sp>
        <p:nvSpPr>
          <p:cNvPr id="5" name="Text 1"/>
          <p:cNvSpPr txBox="1"/>
          <p:nvPr/>
        </p:nvSpPr>
        <p:spPr>
          <a:xfrm>
            <a:off x="777240" y="1737360"/>
            <a:ext cx="3291840" cy="1371600"/>
          </a:xfrm>
          <a:prstGeom prst="rect">
            <a:avLst/>
          </a:prstGeom>
          <a:noFill/>
          <a:ln/>
        </p:spPr>
        <p:txBody>
          <a:bodyPr wrap="square" lIns="0" tIns="0" rIns="0" bIns="0" rtlCol="0" anchor="t"/>
          <a:lstStyle/>
          <a:p>
            <a:pPr marL="0" indent="0">
              <a:lnSpc>
                <a:spcPct val="98000"/>
              </a:lnSpc>
              <a:buNone/>
            </a:pPr>
            <a:r>
              <a:rPr lang="en-US" sz="3300" kern="0" spc="-70" dirty="0">
                <a:solidFill>
                  <a:srgbClr val="FFFFFF"/>
                </a:solidFill>
                <a:latin typeface="Montserrat ExtraBold" pitchFamily="34" charset="0"/>
                <a:ea typeface="Montserrat ExtraBold" pitchFamily="34" charset="-122"/>
                <a:cs typeface="Montserrat ExtraBold" pitchFamily="34" charset="-120"/>
              </a:rPr>
              <a:t>Jair Maldonado</a:t>
            </a:r>
            <a:endParaRPr lang="en-US" sz="3300" dirty="0"/>
          </a:p>
        </p:txBody>
      </p:sp>
      <p:sp>
        <p:nvSpPr>
          <p:cNvPr id="6" name="Shape 2"/>
          <p:cNvSpPr/>
          <p:nvPr/>
        </p:nvSpPr>
        <p:spPr>
          <a:xfrm>
            <a:off x="777240" y="3127248"/>
            <a:ext cx="548640" cy="45720"/>
          </a:xfrm>
          <a:prstGeom prst="rect">
            <a:avLst/>
          </a:prstGeom>
          <a:solidFill>
            <a:srgbClr val="FFFFFF"/>
          </a:solidFill>
          <a:ln/>
        </p:spPr>
        <p:txBody>
          <a:bodyPr/>
          <a:lstStyle/>
          <a:p>
            <a:endParaRPr lang="en-US"/>
          </a:p>
        </p:txBody>
      </p:sp>
      <p:sp>
        <p:nvSpPr>
          <p:cNvPr id="7" name="Text 3"/>
          <p:cNvSpPr txBox="1"/>
          <p:nvPr/>
        </p:nvSpPr>
        <p:spPr>
          <a:xfrm>
            <a:off x="777240" y="3364992"/>
            <a:ext cx="3200400" cy="548640"/>
          </a:xfrm>
          <a:prstGeom prst="rect">
            <a:avLst/>
          </a:prstGeom>
          <a:noFill/>
          <a:ln/>
        </p:spPr>
        <p:txBody>
          <a:bodyPr wrap="square" lIns="0" tIns="0" rIns="0" bIns="0" rtlCol="0" anchor="t"/>
          <a:lstStyle/>
          <a:p>
            <a:pPr marL="0" indent="0">
              <a:lnSpc>
                <a:spcPct val="120000"/>
              </a:lnSpc>
              <a:buNone/>
            </a:pPr>
            <a:r>
              <a:rPr lang="en-US" sz="950" kern="0" spc="30" dirty="0">
                <a:solidFill>
                  <a:srgbClr val="E4C9CE"/>
                </a:solidFill>
                <a:latin typeface="Montserrat Medium" pitchFamily="34" charset="0"/>
                <a:ea typeface="Montserrat Medium" pitchFamily="34" charset="-122"/>
                <a:cs typeface="Montserrat Medium" pitchFamily="34" charset="-120"/>
              </a:rPr>
              <a:t>Information Security Analyst Intern</a:t>
            </a:r>
            <a:endParaRPr lang="en-US" sz="950" dirty="0"/>
          </a:p>
        </p:txBody>
      </p:sp>
      <p:sp>
        <p:nvSpPr>
          <p:cNvPr id="8" name="Text 4"/>
          <p:cNvSpPr txBox="1"/>
          <p:nvPr/>
        </p:nvSpPr>
        <p:spPr>
          <a:xfrm>
            <a:off x="5120640" y="868680"/>
            <a:ext cx="6293815" cy="237744"/>
          </a:xfrm>
          <a:prstGeom prst="rect">
            <a:avLst/>
          </a:prstGeom>
          <a:noFill/>
          <a:ln/>
        </p:spPr>
        <p:txBody>
          <a:bodyPr wrap="square" lIns="0" tIns="0" rIns="0" bIns="0" rtlCol="0" anchor="t"/>
          <a:lstStyle/>
          <a:p>
            <a:pPr marL="0" indent="0">
              <a:buNone/>
            </a:pPr>
            <a:r>
              <a:rPr lang="en-US" sz="1000" kern="0" spc="220" dirty="0">
                <a:solidFill>
                  <a:srgbClr val="942838"/>
                </a:solidFill>
                <a:latin typeface="Montserrat SemiBold" pitchFamily="34" charset="0"/>
                <a:ea typeface="Montserrat SemiBold" pitchFamily="34" charset="-122"/>
                <a:cs typeface="Montserrat SemiBold" pitchFamily="34" charset="-120"/>
              </a:rPr>
              <a:t>BACKGROUND</a:t>
            </a:r>
            <a:endParaRPr lang="en-US" sz="1000" dirty="0"/>
          </a:p>
        </p:txBody>
      </p:sp>
      <p:sp>
        <p:nvSpPr>
          <p:cNvPr id="9" name="Text 5"/>
          <p:cNvSpPr txBox="1"/>
          <p:nvPr/>
        </p:nvSpPr>
        <p:spPr>
          <a:xfrm>
            <a:off x="5120640" y="1298448"/>
            <a:ext cx="6293815" cy="219456"/>
          </a:xfrm>
          <a:prstGeom prst="rect">
            <a:avLst/>
          </a:prstGeom>
          <a:noFill/>
          <a:ln/>
        </p:spPr>
        <p:txBody>
          <a:bodyPr wrap="square" lIns="0" tIns="0" rIns="0" bIns="0" rtlCol="0" anchor="t"/>
          <a:lstStyle/>
          <a:p>
            <a:pPr marL="0" indent="0">
              <a:buNone/>
            </a:pPr>
            <a:r>
              <a:rPr lang="en-US" sz="850" kern="0" spc="140" dirty="0">
                <a:solidFill>
                  <a:srgbClr val="942838"/>
                </a:solidFill>
                <a:latin typeface="Montserrat SemiBold" pitchFamily="34" charset="0"/>
                <a:ea typeface="Montserrat SemiBold" pitchFamily="34" charset="-122"/>
                <a:cs typeface="Montserrat SemiBold" pitchFamily="34" charset="-120"/>
              </a:rPr>
              <a:t>POSITION</a:t>
            </a:r>
            <a:endParaRPr lang="en-US" sz="850" dirty="0"/>
          </a:p>
        </p:txBody>
      </p:sp>
      <p:sp>
        <p:nvSpPr>
          <p:cNvPr id="10" name="Text 6"/>
          <p:cNvSpPr txBox="1"/>
          <p:nvPr/>
        </p:nvSpPr>
        <p:spPr>
          <a:xfrm>
            <a:off x="5120640" y="1545336"/>
            <a:ext cx="6293815" cy="475488"/>
          </a:xfrm>
          <a:prstGeom prst="rect">
            <a:avLst/>
          </a:prstGeom>
          <a:noFill/>
          <a:ln/>
        </p:spPr>
        <p:txBody>
          <a:bodyPr wrap="square" lIns="0" tIns="0" rIns="0" bIns="0" rtlCol="0" anchor="t"/>
          <a:lstStyle/>
          <a:p>
            <a:pPr marL="0" indent="0">
              <a:lnSpc>
                <a:spcPct val="120000"/>
              </a:lnSpc>
              <a:buNone/>
            </a:pPr>
            <a:r>
              <a:rPr lang="en-US" sz="1250" dirty="0">
                <a:solidFill>
                  <a:srgbClr val="43464A"/>
                </a:solidFill>
                <a:latin typeface="Montserrat" pitchFamily="34" charset="0"/>
                <a:ea typeface="Montserrat" pitchFamily="34" charset="-122"/>
                <a:cs typeface="Montserrat" pitchFamily="34" charset="-120"/>
              </a:rPr>
              <a:t>Information Security Analyst Intern</a:t>
            </a:r>
            <a:endParaRPr lang="en-US" sz="1250" dirty="0"/>
          </a:p>
        </p:txBody>
      </p:sp>
      <p:sp>
        <p:nvSpPr>
          <p:cNvPr id="11" name="Shape 7"/>
          <p:cNvSpPr/>
          <p:nvPr/>
        </p:nvSpPr>
        <p:spPr>
          <a:xfrm>
            <a:off x="5120640" y="2084832"/>
            <a:ext cx="6293815" cy="10973"/>
          </a:xfrm>
          <a:prstGeom prst="rect">
            <a:avLst/>
          </a:prstGeom>
          <a:solidFill>
            <a:srgbClr val="E6E4E2"/>
          </a:solidFill>
          <a:ln/>
        </p:spPr>
        <p:txBody>
          <a:bodyPr/>
          <a:lstStyle/>
          <a:p>
            <a:endParaRPr lang="en-US"/>
          </a:p>
        </p:txBody>
      </p:sp>
      <p:sp>
        <p:nvSpPr>
          <p:cNvPr id="12" name="Text 8"/>
          <p:cNvSpPr txBox="1"/>
          <p:nvPr/>
        </p:nvSpPr>
        <p:spPr>
          <a:xfrm>
            <a:off x="5120640" y="2240280"/>
            <a:ext cx="6293815" cy="219456"/>
          </a:xfrm>
          <a:prstGeom prst="rect">
            <a:avLst/>
          </a:prstGeom>
          <a:noFill/>
          <a:ln/>
        </p:spPr>
        <p:txBody>
          <a:bodyPr wrap="square" lIns="0" tIns="0" rIns="0" bIns="0" rtlCol="0" anchor="t"/>
          <a:lstStyle/>
          <a:p>
            <a:pPr marL="0" indent="0">
              <a:buNone/>
            </a:pPr>
            <a:r>
              <a:rPr lang="en-US" sz="850" kern="0" spc="140" dirty="0">
                <a:solidFill>
                  <a:srgbClr val="942838"/>
                </a:solidFill>
                <a:latin typeface="Montserrat SemiBold" pitchFamily="34" charset="0"/>
                <a:ea typeface="Montserrat SemiBold" pitchFamily="34" charset="-122"/>
                <a:cs typeface="Montserrat SemiBold" pitchFamily="34" charset="-120"/>
              </a:rPr>
              <a:t>SCHOOL</a:t>
            </a:r>
            <a:endParaRPr lang="en-US" sz="850" dirty="0"/>
          </a:p>
        </p:txBody>
      </p:sp>
      <p:sp>
        <p:nvSpPr>
          <p:cNvPr id="13" name="Text 9"/>
          <p:cNvSpPr txBox="1"/>
          <p:nvPr/>
        </p:nvSpPr>
        <p:spPr>
          <a:xfrm>
            <a:off x="5120640" y="2487168"/>
            <a:ext cx="6293815" cy="475488"/>
          </a:xfrm>
          <a:prstGeom prst="rect">
            <a:avLst/>
          </a:prstGeom>
          <a:noFill/>
          <a:ln/>
        </p:spPr>
        <p:txBody>
          <a:bodyPr wrap="square" lIns="0" tIns="0" rIns="0" bIns="0" rtlCol="0" anchor="t"/>
          <a:lstStyle/>
          <a:p>
            <a:pPr marL="0" indent="0">
              <a:lnSpc>
                <a:spcPct val="120000"/>
              </a:lnSpc>
              <a:buNone/>
            </a:pPr>
            <a:r>
              <a:rPr lang="en-US" sz="1250" dirty="0">
                <a:solidFill>
                  <a:srgbClr val="43464A"/>
                </a:solidFill>
                <a:latin typeface="Montserrat" pitchFamily="34" charset="0"/>
                <a:ea typeface="Montserrat" pitchFamily="34" charset="-122"/>
                <a:cs typeface="Montserrat" pitchFamily="34" charset="-120"/>
              </a:rPr>
              <a:t>Graduated from Houston Christian University with a B.Sc. in Information Systems </a:t>
            </a:r>
            <a:endParaRPr lang="en-US" sz="1250" dirty="0"/>
          </a:p>
        </p:txBody>
      </p:sp>
      <p:sp>
        <p:nvSpPr>
          <p:cNvPr id="14" name="Shape 10"/>
          <p:cNvSpPr/>
          <p:nvPr/>
        </p:nvSpPr>
        <p:spPr>
          <a:xfrm>
            <a:off x="5120640" y="3026664"/>
            <a:ext cx="6293815" cy="10973"/>
          </a:xfrm>
          <a:prstGeom prst="rect">
            <a:avLst/>
          </a:prstGeom>
          <a:solidFill>
            <a:srgbClr val="E6E4E2"/>
          </a:solidFill>
          <a:ln/>
        </p:spPr>
        <p:txBody>
          <a:bodyPr/>
          <a:lstStyle/>
          <a:p>
            <a:endParaRPr lang="en-US"/>
          </a:p>
        </p:txBody>
      </p:sp>
      <p:sp>
        <p:nvSpPr>
          <p:cNvPr id="15" name="Text 11"/>
          <p:cNvSpPr txBox="1"/>
          <p:nvPr/>
        </p:nvSpPr>
        <p:spPr>
          <a:xfrm>
            <a:off x="5120640" y="3182112"/>
            <a:ext cx="6293815" cy="219456"/>
          </a:xfrm>
          <a:prstGeom prst="rect">
            <a:avLst/>
          </a:prstGeom>
          <a:noFill/>
          <a:ln/>
        </p:spPr>
        <p:txBody>
          <a:bodyPr wrap="square" lIns="0" tIns="0" rIns="0" bIns="0" rtlCol="0" anchor="t"/>
          <a:lstStyle/>
          <a:p>
            <a:pPr marL="0" indent="0">
              <a:buNone/>
            </a:pPr>
            <a:r>
              <a:rPr lang="en-US" sz="850" kern="0" spc="140" dirty="0">
                <a:solidFill>
                  <a:srgbClr val="942838"/>
                </a:solidFill>
                <a:latin typeface="Montserrat SemiBold" pitchFamily="34" charset="0"/>
                <a:ea typeface="Montserrat SemiBold" pitchFamily="34" charset="-122"/>
                <a:cs typeface="Montserrat SemiBold" pitchFamily="34" charset="-120"/>
              </a:rPr>
              <a:t>BACKGROUND</a:t>
            </a:r>
            <a:endParaRPr lang="en-US" sz="850" dirty="0"/>
          </a:p>
        </p:txBody>
      </p:sp>
      <p:sp>
        <p:nvSpPr>
          <p:cNvPr id="16" name="Text 12"/>
          <p:cNvSpPr txBox="1"/>
          <p:nvPr/>
        </p:nvSpPr>
        <p:spPr>
          <a:xfrm>
            <a:off x="5120640" y="3429000"/>
            <a:ext cx="6293815" cy="475488"/>
          </a:xfrm>
          <a:prstGeom prst="rect">
            <a:avLst/>
          </a:prstGeom>
          <a:noFill/>
          <a:ln/>
        </p:spPr>
        <p:txBody>
          <a:bodyPr wrap="square" lIns="0" tIns="0" rIns="0" bIns="0" rtlCol="0" anchor="t"/>
          <a:lstStyle/>
          <a:p>
            <a:pPr marL="0" indent="0">
              <a:lnSpc>
                <a:spcPct val="120000"/>
              </a:lnSpc>
              <a:buNone/>
            </a:pPr>
            <a:r>
              <a:rPr lang="en-US" sz="1250" dirty="0">
                <a:solidFill>
                  <a:srgbClr val="43464A"/>
                </a:solidFill>
                <a:latin typeface="Montserrat" pitchFamily="34" charset="0"/>
                <a:ea typeface="Montserrat" pitchFamily="34" charset="-122"/>
                <a:cs typeface="Montserrat" pitchFamily="34" charset="-120"/>
              </a:rPr>
              <a:t>3+ years of IT Support experiences across Higher Ed and Healthcare, with past Threat Intelligence Internship</a:t>
            </a:r>
            <a:endParaRPr lang="en-US" sz="1250" dirty="0"/>
          </a:p>
        </p:txBody>
      </p:sp>
      <p:sp>
        <p:nvSpPr>
          <p:cNvPr id="17" name="Shape 13"/>
          <p:cNvSpPr/>
          <p:nvPr/>
        </p:nvSpPr>
        <p:spPr>
          <a:xfrm>
            <a:off x="5120640" y="3968496"/>
            <a:ext cx="6293815" cy="10973"/>
          </a:xfrm>
          <a:prstGeom prst="rect">
            <a:avLst/>
          </a:prstGeom>
          <a:solidFill>
            <a:srgbClr val="E6E4E2"/>
          </a:solidFill>
          <a:ln/>
        </p:spPr>
        <p:txBody>
          <a:bodyPr/>
          <a:lstStyle/>
          <a:p>
            <a:endParaRPr lang="en-US"/>
          </a:p>
        </p:txBody>
      </p:sp>
      <p:sp>
        <p:nvSpPr>
          <p:cNvPr id="18" name="Text 14"/>
          <p:cNvSpPr txBox="1"/>
          <p:nvPr/>
        </p:nvSpPr>
        <p:spPr>
          <a:xfrm>
            <a:off x="5120640" y="4123944"/>
            <a:ext cx="6293815" cy="219456"/>
          </a:xfrm>
          <a:prstGeom prst="rect">
            <a:avLst/>
          </a:prstGeom>
          <a:noFill/>
          <a:ln/>
        </p:spPr>
        <p:txBody>
          <a:bodyPr wrap="square" lIns="0" tIns="0" rIns="0" bIns="0" rtlCol="0" anchor="t"/>
          <a:lstStyle/>
          <a:p>
            <a:pPr marL="0" indent="0">
              <a:buNone/>
            </a:pPr>
            <a:r>
              <a:rPr lang="en-US" sz="850" kern="0" spc="140" dirty="0">
                <a:solidFill>
                  <a:srgbClr val="942838"/>
                </a:solidFill>
                <a:latin typeface="Montserrat SemiBold" pitchFamily="34" charset="0"/>
                <a:ea typeface="Montserrat SemiBold" pitchFamily="34" charset="-122"/>
                <a:cs typeface="Montserrat SemiBold" pitchFamily="34" charset="-120"/>
              </a:rPr>
              <a:t>CERTIFICATIONS</a:t>
            </a:r>
            <a:endParaRPr lang="en-US" sz="850" dirty="0"/>
          </a:p>
        </p:txBody>
      </p:sp>
      <p:sp>
        <p:nvSpPr>
          <p:cNvPr id="19" name="Text 15"/>
          <p:cNvSpPr txBox="1"/>
          <p:nvPr/>
        </p:nvSpPr>
        <p:spPr>
          <a:xfrm>
            <a:off x="5120640" y="4370832"/>
            <a:ext cx="6293815" cy="475488"/>
          </a:xfrm>
          <a:prstGeom prst="rect">
            <a:avLst/>
          </a:prstGeom>
          <a:noFill/>
          <a:ln/>
        </p:spPr>
        <p:txBody>
          <a:bodyPr wrap="square" lIns="0" tIns="0" rIns="0" bIns="0" rtlCol="0" anchor="t"/>
          <a:lstStyle/>
          <a:p>
            <a:pPr marL="0" indent="0">
              <a:lnSpc>
                <a:spcPct val="120000"/>
              </a:lnSpc>
              <a:buNone/>
            </a:pPr>
            <a:r>
              <a:rPr lang="en-US" sz="1250" dirty="0">
                <a:solidFill>
                  <a:srgbClr val="43464A"/>
                </a:solidFill>
                <a:latin typeface="Montserrat" pitchFamily="34" charset="0"/>
              </a:rPr>
              <a:t>CompTIA Security+ and ISC2 Certified in Cybersecurity </a:t>
            </a:r>
            <a:endParaRPr lang="en-US" sz="1250" dirty="0"/>
          </a:p>
        </p:txBody>
      </p:sp>
      <p:sp>
        <p:nvSpPr>
          <p:cNvPr id="20" name="Shape 16"/>
          <p:cNvSpPr/>
          <p:nvPr/>
        </p:nvSpPr>
        <p:spPr>
          <a:xfrm>
            <a:off x="5120640" y="4910328"/>
            <a:ext cx="6293815" cy="10973"/>
          </a:xfrm>
          <a:prstGeom prst="rect">
            <a:avLst/>
          </a:prstGeom>
          <a:solidFill>
            <a:srgbClr val="E6E4E2"/>
          </a:solidFill>
          <a:ln/>
        </p:spPr>
        <p:txBody>
          <a:bodyPr/>
          <a:lstStyle/>
          <a:p>
            <a:endParaRPr lang="en-US"/>
          </a:p>
        </p:txBody>
      </p:sp>
      <p:sp>
        <p:nvSpPr>
          <p:cNvPr id="21" name="Text 17"/>
          <p:cNvSpPr txBox="1"/>
          <p:nvPr/>
        </p:nvSpPr>
        <p:spPr>
          <a:xfrm>
            <a:off x="5120640" y="5065776"/>
            <a:ext cx="6293815" cy="219456"/>
          </a:xfrm>
          <a:prstGeom prst="rect">
            <a:avLst/>
          </a:prstGeom>
          <a:noFill/>
          <a:ln/>
        </p:spPr>
        <p:txBody>
          <a:bodyPr wrap="square" lIns="0" tIns="0" rIns="0" bIns="0" rtlCol="0" anchor="t"/>
          <a:lstStyle/>
          <a:p>
            <a:pPr marL="0" indent="0">
              <a:buNone/>
            </a:pPr>
            <a:r>
              <a:rPr lang="en-US" sz="850" kern="0" spc="140" dirty="0">
                <a:solidFill>
                  <a:srgbClr val="942838"/>
                </a:solidFill>
                <a:latin typeface="Montserrat SemiBold" pitchFamily="34" charset="0"/>
                <a:ea typeface="Montserrat SemiBold" pitchFamily="34" charset="-122"/>
                <a:cs typeface="Montserrat SemiBold" pitchFamily="34" charset="-120"/>
              </a:rPr>
              <a:t>CAREER DIRECTION</a:t>
            </a:r>
            <a:endParaRPr lang="en-US" sz="850" dirty="0"/>
          </a:p>
        </p:txBody>
      </p:sp>
      <p:sp>
        <p:nvSpPr>
          <p:cNvPr id="22" name="Text 18"/>
          <p:cNvSpPr txBox="1"/>
          <p:nvPr/>
        </p:nvSpPr>
        <p:spPr>
          <a:xfrm>
            <a:off x="5120640" y="5312664"/>
            <a:ext cx="6293815" cy="475488"/>
          </a:xfrm>
          <a:prstGeom prst="rect">
            <a:avLst/>
          </a:prstGeom>
          <a:noFill/>
          <a:ln/>
        </p:spPr>
        <p:txBody>
          <a:bodyPr wrap="square" lIns="0" tIns="0" rIns="0" bIns="0" rtlCol="0" anchor="t"/>
          <a:lstStyle/>
          <a:p>
            <a:pPr marL="0" indent="0">
              <a:lnSpc>
                <a:spcPct val="120000"/>
              </a:lnSpc>
              <a:buNone/>
            </a:pPr>
            <a:r>
              <a:rPr lang="en-US" sz="1250" dirty="0">
                <a:solidFill>
                  <a:srgbClr val="43464A"/>
                </a:solidFill>
                <a:latin typeface="Montserrat" pitchFamily="34" charset="0"/>
              </a:rPr>
              <a:t>Leaning towards the Vulnerability management side of cybersecurity with a focus on tool automation</a:t>
            </a:r>
            <a:endParaRPr lang="en-US" sz="1250" dirty="0"/>
          </a:p>
        </p:txBody>
      </p:sp>
      <p:pic>
        <p:nvPicPr>
          <p:cNvPr id="23" name="Image 2" descr="/home/user/ai/assets/gen/logo-red.png"/>
          <p:cNvPicPr>
            <a:picLocks noChangeAspect="1"/>
          </p:cNvPicPr>
          <p:nvPr/>
        </p:nvPicPr>
        <p:blipFill>
          <a:blip r:embed="rId5"/>
          <a:stretch>
            <a:fillRect/>
          </a:stretch>
        </p:blipFill>
        <p:spPr>
          <a:xfrm>
            <a:off x="9768535" y="457200"/>
            <a:ext cx="1645920" cy="166053"/>
          </a:xfrm>
          <a:prstGeom prst="rect">
            <a:avLst/>
          </a:prstGeom>
        </p:spPr>
      </p:pic>
      <p:sp>
        <p:nvSpPr>
          <p:cNvPr id="24" name="Shape 19"/>
          <p:cNvSpPr/>
          <p:nvPr/>
        </p:nvSpPr>
        <p:spPr>
          <a:xfrm>
            <a:off x="5120640" y="6181344"/>
            <a:ext cx="6293815" cy="10973"/>
          </a:xfrm>
          <a:prstGeom prst="rect">
            <a:avLst/>
          </a:prstGeom>
          <a:solidFill>
            <a:srgbClr val="E6E4E2"/>
          </a:solidFill>
          <a:ln/>
        </p:spPr>
        <p:txBody>
          <a:bodyPr/>
          <a:lstStyle/>
          <a:p>
            <a:endParaRPr lang="en-US"/>
          </a:p>
        </p:txBody>
      </p:sp>
      <p:sp>
        <p:nvSpPr>
          <p:cNvPr id="25" name="Text 20"/>
          <p:cNvSpPr txBox="1"/>
          <p:nvPr/>
        </p:nvSpPr>
        <p:spPr>
          <a:xfrm>
            <a:off x="5120640" y="6327648"/>
            <a:ext cx="7315200" cy="201168"/>
          </a:xfrm>
          <a:prstGeom prst="rect">
            <a:avLst/>
          </a:prstGeom>
          <a:noFill/>
          <a:ln/>
        </p:spPr>
        <p:txBody>
          <a:bodyPr wrap="square" lIns="0" tIns="0" rIns="0" bIns="0" rtlCol="0" anchor="t"/>
          <a:lstStyle/>
          <a:p>
            <a:pPr marL="0" indent="0">
              <a:buNone/>
            </a:pPr>
            <a:r>
              <a:rPr lang="en-US" sz="850" kern="0" spc="140" dirty="0">
                <a:solidFill>
                  <a:srgbClr val="6E7175"/>
                </a:solidFill>
                <a:latin typeface="Montserrat SemiBold" pitchFamily="34" charset="0"/>
                <a:ea typeface="Montserrat SemiBold" pitchFamily="34" charset="-122"/>
                <a:cs typeface="Montserrat SemiBold" pitchFamily="34" charset="-120"/>
              </a:rPr>
              <a:t>ABOUT ME</a:t>
            </a:r>
            <a:endParaRPr lang="en-US" sz="850" dirty="0"/>
          </a:p>
        </p:txBody>
      </p:sp>
      <p:sp>
        <p:nvSpPr>
          <p:cNvPr id="26" name="Text 21"/>
          <p:cNvSpPr txBox="1"/>
          <p:nvPr/>
        </p:nvSpPr>
        <p:spPr>
          <a:xfrm>
            <a:off x="10317175" y="6327648"/>
            <a:ext cx="1097280" cy="201168"/>
          </a:xfrm>
          <a:prstGeom prst="rect">
            <a:avLst/>
          </a:prstGeom>
          <a:noFill/>
          <a:ln/>
        </p:spPr>
        <p:txBody>
          <a:bodyPr wrap="square" lIns="0" tIns="0" rIns="0" bIns="0" rtlCol="0" anchor="t"/>
          <a:lstStyle/>
          <a:p>
            <a:pPr marL="0" indent="0" algn="r">
              <a:buNone/>
            </a:pPr>
            <a:r>
              <a:rPr lang="en-US" sz="850" kern="0" spc="140" dirty="0">
                <a:solidFill>
                  <a:srgbClr val="6E7175"/>
                </a:solidFill>
                <a:latin typeface="Montserrat SemiBold" pitchFamily="34" charset="0"/>
                <a:ea typeface="Montserrat SemiBold" pitchFamily="34" charset="-122"/>
                <a:cs typeface="Montserrat SemiBold" pitchFamily="34" charset="-120"/>
              </a:rPr>
              <a:t>03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pic>
        <p:nvPicPr>
          <p:cNvPr id="2" name="Image 0" descr="/home/user/ai/assets/gen/logo-red.png"/>
          <p:cNvPicPr>
            <a:picLocks noChangeAspect="1"/>
          </p:cNvPicPr>
          <p:nvPr/>
        </p:nvPicPr>
        <p:blipFill>
          <a:blip r:embed="rId3"/>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marL="0" indent="0">
              <a:buNone/>
            </a:pPr>
            <a:r>
              <a:rPr lang="en-US" sz="1000" kern="0" spc="220" dirty="0">
                <a:solidFill>
                  <a:srgbClr val="942838"/>
                </a:solidFill>
                <a:latin typeface="Montserrat SemiBold" pitchFamily="34" charset="0"/>
                <a:ea typeface="Montserrat SemiBold" pitchFamily="34" charset="-122"/>
                <a:cs typeface="Montserrat SemiBold" pitchFamily="34" charset="-120"/>
              </a:rPr>
              <a:t>INTERNSHIP OVERVIEW</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marL="0" indent="0">
              <a:lnSpc>
                <a:spcPct val="98000"/>
              </a:lnSpc>
              <a:buNone/>
            </a:pPr>
            <a:r>
              <a:rPr lang="en-US" sz="2900" kern="0" spc="-50" dirty="0">
                <a:solidFill>
                  <a:srgbClr val="2B2D30"/>
                </a:solidFill>
                <a:latin typeface="Montserrat ExtraBold" pitchFamily="34" charset="0"/>
                <a:ea typeface="Montserrat ExtraBold" pitchFamily="34" charset="-122"/>
                <a:cs typeface="Montserrat ExtraBold" pitchFamily="34" charset="-120"/>
              </a:rPr>
              <a:t>Three rotations across the security team</a:t>
            </a:r>
            <a:endParaRPr lang="en-US" sz="2900" dirty="0"/>
          </a:p>
        </p:txBody>
      </p:sp>
      <p:sp>
        <p:nvSpPr>
          <p:cNvPr id="5" name="Shape 2"/>
          <p:cNvSpPr/>
          <p:nvPr/>
        </p:nvSpPr>
        <p:spPr>
          <a:xfrm>
            <a:off x="777240" y="1700784"/>
            <a:ext cx="566928" cy="50292"/>
          </a:xfrm>
          <a:prstGeom prst="rect">
            <a:avLst/>
          </a:prstGeom>
          <a:solidFill>
            <a:srgbClr val="942838"/>
          </a:solidFill>
          <a:ln/>
        </p:spPr>
        <p:txBody>
          <a:bodyPr/>
          <a:lstStyle/>
          <a:p>
            <a:endParaRPr lang="en-US"/>
          </a:p>
        </p:txBody>
      </p:sp>
      <p:sp>
        <p:nvSpPr>
          <p:cNvPr id="6" name="Shape 3"/>
          <p:cNvSpPr/>
          <p:nvPr/>
        </p:nvSpPr>
        <p:spPr>
          <a:xfrm>
            <a:off x="777240" y="6181344"/>
            <a:ext cx="10637215" cy="10973"/>
          </a:xfrm>
          <a:prstGeom prst="rect">
            <a:avLst/>
          </a:prstGeom>
          <a:solidFill>
            <a:srgbClr val="E6E4E2"/>
          </a:solidFill>
          <a:ln/>
        </p:spPr>
        <p:txBody>
          <a:bodyPr/>
          <a:lstStyle/>
          <a:p>
            <a:endParaRPr lang="en-US"/>
          </a:p>
        </p:txBody>
      </p:sp>
      <p:sp>
        <p:nvSpPr>
          <p:cNvPr id="7" name="Text 4"/>
          <p:cNvSpPr txBox="1"/>
          <p:nvPr/>
        </p:nvSpPr>
        <p:spPr>
          <a:xfrm>
            <a:off x="777240" y="6327648"/>
            <a:ext cx="7315200" cy="201168"/>
          </a:xfrm>
          <a:prstGeom prst="rect">
            <a:avLst/>
          </a:prstGeom>
          <a:noFill/>
          <a:ln/>
        </p:spPr>
        <p:txBody>
          <a:bodyPr wrap="square" lIns="0" tIns="0" rIns="0" bIns="0" rtlCol="0" anchor="t"/>
          <a:lstStyle/>
          <a:p>
            <a:pPr marL="0" indent="0">
              <a:buNone/>
            </a:pPr>
            <a:r>
              <a:rPr lang="en-US" sz="850" kern="0" spc="140" dirty="0">
                <a:solidFill>
                  <a:srgbClr val="6E7175"/>
                </a:solidFill>
                <a:latin typeface="Montserrat SemiBold" pitchFamily="34" charset="0"/>
                <a:ea typeface="Montserrat SemiBold" pitchFamily="34" charset="-122"/>
                <a:cs typeface="Montserrat SemiBold" pitchFamily="34" charset="-120"/>
              </a:rPr>
              <a:t>INTERNSHIP OVERVIEW</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marL="0" indent="0" algn="r">
              <a:buNone/>
            </a:pPr>
            <a:r>
              <a:rPr lang="en-US" sz="850" kern="0" spc="140" dirty="0">
                <a:solidFill>
                  <a:srgbClr val="6E7175"/>
                </a:solidFill>
                <a:latin typeface="Montserrat SemiBold" pitchFamily="34" charset="0"/>
                <a:ea typeface="Montserrat SemiBold" pitchFamily="34" charset="-122"/>
                <a:cs typeface="Montserrat SemiBold" pitchFamily="34" charset="-120"/>
              </a:rPr>
              <a:t>04</a:t>
            </a:r>
            <a:endParaRPr lang="en-US" sz="850" dirty="0"/>
          </a:p>
        </p:txBody>
      </p:sp>
      <p:sp>
        <p:nvSpPr>
          <p:cNvPr id="9" name="Text 6"/>
          <p:cNvSpPr txBox="1"/>
          <p:nvPr/>
        </p:nvSpPr>
        <p:spPr>
          <a:xfrm>
            <a:off x="777240" y="1883664"/>
            <a:ext cx="9052560" cy="310896"/>
          </a:xfrm>
          <a:prstGeom prst="rect">
            <a:avLst/>
          </a:prstGeom>
          <a:noFill/>
          <a:ln/>
        </p:spPr>
        <p:txBody>
          <a:bodyPr wrap="square" lIns="0" tIns="0" rIns="0" bIns="0" rtlCol="0" anchor="t"/>
          <a:lstStyle/>
          <a:p>
            <a:pPr marL="0" indent="0">
              <a:buNone/>
            </a:pPr>
            <a:r>
              <a:rPr lang="en-US" sz="1400" dirty="0">
                <a:solidFill>
                  <a:srgbClr val="6E7175"/>
                </a:solidFill>
                <a:latin typeface="Montserrat Medium" pitchFamily="34" charset="0"/>
                <a:ea typeface="Montserrat Medium" pitchFamily="34" charset="-122"/>
                <a:cs typeface="Montserrat Medium" pitchFamily="34" charset="-120"/>
              </a:rPr>
              <a:t>I moved through three different areas of Information Security. Each rotation produced one project.</a:t>
            </a:r>
            <a:endParaRPr lang="en-US" sz="1400" dirty="0"/>
          </a:p>
        </p:txBody>
      </p:sp>
      <p:sp>
        <p:nvSpPr>
          <p:cNvPr id="10" name="Shape 7"/>
          <p:cNvSpPr/>
          <p:nvPr/>
        </p:nvSpPr>
        <p:spPr>
          <a:xfrm>
            <a:off x="777240" y="2852928"/>
            <a:ext cx="10637215" cy="10973"/>
          </a:xfrm>
          <a:prstGeom prst="rect">
            <a:avLst/>
          </a:prstGeom>
          <a:solidFill>
            <a:srgbClr val="C9C6C4"/>
          </a:solidFill>
          <a:ln/>
        </p:spPr>
        <p:txBody>
          <a:bodyPr/>
          <a:lstStyle/>
          <a:p>
            <a:endParaRPr lang="en-US"/>
          </a:p>
        </p:txBody>
      </p:sp>
      <p:sp>
        <p:nvSpPr>
          <p:cNvPr id="11" name="Shape 8"/>
          <p:cNvSpPr/>
          <p:nvPr/>
        </p:nvSpPr>
        <p:spPr>
          <a:xfrm>
            <a:off x="1033272" y="2756916"/>
            <a:ext cx="201168" cy="201168"/>
          </a:xfrm>
          <a:prstGeom prst="ellipse">
            <a:avLst/>
          </a:prstGeom>
          <a:solidFill>
            <a:srgbClr val="942838"/>
          </a:solidFill>
          <a:ln w="25400">
            <a:solidFill>
              <a:srgbClr val="FFFFFF"/>
            </a:solidFill>
            <a:prstDash val="solid"/>
          </a:ln>
        </p:spPr>
        <p:txBody>
          <a:bodyPr/>
          <a:lstStyle/>
          <a:p>
            <a:endParaRPr lang="en-US"/>
          </a:p>
        </p:txBody>
      </p:sp>
      <p:sp>
        <p:nvSpPr>
          <p:cNvPr id="12" name="Shape 9"/>
          <p:cNvSpPr/>
          <p:nvPr/>
        </p:nvSpPr>
        <p:spPr>
          <a:xfrm>
            <a:off x="777240" y="3310128"/>
            <a:ext cx="3310128" cy="2286000"/>
          </a:xfrm>
          <a:prstGeom prst="roundRect">
            <a:avLst>
              <a:gd name="adj" fmla="val 2400"/>
            </a:avLst>
          </a:prstGeom>
          <a:solidFill>
            <a:srgbClr val="FFFFFF"/>
          </a:solidFill>
          <a:ln w="9525">
            <a:solidFill>
              <a:srgbClr val="E6E4E2"/>
            </a:solidFill>
            <a:prstDash val="solid"/>
          </a:ln>
          <a:effectLst>
            <a:outerShdw blurRad="177800" dist="44450" dir="5400000" algn="bl" rotWithShape="0">
              <a:srgbClr val="959092">
                <a:alpha val="22000"/>
              </a:srgbClr>
            </a:outerShdw>
          </a:effectLst>
        </p:spPr>
        <p:txBody>
          <a:bodyPr/>
          <a:lstStyle/>
          <a:p>
            <a:endParaRPr lang="en-US"/>
          </a:p>
        </p:txBody>
      </p:sp>
      <p:sp>
        <p:nvSpPr>
          <p:cNvPr id="13" name="Shape 10"/>
          <p:cNvSpPr/>
          <p:nvPr/>
        </p:nvSpPr>
        <p:spPr>
          <a:xfrm>
            <a:off x="777240" y="3310128"/>
            <a:ext cx="3310128" cy="50292"/>
          </a:xfrm>
          <a:prstGeom prst="rect">
            <a:avLst/>
          </a:prstGeom>
          <a:solidFill>
            <a:srgbClr val="942838"/>
          </a:solidFill>
          <a:ln/>
        </p:spPr>
        <p:txBody>
          <a:bodyPr/>
          <a:lstStyle/>
          <a:p>
            <a:endParaRPr lang="en-US"/>
          </a:p>
        </p:txBody>
      </p:sp>
      <p:sp>
        <p:nvSpPr>
          <p:cNvPr id="14" name="Text 11"/>
          <p:cNvSpPr txBox="1"/>
          <p:nvPr/>
        </p:nvSpPr>
        <p:spPr>
          <a:xfrm>
            <a:off x="1088136" y="3566160"/>
            <a:ext cx="914400" cy="384048"/>
          </a:xfrm>
          <a:prstGeom prst="rect">
            <a:avLst/>
          </a:prstGeom>
          <a:noFill/>
          <a:ln/>
        </p:spPr>
        <p:txBody>
          <a:bodyPr wrap="square" lIns="0" tIns="0" rIns="0" bIns="0" rtlCol="0" anchor="t"/>
          <a:lstStyle/>
          <a:p>
            <a:pPr marL="0" indent="0">
              <a:buNone/>
            </a:pPr>
            <a:r>
              <a:rPr lang="en-US" sz="2400" kern="0" spc="-50" dirty="0">
                <a:solidFill>
                  <a:srgbClr val="DFBEC4"/>
                </a:solidFill>
                <a:latin typeface="Montserrat ExtraBold" pitchFamily="34" charset="0"/>
                <a:ea typeface="Montserrat ExtraBold" pitchFamily="34" charset="-122"/>
                <a:cs typeface="Montserrat ExtraBold" pitchFamily="34" charset="-120"/>
              </a:rPr>
              <a:t>01</a:t>
            </a:r>
            <a:endParaRPr lang="en-US" sz="2400" dirty="0"/>
          </a:p>
        </p:txBody>
      </p:sp>
      <p:sp>
        <p:nvSpPr>
          <p:cNvPr id="15" name="Text 12"/>
          <p:cNvSpPr txBox="1"/>
          <p:nvPr/>
        </p:nvSpPr>
        <p:spPr>
          <a:xfrm>
            <a:off x="1088136" y="4041648"/>
            <a:ext cx="2688336" cy="329184"/>
          </a:xfrm>
          <a:prstGeom prst="rect">
            <a:avLst/>
          </a:prstGeom>
          <a:noFill/>
          <a:ln/>
        </p:spPr>
        <p:txBody>
          <a:bodyPr wrap="square" lIns="0" tIns="0" rIns="0" bIns="0" rtlCol="0" anchor="t"/>
          <a:lstStyle/>
          <a:p>
            <a:pPr marL="0" indent="0">
              <a:lnSpc>
                <a:spcPct val="105000"/>
              </a:lnSpc>
              <a:buNone/>
            </a:pPr>
            <a:r>
              <a:rPr lang="en-US" sz="1500" dirty="0">
                <a:solidFill>
                  <a:srgbClr val="2B2D30"/>
                </a:solidFill>
                <a:latin typeface="Montserrat SemiBold" pitchFamily="34" charset="0"/>
                <a:ea typeface="Montserrat SemiBold" pitchFamily="34" charset="-122"/>
                <a:cs typeface="Montserrat SemiBold" pitchFamily="34" charset="-120"/>
              </a:rPr>
              <a:t>Vulnerability Management</a:t>
            </a:r>
            <a:endParaRPr lang="en-US" sz="1500" dirty="0"/>
          </a:p>
        </p:txBody>
      </p:sp>
      <p:sp>
        <p:nvSpPr>
          <p:cNvPr id="16" name="Text 13"/>
          <p:cNvSpPr txBox="1"/>
          <p:nvPr/>
        </p:nvSpPr>
        <p:spPr>
          <a:xfrm>
            <a:off x="1088136" y="4462272"/>
            <a:ext cx="2688336" cy="777240"/>
          </a:xfrm>
          <a:prstGeom prst="rect">
            <a:avLst/>
          </a:prstGeom>
          <a:noFill/>
          <a:ln/>
        </p:spPr>
        <p:txBody>
          <a:bodyPr wrap="square" lIns="0" tIns="0" rIns="0" bIns="0" rtlCol="0" anchor="t"/>
          <a:lstStyle/>
          <a:p>
            <a:pPr marL="0" indent="0">
              <a:lnSpc>
                <a:spcPct val="122000"/>
              </a:lnSpc>
              <a:buNone/>
            </a:pPr>
            <a:r>
              <a:rPr lang="en-US" sz="1100" dirty="0">
                <a:solidFill>
                  <a:srgbClr val="6E7175"/>
                </a:solidFill>
                <a:latin typeface="Montserrat" pitchFamily="34" charset="0"/>
                <a:ea typeface="Montserrat" pitchFamily="34" charset="-122"/>
                <a:cs typeface="Montserrat" pitchFamily="34" charset="-120"/>
              </a:rPr>
              <a:t>Finding known weaknesses across company machines and making sure they get fixed.</a:t>
            </a:r>
            <a:endParaRPr lang="en-US" sz="1100" dirty="0"/>
          </a:p>
        </p:txBody>
      </p:sp>
      <p:sp>
        <p:nvSpPr>
          <p:cNvPr id="17" name="Shape 14"/>
          <p:cNvSpPr/>
          <p:nvPr/>
        </p:nvSpPr>
        <p:spPr>
          <a:xfrm>
            <a:off x="4696816" y="2756916"/>
            <a:ext cx="201168" cy="201168"/>
          </a:xfrm>
          <a:prstGeom prst="ellipse">
            <a:avLst/>
          </a:prstGeom>
          <a:solidFill>
            <a:srgbClr val="942838"/>
          </a:solidFill>
          <a:ln w="25400">
            <a:solidFill>
              <a:srgbClr val="FFFFFF"/>
            </a:solidFill>
            <a:prstDash val="solid"/>
          </a:ln>
        </p:spPr>
        <p:txBody>
          <a:bodyPr/>
          <a:lstStyle/>
          <a:p>
            <a:endParaRPr lang="en-US"/>
          </a:p>
        </p:txBody>
      </p:sp>
      <p:sp>
        <p:nvSpPr>
          <p:cNvPr id="18" name="Shape 15"/>
          <p:cNvSpPr/>
          <p:nvPr/>
        </p:nvSpPr>
        <p:spPr>
          <a:xfrm>
            <a:off x="4440784" y="3310128"/>
            <a:ext cx="3310128" cy="2286000"/>
          </a:xfrm>
          <a:prstGeom prst="roundRect">
            <a:avLst>
              <a:gd name="adj" fmla="val 2400"/>
            </a:avLst>
          </a:prstGeom>
          <a:solidFill>
            <a:srgbClr val="FFFFFF"/>
          </a:solidFill>
          <a:ln w="9525">
            <a:solidFill>
              <a:srgbClr val="E6E4E2"/>
            </a:solidFill>
            <a:prstDash val="solid"/>
          </a:ln>
          <a:effectLst>
            <a:outerShdw dist="564515000" algn="bl" rotWithShape="0">
              <a:srgbClr val="959092">
                <a:alpha val="0"/>
              </a:srgbClr>
            </a:outerShdw>
          </a:effectLst>
        </p:spPr>
        <p:txBody>
          <a:bodyPr/>
          <a:lstStyle/>
          <a:p>
            <a:endParaRPr lang="en-US"/>
          </a:p>
        </p:txBody>
      </p:sp>
      <p:sp>
        <p:nvSpPr>
          <p:cNvPr id="19" name="Shape 16"/>
          <p:cNvSpPr/>
          <p:nvPr/>
        </p:nvSpPr>
        <p:spPr>
          <a:xfrm>
            <a:off x="4440784" y="3310128"/>
            <a:ext cx="3310128" cy="50292"/>
          </a:xfrm>
          <a:prstGeom prst="rect">
            <a:avLst/>
          </a:prstGeom>
          <a:solidFill>
            <a:srgbClr val="942838"/>
          </a:solidFill>
          <a:ln/>
        </p:spPr>
        <p:txBody>
          <a:bodyPr/>
          <a:lstStyle/>
          <a:p>
            <a:endParaRPr lang="en-US"/>
          </a:p>
        </p:txBody>
      </p:sp>
      <p:sp>
        <p:nvSpPr>
          <p:cNvPr id="20" name="Text 17"/>
          <p:cNvSpPr txBox="1"/>
          <p:nvPr/>
        </p:nvSpPr>
        <p:spPr>
          <a:xfrm>
            <a:off x="4751680" y="3566160"/>
            <a:ext cx="914400" cy="384048"/>
          </a:xfrm>
          <a:prstGeom prst="rect">
            <a:avLst/>
          </a:prstGeom>
          <a:noFill/>
          <a:ln/>
        </p:spPr>
        <p:txBody>
          <a:bodyPr wrap="square" lIns="0" tIns="0" rIns="0" bIns="0" rtlCol="0" anchor="t"/>
          <a:lstStyle/>
          <a:p>
            <a:pPr marL="0" indent="0">
              <a:buNone/>
            </a:pPr>
            <a:r>
              <a:rPr lang="en-US" sz="2400" kern="0" spc="-50" dirty="0">
                <a:solidFill>
                  <a:srgbClr val="DFBEC4"/>
                </a:solidFill>
                <a:latin typeface="Montserrat ExtraBold" pitchFamily="34" charset="0"/>
                <a:ea typeface="Montserrat ExtraBold" pitchFamily="34" charset="-122"/>
                <a:cs typeface="Montserrat ExtraBold" pitchFamily="34" charset="-120"/>
              </a:rPr>
              <a:t>02</a:t>
            </a:r>
            <a:endParaRPr lang="en-US" sz="2400" dirty="0"/>
          </a:p>
        </p:txBody>
      </p:sp>
      <p:sp>
        <p:nvSpPr>
          <p:cNvPr id="21" name="Text 18"/>
          <p:cNvSpPr txBox="1"/>
          <p:nvPr/>
        </p:nvSpPr>
        <p:spPr>
          <a:xfrm>
            <a:off x="4751680" y="4041648"/>
            <a:ext cx="2688336" cy="329184"/>
          </a:xfrm>
          <a:prstGeom prst="rect">
            <a:avLst/>
          </a:prstGeom>
          <a:noFill/>
          <a:ln/>
        </p:spPr>
        <p:txBody>
          <a:bodyPr wrap="square" lIns="0" tIns="0" rIns="0" bIns="0" rtlCol="0" anchor="t"/>
          <a:lstStyle/>
          <a:p>
            <a:pPr marL="0" indent="0">
              <a:lnSpc>
                <a:spcPct val="105000"/>
              </a:lnSpc>
              <a:buNone/>
            </a:pPr>
            <a:r>
              <a:rPr lang="en-US" sz="1500" dirty="0">
                <a:solidFill>
                  <a:srgbClr val="2B2D30"/>
                </a:solidFill>
                <a:latin typeface="Montserrat SemiBold" pitchFamily="34" charset="0"/>
                <a:ea typeface="Montserrat SemiBold" pitchFamily="34" charset="-122"/>
                <a:cs typeface="Montserrat SemiBold" pitchFamily="34" charset="-120"/>
              </a:rPr>
              <a:t>Application Security</a:t>
            </a:r>
            <a:endParaRPr lang="en-US" sz="1500" dirty="0"/>
          </a:p>
        </p:txBody>
      </p:sp>
      <p:sp>
        <p:nvSpPr>
          <p:cNvPr id="22" name="Text 19"/>
          <p:cNvSpPr txBox="1"/>
          <p:nvPr/>
        </p:nvSpPr>
        <p:spPr>
          <a:xfrm>
            <a:off x="4751680" y="4462272"/>
            <a:ext cx="2688336" cy="777240"/>
          </a:xfrm>
          <a:prstGeom prst="rect">
            <a:avLst/>
          </a:prstGeom>
          <a:noFill/>
          <a:ln/>
        </p:spPr>
        <p:txBody>
          <a:bodyPr wrap="square" lIns="0" tIns="0" rIns="0" bIns="0" rtlCol="0" anchor="t"/>
          <a:lstStyle/>
          <a:p>
            <a:pPr marL="0" indent="0">
              <a:lnSpc>
                <a:spcPct val="122000"/>
              </a:lnSpc>
              <a:buNone/>
            </a:pPr>
            <a:r>
              <a:rPr lang="en-US" sz="1100" dirty="0">
                <a:solidFill>
                  <a:srgbClr val="6E7175"/>
                </a:solidFill>
                <a:latin typeface="Montserrat" pitchFamily="34" charset="0"/>
                <a:ea typeface="Montserrat" pitchFamily="34" charset="-122"/>
                <a:cs typeface="Montserrat" pitchFamily="34" charset="-120"/>
              </a:rPr>
              <a:t>Checking the software, we build and the outside code we rely on for weaknesses.</a:t>
            </a:r>
            <a:endParaRPr lang="en-US" sz="1100" dirty="0"/>
          </a:p>
        </p:txBody>
      </p:sp>
      <p:sp>
        <p:nvSpPr>
          <p:cNvPr id="23" name="Shape 20"/>
          <p:cNvSpPr/>
          <p:nvPr/>
        </p:nvSpPr>
        <p:spPr>
          <a:xfrm>
            <a:off x="8360359" y="2756916"/>
            <a:ext cx="201168" cy="201168"/>
          </a:xfrm>
          <a:prstGeom prst="ellipse">
            <a:avLst/>
          </a:prstGeom>
          <a:solidFill>
            <a:srgbClr val="942838"/>
          </a:solidFill>
          <a:ln w="25400">
            <a:solidFill>
              <a:srgbClr val="FFFFFF"/>
            </a:solidFill>
            <a:prstDash val="solid"/>
          </a:ln>
        </p:spPr>
        <p:txBody>
          <a:bodyPr/>
          <a:lstStyle/>
          <a:p>
            <a:endParaRPr lang="en-US"/>
          </a:p>
        </p:txBody>
      </p:sp>
      <p:sp>
        <p:nvSpPr>
          <p:cNvPr id="24" name="Shape 21"/>
          <p:cNvSpPr/>
          <p:nvPr/>
        </p:nvSpPr>
        <p:spPr>
          <a:xfrm>
            <a:off x="8104327" y="3310128"/>
            <a:ext cx="3310128" cy="2286000"/>
          </a:xfrm>
          <a:prstGeom prst="roundRect">
            <a:avLst>
              <a:gd name="adj" fmla="val 2400"/>
            </a:avLst>
          </a:prstGeom>
          <a:solidFill>
            <a:srgbClr val="FFFFFF"/>
          </a:solidFill>
          <a:ln w="9525">
            <a:solidFill>
              <a:srgbClr val="E6E4E2"/>
            </a:solidFill>
            <a:prstDash val="solid"/>
          </a:ln>
          <a:effectLst>
            <a:outerShdw algn="bl" rotWithShape="0">
              <a:srgbClr val="959092">
                <a:alpha val="0"/>
              </a:srgbClr>
            </a:outerShdw>
          </a:effectLst>
        </p:spPr>
        <p:txBody>
          <a:bodyPr/>
          <a:lstStyle/>
          <a:p>
            <a:endParaRPr lang="en-US"/>
          </a:p>
        </p:txBody>
      </p:sp>
      <p:sp>
        <p:nvSpPr>
          <p:cNvPr id="25" name="Shape 22"/>
          <p:cNvSpPr/>
          <p:nvPr/>
        </p:nvSpPr>
        <p:spPr>
          <a:xfrm>
            <a:off x="8104327" y="3310128"/>
            <a:ext cx="3310128" cy="50292"/>
          </a:xfrm>
          <a:prstGeom prst="rect">
            <a:avLst/>
          </a:prstGeom>
          <a:solidFill>
            <a:srgbClr val="942838"/>
          </a:solidFill>
          <a:ln/>
        </p:spPr>
        <p:txBody>
          <a:bodyPr/>
          <a:lstStyle/>
          <a:p>
            <a:endParaRPr lang="en-US"/>
          </a:p>
        </p:txBody>
      </p:sp>
      <p:sp>
        <p:nvSpPr>
          <p:cNvPr id="26" name="Text 23"/>
          <p:cNvSpPr txBox="1"/>
          <p:nvPr/>
        </p:nvSpPr>
        <p:spPr>
          <a:xfrm>
            <a:off x="8415223" y="3566160"/>
            <a:ext cx="914400" cy="384048"/>
          </a:xfrm>
          <a:prstGeom prst="rect">
            <a:avLst/>
          </a:prstGeom>
          <a:noFill/>
          <a:ln/>
        </p:spPr>
        <p:txBody>
          <a:bodyPr wrap="square" lIns="0" tIns="0" rIns="0" bIns="0" rtlCol="0" anchor="t"/>
          <a:lstStyle/>
          <a:p>
            <a:pPr marL="0" indent="0">
              <a:buNone/>
            </a:pPr>
            <a:r>
              <a:rPr lang="en-US" sz="2400" kern="0" spc="-50" dirty="0">
                <a:solidFill>
                  <a:srgbClr val="DFBEC4"/>
                </a:solidFill>
                <a:latin typeface="Montserrat ExtraBold" pitchFamily="34" charset="0"/>
                <a:ea typeface="Montserrat ExtraBold" pitchFamily="34" charset="-122"/>
                <a:cs typeface="Montserrat ExtraBold" pitchFamily="34" charset="-120"/>
              </a:rPr>
              <a:t>03</a:t>
            </a:r>
            <a:endParaRPr lang="en-US" sz="2400" dirty="0"/>
          </a:p>
        </p:txBody>
      </p:sp>
      <p:sp>
        <p:nvSpPr>
          <p:cNvPr id="27" name="Text 24"/>
          <p:cNvSpPr txBox="1"/>
          <p:nvPr/>
        </p:nvSpPr>
        <p:spPr>
          <a:xfrm>
            <a:off x="8415223" y="4041648"/>
            <a:ext cx="2688336" cy="329184"/>
          </a:xfrm>
          <a:prstGeom prst="rect">
            <a:avLst/>
          </a:prstGeom>
          <a:noFill/>
          <a:ln/>
        </p:spPr>
        <p:txBody>
          <a:bodyPr wrap="square" lIns="0" tIns="0" rIns="0" bIns="0" rtlCol="0" anchor="t"/>
          <a:lstStyle/>
          <a:p>
            <a:pPr marL="0" indent="0">
              <a:lnSpc>
                <a:spcPct val="105000"/>
              </a:lnSpc>
              <a:buNone/>
            </a:pPr>
            <a:r>
              <a:rPr lang="en-US" sz="1500" dirty="0">
                <a:solidFill>
                  <a:srgbClr val="2B2D30"/>
                </a:solidFill>
                <a:latin typeface="Montserrat SemiBold" pitchFamily="34" charset="0"/>
                <a:ea typeface="Montserrat SemiBold" pitchFamily="34" charset="-122"/>
                <a:cs typeface="Montserrat SemiBold" pitchFamily="34" charset="-120"/>
              </a:rPr>
              <a:t>Network Security</a:t>
            </a:r>
            <a:endParaRPr lang="en-US" sz="1500" dirty="0"/>
          </a:p>
        </p:txBody>
      </p:sp>
      <p:sp>
        <p:nvSpPr>
          <p:cNvPr id="28" name="Text 25"/>
          <p:cNvSpPr txBox="1"/>
          <p:nvPr/>
        </p:nvSpPr>
        <p:spPr>
          <a:xfrm>
            <a:off x="8415223" y="4462272"/>
            <a:ext cx="2688336" cy="777240"/>
          </a:xfrm>
          <a:prstGeom prst="rect">
            <a:avLst/>
          </a:prstGeom>
          <a:noFill/>
          <a:ln/>
        </p:spPr>
        <p:txBody>
          <a:bodyPr wrap="square" lIns="0" tIns="0" rIns="0" bIns="0" rtlCol="0" anchor="t"/>
          <a:lstStyle/>
          <a:p>
            <a:pPr marL="0" indent="0">
              <a:lnSpc>
                <a:spcPct val="122000"/>
              </a:lnSpc>
              <a:buNone/>
            </a:pPr>
            <a:r>
              <a:rPr lang="en-US" sz="1100" dirty="0">
                <a:solidFill>
                  <a:srgbClr val="6E7175"/>
                </a:solidFill>
                <a:latin typeface="Montserrat" pitchFamily="34" charset="0"/>
                <a:ea typeface="Montserrat" pitchFamily="34" charset="-122"/>
                <a:cs typeface="Montserrat" pitchFamily="34" charset="-120"/>
              </a:rPr>
              <a:t>Protecting how machines talk to each other, and what is allowed in and out.</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home/user/ai/assets/gen/panel-red.png"/>
          <p:cNvPicPr>
            <a:picLocks noChangeAspect="1"/>
          </p:cNvPicPr>
          <p:nvPr/>
        </p:nvPicPr>
        <p:blipFill>
          <a:blip r:embed="rId3"/>
          <a:stretch>
            <a:fillRect/>
          </a:stretch>
        </p:blipFill>
        <p:spPr>
          <a:xfrm>
            <a:off x="0" y="0"/>
            <a:ext cx="12191695" cy="6858000"/>
          </a:xfrm>
          <a:prstGeom prst="rect">
            <a:avLst/>
          </a:prstGeom>
        </p:spPr>
      </p:pic>
      <p:pic>
        <p:nvPicPr>
          <p:cNvPr id="3" name="Image 1" descr="/home/user/ai/assets/gen/mark-slash-faint.png"/>
          <p:cNvPicPr>
            <a:picLocks noChangeAspect="1"/>
          </p:cNvPicPr>
          <p:nvPr/>
        </p:nvPicPr>
        <p:blipFill>
          <a:blip r:embed="rId4"/>
          <a:stretch>
            <a:fillRect/>
          </a:stretch>
        </p:blipFill>
        <p:spPr>
          <a:xfrm>
            <a:off x="8229600" y="365760"/>
            <a:ext cx="5120640" cy="5120640"/>
          </a:xfrm>
          <a:prstGeom prst="rect">
            <a:avLst/>
          </a:prstGeom>
        </p:spPr>
      </p:pic>
      <p:sp>
        <p:nvSpPr>
          <p:cNvPr id="4" name="Text 0"/>
          <p:cNvSpPr txBox="1"/>
          <p:nvPr/>
        </p:nvSpPr>
        <p:spPr>
          <a:xfrm>
            <a:off x="6766560" y="566928"/>
            <a:ext cx="4754880" cy="4206240"/>
          </a:xfrm>
          <a:prstGeom prst="rect">
            <a:avLst/>
          </a:prstGeom>
          <a:noFill/>
          <a:ln/>
        </p:spPr>
        <p:txBody>
          <a:bodyPr wrap="square" lIns="0" tIns="0" rIns="0" bIns="0" rtlCol="0" anchor="t"/>
          <a:lstStyle/>
          <a:p>
            <a:pPr marL="0" indent="0" algn="r">
              <a:buNone/>
            </a:pPr>
            <a:r>
              <a:rPr lang="en-US" sz="21000" kern="0" spc="-800" dirty="0">
                <a:solidFill>
                  <a:srgbClr val="B9737E">
                    <a:alpha val="38000"/>
                  </a:srgbClr>
                </a:solidFill>
                <a:latin typeface="Montserrat ExtraBold" pitchFamily="34" charset="0"/>
                <a:ea typeface="Montserrat ExtraBold" pitchFamily="34" charset="-122"/>
                <a:cs typeface="Montserrat ExtraBold" pitchFamily="34" charset="-120"/>
              </a:rPr>
              <a:t>01</a:t>
            </a:r>
            <a:endParaRPr lang="en-US" sz="21000" dirty="0"/>
          </a:p>
        </p:txBody>
      </p:sp>
      <p:sp>
        <p:nvSpPr>
          <p:cNvPr id="5" name="Text 1"/>
          <p:cNvSpPr txBox="1"/>
          <p:nvPr/>
        </p:nvSpPr>
        <p:spPr>
          <a:xfrm>
            <a:off x="777240" y="2395728"/>
            <a:ext cx="6400800" cy="256032"/>
          </a:xfrm>
          <a:prstGeom prst="rect">
            <a:avLst/>
          </a:prstGeom>
          <a:noFill/>
          <a:ln/>
        </p:spPr>
        <p:txBody>
          <a:bodyPr wrap="square" lIns="0" tIns="0" rIns="0" bIns="0" rtlCol="0" anchor="t"/>
          <a:lstStyle/>
          <a:p>
            <a:pPr marL="0" indent="0">
              <a:buNone/>
            </a:pPr>
            <a:r>
              <a:rPr lang="en-US" sz="1000" kern="0" spc="220" dirty="0">
                <a:solidFill>
                  <a:srgbClr val="E4C9CE"/>
                </a:solidFill>
                <a:latin typeface="Montserrat SemiBold" pitchFamily="34" charset="0"/>
                <a:ea typeface="Montserrat SemiBold" pitchFamily="34" charset="-122"/>
                <a:cs typeface="Montserrat SemiBold" pitchFamily="34" charset="-120"/>
              </a:rPr>
              <a:t>PROJECT 01</a:t>
            </a:r>
            <a:endParaRPr lang="en-US" sz="1000" dirty="0"/>
          </a:p>
        </p:txBody>
      </p:sp>
      <p:sp>
        <p:nvSpPr>
          <p:cNvPr id="6" name="Text 2"/>
          <p:cNvSpPr txBox="1"/>
          <p:nvPr/>
        </p:nvSpPr>
        <p:spPr>
          <a:xfrm>
            <a:off x="777240" y="2743200"/>
            <a:ext cx="6766560" cy="1280160"/>
          </a:xfrm>
          <a:prstGeom prst="rect">
            <a:avLst/>
          </a:prstGeom>
          <a:noFill/>
          <a:ln/>
        </p:spPr>
        <p:txBody>
          <a:bodyPr wrap="square" lIns="0" tIns="0" rIns="0" bIns="0" rtlCol="0" anchor="t"/>
          <a:lstStyle/>
          <a:p>
            <a:pPr marL="0" indent="0">
              <a:lnSpc>
                <a:spcPct val="98000"/>
              </a:lnSpc>
              <a:buNone/>
            </a:pPr>
            <a:r>
              <a:rPr lang="en-US" sz="4100" kern="0" spc="-90" dirty="0">
                <a:solidFill>
                  <a:srgbClr val="FFFFFF"/>
                </a:solidFill>
                <a:latin typeface="Montserrat ExtraBold" pitchFamily="34" charset="0"/>
                <a:ea typeface="Montserrat ExtraBold" pitchFamily="34" charset="-122"/>
                <a:cs typeface="Montserrat ExtraBold" pitchFamily="34" charset="-120"/>
              </a:rPr>
              <a:t>Image Management Program</a:t>
            </a:r>
            <a:endParaRPr lang="en-US" sz="4100" dirty="0"/>
          </a:p>
        </p:txBody>
      </p:sp>
      <p:sp>
        <p:nvSpPr>
          <p:cNvPr id="7" name="Shape 3"/>
          <p:cNvSpPr/>
          <p:nvPr/>
        </p:nvSpPr>
        <p:spPr>
          <a:xfrm>
            <a:off x="777240" y="4114800"/>
            <a:ext cx="640080" cy="50292"/>
          </a:xfrm>
          <a:prstGeom prst="rect">
            <a:avLst/>
          </a:prstGeom>
          <a:solidFill>
            <a:srgbClr val="FFFFFF"/>
          </a:solidFill>
          <a:ln/>
        </p:spPr>
        <p:txBody>
          <a:bodyPr/>
          <a:lstStyle/>
          <a:p>
            <a:endParaRPr lang="en-US"/>
          </a:p>
        </p:txBody>
      </p:sp>
      <p:sp>
        <p:nvSpPr>
          <p:cNvPr id="8" name="Text 4"/>
          <p:cNvSpPr txBox="1"/>
          <p:nvPr/>
        </p:nvSpPr>
        <p:spPr>
          <a:xfrm>
            <a:off x="777240" y="4389120"/>
            <a:ext cx="6696986" cy="731520"/>
          </a:xfrm>
          <a:prstGeom prst="rect">
            <a:avLst/>
          </a:prstGeom>
          <a:noFill/>
          <a:ln/>
        </p:spPr>
        <p:txBody>
          <a:bodyPr wrap="square" lIns="0" tIns="0" rIns="0" bIns="0" rtlCol="0" anchor="t"/>
          <a:lstStyle/>
          <a:p>
            <a:pPr marL="0" indent="0">
              <a:lnSpc>
                <a:spcPct val="125000"/>
              </a:lnSpc>
              <a:buNone/>
            </a:pPr>
            <a:r>
              <a:rPr lang="en-US" sz="1400" dirty="0">
                <a:solidFill>
                  <a:srgbClr val="DAB4BA"/>
                </a:solidFill>
                <a:latin typeface="Montserrat Medium" pitchFamily="34" charset="0"/>
                <a:ea typeface="Montserrat Medium" pitchFamily="34" charset="-122"/>
                <a:cs typeface="Montserrat Medium" pitchFamily="34" charset="-120"/>
              </a:rPr>
              <a:t>Making sure every new machine ships with the security tools it needs.</a:t>
            </a:r>
            <a:endParaRPr lang="en-US" sz="1400" dirty="0"/>
          </a:p>
        </p:txBody>
      </p:sp>
      <p:pic>
        <p:nvPicPr>
          <p:cNvPr id="9" name="Image 2" descr="/home/user/ai/assets/gen/logo-white.png"/>
          <p:cNvPicPr>
            <a:picLocks noChangeAspect="1"/>
          </p:cNvPicPr>
          <p:nvPr/>
        </p:nvPicPr>
        <p:blipFill>
          <a:blip r:embed="rId5"/>
          <a:stretch>
            <a:fillRect/>
          </a:stretch>
        </p:blipFill>
        <p:spPr>
          <a:xfrm>
            <a:off x="9768535" y="457200"/>
            <a:ext cx="1645920" cy="166053"/>
          </a:xfrm>
          <a:prstGeom prst="rect">
            <a:avLst/>
          </a:prstGeom>
        </p:spPr>
      </p:pic>
      <p:sp>
        <p:nvSpPr>
          <p:cNvPr id="10" name="Text 5"/>
          <p:cNvSpPr txBox="1"/>
          <p:nvPr/>
        </p:nvSpPr>
        <p:spPr>
          <a:xfrm>
            <a:off x="777240" y="6327648"/>
            <a:ext cx="7315200" cy="201168"/>
          </a:xfrm>
          <a:prstGeom prst="rect">
            <a:avLst/>
          </a:prstGeom>
          <a:noFill/>
          <a:ln/>
        </p:spPr>
        <p:txBody>
          <a:bodyPr wrap="square" lIns="0" tIns="0" rIns="0" bIns="0" rtlCol="0" anchor="t"/>
          <a:lstStyle/>
          <a:p>
            <a:pPr marL="0" indent="0">
              <a:buNone/>
            </a:pPr>
            <a:r>
              <a:rPr lang="en-US" sz="850" kern="0" spc="140" dirty="0">
                <a:solidFill>
                  <a:srgbClr val="E4C9CE"/>
                </a:solidFill>
                <a:latin typeface="Montserrat SemiBold" pitchFamily="34" charset="0"/>
                <a:ea typeface="Montserrat SemiBold" pitchFamily="34" charset="-122"/>
                <a:cs typeface="Montserrat SemiBold" pitchFamily="34" charset="-120"/>
              </a:rPr>
              <a:t>PROJECT 01</a:t>
            </a:r>
            <a:endParaRPr lang="en-US" sz="850" dirty="0"/>
          </a:p>
        </p:txBody>
      </p:sp>
      <p:sp>
        <p:nvSpPr>
          <p:cNvPr id="11" name="Text 6"/>
          <p:cNvSpPr txBox="1"/>
          <p:nvPr/>
        </p:nvSpPr>
        <p:spPr>
          <a:xfrm>
            <a:off x="10317175" y="6327648"/>
            <a:ext cx="1097280" cy="201168"/>
          </a:xfrm>
          <a:prstGeom prst="rect">
            <a:avLst/>
          </a:prstGeom>
          <a:noFill/>
          <a:ln/>
        </p:spPr>
        <p:txBody>
          <a:bodyPr wrap="square" lIns="0" tIns="0" rIns="0" bIns="0" rtlCol="0" anchor="t"/>
          <a:lstStyle/>
          <a:p>
            <a:pPr marL="0" indent="0" algn="r">
              <a:buNone/>
            </a:pPr>
            <a:r>
              <a:rPr lang="en-US" sz="850" kern="0" spc="140" dirty="0">
                <a:solidFill>
                  <a:srgbClr val="E4C9CE"/>
                </a:solidFill>
                <a:latin typeface="Montserrat SemiBold" pitchFamily="34" charset="0"/>
                <a:ea typeface="Montserrat SemiBold" pitchFamily="34" charset="-122"/>
                <a:cs typeface="Montserrat SemiBold" pitchFamily="34" charset="-120"/>
              </a:rPr>
              <a:t>05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pic>
        <p:nvPicPr>
          <p:cNvPr id="2" name="Image 0" descr="/home/user/ai/assets/gen/logo-red.png"/>
          <p:cNvPicPr>
            <a:picLocks noChangeAspect="1"/>
          </p:cNvPicPr>
          <p:nvPr/>
        </p:nvPicPr>
        <p:blipFill>
          <a:blip r:embed="rId3"/>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marL="0" indent="0">
              <a:buNone/>
            </a:pPr>
            <a:r>
              <a:rPr lang="en-US" sz="1000" kern="0" spc="220" dirty="0">
                <a:solidFill>
                  <a:srgbClr val="942838"/>
                </a:solidFill>
                <a:latin typeface="Montserrat SemiBold" pitchFamily="34" charset="0"/>
                <a:ea typeface="Montserrat SemiBold" pitchFamily="34" charset="-122"/>
                <a:cs typeface="Montserrat SemiBold" pitchFamily="34" charset="-120"/>
              </a:rPr>
              <a:t>PROJECT 01  ·  THE PROBLEM</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marL="0" indent="0">
              <a:lnSpc>
                <a:spcPct val="98000"/>
              </a:lnSpc>
              <a:buNone/>
            </a:pPr>
            <a:r>
              <a:rPr lang="en-US" sz="2900" kern="0" spc="-50" dirty="0">
                <a:solidFill>
                  <a:srgbClr val="2B2D30"/>
                </a:solidFill>
                <a:latin typeface="Montserrat ExtraBold" pitchFamily="34" charset="0"/>
                <a:ea typeface="Montserrat ExtraBold" pitchFamily="34" charset="-122"/>
                <a:cs typeface="Montserrat ExtraBold" pitchFamily="34" charset="-120"/>
              </a:rPr>
              <a:t>Nine required tools. No process to install them.</a:t>
            </a:r>
            <a:endParaRPr lang="en-US" sz="2900" dirty="0"/>
          </a:p>
        </p:txBody>
      </p:sp>
      <p:sp>
        <p:nvSpPr>
          <p:cNvPr id="5" name="Shape 2"/>
          <p:cNvSpPr/>
          <p:nvPr/>
        </p:nvSpPr>
        <p:spPr>
          <a:xfrm>
            <a:off x="777240" y="1700784"/>
            <a:ext cx="566928" cy="50292"/>
          </a:xfrm>
          <a:prstGeom prst="rect">
            <a:avLst/>
          </a:prstGeom>
          <a:solidFill>
            <a:srgbClr val="942838"/>
          </a:solidFill>
          <a:ln/>
        </p:spPr>
        <p:txBody>
          <a:bodyPr/>
          <a:lstStyle/>
          <a:p>
            <a:endParaRPr lang="en-US"/>
          </a:p>
        </p:txBody>
      </p:sp>
      <p:sp>
        <p:nvSpPr>
          <p:cNvPr id="6" name="Shape 3"/>
          <p:cNvSpPr/>
          <p:nvPr/>
        </p:nvSpPr>
        <p:spPr>
          <a:xfrm>
            <a:off x="777240" y="6181344"/>
            <a:ext cx="10637215" cy="10973"/>
          </a:xfrm>
          <a:prstGeom prst="rect">
            <a:avLst/>
          </a:prstGeom>
          <a:solidFill>
            <a:srgbClr val="E6E4E2"/>
          </a:solidFill>
          <a:ln/>
        </p:spPr>
        <p:txBody>
          <a:bodyPr/>
          <a:lstStyle/>
          <a:p>
            <a:endParaRPr lang="en-US"/>
          </a:p>
        </p:txBody>
      </p:sp>
      <p:sp>
        <p:nvSpPr>
          <p:cNvPr id="7" name="Text 4"/>
          <p:cNvSpPr txBox="1"/>
          <p:nvPr/>
        </p:nvSpPr>
        <p:spPr>
          <a:xfrm>
            <a:off x="777240" y="6327648"/>
            <a:ext cx="7315200" cy="201168"/>
          </a:xfrm>
          <a:prstGeom prst="rect">
            <a:avLst/>
          </a:prstGeom>
          <a:noFill/>
          <a:ln/>
        </p:spPr>
        <p:txBody>
          <a:bodyPr wrap="square" lIns="0" tIns="0" rIns="0" bIns="0" rtlCol="0" anchor="t"/>
          <a:lstStyle/>
          <a:p>
            <a:pPr marL="0" indent="0">
              <a:buNone/>
            </a:pPr>
            <a:r>
              <a:rPr lang="en-US" sz="850" kern="0" spc="140" dirty="0">
                <a:solidFill>
                  <a:srgbClr val="6E7175"/>
                </a:solidFill>
                <a:latin typeface="Montserrat SemiBold" pitchFamily="34" charset="0"/>
                <a:ea typeface="Montserrat SemiBold" pitchFamily="34" charset="-122"/>
                <a:cs typeface="Montserrat SemiBold" pitchFamily="34" charset="-120"/>
              </a:rPr>
              <a:t>IMAGE MANAGEMENT PROGRAM</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marL="0" indent="0" algn="r">
              <a:buNone/>
            </a:pPr>
            <a:r>
              <a:rPr lang="en-US" sz="850" kern="0" spc="140" dirty="0">
                <a:solidFill>
                  <a:srgbClr val="6E7175"/>
                </a:solidFill>
                <a:latin typeface="Montserrat SemiBold" pitchFamily="34" charset="0"/>
                <a:ea typeface="Montserrat SemiBold" pitchFamily="34" charset="-122"/>
                <a:cs typeface="Montserrat SemiBold" pitchFamily="34" charset="-120"/>
              </a:rPr>
              <a:t>06</a:t>
            </a:r>
            <a:endParaRPr lang="en-US" sz="850" dirty="0"/>
          </a:p>
        </p:txBody>
      </p:sp>
      <p:sp>
        <p:nvSpPr>
          <p:cNvPr id="9" name="Text 6"/>
          <p:cNvSpPr txBox="1"/>
          <p:nvPr/>
        </p:nvSpPr>
        <p:spPr>
          <a:xfrm>
            <a:off x="777240" y="2029968"/>
            <a:ext cx="10241280" cy="329184"/>
          </a:xfrm>
          <a:prstGeom prst="rect">
            <a:avLst/>
          </a:prstGeom>
          <a:noFill/>
          <a:ln/>
        </p:spPr>
        <p:txBody>
          <a:bodyPr wrap="square" lIns="0" tIns="0" rIns="0" bIns="0" rtlCol="0" anchor="t"/>
          <a:lstStyle/>
          <a:p>
            <a:pPr marL="0" indent="0">
              <a:buNone/>
            </a:pPr>
            <a:r>
              <a:rPr lang="en-US" sz="1400" dirty="0">
                <a:solidFill>
                  <a:srgbClr val="6E7175"/>
                </a:solidFill>
                <a:latin typeface="Montserrat Medium" pitchFamily="34" charset="0"/>
                <a:ea typeface="Montserrat Medium" pitchFamily="34" charset="-122"/>
                <a:cs typeface="Montserrat Medium" pitchFamily="34" charset="-120"/>
              </a:rPr>
              <a:t>A </a:t>
            </a:r>
            <a:r>
              <a:rPr lang="en-US" sz="1400" dirty="0">
                <a:solidFill>
                  <a:srgbClr val="2B2D30"/>
                </a:solidFill>
                <a:latin typeface="Montserrat SemiBold" pitchFamily="34" charset="0"/>
                <a:ea typeface="Montserrat SemiBold" pitchFamily="34" charset="-122"/>
                <a:cs typeface="Montserrat SemiBold" pitchFamily="34" charset="-120"/>
              </a:rPr>
              <a:t>Golden Image</a:t>
            </a:r>
            <a:r>
              <a:rPr lang="en-US" sz="1400" dirty="0">
                <a:solidFill>
                  <a:srgbClr val="6E7175"/>
                </a:solidFill>
                <a:latin typeface="Montserrat Medium" pitchFamily="34" charset="0"/>
                <a:ea typeface="Montserrat Medium" pitchFamily="34" charset="-122"/>
                <a:cs typeface="Montserrat Medium" pitchFamily="34" charset="-120"/>
              </a:rPr>
              <a:t> is the standard template every new virtual machine is built from — set it up once, and every machine created afterwards inherits it.</a:t>
            </a:r>
            <a:endParaRPr lang="en-US" sz="1400" dirty="0"/>
          </a:p>
        </p:txBody>
      </p:sp>
      <p:pic>
        <p:nvPicPr>
          <p:cNvPr id="10" name="Image 1" descr="/home/user/ai/assets/gen/iso-machine.png"/>
          <p:cNvPicPr>
            <a:picLocks noChangeAspect="1"/>
          </p:cNvPicPr>
          <p:nvPr/>
        </p:nvPicPr>
        <p:blipFill>
          <a:blip r:embed="rId4"/>
          <a:stretch>
            <a:fillRect/>
          </a:stretch>
        </p:blipFill>
        <p:spPr>
          <a:xfrm>
            <a:off x="640080" y="2505456"/>
            <a:ext cx="3108960" cy="3017520"/>
          </a:xfrm>
          <a:prstGeom prst="rect">
            <a:avLst/>
          </a:prstGeom>
        </p:spPr>
      </p:pic>
      <p:sp>
        <p:nvSpPr>
          <p:cNvPr id="11" name="Text 7"/>
          <p:cNvSpPr txBox="1"/>
          <p:nvPr/>
        </p:nvSpPr>
        <p:spPr>
          <a:xfrm>
            <a:off x="594360" y="5577840"/>
            <a:ext cx="3200400" cy="457200"/>
          </a:xfrm>
          <a:prstGeom prst="rect">
            <a:avLst/>
          </a:prstGeom>
          <a:noFill/>
          <a:ln/>
        </p:spPr>
        <p:txBody>
          <a:bodyPr wrap="square" lIns="0" tIns="0" rIns="0" bIns="0" rtlCol="0" anchor="t"/>
          <a:lstStyle/>
          <a:p>
            <a:pPr marL="0" indent="0" algn="ctr">
              <a:lnSpc>
                <a:spcPct val="120000"/>
              </a:lnSpc>
              <a:buNone/>
            </a:pPr>
            <a:r>
              <a:rPr lang="en-US" sz="950" kern="0" spc="30" dirty="0">
                <a:solidFill>
                  <a:srgbClr val="6E7175"/>
                </a:solidFill>
                <a:latin typeface="Montserrat Medium" pitchFamily="34" charset="0"/>
                <a:ea typeface="Montserrat Medium" pitchFamily="34" charset="-122"/>
                <a:cs typeface="Montserrat Medium" pitchFamily="34" charset="-120"/>
              </a:rPr>
              <a:t>Each layer is security tooling the image should carry before it is ever deployed.</a:t>
            </a:r>
            <a:endParaRPr lang="en-US" sz="950" dirty="0"/>
          </a:p>
        </p:txBody>
      </p:sp>
      <p:sp>
        <p:nvSpPr>
          <p:cNvPr id="12" name="Text 8"/>
          <p:cNvSpPr txBox="1"/>
          <p:nvPr/>
        </p:nvSpPr>
        <p:spPr>
          <a:xfrm>
            <a:off x="4224528" y="2578608"/>
            <a:ext cx="7223760" cy="219456"/>
          </a:xfrm>
          <a:prstGeom prst="rect">
            <a:avLst/>
          </a:prstGeom>
          <a:noFill/>
          <a:ln/>
        </p:spPr>
        <p:txBody>
          <a:bodyPr wrap="square" lIns="0" tIns="0" rIns="0" bIns="0" rtlCol="0" anchor="t"/>
          <a:lstStyle/>
          <a:p>
            <a:pPr marL="0" indent="0">
              <a:buNone/>
            </a:pPr>
            <a:r>
              <a:rPr lang="en-US" sz="850" kern="0" spc="140" dirty="0">
                <a:solidFill>
                  <a:srgbClr val="942838"/>
                </a:solidFill>
                <a:latin typeface="Montserrat SemiBold" pitchFamily="34" charset="0"/>
                <a:ea typeface="Montserrat SemiBold" pitchFamily="34" charset="-122"/>
                <a:cs typeface="Montserrat SemiBold" pitchFamily="34" charset="-120"/>
              </a:rPr>
              <a:t>THE NINE REQUIRED TOOLS</a:t>
            </a:r>
            <a:endParaRPr lang="en-US" sz="850" dirty="0"/>
          </a:p>
        </p:txBody>
      </p:sp>
      <p:sp>
        <p:nvSpPr>
          <p:cNvPr id="13" name="Shape 9"/>
          <p:cNvSpPr/>
          <p:nvPr/>
        </p:nvSpPr>
        <p:spPr>
          <a:xfrm>
            <a:off x="4224528" y="2926080"/>
            <a:ext cx="2212848" cy="530352"/>
          </a:xfrm>
          <a:prstGeom prst="roundRect">
            <a:avLst>
              <a:gd name="adj" fmla="val 8621"/>
            </a:avLst>
          </a:prstGeom>
          <a:solidFill>
            <a:srgbClr val="F5F4F3"/>
          </a:solidFill>
          <a:ln w="9525">
            <a:solidFill>
              <a:srgbClr val="E6E4E2"/>
            </a:solidFill>
            <a:prstDash val="solid"/>
          </a:ln>
          <a:effectLst>
            <a:outerShdw blurRad="114300" dist="25400" dir="5400000" algn="bl" rotWithShape="0">
              <a:srgbClr val="959092">
                <a:alpha val="16000"/>
              </a:srgbClr>
            </a:outerShdw>
          </a:effectLst>
        </p:spPr>
        <p:txBody>
          <a:bodyPr/>
          <a:lstStyle/>
          <a:p>
            <a:endParaRPr lang="en-US"/>
          </a:p>
        </p:txBody>
      </p:sp>
      <p:sp>
        <p:nvSpPr>
          <p:cNvPr id="14" name="Shape 10"/>
          <p:cNvSpPr/>
          <p:nvPr/>
        </p:nvSpPr>
        <p:spPr>
          <a:xfrm>
            <a:off x="4224528" y="2926080"/>
            <a:ext cx="45720" cy="530352"/>
          </a:xfrm>
          <a:prstGeom prst="rect">
            <a:avLst/>
          </a:prstGeom>
          <a:solidFill>
            <a:srgbClr val="942838"/>
          </a:solidFill>
          <a:ln/>
        </p:spPr>
        <p:txBody>
          <a:bodyPr/>
          <a:lstStyle/>
          <a:p>
            <a:endParaRPr lang="en-US"/>
          </a:p>
        </p:txBody>
      </p:sp>
      <p:sp>
        <p:nvSpPr>
          <p:cNvPr id="15" name="Text 11"/>
          <p:cNvSpPr txBox="1"/>
          <p:nvPr/>
        </p:nvSpPr>
        <p:spPr>
          <a:xfrm>
            <a:off x="4398264" y="2999232"/>
            <a:ext cx="1920240" cy="384048"/>
          </a:xfrm>
          <a:prstGeom prst="rect">
            <a:avLst/>
          </a:prstGeom>
          <a:noFill/>
          <a:ln/>
        </p:spPr>
        <p:txBody>
          <a:bodyPr wrap="square" lIns="0" tIns="0" rIns="0" bIns="0" rtlCol="0" anchor="ctr"/>
          <a:lstStyle/>
          <a:p>
            <a:pPr marL="0" indent="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Tenable Nessus Agent</a:t>
            </a:r>
            <a:endParaRPr lang="en-US" sz="1050" dirty="0"/>
          </a:p>
        </p:txBody>
      </p:sp>
      <p:sp>
        <p:nvSpPr>
          <p:cNvPr id="16" name="Shape 12"/>
          <p:cNvSpPr/>
          <p:nvPr/>
        </p:nvSpPr>
        <p:spPr>
          <a:xfrm>
            <a:off x="6620256" y="2926080"/>
            <a:ext cx="2212848" cy="530352"/>
          </a:xfrm>
          <a:prstGeom prst="roundRect">
            <a:avLst>
              <a:gd name="adj" fmla="val 8621"/>
            </a:avLst>
          </a:prstGeom>
          <a:solidFill>
            <a:srgbClr val="F5F4F3"/>
          </a:solidFill>
          <a:ln w="9525">
            <a:solidFill>
              <a:srgbClr val="E6E4E2"/>
            </a:solidFill>
            <a:prstDash val="solid"/>
          </a:ln>
          <a:effectLst>
            <a:outerShdw blurRad="1451610000" dist="322580000" algn="bl" rotWithShape="0">
              <a:srgbClr val="959092">
                <a:alpha val="0"/>
              </a:srgbClr>
            </a:outerShdw>
          </a:effectLst>
        </p:spPr>
        <p:txBody>
          <a:bodyPr/>
          <a:lstStyle/>
          <a:p>
            <a:endParaRPr lang="en-US"/>
          </a:p>
        </p:txBody>
      </p:sp>
      <p:sp>
        <p:nvSpPr>
          <p:cNvPr id="17" name="Shape 13"/>
          <p:cNvSpPr/>
          <p:nvPr/>
        </p:nvSpPr>
        <p:spPr>
          <a:xfrm>
            <a:off x="6620256" y="2926080"/>
            <a:ext cx="45720" cy="530352"/>
          </a:xfrm>
          <a:prstGeom prst="rect">
            <a:avLst/>
          </a:prstGeom>
          <a:solidFill>
            <a:srgbClr val="942838"/>
          </a:solidFill>
          <a:ln/>
        </p:spPr>
        <p:txBody>
          <a:bodyPr/>
          <a:lstStyle/>
          <a:p>
            <a:endParaRPr lang="en-US"/>
          </a:p>
        </p:txBody>
      </p:sp>
      <p:sp>
        <p:nvSpPr>
          <p:cNvPr id="18" name="Text 14"/>
          <p:cNvSpPr txBox="1"/>
          <p:nvPr/>
        </p:nvSpPr>
        <p:spPr>
          <a:xfrm>
            <a:off x="6793992" y="2999232"/>
            <a:ext cx="1920240" cy="384048"/>
          </a:xfrm>
          <a:prstGeom prst="rect">
            <a:avLst/>
          </a:prstGeom>
          <a:noFill/>
          <a:ln/>
        </p:spPr>
        <p:txBody>
          <a:bodyPr wrap="square" lIns="0" tIns="0" rIns="0" bIns="0" rtlCol="0" anchor="ctr"/>
          <a:lstStyle/>
          <a:p>
            <a:pPr marL="0" indent="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CrowdStrike Falcon Sensor</a:t>
            </a:r>
            <a:endParaRPr lang="en-US" sz="1050" dirty="0"/>
          </a:p>
        </p:txBody>
      </p:sp>
      <p:sp>
        <p:nvSpPr>
          <p:cNvPr id="19" name="Shape 15"/>
          <p:cNvSpPr/>
          <p:nvPr/>
        </p:nvSpPr>
        <p:spPr>
          <a:xfrm>
            <a:off x="9015984" y="2926080"/>
            <a:ext cx="2212848" cy="530352"/>
          </a:xfrm>
          <a:prstGeom prst="roundRect">
            <a:avLst>
              <a:gd name="adj" fmla="val 8621"/>
            </a:avLst>
          </a:prstGeom>
          <a:solidFill>
            <a:srgbClr val="F5F4F3"/>
          </a:solidFill>
          <a:ln w="9525">
            <a:solidFill>
              <a:srgbClr val="E6E4E2"/>
            </a:solidFill>
            <a:prstDash val="solid"/>
          </a:ln>
          <a:effectLst>
            <a:outerShdw algn="bl" rotWithShape="0">
              <a:srgbClr val="959092">
                <a:alpha val="0"/>
              </a:srgbClr>
            </a:outerShdw>
          </a:effectLst>
        </p:spPr>
        <p:txBody>
          <a:bodyPr/>
          <a:lstStyle/>
          <a:p>
            <a:endParaRPr lang="en-US"/>
          </a:p>
        </p:txBody>
      </p:sp>
      <p:sp>
        <p:nvSpPr>
          <p:cNvPr id="20" name="Shape 16"/>
          <p:cNvSpPr/>
          <p:nvPr/>
        </p:nvSpPr>
        <p:spPr>
          <a:xfrm>
            <a:off x="9015984" y="2926080"/>
            <a:ext cx="45720" cy="530352"/>
          </a:xfrm>
          <a:prstGeom prst="rect">
            <a:avLst/>
          </a:prstGeom>
          <a:solidFill>
            <a:srgbClr val="942838"/>
          </a:solidFill>
          <a:ln/>
        </p:spPr>
        <p:txBody>
          <a:bodyPr/>
          <a:lstStyle/>
          <a:p>
            <a:endParaRPr lang="en-US"/>
          </a:p>
        </p:txBody>
      </p:sp>
      <p:sp>
        <p:nvSpPr>
          <p:cNvPr id="21" name="Text 17"/>
          <p:cNvSpPr txBox="1"/>
          <p:nvPr/>
        </p:nvSpPr>
        <p:spPr>
          <a:xfrm>
            <a:off x="9189720" y="2999232"/>
            <a:ext cx="1920240" cy="384048"/>
          </a:xfrm>
          <a:prstGeom prst="rect">
            <a:avLst/>
          </a:prstGeom>
          <a:noFill/>
          <a:ln/>
        </p:spPr>
        <p:txBody>
          <a:bodyPr wrap="square" lIns="0" tIns="0" rIns="0" bIns="0" rtlCol="0" anchor="ctr"/>
          <a:lstStyle/>
          <a:p>
            <a:pPr marL="0" indent="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Netskope</a:t>
            </a:r>
            <a:endParaRPr lang="en-US" sz="1050" dirty="0"/>
          </a:p>
        </p:txBody>
      </p:sp>
      <p:sp>
        <p:nvSpPr>
          <p:cNvPr id="22" name="Shape 18"/>
          <p:cNvSpPr/>
          <p:nvPr/>
        </p:nvSpPr>
        <p:spPr>
          <a:xfrm>
            <a:off x="4224528" y="3611880"/>
            <a:ext cx="2212848" cy="530352"/>
          </a:xfrm>
          <a:prstGeom prst="roundRect">
            <a:avLst>
              <a:gd name="adj" fmla="val 8621"/>
            </a:avLst>
          </a:prstGeom>
          <a:solidFill>
            <a:srgbClr val="F5F4F3"/>
          </a:solidFill>
          <a:ln w="9525">
            <a:solidFill>
              <a:srgbClr val="E6E4E2"/>
            </a:solidFill>
            <a:prstDash val="solid"/>
          </a:ln>
          <a:effectLst>
            <a:outerShdw algn="bl" rotWithShape="0">
              <a:srgbClr val="959092">
                <a:alpha val="0"/>
              </a:srgbClr>
            </a:outerShdw>
          </a:effectLst>
        </p:spPr>
        <p:txBody>
          <a:bodyPr/>
          <a:lstStyle/>
          <a:p>
            <a:endParaRPr lang="en-US"/>
          </a:p>
        </p:txBody>
      </p:sp>
      <p:sp>
        <p:nvSpPr>
          <p:cNvPr id="23" name="Shape 19"/>
          <p:cNvSpPr/>
          <p:nvPr/>
        </p:nvSpPr>
        <p:spPr>
          <a:xfrm>
            <a:off x="4224528" y="3611880"/>
            <a:ext cx="45720" cy="530352"/>
          </a:xfrm>
          <a:prstGeom prst="rect">
            <a:avLst/>
          </a:prstGeom>
          <a:solidFill>
            <a:srgbClr val="942838"/>
          </a:solidFill>
          <a:ln/>
        </p:spPr>
        <p:txBody>
          <a:bodyPr/>
          <a:lstStyle/>
          <a:p>
            <a:endParaRPr lang="en-US"/>
          </a:p>
        </p:txBody>
      </p:sp>
      <p:sp>
        <p:nvSpPr>
          <p:cNvPr id="24" name="Text 20"/>
          <p:cNvSpPr txBox="1"/>
          <p:nvPr/>
        </p:nvSpPr>
        <p:spPr>
          <a:xfrm>
            <a:off x="4398264" y="3685032"/>
            <a:ext cx="1920240" cy="384048"/>
          </a:xfrm>
          <a:prstGeom prst="rect">
            <a:avLst/>
          </a:prstGeom>
          <a:noFill/>
          <a:ln/>
        </p:spPr>
        <p:txBody>
          <a:bodyPr wrap="square" lIns="0" tIns="0" rIns="0" bIns="0" rtlCol="0" anchor="ctr"/>
          <a:lstStyle/>
          <a:p>
            <a:pPr marL="0" indent="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Cribl</a:t>
            </a:r>
            <a:endParaRPr lang="en-US" sz="1050" dirty="0"/>
          </a:p>
        </p:txBody>
      </p:sp>
      <p:sp>
        <p:nvSpPr>
          <p:cNvPr id="25" name="Shape 21"/>
          <p:cNvSpPr/>
          <p:nvPr/>
        </p:nvSpPr>
        <p:spPr>
          <a:xfrm>
            <a:off x="6620256" y="3611880"/>
            <a:ext cx="2212848" cy="530352"/>
          </a:xfrm>
          <a:prstGeom prst="roundRect">
            <a:avLst>
              <a:gd name="adj" fmla="val 8621"/>
            </a:avLst>
          </a:prstGeom>
          <a:solidFill>
            <a:srgbClr val="F5F4F3"/>
          </a:solidFill>
          <a:ln w="9525">
            <a:solidFill>
              <a:srgbClr val="E6E4E2"/>
            </a:solidFill>
            <a:prstDash val="solid"/>
          </a:ln>
          <a:effectLst>
            <a:outerShdw algn="bl" rotWithShape="0">
              <a:srgbClr val="959092">
                <a:alpha val="0"/>
              </a:srgbClr>
            </a:outerShdw>
          </a:effectLst>
        </p:spPr>
        <p:txBody>
          <a:bodyPr/>
          <a:lstStyle/>
          <a:p>
            <a:endParaRPr lang="en-US"/>
          </a:p>
        </p:txBody>
      </p:sp>
      <p:sp>
        <p:nvSpPr>
          <p:cNvPr id="26" name="Shape 22"/>
          <p:cNvSpPr/>
          <p:nvPr/>
        </p:nvSpPr>
        <p:spPr>
          <a:xfrm>
            <a:off x="6620256" y="3611880"/>
            <a:ext cx="45720" cy="530352"/>
          </a:xfrm>
          <a:prstGeom prst="rect">
            <a:avLst/>
          </a:prstGeom>
          <a:solidFill>
            <a:srgbClr val="942838"/>
          </a:solidFill>
          <a:ln/>
        </p:spPr>
        <p:txBody>
          <a:bodyPr/>
          <a:lstStyle/>
          <a:p>
            <a:endParaRPr lang="en-US"/>
          </a:p>
        </p:txBody>
      </p:sp>
      <p:sp>
        <p:nvSpPr>
          <p:cNvPr id="27" name="Text 23"/>
          <p:cNvSpPr txBox="1"/>
          <p:nvPr/>
        </p:nvSpPr>
        <p:spPr>
          <a:xfrm>
            <a:off x="6793992" y="3685032"/>
            <a:ext cx="1920240" cy="384048"/>
          </a:xfrm>
          <a:prstGeom prst="rect">
            <a:avLst/>
          </a:prstGeom>
          <a:noFill/>
          <a:ln/>
        </p:spPr>
        <p:txBody>
          <a:bodyPr wrap="square" lIns="0" tIns="0" rIns="0" bIns="0" rtlCol="0" anchor="ctr"/>
          <a:lstStyle/>
          <a:p>
            <a:pPr marL="0" indent="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Splunk</a:t>
            </a:r>
            <a:endParaRPr lang="en-US" sz="1050" dirty="0"/>
          </a:p>
        </p:txBody>
      </p:sp>
      <p:sp>
        <p:nvSpPr>
          <p:cNvPr id="28" name="Shape 24"/>
          <p:cNvSpPr/>
          <p:nvPr/>
        </p:nvSpPr>
        <p:spPr>
          <a:xfrm>
            <a:off x="9015984" y="3611880"/>
            <a:ext cx="2212848" cy="530352"/>
          </a:xfrm>
          <a:prstGeom prst="roundRect">
            <a:avLst>
              <a:gd name="adj" fmla="val 8621"/>
            </a:avLst>
          </a:prstGeom>
          <a:solidFill>
            <a:srgbClr val="F5F4F3"/>
          </a:solidFill>
          <a:ln w="9525">
            <a:solidFill>
              <a:srgbClr val="E6E4E2"/>
            </a:solidFill>
            <a:prstDash val="solid"/>
          </a:ln>
          <a:effectLst>
            <a:outerShdw algn="bl" rotWithShape="0">
              <a:srgbClr val="959092">
                <a:alpha val="0"/>
              </a:srgbClr>
            </a:outerShdw>
          </a:effectLst>
        </p:spPr>
        <p:txBody>
          <a:bodyPr/>
          <a:lstStyle/>
          <a:p>
            <a:endParaRPr lang="en-US"/>
          </a:p>
        </p:txBody>
      </p:sp>
      <p:sp>
        <p:nvSpPr>
          <p:cNvPr id="29" name="Shape 25"/>
          <p:cNvSpPr/>
          <p:nvPr/>
        </p:nvSpPr>
        <p:spPr>
          <a:xfrm>
            <a:off x="9015984" y="3611880"/>
            <a:ext cx="45720" cy="530352"/>
          </a:xfrm>
          <a:prstGeom prst="rect">
            <a:avLst/>
          </a:prstGeom>
          <a:solidFill>
            <a:srgbClr val="942838"/>
          </a:solidFill>
          <a:ln/>
        </p:spPr>
        <p:txBody>
          <a:bodyPr/>
          <a:lstStyle/>
          <a:p>
            <a:endParaRPr lang="en-US"/>
          </a:p>
        </p:txBody>
      </p:sp>
      <p:sp>
        <p:nvSpPr>
          <p:cNvPr id="30" name="Text 26"/>
          <p:cNvSpPr txBox="1"/>
          <p:nvPr/>
        </p:nvSpPr>
        <p:spPr>
          <a:xfrm>
            <a:off x="9189720" y="3685032"/>
            <a:ext cx="1920240" cy="384048"/>
          </a:xfrm>
          <a:prstGeom prst="rect">
            <a:avLst/>
          </a:prstGeom>
          <a:noFill/>
          <a:ln/>
        </p:spPr>
        <p:txBody>
          <a:bodyPr wrap="square" lIns="0" tIns="0" rIns="0" bIns="0" rtlCol="0" anchor="ctr"/>
          <a:lstStyle/>
          <a:p>
            <a:pPr marL="0" indent="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ThreatLocker</a:t>
            </a:r>
            <a:endParaRPr lang="en-US" sz="1050" dirty="0"/>
          </a:p>
        </p:txBody>
      </p:sp>
      <p:sp>
        <p:nvSpPr>
          <p:cNvPr id="31" name="Shape 27"/>
          <p:cNvSpPr/>
          <p:nvPr/>
        </p:nvSpPr>
        <p:spPr>
          <a:xfrm>
            <a:off x="4224528" y="4297680"/>
            <a:ext cx="2212848" cy="530352"/>
          </a:xfrm>
          <a:prstGeom prst="roundRect">
            <a:avLst>
              <a:gd name="adj" fmla="val 8621"/>
            </a:avLst>
          </a:prstGeom>
          <a:solidFill>
            <a:srgbClr val="F5F4F3"/>
          </a:solidFill>
          <a:ln w="9525">
            <a:solidFill>
              <a:srgbClr val="E6E4E2"/>
            </a:solidFill>
            <a:prstDash val="solid"/>
          </a:ln>
          <a:effectLst>
            <a:outerShdw algn="bl" rotWithShape="0">
              <a:srgbClr val="959092">
                <a:alpha val="0"/>
              </a:srgbClr>
            </a:outerShdw>
          </a:effectLst>
        </p:spPr>
        <p:txBody>
          <a:bodyPr/>
          <a:lstStyle/>
          <a:p>
            <a:endParaRPr lang="en-US"/>
          </a:p>
        </p:txBody>
      </p:sp>
      <p:sp>
        <p:nvSpPr>
          <p:cNvPr id="32" name="Shape 28"/>
          <p:cNvSpPr/>
          <p:nvPr/>
        </p:nvSpPr>
        <p:spPr>
          <a:xfrm>
            <a:off x="4224528" y="4297680"/>
            <a:ext cx="45720" cy="530352"/>
          </a:xfrm>
          <a:prstGeom prst="rect">
            <a:avLst/>
          </a:prstGeom>
          <a:solidFill>
            <a:srgbClr val="942838"/>
          </a:solidFill>
          <a:ln/>
        </p:spPr>
        <p:txBody>
          <a:bodyPr/>
          <a:lstStyle/>
          <a:p>
            <a:endParaRPr lang="en-US"/>
          </a:p>
        </p:txBody>
      </p:sp>
      <p:sp>
        <p:nvSpPr>
          <p:cNvPr id="33" name="Text 29"/>
          <p:cNvSpPr txBox="1"/>
          <p:nvPr/>
        </p:nvSpPr>
        <p:spPr>
          <a:xfrm>
            <a:off x="4398264" y="4370832"/>
            <a:ext cx="1920240" cy="384048"/>
          </a:xfrm>
          <a:prstGeom prst="rect">
            <a:avLst/>
          </a:prstGeom>
          <a:noFill/>
          <a:ln/>
        </p:spPr>
        <p:txBody>
          <a:bodyPr wrap="square" lIns="0" tIns="0" rIns="0" bIns="0" rtlCol="0" anchor="ctr"/>
          <a:lstStyle/>
          <a:p>
            <a:pPr marL="0" indent="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Proofpoint DLP Agent</a:t>
            </a:r>
            <a:endParaRPr lang="en-US" sz="1050" dirty="0"/>
          </a:p>
        </p:txBody>
      </p:sp>
      <p:sp>
        <p:nvSpPr>
          <p:cNvPr id="34" name="Shape 30"/>
          <p:cNvSpPr/>
          <p:nvPr/>
        </p:nvSpPr>
        <p:spPr>
          <a:xfrm>
            <a:off x="6620256" y="4297680"/>
            <a:ext cx="2212848" cy="530352"/>
          </a:xfrm>
          <a:prstGeom prst="roundRect">
            <a:avLst>
              <a:gd name="adj" fmla="val 8621"/>
            </a:avLst>
          </a:prstGeom>
          <a:solidFill>
            <a:srgbClr val="F5F4F3"/>
          </a:solidFill>
          <a:ln w="9525">
            <a:solidFill>
              <a:srgbClr val="E6E4E2"/>
            </a:solidFill>
            <a:prstDash val="solid"/>
          </a:ln>
          <a:effectLst>
            <a:outerShdw algn="bl" rotWithShape="0">
              <a:srgbClr val="959092">
                <a:alpha val="0"/>
              </a:srgbClr>
            </a:outerShdw>
          </a:effectLst>
        </p:spPr>
        <p:txBody>
          <a:bodyPr/>
          <a:lstStyle/>
          <a:p>
            <a:endParaRPr lang="en-US"/>
          </a:p>
        </p:txBody>
      </p:sp>
      <p:sp>
        <p:nvSpPr>
          <p:cNvPr id="35" name="Shape 31"/>
          <p:cNvSpPr/>
          <p:nvPr/>
        </p:nvSpPr>
        <p:spPr>
          <a:xfrm>
            <a:off x="6620256" y="4297680"/>
            <a:ext cx="45720" cy="530352"/>
          </a:xfrm>
          <a:prstGeom prst="rect">
            <a:avLst/>
          </a:prstGeom>
          <a:solidFill>
            <a:srgbClr val="942838"/>
          </a:solidFill>
          <a:ln/>
        </p:spPr>
        <p:txBody>
          <a:bodyPr/>
          <a:lstStyle/>
          <a:p>
            <a:endParaRPr lang="en-US"/>
          </a:p>
        </p:txBody>
      </p:sp>
      <p:sp>
        <p:nvSpPr>
          <p:cNvPr id="36" name="Text 32"/>
          <p:cNvSpPr txBox="1"/>
          <p:nvPr/>
        </p:nvSpPr>
        <p:spPr>
          <a:xfrm>
            <a:off x="6793992" y="4370832"/>
            <a:ext cx="1920240" cy="384048"/>
          </a:xfrm>
          <a:prstGeom prst="rect">
            <a:avLst/>
          </a:prstGeom>
          <a:noFill/>
          <a:ln/>
        </p:spPr>
        <p:txBody>
          <a:bodyPr wrap="square" lIns="0" tIns="0" rIns="0" bIns="0" rtlCol="0" anchor="ctr"/>
          <a:lstStyle/>
          <a:p>
            <a:pPr marL="0" indent="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SCCM Agent</a:t>
            </a:r>
            <a:endParaRPr lang="en-US" sz="1050" dirty="0"/>
          </a:p>
        </p:txBody>
      </p:sp>
      <p:sp>
        <p:nvSpPr>
          <p:cNvPr id="37" name="Shape 33"/>
          <p:cNvSpPr/>
          <p:nvPr/>
        </p:nvSpPr>
        <p:spPr>
          <a:xfrm>
            <a:off x="9015984" y="4297680"/>
            <a:ext cx="2212848" cy="530352"/>
          </a:xfrm>
          <a:prstGeom prst="roundRect">
            <a:avLst>
              <a:gd name="adj" fmla="val 8621"/>
            </a:avLst>
          </a:prstGeom>
          <a:solidFill>
            <a:srgbClr val="F5F4F3"/>
          </a:solidFill>
          <a:ln w="9525">
            <a:solidFill>
              <a:srgbClr val="E6E4E2"/>
            </a:solidFill>
            <a:prstDash val="solid"/>
          </a:ln>
          <a:effectLst>
            <a:outerShdw algn="bl" rotWithShape="0">
              <a:srgbClr val="959092">
                <a:alpha val="0"/>
              </a:srgbClr>
            </a:outerShdw>
          </a:effectLst>
        </p:spPr>
        <p:txBody>
          <a:bodyPr/>
          <a:lstStyle/>
          <a:p>
            <a:endParaRPr lang="en-US"/>
          </a:p>
        </p:txBody>
      </p:sp>
      <p:sp>
        <p:nvSpPr>
          <p:cNvPr id="38" name="Shape 34"/>
          <p:cNvSpPr/>
          <p:nvPr/>
        </p:nvSpPr>
        <p:spPr>
          <a:xfrm>
            <a:off x="9015984" y="4297680"/>
            <a:ext cx="45720" cy="530352"/>
          </a:xfrm>
          <a:prstGeom prst="rect">
            <a:avLst/>
          </a:prstGeom>
          <a:solidFill>
            <a:srgbClr val="942838"/>
          </a:solidFill>
          <a:ln/>
        </p:spPr>
        <p:txBody>
          <a:bodyPr/>
          <a:lstStyle/>
          <a:p>
            <a:endParaRPr lang="en-US"/>
          </a:p>
        </p:txBody>
      </p:sp>
      <p:sp>
        <p:nvSpPr>
          <p:cNvPr id="39" name="Text 35"/>
          <p:cNvSpPr txBox="1"/>
          <p:nvPr/>
        </p:nvSpPr>
        <p:spPr>
          <a:xfrm>
            <a:off x="9189720" y="4370832"/>
            <a:ext cx="1920240" cy="384048"/>
          </a:xfrm>
          <a:prstGeom prst="rect">
            <a:avLst/>
          </a:prstGeom>
          <a:noFill/>
          <a:ln/>
        </p:spPr>
        <p:txBody>
          <a:bodyPr wrap="square" lIns="0" tIns="0" rIns="0" bIns="0" rtlCol="0" anchor="ctr"/>
          <a:lstStyle/>
          <a:p>
            <a:pPr marL="0" indent="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ControlUp Agent</a:t>
            </a:r>
            <a:endParaRPr lang="en-US" sz="1050" dirty="0"/>
          </a:p>
        </p:txBody>
      </p:sp>
      <p:sp>
        <p:nvSpPr>
          <p:cNvPr id="40" name="Text 36"/>
          <p:cNvSpPr txBox="1"/>
          <p:nvPr/>
        </p:nvSpPr>
        <p:spPr>
          <a:xfrm>
            <a:off x="4224528" y="4864608"/>
            <a:ext cx="7187184" cy="384048"/>
          </a:xfrm>
          <a:prstGeom prst="rect">
            <a:avLst/>
          </a:prstGeom>
          <a:noFill/>
          <a:ln/>
        </p:spPr>
        <p:txBody>
          <a:bodyPr wrap="square" lIns="0" tIns="0" rIns="0" bIns="0" rtlCol="0" anchor="t"/>
          <a:lstStyle/>
          <a:p>
            <a:pPr marL="0" indent="0">
              <a:lnSpc>
                <a:spcPct val="120000"/>
              </a:lnSpc>
              <a:buNone/>
            </a:pPr>
            <a:r>
              <a:rPr lang="en-US" sz="1100" dirty="0">
                <a:solidFill>
                  <a:srgbClr val="6E7175"/>
                </a:solidFill>
                <a:latin typeface="Montserrat" pitchFamily="34" charset="0"/>
                <a:ea typeface="Montserrat" pitchFamily="34" charset="-122"/>
                <a:cs typeface="Montserrat" pitchFamily="34" charset="-120"/>
              </a:rPr>
              <a:t>No single tool catches everything. Together they cover threat detection, web filtering, logging, vulnerability scanning, data-loss prevention, patch delivery and session visibility.</a:t>
            </a:r>
            <a:endParaRPr lang="en-US" sz="1100" dirty="0"/>
          </a:p>
        </p:txBody>
      </p:sp>
      <p:sp>
        <p:nvSpPr>
          <p:cNvPr id="41" name="Shape 37"/>
          <p:cNvSpPr/>
          <p:nvPr/>
        </p:nvSpPr>
        <p:spPr>
          <a:xfrm>
            <a:off x="4224528" y="5303520"/>
            <a:ext cx="7187184" cy="841248"/>
          </a:xfrm>
          <a:prstGeom prst="roundRect">
            <a:avLst>
              <a:gd name="adj" fmla="val 5435"/>
            </a:avLst>
          </a:prstGeom>
          <a:solidFill>
            <a:srgbClr val="F6EEF0"/>
          </a:solidFill>
          <a:ln/>
        </p:spPr>
        <p:txBody>
          <a:bodyPr/>
          <a:lstStyle/>
          <a:p>
            <a:endParaRPr lang="en-US"/>
          </a:p>
        </p:txBody>
      </p:sp>
      <p:sp>
        <p:nvSpPr>
          <p:cNvPr id="42" name="Shape 38"/>
          <p:cNvSpPr/>
          <p:nvPr/>
        </p:nvSpPr>
        <p:spPr>
          <a:xfrm>
            <a:off x="4224528" y="5303520"/>
            <a:ext cx="50292" cy="841248"/>
          </a:xfrm>
          <a:prstGeom prst="rect">
            <a:avLst/>
          </a:prstGeom>
          <a:solidFill>
            <a:srgbClr val="942838"/>
          </a:solidFill>
          <a:ln/>
        </p:spPr>
        <p:txBody>
          <a:bodyPr/>
          <a:lstStyle/>
          <a:p>
            <a:endParaRPr lang="en-US"/>
          </a:p>
        </p:txBody>
      </p:sp>
      <p:sp>
        <p:nvSpPr>
          <p:cNvPr id="43" name="Text 39"/>
          <p:cNvSpPr txBox="1"/>
          <p:nvPr/>
        </p:nvSpPr>
        <p:spPr>
          <a:xfrm>
            <a:off x="4443984" y="5431536"/>
            <a:ext cx="6766560" cy="201168"/>
          </a:xfrm>
          <a:prstGeom prst="rect">
            <a:avLst/>
          </a:prstGeom>
          <a:noFill/>
          <a:ln/>
        </p:spPr>
        <p:txBody>
          <a:bodyPr wrap="square" lIns="0" tIns="0" rIns="0" bIns="0" rtlCol="0" anchor="t"/>
          <a:lstStyle/>
          <a:p>
            <a:pPr marL="0" indent="0">
              <a:buNone/>
            </a:pPr>
            <a:r>
              <a:rPr lang="en-US" sz="850" kern="0" spc="140" dirty="0">
                <a:solidFill>
                  <a:srgbClr val="942838"/>
                </a:solidFill>
                <a:latin typeface="Montserrat SemiBold" pitchFamily="34" charset="0"/>
                <a:ea typeface="Montserrat SemiBold" pitchFamily="34" charset="-122"/>
                <a:cs typeface="Montserrat SemiBold" pitchFamily="34" charset="-120"/>
              </a:rPr>
              <a:t>THE ACTUAL GAP</a:t>
            </a:r>
            <a:endParaRPr lang="en-US" sz="850" dirty="0"/>
          </a:p>
        </p:txBody>
      </p:sp>
      <p:sp>
        <p:nvSpPr>
          <p:cNvPr id="44" name="Text 40"/>
          <p:cNvSpPr txBox="1"/>
          <p:nvPr/>
        </p:nvSpPr>
        <p:spPr>
          <a:xfrm>
            <a:off x="4443984" y="5669280"/>
            <a:ext cx="6766560" cy="402336"/>
          </a:xfrm>
          <a:prstGeom prst="rect">
            <a:avLst/>
          </a:prstGeom>
          <a:noFill/>
          <a:ln/>
        </p:spPr>
        <p:txBody>
          <a:bodyPr wrap="square" lIns="0" tIns="0" rIns="0" bIns="0" rtlCol="0" anchor="t"/>
          <a:lstStyle/>
          <a:p>
            <a:pPr marL="0" indent="0">
              <a:lnSpc>
                <a:spcPct val="118000"/>
              </a:lnSpc>
              <a:buNone/>
            </a:pPr>
            <a:r>
              <a:rPr lang="en-US" sz="1100" dirty="0">
                <a:solidFill>
                  <a:srgbClr val="43464A"/>
                </a:solidFill>
                <a:latin typeface="Montserrat" pitchFamily="34" charset="0"/>
                <a:ea typeface="Montserrat" pitchFamily="34" charset="-122"/>
                <a:cs typeface="Montserrat" pitchFamily="34" charset="-120"/>
              </a:rPr>
              <a:t>No dedicated process exists yet for installing these tools onto cloud images before deployment. My job was to define it.</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pic>
        <p:nvPicPr>
          <p:cNvPr id="2" name="Image 0" descr="/home/user/ai/assets/gen/logo-red.png"/>
          <p:cNvPicPr>
            <a:picLocks noChangeAspect="1"/>
          </p:cNvPicPr>
          <p:nvPr/>
        </p:nvPicPr>
        <p:blipFill>
          <a:blip r:embed="rId3"/>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marL="0" indent="0">
              <a:buNone/>
            </a:pPr>
            <a:r>
              <a:rPr lang="en-US" sz="1000" kern="0" spc="220" dirty="0">
                <a:solidFill>
                  <a:srgbClr val="942838"/>
                </a:solidFill>
                <a:latin typeface="Montserrat SemiBold" pitchFamily="34" charset="0"/>
                <a:ea typeface="Montserrat SemiBold" pitchFamily="34" charset="-122"/>
                <a:cs typeface="Montserrat SemiBold" pitchFamily="34" charset="-120"/>
              </a:rPr>
              <a:t>PROJECT 01  ·  WHAT I BUILT</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marL="0" indent="0">
              <a:lnSpc>
                <a:spcPct val="98000"/>
              </a:lnSpc>
              <a:buNone/>
            </a:pPr>
            <a:r>
              <a:rPr lang="en-US" sz="2900" kern="0" spc="-50" dirty="0">
                <a:solidFill>
                  <a:srgbClr val="2B2D30"/>
                </a:solidFill>
                <a:latin typeface="Montserrat ExtraBold" pitchFamily="34" charset="0"/>
                <a:ea typeface="Montserrat ExtraBold" pitchFamily="34" charset="-122"/>
                <a:cs typeface="Montserrat ExtraBold" pitchFamily="34" charset="-120"/>
              </a:rPr>
              <a:t>Building the process from scratch</a:t>
            </a:r>
            <a:endParaRPr lang="en-US" sz="2900" dirty="0"/>
          </a:p>
        </p:txBody>
      </p:sp>
      <p:sp>
        <p:nvSpPr>
          <p:cNvPr id="5" name="Shape 2"/>
          <p:cNvSpPr/>
          <p:nvPr/>
        </p:nvSpPr>
        <p:spPr>
          <a:xfrm>
            <a:off x="777240" y="1700784"/>
            <a:ext cx="566928" cy="50292"/>
          </a:xfrm>
          <a:prstGeom prst="rect">
            <a:avLst/>
          </a:prstGeom>
          <a:solidFill>
            <a:srgbClr val="942838"/>
          </a:solidFill>
          <a:ln/>
        </p:spPr>
        <p:txBody>
          <a:bodyPr/>
          <a:lstStyle/>
          <a:p>
            <a:endParaRPr lang="en-US"/>
          </a:p>
        </p:txBody>
      </p:sp>
      <p:sp>
        <p:nvSpPr>
          <p:cNvPr id="6" name="Shape 3"/>
          <p:cNvSpPr/>
          <p:nvPr/>
        </p:nvSpPr>
        <p:spPr>
          <a:xfrm>
            <a:off x="777240" y="6181344"/>
            <a:ext cx="10637215" cy="10973"/>
          </a:xfrm>
          <a:prstGeom prst="rect">
            <a:avLst/>
          </a:prstGeom>
          <a:solidFill>
            <a:srgbClr val="E6E4E2"/>
          </a:solidFill>
          <a:ln/>
        </p:spPr>
        <p:txBody>
          <a:bodyPr/>
          <a:lstStyle/>
          <a:p>
            <a:endParaRPr lang="en-US"/>
          </a:p>
        </p:txBody>
      </p:sp>
      <p:sp>
        <p:nvSpPr>
          <p:cNvPr id="7" name="Text 4"/>
          <p:cNvSpPr txBox="1"/>
          <p:nvPr/>
        </p:nvSpPr>
        <p:spPr>
          <a:xfrm>
            <a:off x="777240" y="6327648"/>
            <a:ext cx="7315200" cy="201168"/>
          </a:xfrm>
          <a:prstGeom prst="rect">
            <a:avLst/>
          </a:prstGeom>
          <a:noFill/>
          <a:ln/>
        </p:spPr>
        <p:txBody>
          <a:bodyPr wrap="square" lIns="0" tIns="0" rIns="0" bIns="0" rtlCol="0" anchor="t"/>
          <a:lstStyle/>
          <a:p>
            <a:pPr marL="0" indent="0">
              <a:buNone/>
            </a:pPr>
            <a:r>
              <a:rPr lang="en-US" sz="850" kern="0" spc="140" dirty="0">
                <a:solidFill>
                  <a:srgbClr val="6E7175"/>
                </a:solidFill>
                <a:latin typeface="Montserrat SemiBold" pitchFamily="34" charset="0"/>
                <a:ea typeface="Montserrat SemiBold" pitchFamily="34" charset="-122"/>
                <a:cs typeface="Montserrat SemiBold" pitchFamily="34" charset="-120"/>
              </a:rPr>
              <a:t>IMAGE MANAGEMENT PROGRAM</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marL="0" indent="0" algn="r">
              <a:buNone/>
            </a:pPr>
            <a:r>
              <a:rPr lang="en-US" sz="850" kern="0" spc="140" dirty="0">
                <a:solidFill>
                  <a:srgbClr val="6E7175"/>
                </a:solidFill>
                <a:latin typeface="Montserrat SemiBold" pitchFamily="34" charset="0"/>
                <a:ea typeface="Montserrat SemiBold" pitchFamily="34" charset="-122"/>
                <a:cs typeface="Montserrat SemiBold" pitchFamily="34" charset="-120"/>
              </a:rPr>
              <a:t>07</a:t>
            </a:r>
            <a:endParaRPr lang="en-US" sz="850" dirty="0"/>
          </a:p>
        </p:txBody>
      </p:sp>
      <p:sp>
        <p:nvSpPr>
          <p:cNvPr id="9" name="Text 6"/>
          <p:cNvSpPr txBox="1"/>
          <p:nvPr/>
        </p:nvSpPr>
        <p:spPr>
          <a:xfrm>
            <a:off x="777240" y="1956816"/>
            <a:ext cx="9692640" cy="329184"/>
          </a:xfrm>
          <a:prstGeom prst="rect">
            <a:avLst/>
          </a:prstGeom>
          <a:noFill/>
          <a:ln/>
        </p:spPr>
        <p:txBody>
          <a:bodyPr wrap="square" lIns="0" tIns="0" rIns="0" bIns="0" rtlCol="0" anchor="t"/>
          <a:lstStyle/>
          <a:p>
            <a:pPr marL="0" indent="0">
              <a:buNone/>
            </a:pPr>
            <a:r>
              <a:rPr lang="en-US" sz="1400" dirty="0">
                <a:solidFill>
                  <a:srgbClr val="6E7175"/>
                </a:solidFill>
                <a:latin typeface="Montserrat Medium" pitchFamily="34" charset="0"/>
                <a:ea typeface="Montserrat Medium" pitchFamily="34" charset="-122"/>
                <a:cs typeface="Montserrat Medium" pitchFamily="34" charset="-120"/>
              </a:rPr>
              <a:t>My role was to coordinate and bridge teams — define what is required, name who owns it, and get it signed off. I did not build or provision the machines myself.</a:t>
            </a:r>
            <a:endParaRPr lang="en-US" sz="1400" dirty="0"/>
          </a:p>
        </p:txBody>
      </p:sp>
      <p:sp>
        <p:nvSpPr>
          <p:cNvPr id="10" name="Shape 7"/>
          <p:cNvSpPr/>
          <p:nvPr/>
        </p:nvSpPr>
        <p:spPr>
          <a:xfrm>
            <a:off x="777240" y="2615184"/>
            <a:ext cx="3310128" cy="2212848"/>
          </a:xfrm>
          <a:prstGeom prst="roundRect">
            <a:avLst>
              <a:gd name="adj" fmla="val 2479"/>
            </a:avLst>
          </a:prstGeom>
          <a:solidFill>
            <a:srgbClr val="FFFFFF"/>
          </a:solidFill>
          <a:ln w="9525">
            <a:solidFill>
              <a:srgbClr val="E6E4E2"/>
            </a:solidFill>
            <a:prstDash val="solid"/>
          </a:ln>
          <a:effectLst>
            <a:outerShdw algn="bl" rotWithShape="0">
              <a:srgbClr val="959092">
                <a:alpha val="0"/>
              </a:srgbClr>
            </a:outerShdw>
          </a:effectLst>
        </p:spPr>
        <p:txBody>
          <a:bodyPr/>
          <a:lstStyle/>
          <a:p>
            <a:endParaRPr lang="en-US"/>
          </a:p>
        </p:txBody>
      </p:sp>
      <p:sp>
        <p:nvSpPr>
          <p:cNvPr id="11" name="Shape 8"/>
          <p:cNvSpPr/>
          <p:nvPr/>
        </p:nvSpPr>
        <p:spPr>
          <a:xfrm>
            <a:off x="1088136" y="2926080"/>
            <a:ext cx="658368" cy="658368"/>
          </a:xfrm>
          <a:prstGeom prst="roundRect">
            <a:avLst>
              <a:gd name="adj" fmla="val 8333"/>
            </a:avLst>
          </a:prstGeom>
          <a:solidFill>
            <a:srgbClr val="F6EEF0"/>
          </a:solidFill>
          <a:ln/>
        </p:spPr>
        <p:txBody>
          <a:bodyPr/>
          <a:lstStyle/>
          <a:p>
            <a:endParaRPr lang="en-US"/>
          </a:p>
        </p:txBody>
      </p:sp>
      <p:sp>
        <p:nvSpPr>
          <p:cNvPr id="12" name="Text 9"/>
          <p:cNvSpPr txBox="1"/>
          <p:nvPr/>
        </p:nvSpPr>
        <p:spPr>
          <a:xfrm>
            <a:off x="1088136" y="2926080"/>
            <a:ext cx="658368" cy="658368"/>
          </a:xfrm>
          <a:prstGeom prst="rect">
            <a:avLst/>
          </a:prstGeom>
          <a:noFill/>
          <a:ln/>
        </p:spPr>
        <p:txBody>
          <a:bodyPr wrap="square" lIns="0" tIns="0" rIns="0" bIns="0" rtlCol="0" anchor="ctr"/>
          <a:lstStyle/>
          <a:p>
            <a:pPr marL="0" indent="0" algn="ctr">
              <a:buNone/>
            </a:pPr>
            <a:r>
              <a:rPr lang="en-US" sz="2100" kern="0" spc="-50" dirty="0">
                <a:solidFill>
                  <a:srgbClr val="942838"/>
                </a:solidFill>
                <a:latin typeface="Montserrat ExtraBold" pitchFamily="34" charset="0"/>
                <a:ea typeface="Montserrat ExtraBold" pitchFamily="34" charset="-122"/>
                <a:cs typeface="Montserrat ExtraBold" pitchFamily="34" charset="-120"/>
              </a:rPr>
              <a:t>01</a:t>
            </a:r>
            <a:endParaRPr lang="en-US" sz="2100" dirty="0"/>
          </a:p>
        </p:txBody>
      </p:sp>
      <p:sp>
        <p:nvSpPr>
          <p:cNvPr id="13" name="Text 10"/>
          <p:cNvSpPr txBox="1"/>
          <p:nvPr/>
        </p:nvSpPr>
        <p:spPr>
          <a:xfrm>
            <a:off x="1088136" y="3749040"/>
            <a:ext cx="2688336" cy="329184"/>
          </a:xfrm>
          <a:prstGeom prst="rect">
            <a:avLst/>
          </a:prstGeom>
          <a:noFill/>
          <a:ln/>
        </p:spPr>
        <p:txBody>
          <a:bodyPr wrap="square" lIns="0" tIns="0" rIns="0" bIns="0" rtlCol="0" anchor="t"/>
          <a:lstStyle/>
          <a:p>
            <a:pPr marL="0" indent="0">
              <a:buNone/>
            </a:pPr>
            <a:r>
              <a:rPr lang="en-US" sz="1550" dirty="0">
                <a:solidFill>
                  <a:srgbClr val="2B2D30"/>
                </a:solidFill>
                <a:latin typeface="Montserrat SemiBold" pitchFamily="34" charset="0"/>
                <a:ea typeface="Montserrat SemiBold" pitchFamily="34" charset="-122"/>
                <a:cs typeface="Montserrat SemiBold" pitchFamily="34" charset="-120"/>
              </a:rPr>
              <a:t>Define the Tools</a:t>
            </a:r>
            <a:endParaRPr lang="en-US" sz="1550" dirty="0"/>
          </a:p>
        </p:txBody>
      </p:sp>
      <p:sp>
        <p:nvSpPr>
          <p:cNvPr id="14" name="Text 11"/>
          <p:cNvSpPr txBox="1"/>
          <p:nvPr/>
        </p:nvSpPr>
        <p:spPr>
          <a:xfrm>
            <a:off x="1088136" y="4151376"/>
            <a:ext cx="2688336" cy="658368"/>
          </a:xfrm>
          <a:prstGeom prst="rect">
            <a:avLst/>
          </a:prstGeom>
          <a:noFill/>
          <a:ln/>
        </p:spPr>
        <p:txBody>
          <a:bodyPr wrap="square" lIns="0" tIns="0" rIns="0" bIns="0" rtlCol="0" anchor="t"/>
          <a:lstStyle/>
          <a:p>
            <a:pPr marL="0" indent="0">
              <a:lnSpc>
                <a:spcPct val="122000"/>
              </a:lnSpc>
              <a:buNone/>
            </a:pPr>
            <a:r>
              <a:rPr lang="en-US" sz="1100" dirty="0">
                <a:solidFill>
                  <a:srgbClr val="6E7175"/>
                </a:solidFill>
                <a:latin typeface="Montserrat" pitchFamily="34" charset="0"/>
                <a:ea typeface="Montserrat" pitchFamily="34" charset="-122"/>
                <a:cs typeface="Montserrat" pitchFamily="34" charset="-120"/>
              </a:rPr>
              <a:t>Agree on exactly which security tools belong on every image — nine of them.</a:t>
            </a:r>
            <a:endParaRPr lang="en-US" sz="1100" dirty="0"/>
          </a:p>
        </p:txBody>
      </p:sp>
      <p:sp>
        <p:nvSpPr>
          <p:cNvPr id="15" name="Text 12"/>
          <p:cNvSpPr txBox="1"/>
          <p:nvPr/>
        </p:nvSpPr>
        <p:spPr>
          <a:xfrm>
            <a:off x="4062908" y="3438144"/>
            <a:ext cx="402336" cy="548640"/>
          </a:xfrm>
          <a:prstGeom prst="rect">
            <a:avLst/>
          </a:prstGeom>
          <a:noFill/>
          <a:ln/>
        </p:spPr>
        <p:txBody>
          <a:bodyPr wrap="square" lIns="0" tIns="0" rIns="0" bIns="0" rtlCol="0" anchor="ctr"/>
          <a:lstStyle/>
          <a:p>
            <a:pPr marL="0" indent="0" algn="ctr">
              <a:buNone/>
            </a:pPr>
            <a:r>
              <a:rPr lang="en-US" sz="3000" b="1" dirty="0">
                <a:solidFill>
                  <a:srgbClr val="C9C6C4"/>
                </a:solidFill>
                <a:latin typeface="Montserrat" pitchFamily="34" charset="0"/>
                <a:ea typeface="Montserrat" pitchFamily="34" charset="-122"/>
                <a:cs typeface="Montserrat" pitchFamily="34" charset="-120"/>
              </a:rPr>
              <a:t>›</a:t>
            </a:r>
            <a:endParaRPr lang="en-US" sz="3000" dirty="0"/>
          </a:p>
        </p:txBody>
      </p:sp>
      <p:sp>
        <p:nvSpPr>
          <p:cNvPr id="16" name="Shape 13"/>
          <p:cNvSpPr/>
          <p:nvPr/>
        </p:nvSpPr>
        <p:spPr>
          <a:xfrm>
            <a:off x="4440784" y="2615184"/>
            <a:ext cx="3310128" cy="2212848"/>
          </a:xfrm>
          <a:prstGeom prst="roundRect">
            <a:avLst>
              <a:gd name="adj" fmla="val 2479"/>
            </a:avLst>
          </a:prstGeom>
          <a:solidFill>
            <a:srgbClr val="FFFFFF"/>
          </a:solidFill>
          <a:ln w="9525">
            <a:solidFill>
              <a:srgbClr val="E6E4E2"/>
            </a:solidFill>
            <a:prstDash val="solid"/>
          </a:ln>
          <a:effectLst>
            <a:outerShdw algn="bl" rotWithShape="0">
              <a:srgbClr val="959092">
                <a:alpha val="0"/>
              </a:srgbClr>
            </a:outerShdw>
          </a:effectLst>
        </p:spPr>
        <p:txBody>
          <a:bodyPr/>
          <a:lstStyle/>
          <a:p>
            <a:endParaRPr lang="en-US"/>
          </a:p>
        </p:txBody>
      </p:sp>
      <p:sp>
        <p:nvSpPr>
          <p:cNvPr id="17" name="Shape 14"/>
          <p:cNvSpPr/>
          <p:nvPr/>
        </p:nvSpPr>
        <p:spPr>
          <a:xfrm>
            <a:off x="4751680" y="2926080"/>
            <a:ext cx="658368" cy="658368"/>
          </a:xfrm>
          <a:prstGeom prst="roundRect">
            <a:avLst>
              <a:gd name="adj" fmla="val 8333"/>
            </a:avLst>
          </a:prstGeom>
          <a:solidFill>
            <a:srgbClr val="F6EEF0"/>
          </a:solidFill>
          <a:ln/>
        </p:spPr>
        <p:txBody>
          <a:bodyPr/>
          <a:lstStyle/>
          <a:p>
            <a:endParaRPr lang="en-US"/>
          </a:p>
        </p:txBody>
      </p:sp>
      <p:sp>
        <p:nvSpPr>
          <p:cNvPr id="18" name="Text 15"/>
          <p:cNvSpPr txBox="1"/>
          <p:nvPr/>
        </p:nvSpPr>
        <p:spPr>
          <a:xfrm>
            <a:off x="4751680" y="2926080"/>
            <a:ext cx="658368" cy="658368"/>
          </a:xfrm>
          <a:prstGeom prst="rect">
            <a:avLst/>
          </a:prstGeom>
          <a:noFill/>
          <a:ln/>
        </p:spPr>
        <p:txBody>
          <a:bodyPr wrap="square" lIns="0" tIns="0" rIns="0" bIns="0" rtlCol="0" anchor="ctr"/>
          <a:lstStyle/>
          <a:p>
            <a:pPr marL="0" indent="0" algn="ctr">
              <a:buNone/>
            </a:pPr>
            <a:r>
              <a:rPr lang="en-US" sz="2100" kern="0" spc="-50" dirty="0">
                <a:solidFill>
                  <a:srgbClr val="942838"/>
                </a:solidFill>
                <a:latin typeface="Montserrat ExtraBold" pitchFamily="34" charset="0"/>
                <a:ea typeface="Montserrat ExtraBold" pitchFamily="34" charset="-122"/>
                <a:cs typeface="Montserrat ExtraBold" pitchFamily="34" charset="-120"/>
              </a:rPr>
              <a:t>02</a:t>
            </a:r>
            <a:endParaRPr lang="en-US" sz="2100" dirty="0"/>
          </a:p>
        </p:txBody>
      </p:sp>
      <p:sp>
        <p:nvSpPr>
          <p:cNvPr id="19" name="Text 16"/>
          <p:cNvSpPr txBox="1"/>
          <p:nvPr/>
        </p:nvSpPr>
        <p:spPr>
          <a:xfrm>
            <a:off x="4751680" y="3749040"/>
            <a:ext cx="2688336" cy="329184"/>
          </a:xfrm>
          <a:prstGeom prst="rect">
            <a:avLst/>
          </a:prstGeom>
          <a:noFill/>
          <a:ln/>
        </p:spPr>
        <p:txBody>
          <a:bodyPr wrap="square" lIns="0" tIns="0" rIns="0" bIns="0" rtlCol="0" anchor="t"/>
          <a:lstStyle/>
          <a:p>
            <a:pPr marL="0" indent="0">
              <a:buNone/>
            </a:pPr>
            <a:r>
              <a:rPr lang="en-US" sz="1550" dirty="0">
                <a:solidFill>
                  <a:srgbClr val="2B2D30"/>
                </a:solidFill>
                <a:latin typeface="Montserrat SemiBold" pitchFamily="34" charset="0"/>
                <a:ea typeface="Montserrat SemiBold" pitchFamily="34" charset="-122"/>
                <a:cs typeface="Montserrat SemiBold" pitchFamily="34" charset="-120"/>
              </a:rPr>
              <a:t>Define the Owners</a:t>
            </a:r>
            <a:endParaRPr lang="en-US" sz="1550" dirty="0"/>
          </a:p>
        </p:txBody>
      </p:sp>
      <p:sp>
        <p:nvSpPr>
          <p:cNvPr id="20" name="Text 17"/>
          <p:cNvSpPr txBox="1"/>
          <p:nvPr/>
        </p:nvSpPr>
        <p:spPr>
          <a:xfrm>
            <a:off x="4751680" y="4151376"/>
            <a:ext cx="2688336" cy="658368"/>
          </a:xfrm>
          <a:prstGeom prst="rect">
            <a:avLst/>
          </a:prstGeom>
          <a:noFill/>
          <a:ln/>
        </p:spPr>
        <p:txBody>
          <a:bodyPr wrap="square" lIns="0" tIns="0" rIns="0" bIns="0" rtlCol="0" anchor="t"/>
          <a:lstStyle/>
          <a:p>
            <a:pPr marL="0" indent="0">
              <a:lnSpc>
                <a:spcPct val="122000"/>
              </a:lnSpc>
              <a:buNone/>
            </a:pPr>
            <a:r>
              <a:rPr lang="en-US" sz="1100" dirty="0">
                <a:solidFill>
                  <a:srgbClr val="6E7175"/>
                </a:solidFill>
                <a:latin typeface="Montserrat" pitchFamily="34" charset="0"/>
                <a:ea typeface="Montserrat" pitchFamily="34" charset="-122"/>
                <a:cs typeface="Montserrat" pitchFamily="34" charset="-120"/>
              </a:rPr>
              <a:t>Name the team responsible for installing and maintaining each one.</a:t>
            </a:r>
            <a:endParaRPr lang="en-US" sz="1100" dirty="0"/>
          </a:p>
        </p:txBody>
      </p:sp>
      <p:sp>
        <p:nvSpPr>
          <p:cNvPr id="21" name="Text 18"/>
          <p:cNvSpPr txBox="1"/>
          <p:nvPr/>
        </p:nvSpPr>
        <p:spPr>
          <a:xfrm>
            <a:off x="7726451" y="3438144"/>
            <a:ext cx="402336" cy="548640"/>
          </a:xfrm>
          <a:prstGeom prst="rect">
            <a:avLst/>
          </a:prstGeom>
          <a:noFill/>
          <a:ln/>
        </p:spPr>
        <p:txBody>
          <a:bodyPr wrap="square" lIns="0" tIns="0" rIns="0" bIns="0" rtlCol="0" anchor="ctr"/>
          <a:lstStyle/>
          <a:p>
            <a:pPr marL="0" indent="0" algn="ctr">
              <a:buNone/>
            </a:pPr>
            <a:r>
              <a:rPr lang="en-US" sz="3000" b="1" dirty="0">
                <a:solidFill>
                  <a:srgbClr val="C9C6C4"/>
                </a:solidFill>
                <a:latin typeface="Montserrat" pitchFamily="34" charset="0"/>
                <a:ea typeface="Montserrat" pitchFamily="34" charset="-122"/>
                <a:cs typeface="Montserrat" pitchFamily="34" charset="-120"/>
              </a:rPr>
              <a:t>›</a:t>
            </a:r>
            <a:endParaRPr lang="en-US" sz="3000" dirty="0"/>
          </a:p>
        </p:txBody>
      </p:sp>
      <p:sp>
        <p:nvSpPr>
          <p:cNvPr id="22" name="Shape 19"/>
          <p:cNvSpPr/>
          <p:nvPr/>
        </p:nvSpPr>
        <p:spPr>
          <a:xfrm>
            <a:off x="8104327" y="2615184"/>
            <a:ext cx="3310128" cy="2212848"/>
          </a:xfrm>
          <a:prstGeom prst="roundRect">
            <a:avLst>
              <a:gd name="adj" fmla="val 2479"/>
            </a:avLst>
          </a:prstGeom>
          <a:solidFill>
            <a:srgbClr val="FFFFFF"/>
          </a:solidFill>
          <a:ln w="9525">
            <a:solidFill>
              <a:srgbClr val="E6E4E2"/>
            </a:solidFill>
            <a:prstDash val="solid"/>
          </a:ln>
          <a:effectLst>
            <a:outerShdw algn="bl" rotWithShape="0">
              <a:srgbClr val="959092">
                <a:alpha val="0"/>
              </a:srgbClr>
            </a:outerShdw>
          </a:effectLst>
        </p:spPr>
        <p:txBody>
          <a:bodyPr/>
          <a:lstStyle/>
          <a:p>
            <a:endParaRPr lang="en-US"/>
          </a:p>
        </p:txBody>
      </p:sp>
      <p:sp>
        <p:nvSpPr>
          <p:cNvPr id="23" name="Shape 20"/>
          <p:cNvSpPr/>
          <p:nvPr/>
        </p:nvSpPr>
        <p:spPr>
          <a:xfrm>
            <a:off x="8415223" y="2926080"/>
            <a:ext cx="658368" cy="658368"/>
          </a:xfrm>
          <a:prstGeom prst="roundRect">
            <a:avLst>
              <a:gd name="adj" fmla="val 8333"/>
            </a:avLst>
          </a:prstGeom>
          <a:solidFill>
            <a:srgbClr val="F6EEF0"/>
          </a:solidFill>
          <a:ln/>
        </p:spPr>
        <p:txBody>
          <a:bodyPr/>
          <a:lstStyle/>
          <a:p>
            <a:endParaRPr lang="en-US"/>
          </a:p>
        </p:txBody>
      </p:sp>
      <p:sp>
        <p:nvSpPr>
          <p:cNvPr id="24" name="Text 21"/>
          <p:cNvSpPr txBox="1"/>
          <p:nvPr/>
        </p:nvSpPr>
        <p:spPr>
          <a:xfrm>
            <a:off x="8415223" y="2926080"/>
            <a:ext cx="658368" cy="658368"/>
          </a:xfrm>
          <a:prstGeom prst="rect">
            <a:avLst/>
          </a:prstGeom>
          <a:noFill/>
          <a:ln/>
        </p:spPr>
        <p:txBody>
          <a:bodyPr wrap="square" lIns="0" tIns="0" rIns="0" bIns="0" rtlCol="0" anchor="ctr"/>
          <a:lstStyle/>
          <a:p>
            <a:pPr marL="0" indent="0" algn="ctr">
              <a:buNone/>
            </a:pPr>
            <a:r>
              <a:rPr lang="en-US" sz="2100" kern="0" spc="-50" dirty="0">
                <a:solidFill>
                  <a:srgbClr val="942838"/>
                </a:solidFill>
                <a:latin typeface="Montserrat ExtraBold" pitchFamily="34" charset="0"/>
                <a:ea typeface="Montserrat ExtraBold" pitchFamily="34" charset="-122"/>
                <a:cs typeface="Montserrat ExtraBold" pitchFamily="34" charset="-120"/>
              </a:rPr>
              <a:t>03</a:t>
            </a:r>
            <a:endParaRPr lang="en-US" sz="2100" dirty="0"/>
          </a:p>
        </p:txBody>
      </p:sp>
      <p:sp>
        <p:nvSpPr>
          <p:cNvPr id="25" name="Text 22"/>
          <p:cNvSpPr txBox="1"/>
          <p:nvPr/>
        </p:nvSpPr>
        <p:spPr>
          <a:xfrm>
            <a:off x="8415223" y="3749040"/>
            <a:ext cx="2688336" cy="329184"/>
          </a:xfrm>
          <a:prstGeom prst="rect">
            <a:avLst/>
          </a:prstGeom>
          <a:noFill/>
          <a:ln/>
        </p:spPr>
        <p:txBody>
          <a:bodyPr wrap="square" lIns="0" tIns="0" rIns="0" bIns="0" rtlCol="0" anchor="t"/>
          <a:lstStyle/>
          <a:p>
            <a:pPr marL="0" indent="0">
              <a:buNone/>
            </a:pPr>
            <a:r>
              <a:rPr lang="en-US" sz="1550" dirty="0">
                <a:solidFill>
                  <a:srgbClr val="2B2D30"/>
                </a:solidFill>
                <a:latin typeface="Montserrat SemiBold" pitchFamily="34" charset="0"/>
                <a:ea typeface="Montserrat SemiBold" pitchFamily="34" charset="-122"/>
                <a:cs typeface="Montserrat SemiBold" pitchFamily="34" charset="-120"/>
              </a:rPr>
              <a:t>Get It Adopted</a:t>
            </a:r>
            <a:endParaRPr lang="en-US" sz="1550" dirty="0"/>
          </a:p>
        </p:txBody>
      </p:sp>
      <p:sp>
        <p:nvSpPr>
          <p:cNvPr id="26" name="Text 23"/>
          <p:cNvSpPr txBox="1"/>
          <p:nvPr/>
        </p:nvSpPr>
        <p:spPr>
          <a:xfrm>
            <a:off x="8415223" y="4151376"/>
            <a:ext cx="2688336" cy="658368"/>
          </a:xfrm>
          <a:prstGeom prst="rect">
            <a:avLst/>
          </a:prstGeom>
          <a:noFill/>
          <a:ln/>
        </p:spPr>
        <p:txBody>
          <a:bodyPr wrap="square" lIns="0" tIns="0" rIns="0" bIns="0" rtlCol="0" anchor="t"/>
          <a:lstStyle/>
          <a:p>
            <a:pPr marL="0" indent="0">
              <a:lnSpc>
                <a:spcPct val="122000"/>
              </a:lnSpc>
              <a:buNone/>
            </a:pPr>
            <a:r>
              <a:rPr lang="en-US" sz="1100" dirty="0">
                <a:solidFill>
                  <a:srgbClr val="6E7175"/>
                </a:solidFill>
                <a:latin typeface="Montserrat" pitchFamily="34" charset="0"/>
                <a:ea typeface="Montserrat" pitchFamily="34" charset="-122"/>
                <a:cs typeface="Montserrat" pitchFamily="34" charset="-120"/>
              </a:rPr>
              <a:t>Turn that into a written framework the company formally signs off on.</a:t>
            </a:r>
            <a:endParaRPr lang="en-US" sz="1100" dirty="0"/>
          </a:p>
        </p:txBody>
      </p:sp>
      <p:sp>
        <p:nvSpPr>
          <p:cNvPr id="27" name="Shape 24"/>
          <p:cNvSpPr/>
          <p:nvPr/>
        </p:nvSpPr>
        <p:spPr>
          <a:xfrm>
            <a:off x="777240" y="5138928"/>
            <a:ext cx="10637215" cy="859536"/>
          </a:xfrm>
          <a:prstGeom prst="roundRect">
            <a:avLst>
              <a:gd name="adj" fmla="val 6383"/>
            </a:avLst>
          </a:prstGeom>
          <a:solidFill>
            <a:srgbClr val="2B2D30"/>
          </a:solidFill>
          <a:ln/>
          <a:effectLst>
            <a:outerShdw algn="bl" rotWithShape="0">
              <a:srgbClr val="959092">
                <a:alpha val="0"/>
              </a:srgbClr>
            </a:outerShdw>
          </a:effectLst>
        </p:spPr>
        <p:txBody>
          <a:bodyPr/>
          <a:lstStyle/>
          <a:p>
            <a:endParaRPr lang="en-US"/>
          </a:p>
        </p:txBody>
      </p:sp>
      <p:sp>
        <p:nvSpPr>
          <p:cNvPr id="28" name="Text 25"/>
          <p:cNvSpPr txBox="1"/>
          <p:nvPr/>
        </p:nvSpPr>
        <p:spPr>
          <a:xfrm>
            <a:off x="1069848" y="5285232"/>
            <a:ext cx="1828800" cy="201168"/>
          </a:xfrm>
          <a:prstGeom prst="rect">
            <a:avLst/>
          </a:prstGeom>
          <a:noFill/>
          <a:ln/>
        </p:spPr>
        <p:txBody>
          <a:bodyPr wrap="square" lIns="0" tIns="0" rIns="0" bIns="0" rtlCol="0" anchor="t"/>
          <a:lstStyle/>
          <a:p>
            <a:pPr marL="0" indent="0">
              <a:buNone/>
            </a:pPr>
            <a:r>
              <a:rPr lang="en-US" sz="850" kern="0" spc="140" dirty="0">
                <a:solidFill>
                  <a:srgbClr val="D9A3AE"/>
                </a:solidFill>
                <a:latin typeface="Montserrat SemiBold" pitchFamily="34" charset="0"/>
                <a:ea typeface="Montserrat SemiBold" pitchFamily="34" charset="-122"/>
                <a:cs typeface="Montserrat SemiBold" pitchFamily="34" charset="-120"/>
              </a:rPr>
              <a:t>DELIVERED</a:t>
            </a:r>
            <a:endParaRPr lang="en-US" sz="850" dirty="0"/>
          </a:p>
        </p:txBody>
      </p:sp>
      <p:sp>
        <p:nvSpPr>
          <p:cNvPr id="29" name="Text 26"/>
          <p:cNvSpPr txBox="1"/>
          <p:nvPr/>
        </p:nvSpPr>
        <p:spPr>
          <a:xfrm>
            <a:off x="1069848" y="5522976"/>
            <a:ext cx="10051999" cy="365760"/>
          </a:xfrm>
          <a:prstGeom prst="rect">
            <a:avLst/>
          </a:prstGeom>
          <a:noFill/>
          <a:ln/>
        </p:spPr>
        <p:txBody>
          <a:bodyPr wrap="square" lIns="0" tIns="0" rIns="0" bIns="0" rtlCol="0" anchor="t"/>
          <a:lstStyle/>
          <a:p>
            <a:pPr marL="0" indent="0">
              <a:lnSpc>
                <a:spcPct val="115000"/>
              </a:lnSpc>
              <a:buNone/>
            </a:pPr>
            <a:r>
              <a:rPr lang="en-US" sz="1100" dirty="0">
                <a:solidFill>
                  <a:srgbClr val="FFFFFF"/>
                </a:solidFill>
                <a:latin typeface="Montserrat" pitchFamily="34" charset="0"/>
                <a:ea typeface="Montserrat" pitchFamily="34" charset="-122"/>
                <a:cs typeface="Montserrat" pitchFamily="34" charset="-120"/>
              </a:rPr>
              <a:t>A written Roles &amp; Responsibilities framework.</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pic>
        <p:nvPicPr>
          <p:cNvPr id="2" name="Image 0" descr="/home/user/ai/assets/gen/logo-red.png"/>
          <p:cNvPicPr>
            <a:picLocks noChangeAspect="1"/>
          </p:cNvPicPr>
          <p:nvPr/>
        </p:nvPicPr>
        <p:blipFill>
          <a:blip r:embed="rId3"/>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marL="0" indent="0">
              <a:buNone/>
            </a:pPr>
            <a:r>
              <a:rPr lang="en-US" sz="1000" kern="0" spc="220" dirty="0">
                <a:solidFill>
                  <a:srgbClr val="942838"/>
                </a:solidFill>
                <a:latin typeface="Montserrat SemiBold" pitchFamily="34" charset="0"/>
                <a:ea typeface="Montserrat SemiBold" pitchFamily="34" charset="-122"/>
                <a:cs typeface="Montserrat SemiBold" pitchFamily="34" charset="-120"/>
              </a:rPr>
              <a:t>PROJECT 01  ·  WHAT COMES NEXT</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marL="0" indent="0">
              <a:lnSpc>
                <a:spcPct val="98000"/>
              </a:lnSpc>
              <a:buNone/>
            </a:pPr>
            <a:r>
              <a:rPr lang="en-US" sz="2900" kern="0" spc="-50" dirty="0">
                <a:solidFill>
                  <a:srgbClr val="2B2D30"/>
                </a:solidFill>
                <a:latin typeface="Montserrat ExtraBold" pitchFamily="34" charset="0"/>
                <a:ea typeface="Montserrat ExtraBold" pitchFamily="34" charset="-122"/>
                <a:cs typeface="Montserrat ExtraBold" pitchFamily="34" charset="-120"/>
              </a:rPr>
              <a:t>From a drafted framework to a standing process</a:t>
            </a:r>
            <a:endParaRPr lang="en-US" sz="2900" dirty="0"/>
          </a:p>
        </p:txBody>
      </p:sp>
      <p:sp>
        <p:nvSpPr>
          <p:cNvPr id="5" name="Shape 2"/>
          <p:cNvSpPr/>
          <p:nvPr/>
        </p:nvSpPr>
        <p:spPr>
          <a:xfrm>
            <a:off x="777240" y="1700784"/>
            <a:ext cx="566928" cy="50292"/>
          </a:xfrm>
          <a:prstGeom prst="rect">
            <a:avLst/>
          </a:prstGeom>
          <a:solidFill>
            <a:srgbClr val="942838"/>
          </a:solidFill>
          <a:ln/>
        </p:spPr>
        <p:txBody>
          <a:bodyPr/>
          <a:lstStyle/>
          <a:p>
            <a:endParaRPr lang="en-US"/>
          </a:p>
        </p:txBody>
      </p:sp>
      <p:sp>
        <p:nvSpPr>
          <p:cNvPr id="6" name="Shape 3"/>
          <p:cNvSpPr/>
          <p:nvPr/>
        </p:nvSpPr>
        <p:spPr>
          <a:xfrm>
            <a:off x="777240" y="6181344"/>
            <a:ext cx="10637215" cy="10973"/>
          </a:xfrm>
          <a:prstGeom prst="rect">
            <a:avLst/>
          </a:prstGeom>
          <a:solidFill>
            <a:srgbClr val="E6E4E2"/>
          </a:solidFill>
          <a:ln/>
        </p:spPr>
        <p:txBody>
          <a:bodyPr/>
          <a:lstStyle/>
          <a:p>
            <a:endParaRPr lang="en-US"/>
          </a:p>
        </p:txBody>
      </p:sp>
      <p:sp>
        <p:nvSpPr>
          <p:cNvPr id="7" name="Text 4"/>
          <p:cNvSpPr txBox="1"/>
          <p:nvPr/>
        </p:nvSpPr>
        <p:spPr>
          <a:xfrm>
            <a:off x="777240" y="6327648"/>
            <a:ext cx="7315200" cy="201168"/>
          </a:xfrm>
          <a:prstGeom prst="rect">
            <a:avLst/>
          </a:prstGeom>
          <a:noFill/>
          <a:ln/>
        </p:spPr>
        <p:txBody>
          <a:bodyPr wrap="square" lIns="0" tIns="0" rIns="0" bIns="0" rtlCol="0" anchor="t"/>
          <a:lstStyle/>
          <a:p>
            <a:pPr marL="0" indent="0">
              <a:buNone/>
            </a:pPr>
            <a:r>
              <a:rPr lang="en-US" sz="850" kern="0" spc="140" dirty="0">
                <a:solidFill>
                  <a:srgbClr val="6E7175"/>
                </a:solidFill>
                <a:latin typeface="Montserrat SemiBold" pitchFamily="34" charset="0"/>
                <a:ea typeface="Montserrat SemiBold" pitchFamily="34" charset="-122"/>
                <a:cs typeface="Montserrat SemiBold" pitchFamily="34" charset="-120"/>
              </a:rPr>
              <a:t>IMAGE MANAGEMENT PROGRAM</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marL="0" indent="0" algn="r">
              <a:buNone/>
            </a:pPr>
            <a:r>
              <a:rPr lang="en-US" sz="850" kern="0" spc="140" dirty="0">
                <a:solidFill>
                  <a:srgbClr val="6E7175"/>
                </a:solidFill>
                <a:latin typeface="Montserrat SemiBold" pitchFamily="34" charset="0"/>
                <a:ea typeface="Montserrat SemiBold" pitchFamily="34" charset="-122"/>
                <a:cs typeface="Montserrat SemiBold" pitchFamily="34" charset="-120"/>
              </a:rPr>
              <a:t>08</a:t>
            </a:r>
            <a:endParaRPr lang="en-US" sz="850" dirty="0"/>
          </a:p>
        </p:txBody>
      </p:sp>
      <p:sp>
        <p:nvSpPr>
          <p:cNvPr id="9" name="Text 6"/>
          <p:cNvSpPr txBox="1"/>
          <p:nvPr/>
        </p:nvSpPr>
        <p:spPr>
          <a:xfrm>
            <a:off x="777240" y="1975104"/>
            <a:ext cx="10241280" cy="329184"/>
          </a:xfrm>
          <a:prstGeom prst="rect">
            <a:avLst/>
          </a:prstGeom>
          <a:noFill/>
          <a:ln/>
        </p:spPr>
        <p:txBody>
          <a:bodyPr wrap="square" lIns="0" tIns="0" rIns="0" bIns="0" rtlCol="0" anchor="t"/>
          <a:lstStyle/>
          <a:p>
            <a:pPr marL="0" indent="0">
              <a:buNone/>
            </a:pPr>
            <a:r>
              <a:rPr lang="en-US" sz="1400" dirty="0">
                <a:solidFill>
                  <a:srgbClr val="6E7175"/>
                </a:solidFill>
                <a:latin typeface="Montserrat Medium" pitchFamily="34" charset="0"/>
                <a:ea typeface="Montserrat Medium" pitchFamily="34" charset="-122"/>
                <a:cs typeface="Montserrat Medium" pitchFamily="34" charset="-120"/>
              </a:rPr>
              <a:t>The framework exists on paper. Turning it into something the company runs without me is the next stretch.</a:t>
            </a:r>
            <a:endParaRPr lang="en-US" sz="1400" dirty="0"/>
          </a:p>
        </p:txBody>
      </p:sp>
      <p:sp>
        <p:nvSpPr>
          <p:cNvPr id="10" name="Shape 7"/>
          <p:cNvSpPr/>
          <p:nvPr/>
        </p:nvSpPr>
        <p:spPr>
          <a:xfrm>
            <a:off x="777240" y="2615184"/>
            <a:ext cx="3356762" cy="2304288"/>
          </a:xfrm>
          <a:prstGeom prst="roundRect">
            <a:avLst>
              <a:gd name="adj" fmla="val 2381"/>
            </a:avLst>
          </a:prstGeom>
          <a:solidFill>
            <a:srgbClr val="FFFFFF"/>
          </a:solidFill>
          <a:ln w="9525">
            <a:solidFill>
              <a:srgbClr val="E6E4E2"/>
            </a:solidFill>
            <a:prstDash val="solid"/>
          </a:ln>
          <a:effectLst>
            <a:outerShdw algn="bl" rotWithShape="0">
              <a:srgbClr val="959092">
                <a:alpha val="0"/>
              </a:srgbClr>
            </a:outerShdw>
          </a:effectLst>
        </p:spPr>
        <p:txBody>
          <a:bodyPr/>
          <a:lstStyle/>
          <a:p>
            <a:endParaRPr lang="en-US"/>
          </a:p>
        </p:txBody>
      </p:sp>
      <p:sp>
        <p:nvSpPr>
          <p:cNvPr id="11" name="Shape 8"/>
          <p:cNvSpPr/>
          <p:nvPr/>
        </p:nvSpPr>
        <p:spPr>
          <a:xfrm>
            <a:off x="777240" y="2615184"/>
            <a:ext cx="3356762" cy="45720"/>
          </a:xfrm>
          <a:prstGeom prst="rect">
            <a:avLst/>
          </a:prstGeom>
          <a:solidFill>
            <a:srgbClr val="942838"/>
          </a:solidFill>
          <a:ln/>
        </p:spPr>
        <p:txBody>
          <a:bodyPr/>
          <a:lstStyle/>
          <a:p>
            <a:endParaRPr lang="en-US"/>
          </a:p>
        </p:txBody>
      </p:sp>
      <p:sp>
        <p:nvSpPr>
          <p:cNvPr id="12" name="Text 9"/>
          <p:cNvSpPr txBox="1"/>
          <p:nvPr/>
        </p:nvSpPr>
        <p:spPr>
          <a:xfrm>
            <a:off x="1088136" y="2889504"/>
            <a:ext cx="914400" cy="310896"/>
          </a:xfrm>
          <a:prstGeom prst="rect">
            <a:avLst/>
          </a:prstGeom>
          <a:noFill/>
          <a:ln/>
        </p:spPr>
        <p:txBody>
          <a:bodyPr wrap="square" lIns="0" tIns="0" rIns="0" bIns="0" rtlCol="0" anchor="t"/>
          <a:lstStyle/>
          <a:p>
            <a:pPr marL="0" indent="0">
              <a:buNone/>
            </a:pPr>
            <a:r>
              <a:rPr lang="en-US" sz="2000" kern="0" spc="-30" dirty="0">
                <a:solidFill>
                  <a:srgbClr val="DFBEC4"/>
                </a:solidFill>
                <a:latin typeface="Montserrat ExtraBold" pitchFamily="34" charset="0"/>
                <a:ea typeface="Montserrat ExtraBold" pitchFamily="34" charset="-122"/>
                <a:cs typeface="Montserrat ExtraBold" pitchFamily="34" charset="-120"/>
              </a:rPr>
              <a:t>01</a:t>
            </a:r>
            <a:endParaRPr lang="en-US" sz="2000" dirty="0"/>
          </a:p>
        </p:txBody>
      </p:sp>
      <p:sp>
        <p:nvSpPr>
          <p:cNvPr id="13" name="Text 10"/>
          <p:cNvSpPr txBox="1"/>
          <p:nvPr/>
        </p:nvSpPr>
        <p:spPr>
          <a:xfrm>
            <a:off x="1088136" y="3291840"/>
            <a:ext cx="2734970" cy="365760"/>
          </a:xfrm>
          <a:prstGeom prst="rect">
            <a:avLst/>
          </a:prstGeom>
          <a:noFill/>
          <a:ln/>
        </p:spPr>
        <p:txBody>
          <a:bodyPr wrap="square" lIns="0" tIns="0" rIns="0" bIns="0" rtlCol="0" anchor="t"/>
          <a:lstStyle/>
          <a:p>
            <a:pPr marL="0" indent="0">
              <a:buNone/>
            </a:pPr>
            <a:r>
              <a:rPr lang="en-US" sz="1500" dirty="0">
                <a:solidFill>
                  <a:srgbClr val="2B2D30"/>
                </a:solidFill>
                <a:latin typeface="Montserrat SemiBold" pitchFamily="34" charset="0"/>
                <a:ea typeface="Montserrat SemiBold" pitchFamily="34" charset="-122"/>
                <a:cs typeface="Montserrat SemiBold" pitchFamily="34" charset="-120"/>
              </a:rPr>
              <a:t>Formal adoption</a:t>
            </a:r>
            <a:endParaRPr lang="en-US" sz="1500" dirty="0"/>
          </a:p>
        </p:txBody>
      </p:sp>
      <p:sp>
        <p:nvSpPr>
          <p:cNvPr id="14" name="Text 11"/>
          <p:cNvSpPr txBox="1"/>
          <p:nvPr/>
        </p:nvSpPr>
        <p:spPr>
          <a:xfrm>
            <a:off x="1088136" y="3730752"/>
            <a:ext cx="2734970" cy="1463040"/>
          </a:xfrm>
          <a:prstGeom prst="rect">
            <a:avLst/>
          </a:prstGeom>
          <a:noFill/>
          <a:ln/>
        </p:spPr>
        <p:txBody>
          <a:bodyPr wrap="square" lIns="0" tIns="0" rIns="0" bIns="0" rtlCol="0" anchor="t"/>
          <a:lstStyle/>
          <a:p>
            <a:pPr marL="0" indent="0">
              <a:lnSpc>
                <a:spcPct val="126000"/>
              </a:lnSpc>
              <a:buNone/>
            </a:pPr>
            <a:r>
              <a:rPr lang="en-US" sz="1100" dirty="0">
                <a:solidFill>
                  <a:srgbClr val="6E7175"/>
                </a:solidFill>
                <a:latin typeface="Montserrat" pitchFamily="34" charset="0"/>
                <a:ea typeface="Montserrat" pitchFamily="34" charset="-122"/>
                <a:cs typeface="Montserrat" pitchFamily="34" charset="-120"/>
              </a:rPr>
              <a:t>The framework is drafted and staged for review. It goes for sign-off once the policy manager returns in Q4.</a:t>
            </a:r>
            <a:endParaRPr lang="en-US" sz="1100" dirty="0"/>
          </a:p>
        </p:txBody>
      </p:sp>
      <p:sp>
        <p:nvSpPr>
          <p:cNvPr id="15" name="Shape 12"/>
          <p:cNvSpPr/>
          <p:nvPr/>
        </p:nvSpPr>
        <p:spPr>
          <a:xfrm>
            <a:off x="4417466" y="2615184"/>
            <a:ext cx="3356762" cy="2304288"/>
          </a:xfrm>
          <a:prstGeom prst="roundRect">
            <a:avLst>
              <a:gd name="adj" fmla="val 2381"/>
            </a:avLst>
          </a:prstGeom>
          <a:solidFill>
            <a:srgbClr val="FFFFFF"/>
          </a:solidFill>
          <a:ln w="9525">
            <a:solidFill>
              <a:srgbClr val="E6E4E2"/>
            </a:solidFill>
            <a:prstDash val="solid"/>
          </a:ln>
          <a:effectLst>
            <a:outerShdw algn="bl" rotWithShape="0">
              <a:srgbClr val="959092">
                <a:alpha val="0"/>
              </a:srgbClr>
            </a:outerShdw>
          </a:effectLst>
        </p:spPr>
        <p:txBody>
          <a:bodyPr/>
          <a:lstStyle/>
          <a:p>
            <a:endParaRPr lang="en-US"/>
          </a:p>
        </p:txBody>
      </p:sp>
      <p:sp>
        <p:nvSpPr>
          <p:cNvPr id="16" name="Shape 13"/>
          <p:cNvSpPr/>
          <p:nvPr/>
        </p:nvSpPr>
        <p:spPr>
          <a:xfrm>
            <a:off x="4417466" y="2615184"/>
            <a:ext cx="3356762" cy="45720"/>
          </a:xfrm>
          <a:prstGeom prst="rect">
            <a:avLst/>
          </a:prstGeom>
          <a:solidFill>
            <a:srgbClr val="942838"/>
          </a:solidFill>
          <a:ln/>
        </p:spPr>
        <p:txBody>
          <a:bodyPr/>
          <a:lstStyle/>
          <a:p>
            <a:endParaRPr lang="en-US"/>
          </a:p>
        </p:txBody>
      </p:sp>
      <p:sp>
        <p:nvSpPr>
          <p:cNvPr id="17" name="Text 14"/>
          <p:cNvSpPr txBox="1"/>
          <p:nvPr/>
        </p:nvSpPr>
        <p:spPr>
          <a:xfrm>
            <a:off x="4728362" y="2889504"/>
            <a:ext cx="914400" cy="310896"/>
          </a:xfrm>
          <a:prstGeom prst="rect">
            <a:avLst/>
          </a:prstGeom>
          <a:noFill/>
          <a:ln/>
        </p:spPr>
        <p:txBody>
          <a:bodyPr wrap="square" lIns="0" tIns="0" rIns="0" bIns="0" rtlCol="0" anchor="t"/>
          <a:lstStyle/>
          <a:p>
            <a:pPr marL="0" indent="0">
              <a:buNone/>
            </a:pPr>
            <a:r>
              <a:rPr lang="en-US" sz="2000" kern="0" spc="-30" dirty="0">
                <a:solidFill>
                  <a:srgbClr val="DFBEC4"/>
                </a:solidFill>
                <a:latin typeface="Montserrat ExtraBold" pitchFamily="34" charset="0"/>
                <a:ea typeface="Montserrat ExtraBold" pitchFamily="34" charset="-122"/>
                <a:cs typeface="Montserrat ExtraBold" pitchFamily="34" charset="-120"/>
              </a:rPr>
              <a:t>02</a:t>
            </a:r>
            <a:endParaRPr lang="en-US" sz="2000" dirty="0"/>
          </a:p>
        </p:txBody>
      </p:sp>
      <p:sp>
        <p:nvSpPr>
          <p:cNvPr id="18" name="Text 15"/>
          <p:cNvSpPr txBox="1"/>
          <p:nvPr/>
        </p:nvSpPr>
        <p:spPr>
          <a:xfrm>
            <a:off x="4728362" y="3291840"/>
            <a:ext cx="2734970" cy="365760"/>
          </a:xfrm>
          <a:prstGeom prst="rect">
            <a:avLst/>
          </a:prstGeom>
          <a:noFill/>
          <a:ln/>
        </p:spPr>
        <p:txBody>
          <a:bodyPr wrap="square" lIns="0" tIns="0" rIns="0" bIns="0" rtlCol="0" anchor="t"/>
          <a:lstStyle/>
          <a:p>
            <a:pPr marL="0" indent="0">
              <a:buNone/>
            </a:pPr>
            <a:r>
              <a:rPr lang="en-US" sz="1500" dirty="0">
                <a:solidFill>
                  <a:srgbClr val="2B2D30"/>
                </a:solidFill>
                <a:latin typeface="Montserrat SemiBold" pitchFamily="34" charset="0"/>
                <a:ea typeface="Montserrat SemiBold" pitchFamily="34" charset="-122"/>
                <a:cs typeface="Montserrat SemiBold" pitchFamily="34" charset="-120"/>
              </a:rPr>
              <a:t>Owners take it from here</a:t>
            </a:r>
            <a:endParaRPr lang="en-US" sz="1500" dirty="0"/>
          </a:p>
        </p:txBody>
      </p:sp>
      <p:sp>
        <p:nvSpPr>
          <p:cNvPr id="19" name="Text 16"/>
          <p:cNvSpPr txBox="1"/>
          <p:nvPr/>
        </p:nvSpPr>
        <p:spPr>
          <a:xfrm>
            <a:off x="4728362" y="3730752"/>
            <a:ext cx="2734970" cy="1463040"/>
          </a:xfrm>
          <a:prstGeom prst="rect">
            <a:avLst/>
          </a:prstGeom>
          <a:noFill/>
          <a:ln/>
        </p:spPr>
        <p:txBody>
          <a:bodyPr wrap="square" lIns="0" tIns="0" rIns="0" bIns="0" rtlCol="0" anchor="t"/>
          <a:lstStyle/>
          <a:p>
            <a:pPr marL="0" indent="0">
              <a:lnSpc>
                <a:spcPct val="126000"/>
              </a:lnSpc>
              <a:buNone/>
            </a:pPr>
            <a:r>
              <a:rPr lang="en-US" sz="1100" dirty="0">
                <a:solidFill>
                  <a:srgbClr val="6E7175"/>
                </a:solidFill>
                <a:latin typeface="Montserrat" pitchFamily="34" charset="0"/>
                <a:ea typeface="Montserrat" pitchFamily="34" charset="-122"/>
                <a:cs typeface="Montserrat" pitchFamily="34" charset="-120"/>
              </a:rPr>
              <a:t>Each named team picks up the tool it owns, so responsibility sits with the people who can act on it.</a:t>
            </a:r>
            <a:endParaRPr lang="en-US" sz="1100" dirty="0"/>
          </a:p>
        </p:txBody>
      </p:sp>
      <p:sp>
        <p:nvSpPr>
          <p:cNvPr id="20" name="Shape 17"/>
          <p:cNvSpPr/>
          <p:nvPr/>
        </p:nvSpPr>
        <p:spPr>
          <a:xfrm>
            <a:off x="8057693" y="2615184"/>
            <a:ext cx="3356762" cy="2304288"/>
          </a:xfrm>
          <a:prstGeom prst="roundRect">
            <a:avLst>
              <a:gd name="adj" fmla="val 2381"/>
            </a:avLst>
          </a:prstGeom>
          <a:solidFill>
            <a:srgbClr val="FFFFFF"/>
          </a:solidFill>
          <a:ln w="9525">
            <a:solidFill>
              <a:srgbClr val="E6E4E2"/>
            </a:solidFill>
            <a:prstDash val="solid"/>
          </a:ln>
          <a:effectLst>
            <a:outerShdw algn="bl" rotWithShape="0">
              <a:srgbClr val="959092">
                <a:alpha val="0"/>
              </a:srgbClr>
            </a:outerShdw>
          </a:effectLst>
        </p:spPr>
        <p:txBody>
          <a:bodyPr/>
          <a:lstStyle/>
          <a:p>
            <a:endParaRPr lang="en-US"/>
          </a:p>
        </p:txBody>
      </p:sp>
      <p:sp>
        <p:nvSpPr>
          <p:cNvPr id="21" name="Shape 18"/>
          <p:cNvSpPr/>
          <p:nvPr/>
        </p:nvSpPr>
        <p:spPr>
          <a:xfrm>
            <a:off x="8057693" y="2615184"/>
            <a:ext cx="3356762" cy="45720"/>
          </a:xfrm>
          <a:prstGeom prst="rect">
            <a:avLst/>
          </a:prstGeom>
          <a:solidFill>
            <a:srgbClr val="942838"/>
          </a:solidFill>
          <a:ln/>
        </p:spPr>
        <p:txBody>
          <a:bodyPr/>
          <a:lstStyle/>
          <a:p>
            <a:endParaRPr lang="en-US"/>
          </a:p>
        </p:txBody>
      </p:sp>
      <p:sp>
        <p:nvSpPr>
          <p:cNvPr id="22" name="Text 19"/>
          <p:cNvSpPr txBox="1"/>
          <p:nvPr/>
        </p:nvSpPr>
        <p:spPr>
          <a:xfrm>
            <a:off x="8368589" y="2889504"/>
            <a:ext cx="914400" cy="310896"/>
          </a:xfrm>
          <a:prstGeom prst="rect">
            <a:avLst/>
          </a:prstGeom>
          <a:noFill/>
          <a:ln/>
        </p:spPr>
        <p:txBody>
          <a:bodyPr wrap="square" lIns="0" tIns="0" rIns="0" bIns="0" rtlCol="0" anchor="t"/>
          <a:lstStyle/>
          <a:p>
            <a:pPr marL="0" indent="0">
              <a:buNone/>
            </a:pPr>
            <a:r>
              <a:rPr lang="en-US" sz="2000" kern="0" spc="-30" dirty="0">
                <a:solidFill>
                  <a:srgbClr val="DFBEC4"/>
                </a:solidFill>
                <a:latin typeface="Montserrat ExtraBold" pitchFamily="34" charset="0"/>
                <a:ea typeface="Montserrat ExtraBold" pitchFamily="34" charset="-122"/>
                <a:cs typeface="Montserrat ExtraBold" pitchFamily="34" charset="-120"/>
              </a:rPr>
              <a:t>03</a:t>
            </a:r>
            <a:endParaRPr lang="en-US" sz="2000" dirty="0"/>
          </a:p>
        </p:txBody>
      </p:sp>
      <p:sp>
        <p:nvSpPr>
          <p:cNvPr id="23" name="Text 20"/>
          <p:cNvSpPr txBox="1"/>
          <p:nvPr/>
        </p:nvSpPr>
        <p:spPr>
          <a:xfrm>
            <a:off x="8368589" y="3291840"/>
            <a:ext cx="2734970" cy="365760"/>
          </a:xfrm>
          <a:prstGeom prst="rect">
            <a:avLst/>
          </a:prstGeom>
          <a:noFill/>
          <a:ln/>
        </p:spPr>
        <p:txBody>
          <a:bodyPr wrap="square" lIns="0" tIns="0" rIns="0" bIns="0" rtlCol="0" anchor="t"/>
          <a:lstStyle/>
          <a:p>
            <a:pPr marL="0" indent="0">
              <a:buNone/>
            </a:pPr>
            <a:r>
              <a:rPr lang="en-US" sz="1500" dirty="0">
                <a:solidFill>
                  <a:srgbClr val="2B2D30"/>
                </a:solidFill>
                <a:latin typeface="Montserrat SemiBold" pitchFamily="34" charset="0"/>
                <a:ea typeface="Montserrat SemiBold" pitchFamily="34" charset="-122"/>
                <a:cs typeface="Montserrat SemiBold" pitchFamily="34" charset="-120"/>
              </a:rPr>
              <a:t>Check before deploy</a:t>
            </a:r>
            <a:endParaRPr lang="en-US" sz="1500" dirty="0"/>
          </a:p>
        </p:txBody>
      </p:sp>
      <p:sp>
        <p:nvSpPr>
          <p:cNvPr id="24" name="Text 21"/>
          <p:cNvSpPr txBox="1"/>
          <p:nvPr/>
        </p:nvSpPr>
        <p:spPr>
          <a:xfrm>
            <a:off x="8368589" y="3730752"/>
            <a:ext cx="2734970" cy="1463040"/>
          </a:xfrm>
          <a:prstGeom prst="rect">
            <a:avLst/>
          </a:prstGeom>
          <a:noFill/>
          <a:ln/>
        </p:spPr>
        <p:txBody>
          <a:bodyPr wrap="square" lIns="0" tIns="0" rIns="0" bIns="0" rtlCol="0" anchor="t"/>
          <a:lstStyle/>
          <a:p>
            <a:pPr marL="0" indent="0">
              <a:lnSpc>
                <a:spcPct val="126000"/>
              </a:lnSpc>
              <a:buNone/>
            </a:pPr>
            <a:r>
              <a:rPr lang="en-US" sz="1100" dirty="0">
                <a:solidFill>
                  <a:srgbClr val="6E7175"/>
                </a:solidFill>
                <a:latin typeface="Montserrat" pitchFamily="34" charset="0"/>
                <a:ea typeface="Montserrat" pitchFamily="34" charset="-122"/>
                <a:cs typeface="Montserrat" pitchFamily="34" charset="-120"/>
              </a:rPr>
              <a:t>The natural next step is a check that a newly built image actually carries all nine tools before it goes live.</a:t>
            </a:r>
            <a:endParaRPr lang="en-US" sz="1100" dirty="0"/>
          </a:p>
        </p:txBody>
      </p:sp>
      <p:sp>
        <p:nvSpPr>
          <p:cNvPr id="25" name="Text 22"/>
          <p:cNvSpPr txBox="1"/>
          <p:nvPr/>
        </p:nvSpPr>
        <p:spPr>
          <a:xfrm>
            <a:off x="777240" y="5230368"/>
            <a:ext cx="10637215" cy="274320"/>
          </a:xfrm>
          <a:prstGeom prst="rect">
            <a:avLst/>
          </a:prstGeom>
          <a:noFill/>
          <a:ln/>
        </p:spPr>
        <p:txBody>
          <a:bodyPr wrap="square" lIns="0" tIns="0" rIns="0" bIns="0" rtlCol="0" anchor="t"/>
          <a:lstStyle/>
          <a:p>
            <a:pPr marL="0" indent="0">
              <a:buNone/>
            </a:pPr>
            <a:r>
              <a:rPr lang="en-US" sz="1150" dirty="0">
                <a:solidFill>
                  <a:srgbClr val="2B2D30"/>
                </a:solidFill>
                <a:latin typeface="Montserrat SemiBold" pitchFamily="34" charset="0"/>
                <a:ea typeface="Montserrat SemiBold" pitchFamily="34" charset="-122"/>
                <a:cs typeface="Montserrat SemiBold" pitchFamily="34" charset="-120"/>
              </a:rPr>
              <a:t>The honest status:</a:t>
            </a:r>
            <a:r>
              <a:rPr lang="en-US" sz="1150" dirty="0">
                <a:solidFill>
                  <a:srgbClr val="6E7175"/>
                </a:solidFill>
                <a:latin typeface="Montserrat" pitchFamily="34" charset="0"/>
                <a:ea typeface="Montserrat" pitchFamily="34" charset="-122"/>
                <a:cs typeface="Montserrat" pitchFamily="34" charset="-120"/>
              </a:rPr>
              <a:t>  drafted and staged for review, not yet formally adopted. The decision sits with the policy manager in Q4.</a:t>
            </a:r>
            <a:endParaRPr lang="en-US" sz="1150" dirty="0"/>
          </a:p>
        </p:txBody>
      </p:sp>
      <p:sp>
        <p:nvSpPr>
          <p:cNvPr id="26" name="Text 23"/>
          <p:cNvSpPr txBox="1"/>
          <p:nvPr/>
        </p:nvSpPr>
        <p:spPr>
          <a:xfrm>
            <a:off x="777240" y="5577840"/>
            <a:ext cx="10637215" cy="274320"/>
          </a:xfrm>
          <a:prstGeom prst="rect">
            <a:avLst/>
          </a:prstGeom>
          <a:noFill/>
          <a:ln/>
        </p:spPr>
        <p:txBody>
          <a:bodyPr wrap="square" lIns="0" tIns="0" rIns="0" bIns="0" rtlCol="0" anchor="t"/>
          <a:lstStyle/>
          <a:p>
            <a:pPr marL="0" indent="0">
              <a:buNone/>
            </a:pPr>
            <a:r>
              <a:rPr lang="en-US" sz="1100" dirty="0">
                <a:solidFill>
                  <a:srgbClr val="942838"/>
                </a:solidFill>
                <a:latin typeface="Montserrat" pitchFamily="34" charset="0"/>
                <a:ea typeface="Montserrat" pitchFamily="34" charset="-122"/>
                <a:cs typeface="Montserrat" pitchFamily="34" charset="-120"/>
              </a:rPr>
              <a:t>It also closes an audit gap: once adopted, we can show that every new machine met a defined security baseline before it was deployed.</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home/user/ai/assets/gen/panel-red.png"/>
          <p:cNvPicPr>
            <a:picLocks noChangeAspect="1"/>
          </p:cNvPicPr>
          <p:nvPr/>
        </p:nvPicPr>
        <p:blipFill>
          <a:blip r:embed="rId3"/>
          <a:stretch>
            <a:fillRect/>
          </a:stretch>
        </p:blipFill>
        <p:spPr>
          <a:xfrm>
            <a:off x="0" y="0"/>
            <a:ext cx="12191695" cy="6858000"/>
          </a:xfrm>
          <a:prstGeom prst="rect">
            <a:avLst/>
          </a:prstGeom>
        </p:spPr>
      </p:pic>
      <p:pic>
        <p:nvPicPr>
          <p:cNvPr id="3" name="Image 1" descr="/home/user/ai/assets/gen/mark-slash-faint.png"/>
          <p:cNvPicPr>
            <a:picLocks noChangeAspect="1"/>
          </p:cNvPicPr>
          <p:nvPr/>
        </p:nvPicPr>
        <p:blipFill>
          <a:blip r:embed="rId4"/>
          <a:stretch>
            <a:fillRect/>
          </a:stretch>
        </p:blipFill>
        <p:spPr>
          <a:xfrm>
            <a:off x="8229600" y="365760"/>
            <a:ext cx="5120640" cy="5120640"/>
          </a:xfrm>
          <a:prstGeom prst="rect">
            <a:avLst/>
          </a:prstGeom>
        </p:spPr>
      </p:pic>
      <p:sp>
        <p:nvSpPr>
          <p:cNvPr id="4" name="Text 0"/>
          <p:cNvSpPr txBox="1"/>
          <p:nvPr/>
        </p:nvSpPr>
        <p:spPr>
          <a:xfrm>
            <a:off x="6766560" y="566928"/>
            <a:ext cx="4754880" cy="4206240"/>
          </a:xfrm>
          <a:prstGeom prst="rect">
            <a:avLst/>
          </a:prstGeom>
          <a:noFill/>
          <a:ln/>
        </p:spPr>
        <p:txBody>
          <a:bodyPr wrap="square" lIns="0" tIns="0" rIns="0" bIns="0" rtlCol="0" anchor="t"/>
          <a:lstStyle/>
          <a:p>
            <a:pPr marL="0" indent="0" algn="r">
              <a:buNone/>
            </a:pPr>
            <a:r>
              <a:rPr lang="en-US" sz="21000" kern="0" spc="-800" dirty="0">
                <a:solidFill>
                  <a:srgbClr val="B9737E">
                    <a:alpha val="38000"/>
                  </a:srgbClr>
                </a:solidFill>
                <a:latin typeface="Montserrat ExtraBold" pitchFamily="34" charset="0"/>
                <a:ea typeface="Montserrat ExtraBold" pitchFamily="34" charset="-122"/>
                <a:cs typeface="Montserrat ExtraBold" pitchFamily="34" charset="-120"/>
              </a:rPr>
              <a:t>02</a:t>
            </a:r>
            <a:endParaRPr lang="en-US" sz="21000" dirty="0"/>
          </a:p>
        </p:txBody>
      </p:sp>
      <p:sp>
        <p:nvSpPr>
          <p:cNvPr id="5" name="Text 1"/>
          <p:cNvSpPr txBox="1"/>
          <p:nvPr/>
        </p:nvSpPr>
        <p:spPr>
          <a:xfrm>
            <a:off x="777240" y="2395728"/>
            <a:ext cx="6400800" cy="256032"/>
          </a:xfrm>
          <a:prstGeom prst="rect">
            <a:avLst/>
          </a:prstGeom>
          <a:noFill/>
          <a:ln/>
        </p:spPr>
        <p:txBody>
          <a:bodyPr wrap="square" lIns="0" tIns="0" rIns="0" bIns="0" rtlCol="0" anchor="t"/>
          <a:lstStyle/>
          <a:p>
            <a:pPr marL="0" indent="0">
              <a:buNone/>
            </a:pPr>
            <a:r>
              <a:rPr lang="en-US" sz="1000" kern="0" spc="220" dirty="0">
                <a:solidFill>
                  <a:srgbClr val="E4C9CE"/>
                </a:solidFill>
                <a:latin typeface="Montserrat SemiBold" pitchFamily="34" charset="0"/>
                <a:ea typeface="Montserrat SemiBold" pitchFamily="34" charset="-122"/>
                <a:cs typeface="Montserrat SemiBold" pitchFamily="34" charset="-120"/>
              </a:rPr>
              <a:t>PROJECT 02</a:t>
            </a:r>
            <a:endParaRPr lang="en-US" sz="1000" dirty="0"/>
          </a:p>
        </p:txBody>
      </p:sp>
      <p:sp>
        <p:nvSpPr>
          <p:cNvPr id="6" name="Text 2"/>
          <p:cNvSpPr txBox="1"/>
          <p:nvPr/>
        </p:nvSpPr>
        <p:spPr>
          <a:xfrm>
            <a:off x="777240" y="2743200"/>
            <a:ext cx="6766560" cy="1280160"/>
          </a:xfrm>
          <a:prstGeom prst="rect">
            <a:avLst/>
          </a:prstGeom>
          <a:noFill/>
          <a:ln/>
        </p:spPr>
        <p:txBody>
          <a:bodyPr wrap="square" lIns="0" tIns="0" rIns="0" bIns="0" rtlCol="0" anchor="t"/>
          <a:lstStyle/>
          <a:p>
            <a:pPr marL="0" indent="0">
              <a:lnSpc>
                <a:spcPct val="98000"/>
              </a:lnSpc>
              <a:buNone/>
            </a:pPr>
            <a:r>
              <a:rPr lang="en-US" sz="4100" kern="0" spc="-90" dirty="0">
                <a:solidFill>
                  <a:srgbClr val="FFFFFF"/>
                </a:solidFill>
                <a:latin typeface="Montserrat ExtraBold" pitchFamily="34" charset="0"/>
                <a:ea typeface="Montserrat ExtraBold" pitchFamily="34" charset="-122"/>
                <a:cs typeface="Montserrat ExtraBold" pitchFamily="34" charset="-120"/>
              </a:rPr>
              <a:t>AEGIS — Supply-Chain Defense</a:t>
            </a:r>
            <a:endParaRPr lang="en-US" sz="4100" dirty="0"/>
          </a:p>
        </p:txBody>
      </p:sp>
      <p:sp>
        <p:nvSpPr>
          <p:cNvPr id="7" name="Shape 3"/>
          <p:cNvSpPr/>
          <p:nvPr/>
        </p:nvSpPr>
        <p:spPr>
          <a:xfrm>
            <a:off x="777240" y="4114800"/>
            <a:ext cx="640080" cy="50292"/>
          </a:xfrm>
          <a:prstGeom prst="rect">
            <a:avLst/>
          </a:prstGeom>
          <a:solidFill>
            <a:srgbClr val="FFFFFF"/>
          </a:solidFill>
          <a:ln/>
        </p:spPr>
        <p:txBody>
          <a:bodyPr/>
          <a:lstStyle/>
          <a:p>
            <a:endParaRPr lang="en-US"/>
          </a:p>
        </p:txBody>
      </p:sp>
      <p:sp>
        <p:nvSpPr>
          <p:cNvPr id="8" name="Text 4"/>
          <p:cNvSpPr txBox="1"/>
          <p:nvPr/>
        </p:nvSpPr>
        <p:spPr>
          <a:xfrm>
            <a:off x="777240" y="4389120"/>
            <a:ext cx="6309360" cy="731520"/>
          </a:xfrm>
          <a:prstGeom prst="rect">
            <a:avLst/>
          </a:prstGeom>
          <a:noFill/>
          <a:ln/>
        </p:spPr>
        <p:txBody>
          <a:bodyPr wrap="square" lIns="0" tIns="0" rIns="0" bIns="0" rtlCol="0" anchor="t"/>
          <a:lstStyle/>
          <a:p>
            <a:pPr marL="0" indent="0">
              <a:lnSpc>
                <a:spcPct val="125000"/>
              </a:lnSpc>
              <a:buNone/>
            </a:pPr>
            <a:r>
              <a:rPr lang="en-US" sz="1400" dirty="0">
                <a:solidFill>
                  <a:srgbClr val="DAB4BA"/>
                </a:solidFill>
                <a:latin typeface="Montserrat Medium" pitchFamily="34" charset="0"/>
                <a:ea typeface="Montserrat Medium" pitchFamily="34" charset="-122"/>
                <a:cs typeface="Montserrat Medium" pitchFamily="34" charset="-120"/>
              </a:rPr>
              <a:t>Catching risky code hidden inside the open-source packages our software depends on.</a:t>
            </a:r>
            <a:endParaRPr lang="en-US" sz="1400" dirty="0"/>
          </a:p>
        </p:txBody>
      </p:sp>
      <p:pic>
        <p:nvPicPr>
          <p:cNvPr id="9" name="Image 2" descr="/home/user/ai/assets/gen/logo-white.png"/>
          <p:cNvPicPr>
            <a:picLocks noChangeAspect="1"/>
          </p:cNvPicPr>
          <p:nvPr/>
        </p:nvPicPr>
        <p:blipFill>
          <a:blip r:embed="rId5"/>
          <a:stretch>
            <a:fillRect/>
          </a:stretch>
        </p:blipFill>
        <p:spPr>
          <a:xfrm>
            <a:off x="9768535" y="457200"/>
            <a:ext cx="1645920" cy="166053"/>
          </a:xfrm>
          <a:prstGeom prst="rect">
            <a:avLst/>
          </a:prstGeom>
        </p:spPr>
      </p:pic>
      <p:sp>
        <p:nvSpPr>
          <p:cNvPr id="10" name="Text 5"/>
          <p:cNvSpPr txBox="1"/>
          <p:nvPr/>
        </p:nvSpPr>
        <p:spPr>
          <a:xfrm>
            <a:off x="777240" y="6327648"/>
            <a:ext cx="7315200" cy="201168"/>
          </a:xfrm>
          <a:prstGeom prst="rect">
            <a:avLst/>
          </a:prstGeom>
          <a:noFill/>
          <a:ln/>
        </p:spPr>
        <p:txBody>
          <a:bodyPr wrap="square" lIns="0" tIns="0" rIns="0" bIns="0" rtlCol="0" anchor="t"/>
          <a:lstStyle/>
          <a:p>
            <a:pPr marL="0" indent="0">
              <a:buNone/>
            </a:pPr>
            <a:r>
              <a:rPr lang="en-US" sz="850" kern="0" spc="140" dirty="0">
                <a:solidFill>
                  <a:srgbClr val="E4C9CE"/>
                </a:solidFill>
                <a:latin typeface="Montserrat SemiBold" pitchFamily="34" charset="0"/>
                <a:ea typeface="Montserrat SemiBold" pitchFamily="34" charset="-122"/>
                <a:cs typeface="Montserrat SemiBold" pitchFamily="34" charset="-120"/>
              </a:rPr>
              <a:t>PROJECT 02</a:t>
            </a:r>
            <a:endParaRPr lang="en-US" sz="850" dirty="0"/>
          </a:p>
        </p:txBody>
      </p:sp>
      <p:sp>
        <p:nvSpPr>
          <p:cNvPr id="11" name="Text 6"/>
          <p:cNvSpPr txBox="1"/>
          <p:nvPr/>
        </p:nvSpPr>
        <p:spPr>
          <a:xfrm>
            <a:off x="10317175" y="6327648"/>
            <a:ext cx="1097280" cy="201168"/>
          </a:xfrm>
          <a:prstGeom prst="rect">
            <a:avLst/>
          </a:prstGeom>
          <a:noFill/>
          <a:ln/>
        </p:spPr>
        <p:txBody>
          <a:bodyPr wrap="square" lIns="0" tIns="0" rIns="0" bIns="0" rtlCol="0" anchor="t"/>
          <a:lstStyle/>
          <a:p>
            <a:pPr marL="0" indent="0" algn="r">
              <a:buNone/>
            </a:pPr>
            <a:r>
              <a:rPr lang="en-US" sz="850" kern="0" spc="140" dirty="0">
                <a:solidFill>
                  <a:srgbClr val="E4C9CE"/>
                </a:solidFill>
                <a:latin typeface="Montserrat SemiBold" pitchFamily="34" charset="0"/>
                <a:ea typeface="Montserrat SemiBold" pitchFamily="34" charset="-122"/>
                <a:cs typeface="Montserrat SemiBold" pitchFamily="34" charset="-120"/>
              </a:rPr>
              <a:t>09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02  ·  THE PROBLEM</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One poisoned package reaches everyone</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AEGIS</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10</a:t>
            </a:r>
            <a:endParaRPr lang="en-US" sz="850" dirty="0"/>
          </a:p>
        </p:txBody>
      </p:sp>
      <p:sp>
        <p:nvSpPr>
          <p:cNvPr id="9" name="Text 6"/>
          <p:cNvSpPr txBox="1"/>
          <p:nvPr/>
        </p:nvSpPr>
        <p:spPr>
          <a:xfrm>
            <a:off x="777240" y="1975104"/>
            <a:ext cx="10424160" cy="566928"/>
          </a:xfrm>
          <a:prstGeom prst="rect">
            <a:avLst/>
          </a:prstGeom>
          <a:noFill/>
          <a:ln/>
        </p:spPr>
        <p:txBody>
          <a:bodyPr wrap="square" lIns="0" tIns="0" rIns="0" bIns="0" rtlCol="0" anchor="t"/>
          <a:lstStyle/>
          <a:p>
            <a:pPr indent="0" marL="0">
              <a:lnSpc>
                <a:spcPct val="122000"/>
              </a:lnSpc>
              <a:buNone/>
            </a:pPr>
            <a:r>
              <a:rPr lang="en-US" sz="1400" dirty="0">
                <a:solidFill>
                  <a:srgbClr val="6E7175"/>
                </a:solidFill>
                <a:latin typeface="Montserrat Medium" pitchFamily="34" charset="0"/>
                <a:ea typeface="Montserrat Medium" pitchFamily="34" charset="-122"/>
                <a:cs typeface="Montserrat Medium" pitchFamily="34" charset="-120"/>
              </a:rPr>
              <a:t>In a supply-chain attack, an attacker hides malicious code inside a legitimate open-source package. Everyone who installs it inherits the compromise — including us. Real campaigns in 2025 and 2026 worked this way.</a:t>
            </a:r>
            <a:endParaRPr lang="en-US" sz="1400" dirty="0"/>
          </a:p>
        </p:txBody>
      </p:sp>
      <p:pic>
        <p:nvPicPr>
          <p:cNvPr id="10" name="Image 1" descr="/home/user/ai/assets/gen/supply-chain.png">    </p:cNvPr>
          <p:cNvPicPr>
            <a:picLocks noChangeAspect="1"/>
          </p:cNvPicPr>
          <p:nvPr/>
        </p:nvPicPr>
        <p:blipFill>
          <a:blip r:embed="rId2"/>
          <a:stretch>
            <a:fillRect/>
          </a:stretch>
        </p:blipFill>
        <p:spPr>
          <a:xfrm>
            <a:off x="2209648" y="2633472"/>
            <a:ext cx="7772400" cy="2266950"/>
          </a:xfrm>
          <a:prstGeom prst="rect">
            <a:avLst/>
          </a:prstGeom>
        </p:spPr>
      </p:pic>
      <p:sp>
        <p:nvSpPr>
          <p:cNvPr id="11" name="Text 7"/>
          <p:cNvSpPr txBox="1"/>
          <p:nvPr/>
        </p:nvSpPr>
        <p:spPr>
          <a:xfrm>
            <a:off x="1441552" y="4662678"/>
            <a:ext cx="2468880" cy="292608"/>
          </a:xfrm>
          <a:prstGeom prst="rect">
            <a:avLst/>
          </a:prstGeom>
          <a:noFill/>
          <a:ln/>
        </p:spPr>
        <p:txBody>
          <a:bodyPr wrap="square" lIns="0" tIns="0" rIns="0" bIns="0" rtlCol="0" anchor="t"/>
          <a:lstStyle/>
          <a:p>
            <a:pPr algn="ctr" indent="0" marL="0">
              <a:lnSpc>
                <a:spcPct val="115000"/>
              </a:lnSpc>
              <a:buNone/>
            </a:pPr>
            <a:r>
              <a:rPr lang="en-US" sz="950" spc="30" kern="0" dirty="0">
                <a:solidFill>
                  <a:srgbClr val="43464A"/>
                </a:solidFill>
                <a:latin typeface="Montserrat Medium" pitchFamily="34" charset="0"/>
                <a:ea typeface="Montserrat Medium" pitchFamily="34" charset="-122"/>
                <a:cs typeface="Montserrat Medium" pitchFamily="34" charset="-120"/>
              </a:rPr>
              <a:t>Attacker</a:t>
            </a:r>
            <a:endParaRPr lang="en-US" sz="950" dirty="0"/>
          </a:p>
        </p:txBody>
      </p:sp>
      <p:sp>
        <p:nvSpPr>
          <p:cNvPr id="12" name="Text 8"/>
          <p:cNvSpPr txBox="1"/>
          <p:nvPr/>
        </p:nvSpPr>
        <p:spPr>
          <a:xfrm>
            <a:off x="2887218" y="4662678"/>
            <a:ext cx="2468880" cy="292608"/>
          </a:xfrm>
          <a:prstGeom prst="rect">
            <a:avLst/>
          </a:prstGeom>
          <a:noFill/>
          <a:ln/>
        </p:spPr>
        <p:txBody>
          <a:bodyPr wrap="square" lIns="0" tIns="0" rIns="0" bIns="0" rtlCol="0" anchor="t"/>
          <a:lstStyle/>
          <a:p>
            <a:pPr algn="ctr" indent="0" marL="0">
              <a:lnSpc>
                <a:spcPct val="115000"/>
              </a:lnSpc>
              <a:buNone/>
            </a:pPr>
            <a:r>
              <a:rPr lang="en-US" sz="950" spc="30" kern="0" dirty="0">
                <a:solidFill>
                  <a:srgbClr val="43464A"/>
                </a:solidFill>
                <a:latin typeface="Montserrat Medium" pitchFamily="34" charset="0"/>
                <a:ea typeface="Montserrat Medium" pitchFamily="34" charset="-122"/>
                <a:cs typeface="Montserrat Medium" pitchFamily="34" charset="-120"/>
              </a:rPr>
              <a:t>Poisoned package</a:t>
            </a:r>
            <a:endParaRPr lang="en-US" sz="950" dirty="0"/>
          </a:p>
        </p:txBody>
      </p:sp>
      <p:sp>
        <p:nvSpPr>
          <p:cNvPr id="13" name="Text 9"/>
          <p:cNvSpPr txBox="1"/>
          <p:nvPr/>
        </p:nvSpPr>
        <p:spPr>
          <a:xfrm>
            <a:off x="4636008" y="4662678"/>
            <a:ext cx="2468880" cy="292608"/>
          </a:xfrm>
          <a:prstGeom prst="rect">
            <a:avLst/>
          </a:prstGeom>
          <a:noFill/>
          <a:ln/>
        </p:spPr>
        <p:txBody>
          <a:bodyPr wrap="square" lIns="0" tIns="0" rIns="0" bIns="0" rtlCol="0" anchor="t"/>
          <a:lstStyle/>
          <a:p>
            <a:pPr algn="ctr" indent="0" marL="0">
              <a:lnSpc>
                <a:spcPct val="115000"/>
              </a:lnSpc>
              <a:buNone/>
            </a:pPr>
            <a:r>
              <a:rPr lang="en-US" sz="950" spc="30" kern="0" dirty="0">
                <a:solidFill>
                  <a:srgbClr val="43464A"/>
                </a:solidFill>
                <a:latin typeface="Montserrat Medium" pitchFamily="34" charset="0"/>
                <a:ea typeface="Montserrat Medium" pitchFamily="34" charset="-122"/>
                <a:cs typeface="Montserrat Medium" pitchFamily="34" charset="-120"/>
              </a:rPr>
              <a:t>Public registry</a:t>
            </a:r>
            <a:endParaRPr lang="en-US" sz="950" dirty="0"/>
          </a:p>
        </p:txBody>
      </p:sp>
      <p:sp>
        <p:nvSpPr>
          <p:cNvPr id="14" name="Text 10"/>
          <p:cNvSpPr txBox="1"/>
          <p:nvPr/>
        </p:nvSpPr>
        <p:spPr>
          <a:xfrm>
            <a:off x="7340803" y="4662678"/>
            <a:ext cx="2468880" cy="292608"/>
          </a:xfrm>
          <a:prstGeom prst="rect">
            <a:avLst/>
          </a:prstGeom>
          <a:noFill/>
          <a:ln/>
        </p:spPr>
        <p:txBody>
          <a:bodyPr wrap="square" lIns="0" tIns="0" rIns="0" bIns="0" rtlCol="0" anchor="t"/>
          <a:lstStyle/>
          <a:p>
            <a:pPr algn="ctr" indent="0" marL="0">
              <a:lnSpc>
                <a:spcPct val="115000"/>
              </a:lnSpc>
              <a:buNone/>
            </a:pPr>
            <a:r>
              <a:rPr lang="en-US" sz="950" spc="30" kern="0" dirty="0">
                <a:solidFill>
                  <a:srgbClr val="43464A"/>
                </a:solidFill>
                <a:latin typeface="Montserrat Medium" pitchFamily="34" charset="0"/>
                <a:ea typeface="Montserrat Medium" pitchFamily="34" charset="-122"/>
                <a:cs typeface="Montserrat Medium" pitchFamily="34" charset="-120"/>
              </a:rPr>
              <a:t>Every project that installs it</a:t>
            </a:r>
            <a:endParaRPr lang="en-US" sz="950" dirty="0"/>
          </a:p>
        </p:txBody>
      </p:sp>
      <p:sp>
        <p:nvSpPr>
          <p:cNvPr id="15" name="Shape 11"/>
          <p:cNvSpPr/>
          <p:nvPr/>
        </p:nvSpPr>
        <p:spPr>
          <a:xfrm>
            <a:off x="777240" y="5340096"/>
            <a:ext cx="10637215" cy="786384"/>
          </a:xfrm>
          <a:prstGeom prst="roundRect">
            <a:avLst>
              <a:gd name="adj" fmla="val 6977"/>
            </a:avLst>
          </a:prstGeom>
          <a:solidFill>
            <a:srgbClr val="F6EEF0"/>
          </a:solidFill>
          <a:ln/>
        </p:spPr>
      </p:sp>
      <p:sp>
        <p:nvSpPr>
          <p:cNvPr id="16" name="Shape 12"/>
          <p:cNvSpPr/>
          <p:nvPr/>
        </p:nvSpPr>
        <p:spPr>
          <a:xfrm>
            <a:off x="777240" y="5340096"/>
            <a:ext cx="50292" cy="786384"/>
          </a:xfrm>
          <a:prstGeom prst="rect">
            <a:avLst/>
          </a:prstGeom>
          <a:solidFill>
            <a:srgbClr val="942838"/>
          </a:solidFill>
          <a:ln/>
        </p:spPr>
      </p:sp>
      <p:sp>
        <p:nvSpPr>
          <p:cNvPr id="17" name="Text 13"/>
          <p:cNvSpPr txBox="1"/>
          <p:nvPr/>
        </p:nvSpPr>
        <p:spPr>
          <a:xfrm>
            <a:off x="1014984" y="5458968"/>
            <a:ext cx="7315200"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WHY EXISTING TOOLS WERE NOT ENOUGH</a:t>
            </a:r>
            <a:endParaRPr lang="en-US" sz="850" dirty="0"/>
          </a:p>
        </p:txBody>
      </p:sp>
      <p:sp>
        <p:nvSpPr>
          <p:cNvPr id="18" name="Text 14"/>
          <p:cNvSpPr txBox="1"/>
          <p:nvPr/>
        </p:nvSpPr>
        <p:spPr>
          <a:xfrm>
            <a:off x="1014984" y="5678424"/>
            <a:ext cx="10134295" cy="384048"/>
          </a:xfrm>
          <a:prstGeom prst="rect">
            <a:avLst/>
          </a:prstGeom>
          <a:noFill/>
          <a:ln/>
        </p:spPr>
        <p:txBody>
          <a:bodyPr wrap="square" lIns="0" tIns="0" rIns="0" bIns="0" rtlCol="0" anchor="t"/>
          <a:lstStyle/>
          <a:p>
            <a:pPr indent="0" marL="0">
              <a:lnSpc>
                <a:spcPct val="118000"/>
              </a:lnSpc>
              <a:buNone/>
            </a:pPr>
            <a:r>
              <a:rPr lang="en-US" sz="1100" dirty="0">
                <a:solidFill>
                  <a:srgbClr val="43464A"/>
                </a:solidFill>
                <a:latin typeface="Montserrat" pitchFamily="34" charset="0"/>
                <a:ea typeface="Montserrat" pitchFamily="34" charset="-122"/>
                <a:cs typeface="Montserrat" pitchFamily="34" charset="-120"/>
              </a:rPr>
              <a:t>Most scanners cry wolf: "you have 500 flaws." But our code never touches most of them, so nobody can tell what is urgent. AEGIS separates signal from noise by checking whether our code actually calls the vulnerable part.</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02  ·  WHAT I BUILT</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A scanner that checks if the flaw is reachable</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AEGIS</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11</a:t>
            </a:r>
            <a:endParaRPr lang="en-US" sz="850" dirty="0"/>
          </a:p>
        </p:txBody>
      </p:sp>
      <p:sp>
        <p:nvSpPr>
          <p:cNvPr id="9" name="Text 6"/>
          <p:cNvSpPr txBox="1"/>
          <p:nvPr/>
        </p:nvSpPr>
        <p:spPr>
          <a:xfrm>
            <a:off x="777240" y="1975104"/>
            <a:ext cx="10424160" cy="310896"/>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Knowing a flawed package is installed is not the same as knowing you are exposed.</a:t>
            </a:r>
            <a:endParaRPr lang="en-US" sz="1400" dirty="0"/>
          </a:p>
        </p:txBody>
      </p:sp>
      <p:sp>
        <p:nvSpPr>
          <p:cNvPr id="10" name="Text 7"/>
          <p:cNvSpPr txBox="1"/>
          <p:nvPr/>
        </p:nvSpPr>
        <p:spPr>
          <a:xfrm>
            <a:off x="777240" y="2487168"/>
            <a:ext cx="36576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THE SHIFT</a:t>
            </a:r>
            <a:endParaRPr lang="en-US" sz="850" dirty="0"/>
          </a:p>
        </p:txBody>
      </p:sp>
      <p:sp>
        <p:nvSpPr>
          <p:cNvPr id="11" name="Shape 8"/>
          <p:cNvSpPr/>
          <p:nvPr/>
        </p:nvSpPr>
        <p:spPr>
          <a:xfrm>
            <a:off x="777240" y="2743200"/>
            <a:ext cx="4937760" cy="960120"/>
          </a:xfrm>
          <a:prstGeom prst="roundRect">
            <a:avLst>
              <a:gd name="adj" fmla="val 5714"/>
            </a:avLst>
          </a:prstGeom>
          <a:solidFill>
            <a:srgbClr val="F5F4F3"/>
          </a:solidFill>
          <a:ln/>
        </p:spPr>
      </p:sp>
      <p:sp>
        <p:nvSpPr>
          <p:cNvPr id="12" name="Shape 9"/>
          <p:cNvSpPr/>
          <p:nvPr/>
        </p:nvSpPr>
        <p:spPr>
          <a:xfrm>
            <a:off x="777240" y="2743200"/>
            <a:ext cx="50292" cy="960120"/>
          </a:xfrm>
          <a:prstGeom prst="rect">
            <a:avLst/>
          </a:prstGeom>
          <a:solidFill>
            <a:srgbClr val="C9C6C4"/>
          </a:solidFill>
          <a:ln/>
        </p:spPr>
      </p:sp>
      <p:sp>
        <p:nvSpPr>
          <p:cNvPr id="13" name="Text 10"/>
          <p:cNvSpPr txBox="1"/>
          <p:nvPr/>
        </p:nvSpPr>
        <p:spPr>
          <a:xfrm>
            <a:off x="1014984" y="2862072"/>
            <a:ext cx="3108960" cy="182880"/>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MOST SCANNERS</a:t>
            </a:r>
            <a:endParaRPr lang="en-US" sz="850" dirty="0"/>
          </a:p>
        </p:txBody>
      </p:sp>
      <p:sp>
        <p:nvSpPr>
          <p:cNvPr id="14" name="Text 11"/>
          <p:cNvSpPr txBox="1"/>
          <p:nvPr/>
        </p:nvSpPr>
        <p:spPr>
          <a:xfrm>
            <a:off x="1014984" y="3063240"/>
            <a:ext cx="4480560" cy="237744"/>
          </a:xfrm>
          <a:prstGeom prst="rect">
            <a:avLst/>
          </a:prstGeom>
          <a:noFill/>
          <a:ln/>
        </p:spPr>
        <p:txBody>
          <a:bodyPr wrap="square" lIns="0" tIns="0" rIns="0" bIns="0" rtlCol="0" anchor="t"/>
          <a:lstStyle/>
          <a:p>
            <a:pPr indent="0" marL="0">
              <a:buNone/>
            </a:pPr>
            <a:r>
              <a:rPr lang="en-US" sz="1250" dirty="0">
                <a:solidFill>
                  <a:srgbClr val="2B2D30"/>
                </a:solidFill>
                <a:latin typeface="Montserrat SemiBold" pitchFamily="34" charset="0"/>
                <a:ea typeface="Montserrat SemiBold" pitchFamily="34" charset="-122"/>
                <a:cs typeface="Montserrat SemiBold" pitchFamily="34" charset="-120"/>
              </a:rPr>
              <a:t>"This package has a known flaw."</a:t>
            </a:r>
            <a:endParaRPr lang="en-US" sz="1250" dirty="0"/>
          </a:p>
        </p:txBody>
      </p:sp>
      <p:sp>
        <p:nvSpPr>
          <p:cNvPr id="15" name="Text 12"/>
          <p:cNvSpPr txBox="1"/>
          <p:nvPr/>
        </p:nvSpPr>
        <p:spPr>
          <a:xfrm>
            <a:off x="1014984" y="3319272"/>
            <a:ext cx="4480560" cy="329184"/>
          </a:xfrm>
          <a:prstGeom prst="rect">
            <a:avLst/>
          </a:prstGeom>
          <a:noFill/>
          <a:ln/>
        </p:spPr>
        <p:txBody>
          <a:bodyPr wrap="square" lIns="0" tIns="0" rIns="0" bIns="0" rtlCol="0" anchor="t"/>
          <a:lstStyle/>
          <a:p>
            <a:pPr indent="0" marL="0">
              <a:lnSpc>
                <a:spcPct val="116000"/>
              </a:lnSpc>
              <a:buNone/>
            </a:pPr>
            <a:r>
              <a:rPr lang="en-US" sz="950" dirty="0">
                <a:solidFill>
                  <a:srgbClr val="43464A"/>
                </a:solidFill>
                <a:latin typeface="Montserrat" pitchFamily="34" charset="0"/>
                <a:ea typeface="Montserrat" pitchFamily="34" charset="-122"/>
                <a:cs typeface="Montserrat" pitchFamily="34" charset="-120"/>
              </a:rPr>
              <a:t>True, but the list runs to hundreds and everything on it looks equally urgent.</a:t>
            </a:r>
            <a:endParaRPr lang="en-US" sz="950" dirty="0"/>
          </a:p>
        </p:txBody>
      </p:sp>
      <p:sp>
        <p:nvSpPr>
          <p:cNvPr id="16" name="Shape 13"/>
          <p:cNvSpPr/>
          <p:nvPr/>
        </p:nvSpPr>
        <p:spPr>
          <a:xfrm>
            <a:off x="777240" y="3977640"/>
            <a:ext cx="4937760" cy="960120"/>
          </a:xfrm>
          <a:prstGeom prst="roundRect">
            <a:avLst>
              <a:gd name="adj" fmla="val 5714"/>
            </a:avLst>
          </a:prstGeom>
          <a:solidFill>
            <a:srgbClr val="F6EEF0"/>
          </a:solidFill>
          <a:ln/>
        </p:spPr>
      </p:sp>
      <p:sp>
        <p:nvSpPr>
          <p:cNvPr id="17" name="Shape 14"/>
          <p:cNvSpPr/>
          <p:nvPr/>
        </p:nvSpPr>
        <p:spPr>
          <a:xfrm>
            <a:off x="777240" y="3977640"/>
            <a:ext cx="50292" cy="960120"/>
          </a:xfrm>
          <a:prstGeom prst="rect">
            <a:avLst/>
          </a:prstGeom>
          <a:solidFill>
            <a:srgbClr val="942838"/>
          </a:solidFill>
          <a:ln/>
        </p:spPr>
      </p:sp>
      <p:sp>
        <p:nvSpPr>
          <p:cNvPr id="18" name="Text 15"/>
          <p:cNvSpPr txBox="1"/>
          <p:nvPr/>
        </p:nvSpPr>
        <p:spPr>
          <a:xfrm>
            <a:off x="1014984" y="4096512"/>
            <a:ext cx="3108960" cy="182880"/>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AEGIS</a:t>
            </a:r>
            <a:endParaRPr lang="en-US" sz="850" dirty="0"/>
          </a:p>
        </p:txBody>
      </p:sp>
      <p:sp>
        <p:nvSpPr>
          <p:cNvPr id="19" name="Text 16"/>
          <p:cNvSpPr txBox="1"/>
          <p:nvPr/>
        </p:nvSpPr>
        <p:spPr>
          <a:xfrm>
            <a:off x="1014984" y="4297680"/>
            <a:ext cx="4480560" cy="237744"/>
          </a:xfrm>
          <a:prstGeom prst="rect">
            <a:avLst/>
          </a:prstGeom>
          <a:noFill/>
          <a:ln/>
        </p:spPr>
        <p:txBody>
          <a:bodyPr wrap="square" lIns="0" tIns="0" rIns="0" bIns="0" rtlCol="0" anchor="t"/>
          <a:lstStyle/>
          <a:p>
            <a:pPr indent="0" marL="0">
              <a:buNone/>
            </a:pPr>
            <a:r>
              <a:rPr lang="en-US" sz="1250" dirty="0">
                <a:solidFill>
                  <a:srgbClr val="2B2D30"/>
                </a:solidFill>
                <a:latin typeface="Montserrat SemiBold" pitchFamily="34" charset="0"/>
                <a:ea typeface="Montserrat SemiBold" pitchFamily="34" charset="-122"/>
                <a:cs typeface="Montserrat SemiBold" pitchFamily="34" charset="-120"/>
              </a:rPr>
              <a:t>"Does our code actually call the flawed part?"</a:t>
            </a:r>
            <a:endParaRPr lang="en-US" sz="1250" dirty="0"/>
          </a:p>
        </p:txBody>
      </p:sp>
      <p:sp>
        <p:nvSpPr>
          <p:cNvPr id="20" name="Text 17"/>
          <p:cNvSpPr txBox="1"/>
          <p:nvPr/>
        </p:nvSpPr>
        <p:spPr>
          <a:xfrm>
            <a:off x="1014984" y="4553712"/>
            <a:ext cx="4480560" cy="329184"/>
          </a:xfrm>
          <a:prstGeom prst="rect">
            <a:avLst/>
          </a:prstGeom>
          <a:noFill/>
          <a:ln/>
        </p:spPr>
        <p:txBody>
          <a:bodyPr wrap="square" lIns="0" tIns="0" rIns="0" bIns="0" rtlCol="0" anchor="t"/>
          <a:lstStyle/>
          <a:p>
            <a:pPr indent="0" marL="0">
              <a:lnSpc>
                <a:spcPct val="116000"/>
              </a:lnSpc>
              <a:buNone/>
            </a:pPr>
            <a:r>
              <a:rPr lang="en-US" sz="950" dirty="0">
                <a:solidFill>
                  <a:srgbClr val="43464A"/>
                </a:solidFill>
                <a:latin typeface="Montserrat" pitchFamily="34" charset="0"/>
                <a:ea typeface="Montserrat" pitchFamily="34" charset="-122"/>
                <a:cs typeface="Montserrat" pitchFamily="34" charset="-120"/>
              </a:rPr>
              <a:t>The list collapses to the few that can genuinely be reached — and those get worked first.</a:t>
            </a:r>
            <a:endParaRPr lang="en-US" sz="950" dirty="0"/>
          </a:p>
        </p:txBody>
      </p:sp>
      <p:sp>
        <p:nvSpPr>
          <p:cNvPr id="21" name="Shape 18"/>
          <p:cNvSpPr/>
          <p:nvPr/>
        </p:nvSpPr>
        <p:spPr>
          <a:xfrm>
            <a:off x="3232404" y="3730752"/>
            <a:ext cx="27432" cy="100584"/>
          </a:xfrm>
          <a:prstGeom prst="rect">
            <a:avLst/>
          </a:prstGeom>
          <a:solidFill>
            <a:srgbClr val="C9C6C4"/>
          </a:solidFill>
          <a:ln/>
        </p:spPr>
      </p:sp>
      <p:sp>
        <p:nvSpPr>
          <p:cNvPr id="22" name="Shape 19"/>
          <p:cNvSpPr/>
          <p:nvPr/>
        </p:nvSpPr>
        <p:spPr>
          <a:xfrm rot="10800000">
            <a:off x="3200400" y="3831336"/>
            <a:ext cx="91440" cy="118872"/>
          </a:xfrm>
          <a:prstGeom prst="triangle">
            <a:avLst/>
          </a:prstGeom>
          <a:solidFill>
            <a:srgbClr val="C9C6C4"/>
          </a:solidFill>
          <a:ln/>
        </p:spPr>
      </p:sp>
      <p:sp>
        <p:nvSpPr>
          <p:cNvPr id="23" name="Shape 20"/>
          <p:cNvSpPr/>
          <p:nvPr/>
        </p:nvSpPr>
        <p:spPr>
          <a:xfrm>
            <a:off x="777240" y="5230368"/>
            <a:ext cx="4937760" cy="10973"/>
          </a:xfrm>
          <a:prstGeom prst="rect">
            <a:avLst/>
          </a:prstGeom>
          <a:solidFill>
            <a:srgbClr val="E6E4E2"/>
          </a:solidFill>
          <a:ln/>
        </p:spPr>
      </p:sp>
      <p:sp>
        <p:nvSpPr>
          <p:cNvPr id="24" name="Text 21"/>
          <p:cNvSpPr txBox="1"/>
          <p:nvPr/>
        </p:nvSpPr>
        <p:spPr>
          <a:xfrm>
            <a:off x="777240" y="5376672"/>
            <a:ext cx="3657600" cy="182880"/>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PROVEN AT SCALE</a:t>
            </a:r>
            <a:endParaRPr lang="en-US" sz="850" dirty="0"/>
          </a:p>
        </p:txBody>
      </p:sp>
      <p:sp>
        <p:nvSpPr>
          <p:cNvPr id="25" name="Text 22"/>
          <p:cNvSpPr txBox="1"/>
          <p:nvPr/>
        </p:nvSpPr>
        <p:spPr>
          <a:xfrm>
            <a:off x="777240" y="5577840"/>
            <a:ext cx="1371600" cy="384048"/>
          </a:xfrm>
          <a:prstGeom prst="rect">
            <a:avLst/>
          </a:prstGeom>
          <a:noFill/>
          <a:ln/>
        </p:spPr>
        <p:txBody>
          <a:bodyPr wrap="square" lIns="0" tIns="0" rIns="0" bIns="0" rtlCol="0" anchor="t"/>
          <a:lstStyle/>
          <a:p>
            <a:pPr indent="0" marL="0">
              <a:buNone/>
            </a:pPr>
            <a:r>
              <a:rPr lang="en-US" sz="2400" spc="-60" kern="0" dirty="0">
                <a:solidFill>
                  <a:srgbClr val="942838"/>
                </a:solidFill>
                <a:latin typeface="Montserrat ExtraBold" pitchFamily="34" charset="0"/>
                <a:ea typeface="Montserrat ExtraBold" pitchFamily="34" charset="-122"/>
                <a:cs typeface="Montserrat ExtraBold" pitchFamily="34" charset="-120"/>
              </a:rPr>
              <a:t>5,675</a:t>
            </a:r>
            <a:endParaRPr lang="en-US" sz="2400" dirty="0"/>
          </a:p>
        </p:txBody>
      </p:sp>
      <p:sp>
        <p:nvSpPr>
          <p:cNvPr id="26" name="Text 23"/>
          <p:cNvSpPr txBox="1"/>
          <p:nvPr/>
        </p:nvSpPr>
        <p:spPr>
          <a:xfrm>
            <a:off x="2240280" y="5596128"/>
            <a:ext cx="3474720" cy="384048"/>
          </a:xfrm>
          <a:prstGeom prst="rect">
            <a:avLst/>
          </a:prstGeom>
          <a:noFill/>
          <a:ln/>
        </p:spPr>
        <p:txBody>
          <a:bodyPr wrap="square" lIns="0" tIns="0" rIns="0" bIns="0" rtlCol="0" anchor="t"/>
          <a:lstStyle/>
          <a:p>
            <a:pPr indent="0" marL="0">
              <a:lnSpc>
                <a:spcPct val="120000"/>
              </a:lnSpc>
              <a:buNone/>
            </a:pPr>
            <a:r>
              <a:rPr lang="en-US" sz="1000" dirty="0">
                <a:solidFill>
                  <a:srgbClr val="6E7175"/>
                </a:solidFill>
                <a:latin typeface="Montserrat" pitchFamily="34" charset="0"/>
                <a:ea typeface="Montserrat" pitchFamily="34" charset="-122"/>
                <a:cs typeface="Montserrat" pitchFamily="34" charset="-120"/>
              </a:rPr>
              <a:t>packages read in a single production run,</a:t>
            </a:r>
            <a:endParaRPr lang="en-US" sz="1000" dirty="0"/>
          </a:p>
          <a:p>
            <a:pPr indent="0" marL="0">
              <a:lnSpc>
                <a:spcPct val="120000"/>
              </a:lnSpc>
              <a:buNone/>
            </a:pPr>
            <a:r>
              <a:rPr lang="en-US" sz="1000" dirty="0">
                <a:solidFill>
                  <a:srgbClr val="6E7175"/>
                </a:solidFill>
                <a:latin typeface="Montserrat" pitchFamily="34" charset="0"/>
                <a:ea typeface="Montserrat" pitchFamily="34" charset="-122"/>
                <a:cs typeface="Montserrat" pitchFamily="34" charset="-120"/>
              </a:rPr>
              <a:t>by an earlier version of the tool.</a:t>
            </a:r>
            <a:endParaRPr lang="en-US" sz="1000" dirty="0"/>
          </a:p>
        </p:txBody>
      </p:sp>
      <p:sp>
        <p:nvSpPr>
          <p:cNvPr id="27" name="Text 24"/>
          <p:cNvSpPr txBox="1"/>
          <p:nvPr/>
        </p:nvSpPr>
        <p:spPr>
          <a:xfrm>
            <a:off x="6062472" y="2487168"/>
            <a:ext cx="5351983"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THREE HONEST ANSWERS  ·  NEVER COLLAPSED INTO ONE "SAFE"</a:t>
            </a:r>
            <a:endParaRPr lang="en-US" sz="850" dirty="0"/>
          </a:p>
        </p:txBody>
      </p:sp>
      <p:sp>
        <p:nvSpPr>
          <p:cNvPr id="28" name="Shape 25"/>
          <p:cNvSpPr/>
          <p:nvPr/>
        </p:nvSpPr>
        <p:spPr>
          <a:xfrm>
            <a:off x="6062472" y="2743200"/>
            <a:ext cx="5351983" cy="960120"/>
          </a:xfrm>
          <a:prstGeom prst="roundRect">
            <a:avLst>
              <a:gd name="adj" fmla="val 5714"/>
            </a:avLst>
          </a:prstGeom>
          <a:solidFill>
            <a:srgbClr val="FFFFFF"/>
          </a:solidFill>
          <a:ln w="9525">
            <a:solidFill>
              <a:srgbClr val="E6E4E2"/>
            </a:solidFill>
            <a:prstDash val="solid"/>
          </a:ln>
          <a:effectLst>
            <a:outerShdw sx="100000" sy="100000" kx="0" ky="0" algn="bl" rotWithShape="0" blurRad="177800" dist="44450" dir="5400000">
              <a:srgbClr val="959092">
                <a:alpha val="22000"/>
              </a:srgbClr>
            </a:outerShdw>
          </a:effectLst>
        </p:spPr>
      </p:sp>
      <p:sp>
        <p:nvSpPr>
          <p:cNvPr id="29" name="Shape 26"/>
          <p:cNvSpPr/>
          <p:nvPr/>
        </p:nvSpPr>
        <p:spPr>
          <a:xfrm>
            <a:off x="6062472" y="2743200"/>
            <a:ext cx="50292" cy="960120"/>
          </a:xfrm>
          <a:prstGeom prst="rect">
            <a:avLst/>
          </a:prstGeom>
          <a:solidFill>
            <a:srgbClr val="942838"/>
          </a:solidFill>
          <a:ln/>
        </p:spPr>
      </p:sp>
      <p:sp>
        <p:nvSpPr>
          <p:cNvPr id="30" name="Text 27"/>
          <p:cNvSpPr txBox="1"/>
          <p:nvPr/>
        </p:nvSpPr>
        <p:spPr>
          <a:xfrm>
            <a:off x="6318504" y="2889504"/>
            <a:ext cx="4894783" cy="237744"/>
          </a:xfrm>
          <a:prstGeom prst="rect">
            <a:avLst/>
          </a:prstGeom>
          <a:noFill/>
          <a:ln/>
        </p:spPr>
        <p:txBody>
          <a:bodyPr wrap="square" lIns="0" tIns="0" rIns="0" bIns="0" rtlCol="0" anchor="t"/>
          <a:lstStyle/>
          <a:p>
            <a:pPr indent="0" marL="0">
              <a:buNone/>
            </a:pPr>
            <a:r>
              <a:rPr lang="en-US" sz="1300" spc="40" kern="0" dirty="0">
                <a:solidFill>
                  <a:srgbClr val="2B2D30"/>
                </a:solidFill>
                <a:latin typeface="Montserrat ExtraBold" pitchFamily="34" charset="0"/>
                <a:ea typeface="Montserrat ExtraBold" pitchFamily="34" charset="-122"/>
                <a:cs typeface="Montserrat ExtraBold" pitchFamily="34" charset="-120"/>
              </a:rPr>
              <a:t>REACHABLE</a:t>
            </a:r>
            <a:endParaRPr lang="en-US" sz="1300" dirty="0"/>
          </a:p>
        </p:txBody>
      </p:sp>
      <p:sp>
        <p:nvSpPr>
          <p:cNvPr id="31" name="Text 28"/>
          <p:cNvSpPr txBox="1"/>
          <p:nvPr/>
        </p:nvSpPr>
        <p:spPr>
          <a:xfrm>
            <a:off x="6318504" y="3172968"/>
            <a:ext cx="4839919" cy="420624"/>
          </a:xfrm>
          <a:prstGeom prst="rect">
            <a:avLst/>
          </a:prstGeom>
          <a:noFill/>
          <a:ln/>
        </p:spPr>
        <p:txBody>
          <a:bodyPr wrap="square" lIns="0" tIns="0" rIns="0" bIns="0" rtlCol="0" anchor="t"/>
          <a:lstStyle/>
          <a:p>
            <a:pPr indent="0" marL="0">
              <a:lnSpc>
                <a:spcPct val="116000"/>
              </a:lnSpc>
              <a:buNone/>
            </a:pPr>
            <a:r>
              <a:rPr lang="en-US" sz="950" dirty="0">
                <a:solidFill>
                  <a:srgbClr val="6E7175"/>
                </a:solidFill>
                <a:latin typeface="Montserrat" pitchFamily="34" charset="0"/>
                <a:ea typeface="Montserrat" pitchFamily="34" charset="-122"/>
                <a:cs typeface="Montserrat" pitchFamily="34" charset="-120"/>
              </a:rPr>
              <a:t>Our code does call the vulnerable part. This one is real exposure, and it gets worked.</a:t>
            </a:r>
            <a:endParaRPr lang="en-US" sz="950" dirty="0"/>
          </a:p>
        </p:txBody>
      </p:sp>
      <p:sp>
        <p:nvSpPr>
          <p:cNvPr id="32" name="Shape 29"/>
          <p:cNvSpPr/>
          <p:nvPr/>
        </p:nvSpPr>
        <p:spPr>
          <a:xfrm>
            <a:off x="6062472" y="3813048"/>
            <a:ext cx="5351983" cy="960120"/>
          </a:xfrm>
          <a:prstGeom prst="roundRect">
            <a:avLst>
              <a:gd name="adj" fmla="val 5714"/>
            </a:avLst>
          </a:prstGeom>
          <a:solidFill>
            <a:srgbClr val="FFFFFF"/>
          </a:solidFill>
          <a:ln w="9525">
            <a:solidFill>
              <a:srgbClr val="E6E4E2"/>
            </a:solidFill>
            <a:prstDash val="solid"/>
          </a:ln>
          <a:effectLst>
            <a:outerShdw sx="100000" sy="100000" kx="0" ky="0" algn="bl" rotWithShape="0" blurRad="2258060000" dist="564515000" dir="324000000000">
              <a:srgbClr val="959092">
                <a:alpha val="2200000000"/>
              </a:srgbClr>
            </a:outerShdw>
          </a:effectLst>
        </p:spPr>
      </p:sp>
      <p:sp>
        <p:nvSpPr>
          <p:cNvPr id="33" name="Shape 30"/>
          <p:cNvSpPr/>
          <p:nvPr/>
        </p:nvSpPr>
        <p:spPr>
          <a:xfrm>
            <a:off x="6062472" y="3813048"/>
            <a:ext cx="50292" cy="960120"/>
          </a:xfrm>
          <a:prstGeom prst="rect">
            <a:avLst/>
          </a:prstGeom>
          <a:solidFill>
            <a:srgbClr val="C9C6C4"/>
          </a:solidFill>
          <a:ln/>
        </p:spPr>
      </p:sp>
      <p:sp>
        <p:nvSpPr>
          <p:cNvPr id="34" name="Text 31"/>
          <p:cNvSpPr txBox="1"/>
          <p:nvPr/>
        </p:nvSpPr>
        <p:spPr>
          <a:xfrm>
            <a:off x="6318504" y="3959352"/>
            <a:ext cx="4894783" cy="237744"/>
          </a:xfrm>
          <a:prstGeom prst="rect">
            <a:avLst/>
          </a:prstGeom>
          <a:noFill/>
          <a:ln/>
        </p:spPr>
        <p:txBody>
          <a:bodyPr wrap="square" lIns="0" tIns="0" rIns="0" bIns="0" rtlCol="0" anchor="t"/>
          <a:lstStyle/>
          <a:p>
            <a:pPr indent="0" marL="0">
              <a:buNone/>
            </a:pPr>
            <a:r>
              <a:rPr lang="en-US" sz="1300" spc="40" kern="0" dirty="0">
                <a:solidFill>
                  <a:srgbClr val="2B2D30"/>
                </a:solidFill>
                <a:latin typeface="Montserrat ExtraBold" pitchFamily="34" charset="0"/>
                <a:ea typeface="Montserrat ExtraBold" pitchFamily="34" charset="-122"/>
                <a:cs typeface="Montserrat ExtraBold" pitchFamily="34" charset="-120"/>
              </a:rPr>
              <a:t>NO CALL SITE FOUND</a:t>
            </a:r>
            <a:endParaRPr lang="en-US" sz="1300" dirty="0"/>
          </a:p>
        </p:txBody>
      </p:sp>
      <p:sp>
        <p:nvSpPr>
          <p:cNvPr id="35" name="Text 32"/>
          <p:cNvSpPr txBox="1"/>
          <p:nvPr/>
        </p:nvSpPr>
        <p:spPr>
          <a:xfrm>
            <a:off x="6318504" y="4242816"/>
            <a:ext cx="4839919" cy="420624"/>
          </a:xfrm>
          <a:prstGeom prst="rect">
            <a:avLst/>
          </a:prstGeom>
          <a:noFill/>
          <a:ln/>
        </p:spPr>
        <p:txBody>
          <a:bodyPr wrap="square" lIns="0" tIns="0" rIns="0" bIns="0" rtlCol="0" anchor="t"/>
          <a:lstStyle/>
          <a:p>
            <a:pPr indent="0" marL="0">
              <a:lnSpc>
                <a:spcPct val="116000"/>
              </a:lnSpc>
              <a:buNone/>
            </a:pPr>
            <a:r>
              <a:rPr lang="en-US" sz="950" dirty="0">
                <a:solidFill>
                  <a:srgbClr val="6E7175"/>
                </a:solidFill>
                <a:latin typeface="Montserrat" pitchFamily="34" charset="0"/>
                <a:ea typeface="Montserrat" pitchFamily="34" charset="-122"/>
                <a:cs typeface="Montserrat" pitchFamily="34" charset="-120"/>
              </a:rPr>
              <a:t>Nothing in our code reaches it. Read with a real code parser rather than a text search, so it is a confident answer.</a:t>
            </a:r>
            <a:endParaRPr lang="en-US" sz="950" dirty="0"/>
          </a:p>
        </p:txBody>
      </p:sp>
      <p:sp>
        <p:nvSpPr>
          <p:cNvPr id="36" name="Shape 33"/>
          <p:cNvSpPr/>
          <p:nvPr/>
        </p:nvSpPr>
        <p:spPr>
          <a:xfrm>
            <a:off x="6062472" y="4882896"/>
            <a:ext cx="5351983" cy="960120"/>
          </a:xfrm>
          <a:prstGeom prst="roundRect">
            <a:avLst>
              <a:gd name="adj" fmla="val 5714"/>
            </a:avLst>
          </a:prstGeom>
          <a:solidFill>
            <a:srgbClr val="FFFFFF"/>
          </a:solidFill>
          <a:ln w="9525">
            <a:solidFill>
              <a:srgbClr val="E6E4E2"/>
            </a:solidFill>
            <a:prstDash val="solid"/>
          </a:ln>
          <a:effectLst>
            <a:outerShdw sx="100000" sy="100000" kx="0" ky="0" algn="bl" rotWithShape="0" blurRad="28677362000000" dist="7169340500000" dir="19440000000000000">
              <a:srgbClr val="959092">
                <a:alpha val="220000000000000"/>
              </a:srgbClr>
            </a:outerShdw>
          </a:effectLst>
        </p:spPr>
      </p:sp>
      <p:sp>
        <p:nvSpPr>
          <p:cNvPr id="37" name="Shape 34"/>
          <p:cNvSpPr/>
          <p:nvPr/>
        </p:nvSpPr>
        <p:spPr>
          <a:xfrm>
            <a:off x="6062472" y="4882896"/>
            <a:ext cx="50292" cy="960120"/>
          </a:xfrm>
          <a:prstGeom prst="rect">
            <a:avLst/>
          </a:prstGeom>
          <a:solidFill>
            <a:srgbClr val="43464A"/>
          </a:solidFill>
          <a:ln/>
        </p:spPr>
      </p:sp>
      <p:sp>
        <p:nvSpPr>
          <p:cNvPr id="38" name="Text 35"/>
          <p:cNvSpPr txBox="1"/>
          <p:nvPr/>
        </p:nvSpPr>
        <p:spPr>
          <a:xfrm>
            <a:off x="6318504" y="5029200"/>
            <a:ext cx="4894783" cy="237744"/>
          </a:xfrm>
          <a:prstGeom prst="rect">
            <a:avLst/>
          </a:prstGeom>
          <a:noFill/>
          <a:ln/>
        </p:spPr>
        <p:txBody>
          <a:bodyPr wrap="square" lIns="0" tIns="0" rIns="0" bIns="0" rtlCol="0" anchor="t"/>
          <a:lstStyle/>
          <a:p>
            <a:pPr indent="0" marL="0">
              <a:buNone/>
            </a:pPr>
            <a:r>
              <a:rPr lang="en-US" sz="1300" spc="40" kern="0" dirty="0">
                <a:solidFill>
                  <a:srgbClr val="2B2D30"/>
                </a:solidFill>
                <a:latin typeface="Montserrat ExtraBold" pitchFamily="34" charset="0"/>
                <a:ea typeface="Montserrat ExtraBold" pitchFamily="34" charset="-122"/>
                <a:cs typeface="Montserrat ExtraBold" pitchFamily="34" charset="-120"/>
              </a:rPr>
              <a:t>CAN'T PROVE</a:t>
            </a:r>
            <a:endParaRPr lang="en-US" sz="1300" dirty="0"/>
          </a:p>
        </p:txBody>
      </p:sp>
      <p:sp>
        <p:nvSpPr>
          <p:cNvPr id="39" name="Text 36"/>
          <p:cNvSpPr txBox="1"/>
          <p:nvPr/>
        </p:nvSpPr>
        <p:spPr>
          <a:xfrm>
            <a:off x="6318504" y="5312664"/>
            <a:ext cx="4839919" cy="420624"/>
          </a:xfrm>
          <a:prstGeom prst="rect">
            <a:avLst/>
          </a:prstGeom>
          <a:noFill/>
          <a:ln/>
        </p:spPr>
        <p:txBody>
          <a:bodyPr wrap="square" lIns="0" tIns="0" rIns="0" bIns="0" rtlCol="0" anchor="t"/>
          <a:lstStyle/>
          <a:p>
            <a:pPr indent="0" marL="0">
              <a:lnSpc>
                <a:spcPct val="116000"/>
              </a:lnSpc>
              <a:buNone/>
            </a:pPr>
            <a:r>
              <a:rPr lang="en-US" sz="950" dirty="0">
                <a:solidFill>
                  <a:srgbClr val="6E7175"/>
                </a:solidFill>
                <a:latin typeface="Montserrat" pitchFamily="34" charset="0"/>
                <a:ea typeface="Montserrat" pitchFamily="34" charset="-122"/>
                <a:cs typeface="Montserrat" pitchFamily="34" charset="-120"/>
              </a:rPr>
              <a:t>The tool cannot be certain either way — so it says exactly that, and a person makes the call.</a:t>
            </a:r>
            <a:endParaRPr lang="en-US" sz="950" dirty="0"/>
          </a:p>
        </p:txBody>
      </p:sp>
      <p:sp>
        <p:nvSpPr>
          <p:cNvPr id="40" name="Text 37"/>
          <p:cNvSpPr txBox="1"/>
          <p:nvPr/>
        </p:nvSpPr>
        <p:spPr>
          <a:xfrm>
            <a:off x="6062472" y="5943600"/>
            <a:ext cx="5351983" cy="237744"/>
          </a:xfrm>
          <a:prstGeom prst="rect">
            <a:avLst/>
          </a:prstGeom>
          <a:noFill/>
          <a:ln/>
        </p:spPr>
        <p:txBody>
          <a:bodyPr wrap="square" lIns="0" tIns="0" rIns="0" bIns="0" rtlCol="0" anchor="t"/>
          <a:lstStyle/>
          <a:p>
            <a:pPr indent="0" marL="0">
              <a:buNone/>
            </a:pPr>
            <a:r>
              <a:rPr lang="en-US" sz="1050" dirty="0">
                <a:solidFill>
                  <a:srgbClr val="43464A"/>
                </a:solidFill>
                <a:latin typeface="Montserrat SemiBold" pitchFamily="34" charset="0"/>
                <a:ea typeface="Montserrat SemiBold" pitchFamily="34" charset="-122"/>
                <a:cs typeface="Montserrat SemiBold" pitchFamily="34" charset="-120"/>
              </a:rPr>
              <a:t>The third answer is why the other two can be trusted.</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02  ·  HOW IT WORKS</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Five stages. Only one can change anything</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AEGIS</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12</a:t>
            </a:r>
            <a:endParaRPr lang="en-US" sz="850" dirty="0"/>
          </a:p>
        </p:txBody>
      </p:sp>
      <p:sp>
        <p:nvSpPr>
          <p:cNvPr id="9" name="Shape 6"/>
          <p:cNvSpPr/>
          <p:nvPr/>
        </p:nvSpPr>
        <p:spPr>
          <a:xfrm>
            <a:off x="777240" y="1865376"/>
            <a:ext cx="10637215" cy="530352"/>
          </a:xfrm>
          <a:prstGeom prst="roundRect">
            <a:avLst>
              <a:gd name="adj" fmla="val 10345"/>
            </a:avLst>
          </a:prstGeom>
          <a:solidFill>
            <a:srgbClr val="F6EEF0"/>
          </a:solidFill>
          <a:ln/>
        </p:spPr>
      </p:sp>
      <p:sp>
        <p:nvSpPr>
          <p:cNvPr id="10" name="Shape 7"/>
          <p:cNvSpPr/>
          <p:nvPr/>
        </p:nvSpPr>
        <p:spPr>
          <a:xfrm>
            <a:off x="777240" y="1865376"/>
            <a:ext cx="50292" cy="530352"/>
          </a:xfrm>
          <a:prstGeom prst="rect">
            <a:avLst/>
          </a:prstGeom>
          <a:solidFill>
            <a:srgbClr val="942838"/>
          </a:solidFill>
          <a:ln/>
        </p:spPr>
      </p:sp>
      <p:sp>
        <p:nvSpPr>
          <p:cNvPr id="11" name="Text 8"/>
          <p:cNvSpPr txBox="1"/>
          <p:nvPr/>
        </p:nvSpPr>
        <p:spPr>
          <a:xfrm>
            <a:off x="1014984" y="2039112"/>
            <a:ext cx="10180015" cy="274320"/>
          </a:xfrm>
          <a:prstGeom prst="rect">
            <a:avLst/>
          </a:prstGeom>
          <a:noFill/>
          <a:ln/>
        </p:spPr>
        <p:txBody>
          <a:bodyPr wrap="square" lIns="0" tIns="0" rIns="0" bIns="0" rtlCol="0" anchor="t"/>
          <a:lstStyle/>
          <a:p>
            <a:pPr indent="0" marL="0">
              <a:buNone/>
            </a:pPr>
            <a:r>
              <a:rPr lang="en-US" sz="900" spc="140" kern="0" dirty="0">
                <a:solidFill>
                  <a:srgbClr val="942838"/>
                </a:solidFill>
                <a:latin typeface="Montserrat SemiBold" pitchFamily="34" charset="0"/>
                <a:ea typeface="Montserrat SemiBold" pitchFamily="34" charset="-122"/>
                <a:cs typeface="Montserrat SemiBold" pitchFamily="34" charset="-120"/>
              </a:rPr>
              <a:t>THE CORE RULE   </a:t>
            </a:r>
            <a:pPr indent="0" marL="0">
              <a:buNone/>
            </a:pPr>
            <a:r>
              <a:rPr lang="en-US" sz="1250" dirty="0">
                <a:solidFill>
                  <a:srgbClr val="2B2D30"/>
                </a:solidFill>
                <a:latin typeface="Montserrat SemiBold" pitchFamily="34" charset="0"/>
                <a:ea typeface="Montserrat SemiBold" pitchFamily="34" charset="-122"/>
                <a:cs typeface="Montserrat SemiBold" pitchFamily="34" charset="-120"/>
              </a:rPr>
              <a:t>Unknown is never reported as safe. If AEGIS cannot tell, it says so.</a:t>
            </a:r>
            <a:endParaRPr lang="en-US" sz="900" dirty="0"/>
          </a:p>
        </p:txBody>
      </p:sp>
      <p:sp>
        <p:nvSpPr>
          <p:cNvPr id="12" name="Text 9"/>
          <p:cNvSpPr txBox="1"/>
          <p:nvPr/>
        </p:nvSpPr>
        <p:spPr>
          <a:xfrm>
            <a:off x="777240" y="2596896"/>
            <a:ext cx="82296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STAGES 00–03   ·   RUN AUTOMATICALLY, READ ONLY — NOTHING IS CHANGED</a:t>
            </a:r>
            <a:endParaRPr lang="en-US" sz="850" dirty="0"/>
          </a:p>
        </p:txBody>
      </p:sp>
      <p:sp>
        <p:nvSpPr>
          <p:cNvPr id="13" name="Shape 10"/>
          <p:cNvSpPr/>
          <p:nvPr/>
        </p:nvSpPr>
        <p:spPr>
          <a:xfrm>
            <a:off x="777240" y="2798064"/>
            <a:ext cx="2412416" cy="1737360"/>
          </a:xfrm>
          <a:prstGeom prst="roundRect">
            <a:avLst>
              <a:gd name="adj" fmla="val 3158"/>
            </a:avLst>
          </a:prstGeom>
          <a:solidFill>
            <a:srgbClr val="FFFFFF"/>
          </a:solidFill>
          <a:ln w="9525">
            <a:solidFill>
              <a:srgbClr val="E6E4E2"/>
            </a:solidFill>
            <a:prstDash val="solid"/>
          </a:ln>
          <a:effectLst>
            <a:outerShdw sx="100000" sy="100000" kx="0" ky="0" algn="bl" rotWithShape="0" blurRad="364202497400000000" dist="91050624350000000" dir="1.1664e+21">
              <a:srgbClr val="959092">
                <a:alpha val="22000000000000000000"/>
              </a:srgbClr>
            </a:outerShdw>
          </a:effectLst>
        </p:spPr>
      </p:sp>
      <p:sp>
        <p:nvSpPr>
          <p:cNvPr id="14" name="Shape 11"/>
          <p:cNvSpPr/>
          <p:nvPr/>
        </p:nvSpPr>
        <p:spPr>
          <a:xfrm>
            <a:off x="777240" y="2798064"/>
            <a:ext cx="2412416" cy="45720"/>
          </a:xfrm>
          <a:prstGeom prst="rect">
            <a:avLst/>
          </a:prstGeom>
          <a:solidFill>
            <a:srgbClr val="942838"/>
          </a:solidFill>
          <a:ln/>
        </p:spPr>
      </p:sp>
      <p:sp>
        <p:nvSpPr>
          <p:cNvPr id="15" name="Text 12"/>
          <p:cNvSpPr txBox="1"/>
          <p:nvPr/>
        </p:nvSpPr>
        <p:spPr>
          <a:xfrm>
            <a:off x="996696" y="2962656"/>
            <a:ext cx="914400" cy="219456"/>
          </a:xfrm>
          <a:prstGeom prst="rect">
            <a:avLst/>
          </a:prstGeom>
          <a:noFill/>
          <a:ln/>
        </p:spPr>
        <p:txBody>
          <a:bodyPr wrap="square" lIns="0" tIns="0" rIns="0" bIns="0" rtlCol="0" anchor="t"/>
          <a:lstStyle/>
          <a:p>
            <a:pPr indent="0" marL="0">
              <a:buNone/>
            </a:pPr>
            <a:r>
              <a:rPr lang="en-US" sz="1300" spc="40" kern="0" dirty="0">
                <a:solidFill>
                  <a:srgbClr val="DFBEC4"/>
                </a:solidFill>
                <a:latin typeface="Montserrat ExtraBold" pitchFamily="34" charset="0"/>
                <a:ea typeface="Montserrat ExtraBold" pitchFamily="34" charset="-122"/>
                <a:cs typeface="Montserrat ExtraBold" pitchFamily="34" charset="-120"/>
              </a:rPr>
              <a:t>00</a:t>
            </a:r>
            <a:endParaRPr lang="en-US" sz="1300" dirty="0"/>
          </a:p>
        </p:txBody>
      </p:sp>
      <p:sp>
        <p:nvSpPr>
          <p:cNvPr id="16" name="Text 13"/>
          <p:cNvSpPr txBox="1"/>
          <p:nvPr/>
        </p:nvSpPr>
        <p:spPr>
          <a:xfrm>
            <a:off x="996696" y="3200400"/>
            <a:ext cx="1973504" cy="274320"/>
          </a:xfrm>
          <a:prstGeom prst="rect">
            <a:avLst/>
          </a:prstGeom>
          <a:noFill/>
          <a:ln/>
        </p:spPr>
        <p:txBody>
          <a:bodyPr wrap="square" lIns="0" tIns="0" rIns="0" bIns="0" rtlCol="0" anchor="t"/>
          <a:lstStyle/>
          <a:p>
            <a:pPr indent="0" marL="0">
              <a:buNone/>
            </a:pPr>
            <a:r>
              <a:rPr lang="en-US" sz="1600" spc="30" kern="0" dirty="0">
                <a:solidFill>
                  <a:srgbClr val="2B2D30"/>
                </a:solidFill>
                <a:latin typeface="Montserrat ExtraBold" pitchFamily="34" charset="0"/>
                <a:ea typeface="Montserrat ExtraBold" pitchFamily="34" charset="-122"/>
                <a:cs typeface="Montserrat ExtraBold" pitchFamily="34" charset="-120"/>
              </a:rPr>
              <a:t>SCAN</a:t>
            </a:r>
            <a:endParaRPr lang="en-US" sz="1600" dirty="0"/>
          </a:p>
        </p:txBody>
      </p:sp>
      <p:sp>
        <p:nvSpPr>
          <p:cNvPr id="17" name="Text 14"/>
          <p:cNvSpPr txBox="1"/>
          <p:nvPr/>
        </p:nvSpPr>
        <p:spPr>
          <a:xfrm>
            <a:off x="996696" y="3529584"/>
            <a:ext cx="1973504" cy="713232"/>
          </a:xfrm>
          <a:prstGeom prst="rect">
            <a:avLst/>
          </a:prstGeom>
          <a:noFill/>
          <a:ln/>
        </p:spPr>
        <p:txBody>
          <a:bodyPr wrap="square" lIns="0" tIns="0" rIns="0" bIns="0" rtlCol="0" anchor="t"/>
          <a:lstStyle/>
          <a:p>
            <a:pPr indent="0" marL="0">
              <a:lnSpc>
                <a:spcPct val="118000"/>
              </a:lnSpc>
              <a:buNone/>
            </a:pPr>
            <a:r>
              <a:rPr lang="en-US" sz="950" dirty="0">
                <a:solidFill>
                  <a:srgbClr val="6E7175"/>
                </a:solidFill>
                <a:latin typeface="Montserrat" pitchFamily="34" charset="0"/>
                <a:ea typeface="Montserrat" pitchFamily="34" charset="-122"/>
                <a:cs typeface="Montserrat" pitchFamily="34" charset="-120"/>
              </a:rPr>
              <a:t>Checks every package version the project installs — its "lockfile" — against public records of known flaws.</a:t>
            </a:r>
            <a:endParaRPr lang="en-US" sz="950" dirty="0"/>
          </a:p>
        </p:txBody>
      </p:sp>
      <p:sp>
        <p:nvSpPr>
          <p:cNvPr id="18" name="Text 15"/>
          <p:cNvSpPr txBox="1"/>
          <p:nvPr/>
        </p:nvSpPr>
        <p:spPr>
          <a:xfrm>
            <a:off x="996696" y="4261104"/>
            <a:ext cx="1973504" cy="201168"/>
          </a:xfrm>
          <a:prstGeom prst="rect">
            <a:avLst/>
          </a:prstGeom>
          <a:noFill/>
          <a:ln/>
        </p:spPr>
        <p:txBody>
          <a:bodyPr wrap="square" lIns="0" tIns="0" rIns="0" bIns="0" rtlCol="0" anchor="t"/>
          <a:lstStyle/>
          <a:p>
            <a:pPr indent="0" marL="0">
              <a:buNone/>
            </a:pPr>
            <a:r>
              <a:rPr lang="en-US" sz="850" spc="60" kern="0" dirty="0">
                <a:solidFill>
                  <a:srgbClr val="942838"/>
                </a:solidFill>
                <a:latin typeface="Montserrat SemiBold" pitchFamily="34" charset="0"/>
                <a:ea typeface="Montserrat SemiBold" pitchFamily="34" charset="-122"/>
                <a:cs typeface="Montserrat SemiBold" pitchFamily="34" charset="-120"/>
              </a:rPr>
              <a:t>Checks public flaw records</a:t>
            </a:r>
            <a:endParaRPr lang="en-US" sz="850" dirty="0"/>
          </a:p>
        </p:txBody>
      </p:sp>
      <p:sp>
        <p:nvSpPr>
          <p:cNvPr id="19" name="Shape 16"/>
          <p:cNvSpPr/>
          <p:nvPr/>
        </p:nvSpPr>
        <p:spPr>
          <a:xfrm>
            <a:off x="3235376" y="3656686"/>
            <a:ext cx="146304" cy="20117"/>
          </a:xfrm>
          <a:prstGeom prst="rect">
            <a:avLst/>
          </a:prstGeom>
          <a:solidFill>
            <a:srgbClr val="43464A"/>
          </a:solidFill>
          <a:ln/>
        </p:spPr>
      </p:sp>
      <p:sp>
        <p:nvSpPr>
          <p:cNvPr id="20" name="Shape 17"/>
          <p:cNvSpPr/>
          <p:nvPr/>
        </p:nvSpPr>
        <p:spPr>
          <a:xfrm rot="5400000">
            <a:off x="3381680" y="3607308"/>
            <a:ext cx="91440" cy="118872"/>
          </a:xfrm>
          <a:prstGeom prst="triangle">
            <a:avLst/>
          </a:prstGeom>
          <a:solidFill>
            <a:srgbClr val="43464A"/>
          </a:solidFill>
          <a:ln/>
        </p:spPr>
      </p:sp>
      <p:sp>
        <p:nvSpPr>
          <p:cNvPr id="21" name="Shape 18"/>
          <p:cNvSpPr/>
          <p:nvPr/>
        </p:nvSpPr>
        <p:spPr>
          <a:xfrm>
            <a:off x="3518840" y="2798064"/>
            <a:ext cx="2412416" cy="1737360"/>
          </a:xfrm>
          <a:prstGeom prst="roundRect">
            <a:avLst>
              <a:gd name="adj" fmla="val 3158"/>
            </a:avLst>
          </a:prstGeom>
          <a:solidFill>
            <a:srgbClr val="FFFFFF"/>
          </a:solidFill>
          <a:ln w="9525">
            <a:solidFill>
              <a:srgbClr val="E6E4E2"/>
            </a:solidFill>
            <a:prstDash val="solid"/>
          </a:ln>
          <a:effectLst>
            <a:outerShdw sx="100000" sy="100000" kx="0" ky="0" algn="bl" rotWithShape="0" blurRad="4.62537171698e+21" dist="1.156342929245e+21" dir="6.9984e+25">
              <a:srgbClr val="959092">
                <a:alpha val="2.2e+24"/>
              </a:srgbClr>
            </a:outerShdw>
          </a:effectLst>
        </p:spPr>
      </p:sp>
      <p:sp>
        <p:nvSpPr>
          <p:cNvPr id="22" name="Shape 19"/>
          <p:cNvSpPr/>
          <p:nvPr/>
        </p:nvSpPr>
        <p:spPr>
          <a:xfrm>
            <a:off x="3518840" y="2798064"/>
            <a:ext cx="2412416" cy="45720"/>
          </a:xfrm>
          <a:prstGeom prst="rect">
            <a:avLst/>
          </a:prstGeom>
          <a:solidFill>
            <a:srgbClr val="942838"/>
          </a:solidFill>
          <a:ln/>
        </p:spPr>
      </p:sp>
      <p:sp>
        <p:nvSpPr>
          <p:cNvPr id="23" name="Text 20"/>
          <p:cNvSpPr txBox="1"/>
          <p:nvPr/>
        </p:nvSpPr>
        <p:spPr>
          <a:xfrm>
            <a:off x="3738296" y="2962656"/>
            <a:ext cx="914400" cy="219456"/>
          </a:xfrm>
          <a:prstGeom prst="rect">
            <a:avLst/>
          </a:prstGeom>
          <a:noFill/>
          <a:ln/>
        </p:spPr>
        <p:txBody>
          <a:bodyPr wrap="square" lIns="0" tIns="0" rIns="0" bIns="0" rtlCol="0" anchor="t"/>
          <a:lstStyle/>
          <a:p>
            <a:pPr indent="0" marL="0">
              <a:buNone/>
            </a:pPr>
            <a:r>
              <a:rPr lang="en-US" sz="1300" spc="40" kern="0" dirty="0">
                <a:solidFill>
                  <a:srgbClr val="DFBEC4"/>
                </a:solidFill>
                <a:latin typeface="Montserrat ExtraBold" pitchFamily="34" charset="0"/>
                <a:ea typeface="Montserrat ExtraBold" pitchFamily="34" charset="-122"/>
                <a:cs typeface="Montserrat ExtraBold" pitchFamily="34" charset="-120"/>
              </a:rPr>
              <a:t>01</a:t>
            </a:r>
            <a:endParaRPr lang="en-US" sz="1300" dirty="0"/>
          </a:p>
        </p:txBody>
      </p:sp>
      <p:sp>
        <p:nvSpPr>
          <p:cNvPr id="24" name="Text 21"/>
          <p:cNvSpPr txBox="1"/>
          <p:nvPr/>
        </p:nvSpPr>
        <p:spPr>
          <a:xfrm>
            <a:off x="3738296" y="3200400"/>
            <a:ext cx="1973504" cy="274320"/>
          </a:xfrm>
          <a:prstGeom prst="rect">
            <a:avLst/>
          </a:prstGeom>
          <a:noFill/>
          <a:ln/>
        </p:spPr>
        <p:txBody>
          <a:bodyPr wrap="square" lIns="0" tIns="0" rIns="0" bIns="0" rtlCol="0" anchor="t"/>
          <a:lstStyle/>
          <a:p>
            <a:pPr indent="0" marL="0">
              <a:buNone/>
            </a:pPr>
            <a:r>
              <a:rPr lang="en-US" sz="1600" spc="30" kern="0" dirty="0">
                <a:solidFill>
                  <a:srgbClr val="2B2D30"/>
                </a:solidFill>
                <a:latin typeface="Montserrat ExtraBold" pitchFamily="34" charset="0"/>
                <a:ea typeface="Montserrat ExtraBold" pitchFamily="34" charset="-122"/>
                <a:cs typeface="Montserrat ExtraBold" pitchFamily="34" charset="-120"/>
              </a:rPr>
              <a:t>REACH</a:t>
            </a:r>
            <a:endParaRPr lang="en-US" sz="1600" dirty="0"/>
          </a:p>
        </p:txBody>
      </p:sp>
      <p:sp>
        <p:nvSpPr>
          <p:cNvPr id="25" name="Text 22"/>
          <p:cNvSpPr txBox="1"/>
          <p:nvPr/>
        </p:nvSpPr>
        <p:spPr>
          <a:xfrm>
            <a:off x="3738296" y="3529584"/>
            <a:ext cx="1973504" cy="713232"/>
          </a:xfrm>
          <a:prstGeom prst="rect">
            <a:avLst/>
          </a:prstGeom>
          <a:noFill/>
          <a:ln/>
        </p:spPr>
        <p:txBody>
          <a:bodyPr wrap="square" lIns="0" tIns="0" rIns="0" bIns="0" rtlCol="0" anchor="t"/>
          <a:lstStyle/>
          <a:p>
            <a:pPr indent="0" marL="0">
              <a:lnSpc>
                <a:spcPct val="118000"/>
              </a:lnSpc>
              <a:buNone/>
            </a:pPr>
            <a:r>
              <a:rPr lang="en-US" sz="950" dirty="0">
                <a:solidFill>
                  <a:srgbClr val="6E7175"/>
                </a:solidFill>
                <a:latin typeface="Montserrat" pitchFamily="34" charset="0"/>
                <a:ea typeface="Montserrat" pitchFamily="34" charset="-122"/>
                <a:cs typeface="Montserrat" pitchFamily="34" charset="-120"/>
              </a:rPr>
              <a:t>Finds whether our own code calls the vulnerable part — and answers reachable, no call site, or can't prove.</a:t>
            </a:r>
            <a:endParaRPr lang="en-US" sz="950" dirty="0"/>
          </a:p>
        </p:txBody>
      </p:sp>
      <p:sp>
        <p:nvSpPr>
          <p:cNvPr id="26" name="Text 23"/>
          <p:cNvSpPr txBox="1"/>
          <p:nvPr/>
        </p:nvSpPr>
        <p:spPr>
          <a:xfrm>
            <a:off x="3738296" y="4261104"/>
            <a:ext cx="1973504" cy="201168"/>
          </a:xfrm>
          <a:prstGeom prst="rect">
            <a:avLst/>
          </a:prstGeom>
          <a:noFill/>
          <a:ln/>
        </p:spPr>
        <p:txBody>
          <a:bodyPr wrap="square" lIns="0" tIns="0" rIns="0" bIns="0" rtlCol="0" anchor="t"/>
          <a:lstStyle/>
          <a:p>
            <a:pPr indent="0" marL="0">
              <a:buNone/>
            </a:pPr>
            <a:r>
              <a:rPr lang="en-US" sz="850" spc="60" kern="0" dirty="0">
                <a:solidFill>
                  <a:srgbClr val="942838"/>
                </a:solidFill>
                <a:latin typeface="Montserrat SemiBold" pitchFamily="34" charset="0"/>
                <a:ea typeface="Montserrat SemiBold" pitchFamily="34" charset="-122"/>
                <a:cs typeface="Montserrat SemiBold" pitchFamily="34" charset="-120"/>
              </a:rPr>
              <a:t>Analyses local code only</a:t>
            </a:r>
            <a:endParaRPr lang="en-US" sz="850" dirty="0"/>
          </a:p>
        </p:txBody>
      </p:sp>
      <p:sp>
        <p:nvSpPr>
          <p:cNvPr id="27" name="Shape 24"/>
          <p:cNvSpPr/>
          <p:nvPr/>
        </p:nvSpPr>
        <p:spPr>
          <a:xfrm>
            <a:off x="5976976" y="3656686"/>
            <a:ext cx="146304" cy="20117"/>
          </a:xfrm>
          <a:prstGeom prst="rect">
            <a:avLst/>
          </a:prstGeom>
          <a:solidFill>
            <a:srgbClr val="43464A"/>
          </a:solidFill>
          <a:ln/>
        </p:spPr>
      </p:sp>
      <p:sp>
        <p:nvSpPr>
          <p:cNvPr id="28" name="Shape 25"/>
          <p:cNvSpPr/>
          <p:nvPr/>
        </p:nvSpPr>
        <p:spPr>
          <a:xfrm rot="5400000">
            <a:off x="6123280" y="3607308"/>
            <a:ext cx="91440" cy="118872"/>
          </a:xfrm>
          <a:prstGeom prst="triangle">
            <a:avLst/>
          </a:prstGeom>
          <a:solidFill>
            <a:srgbClr val="43464A"/>
          </a:solidFill>
          <a:ln/>
        </p:spPr>
      </p:sp>
      <p:sp>
        <p:nvSpPr>
          <p:cNvPr id="29" name="Shape 26"/>
          <p:cNvSpPr/>
          <p:nvPr/>
        </p:nvSpPr>
        <p:spPr>
          <a:xfrm>
            <a:off x="6260440" y="2798064"/>
            <a:ext cx="2412416" cy="1737360"/>
          </a:xfrm>
          <a:prstGeom prst="roundRect">
            <a:avLst>
              <a:gd name="adj" fmla="val 3158"/>
            </a:avLst>
          </a:prstGeom>
          <a:solidFill>
            <a:srgbClr val="FFFFFF"/>
          </a:solidFill>
          <a:ln w="9525">
            <a:solidFill>
              <a:srgbClr val="E6E4E2"/>
            </a:solidFill>
            <a:prstDash val="solid"/>
          </a:ln>
          <a:effectLst>
            <a:outerShdw sx="100000" sy="100000" kx="0" ky="0" algn="bl" rotWithShape="0" blurRad="5.8742220805646e+25" dist="1.46855552014115e+25" dir="4.19904e+30">
              <a:srgbClr val="959092">
                <a:alpha val="2.2e+29"/>
              </a:srgbClr>
            </a:outerShdw>
          </a:effectLst>
        </p:spPr>
      </p:sp>
      <p:sp>
        <p:nvSpPr>
          <p:cNvPr id="30" name="Shape 27"/>
          <p:cNvSpPr/>
          <p:nvPr/>
        </p:nvSpPr>
        <p:spPr>
          <a:xfrm>
            <a:off x="6260440" y="2798064"/>
            <a:ext cx="2412416" cy="45720"/>
          </a:xfrm>
          <a:prstGeom prst="rect">
            <a:avLst/>
          </a:prstGeom>
          <a:solidFill>
            <a:srgbClr val="942838"/>
          </a:solidFill>
          <a:ln/>
        </p:spPr>
      </p:sp>
      <p:sp>
        <p:nvSpPr>
          <p:cNvPr id="31" name="Text 28"/>
          <p:cNvSpPr txBox="1"/>
          <p:nvPr/>
        </p:nvSpPr>
        <p:spPr>
          <a:xfrm>
            <a:off x="6479896" y="2962656"/>
            <a:ext cx="914400" cy="219456"/>
          </a:xfrm>
          <a:prstGeom prst="rect">
            <a:avLst/>
          </a:prstGeom>
          <a:noFill/>
          <a:ln/>
        </p:spPr>
        <p:txBody>
          <a:bodyPr wrap="square" lIns="0" tIns="0" rIns="0" bIns="0" rtlCol="0" anchor="t"/>
          <a:lstStyle/>
          <a:p>
            <a:pPr indent="0" marL="0">
              <a:buNone/>
            </a:pPr>
            <a:r>
              <a:rPr lang="en-US" sz="1300" spc="40" kern="0" dirty="0">
                <a:solidFill>
                  <a:srgbClr val="DFBEC4"/>
                </a:solidFill>
                <a:latin typeface="Montserrat ExtraBold" pitchFamily="34" charset="0"/>
                <a:ea typeface="Montserrat ExtraBold" pitchFamily="34" charset="-122"/>
                <a:cs typeface="Montserrat ExtraBold" pitchFamily="34" charset="-120"/>
              </a:rPr>
              <a:t>02</a:t>
            </a:r>
            <a:endParaRPr lang="en-US" sz="1300" dirty="0"/>
          </a:p>
        </p:txBody>
      </p:sp>
      <p:sp>
        <p:nvSpPr>
          <p:cNvPr id="32" name="Text 29"/>
          <p:cNvSpPr txBox="1"/>
          <p:nvPr/>
        </p:nvSpPr>
        <p:spPr>
          <a:xfrm>
            <a:off x="6479896" y="3200400"/>
            <a:ext cx="1973504" cy="274320"/>
          </a:xfrm>
          <a:prstGeom prst="rect">
            <a:avLst/>
          </a:prstGeom>
          <a:noFill/>
          <a:ln/>
        </p:spPr>
        <p:txBody>
          <a:bodyPr wrap="square" lIns="0" tIns="0" rIns="0" bIns="0" rtlCol="0" anchor="t"/>
          <a:lstStyle/>
          <a:p>
            <a:pPr indent="0" marL="0">
              <a:buNone/>
            </a:pPr>
            <a:r>
              <a:rPr lang="en-US" sz="1600" spc="30" kern="0" dirty="0">
                <a:solidFill>
                  <a:srgbClr val="2B2D30"/>
                </a:solidFill>
                <a:latin typeface="Montserrat ExtraBold" pitchFamily="34" charset="0"/>
                <a:ea typeface="Montserrat ExtraBold" pitchFamily="34" charset="-122"/>
                <a:cs typeface="Montserrat ExtraBold" pitchFamily="34" charset="-120"/>
              </a:rPr>
              <a:t>BLAST</a:t>
            </a:r>
            <a:endParaRPr lang="en-US" sz="1600" dirty="0"/>
          </a:p>
        </p:txBody>
      </p:sp>
      <p:sp>
        <p:nvSpPr>
          <p:cNvPr id="33" name="Text 30"/>
          <p:cNvSpPr txBox="1"/>
          <p:nvPr/>
        </p:nvSpPr>
        <p:spPr>
          <a:xfrm>
            <a:off x="6479896" y="3529584"/>
            <a:ext cx="1973504" cy="713232"/>
          </a:xfrm>
          <a:prstGeom prst="rect">
            <a:avLst/>
          </a:prstGeom>
          <a:noFill/>
          <a:ln/>
        </p:spPr>
        <p:txBody>
          <a:bodyPr wrap="square" lIns="0" tIns="0" rIns="0" bIns="0" rtlCol="0" anchor="t"/>
          <a:lstStyle/>
          <a:p>
            <a:pPr indent="0" marL="0">
              <a:lnSpc>
                <a:spcPct val="118000"/>
              </a:lnSpc>
              <a:buNone/>
            </a:pPr>
            <a:r>
              <a:rPr lang="en-US" sz="950" dirty="0">
                <a:solidFill>
                  <a:srgbClr val="6E7175"/>
                </a:solidFill>
                <a:latin typeface="Montserrat" pitchFamily="34" charset="0"/>
                <a:ea typeface="Montserrat" pitchFamily="34" charset="-122"/>
                <a:cs typeface="Montserrat" pitchFamily="34" charset="-120"/>
              </a:rPr>
              <a:t>Measures how much could be affected — how much of the codebase sits downstream, and whether it runs in production.</a:t>
            </a:r>
            <a:endParaRPr lang="en-US" sz="950" dirty="0"/>
          </a:p>
        </p:txBody>
      </p:sp>
      <p:sp>
        <p:nvSpPr>
          <p:cNvPr id="34" name="Text 31"/>
          <p:cNvSpPr txBox="1"/>
          <p:nvPr/>
        </p:nvSpPr>
        <p:spPr>
          <a:xfrm>
            <a:off x="6479896" y="4261104"/>
            <a:ext cx="1973504" cy="201168"/>
          </a:xfrm>
          <a:prstGeom prst="rect">
            <a:avLst/>
          </a:prstGeom>
          <a:noFill/>
          <a:ln/>
        </p:spPr>
        <p:txBody>
          <a:bodyPr wrap="square" lIns="0" tIns="0" rIns="0" bIns="0" rtlCol="0" anchor="t"/>
          <a:lstStyle/>
          <a:p>
            <a:pPr indent="0" marL="0">
              <a:buNone/>
            </a:pPr>
            <a:r>
              <a:rPr lang="en-US" sz="850" spc="60" kern="0" dirty="0">
                <a:solidFill>
                  <a:srgbClr val="942838"/>
                </a:solidFill>
                <a:latin typeface="Montserrat SemiBold" pitchFamily="34" charset="0"/>
                <a:ea typeface="Montserrat SemiBold" pitchFamily="34" charset="-122"/>
                <a:cs typeface="Montserrat SemiBold" pitchFamily="34" charset="-120"/>
              </a:rPr>
              <a:t>Analyses local code only</a:t>
            </a:r>
            <a:endParaRPr lang="en-US" sz="850" dirty="0"/>
          </a:p>
        </p:txBody>
      </p:sp>
      <p:sp>
        <p:nvSpPr>
          <p:cNvPr id="35" name="Shape 32"/>
          <p:cNvSpPr/>
          <p:nvPr/>
        </p:nvSpPr>
        <p:spPr>
          <a:xfrm>
            <a:off x="8718575" y="3656686"/>
            <a:ext cx="146304" cy="20117"/>
          </a:xfrm>
          <a:prstGeom prst="rect">
            <a:avLst/>
          </a:prstGeom>
          <a:solidFill>
            <a:srgbClr val="43464A"/>
          </a:solidFill>
          <a:ln/>
        </p:spPr>
      </p:sp>
      <p:sp>
        <p:nvSpPr>
          <p:cNvPr id="36" name="Shape 33"/>
          <p:cNvSpPr/>
          <p:nvPr/>
        </p:nvSpPr>
        <p:spPr>
          <a:xfrm rot="5400000">
            <a:off x="8864879" y="3607308"/>
            <a:ext cx="91440" cy="118872"/>
          </a:xfrm>
          <a:prstGeom prst="triangle">
            <a:avLst/>
          </a:prstGeom>
          <a:solidFill>
            <a:srgbClr val="43464A"/>
          </a:solidFill>
          <a:ln/>
        </p:spPr>
      </p:sp>
      <p:sp>
        <p:nvSpPr>
          <p:cNvPr id="37" name="Shape 34"/>
          <p:cNvSpPr/>
          <p:nvPr/>
        </p:nvSpPr>
        <p:spPr>
          <a:xfrm>
            <a:off x="9002039" y="2798064"/>
            <a:ext cx="2412416" cy="1737360"/>
          </a:xfrm>
          <a:prstGeom prst="roundRect">
            <a:avLst>
              <a:gd name="adj" fmla="val 3158"/>
            </a:avLst>
          </a:prstGeom>
          <a:solidFill>
            <a:srgbClr val="FFFFFF"/>
          </a:solidFill>
          <a:ln w="9525">
            <a:solidFill>
              <a:srgbClr val="E6E4E2"/>
            </a:solidFill>
            <a:prstDash val="solid"/>
          </a:ln>
          <a:effectLst>
            <a:outerShdw sx="100000" sy="100000" kx="0" ky="0" algn="bl" rotWithShape="0" blurRad="7.460262042317042e+29" dist="1.8650655105792604e+29" dir="2.519424e+35">
              <a:srgbClr val="959092">
                <a:alpha val="2.2e+34"/>
              </a:srgbClr>
            </a:outerShdw>
          </a:effectLst>
        </p:spPr>
      </p:sp>
      <p:sp>
        <p:nvSpPr>
          <p:cNvPr id="38" name="Shape 35"/>
          <p:cNvSpPr/>
          <p:nvPr/>
        </p:nvSpPr>
        <p:spPr>
          <a:xfrm>
            <a:off x="9002039" y="2798064"/>
            <a:ext cx="2412416" cy="45720"/>
          </a:xfrm>
          <a:prstGeom prst="rect">
            <a:avLst/>
          </a:prstGeom>
          <a:solidFill>
            <a:srgbClr val="942838"/>
          </a:solidFill>
          <a:ln/>
        </p:spPr>
      </p:sp>
      <p:sp>
        <p:nvSpPr>
          <p:cNvPr id="39" name="Text 36"/>
          <p:cNvSpPr txBox="1"/>
          <p:nvPr/>
        </p:nvSpPr>
        <p:spPr>
          <a:xfrm>
            <a:off x="9221495" y="2962656"/>
            <a:ext cx="914400" cy="219456"/>
          </a:xfrm>
          <a:prstGeom prst="rect">
            <a:avLst/>
          </a:prstGeom>
          <a:noFill/>
          <a:ln/>
        </p:spPr>
        <p:txBody>
          <a:bodyPr wrap="square" lIns="0" tIns="0" rIns="0" bIns="0" rtlCol="0" anchor="t"/>
          <a:lstStyle/>
          <a:p>
            <a:pPr indent="0" marL="0">
              <a:buNone/>
            </a:pPr>
            <a:r>
              <a:rPr lang="en-US" sz="1300" spc="40" kern="0" dirty="0">
                <a:solidFill>
                  <a:srgbClr val="DFBEC4"/>
                </a:solidFill>
                <a:latin typeface="Montserrat ExtraBold" pitchFamily="34" charset="0"/>
                <a:ea typeface="Montserrat ExtraBold" pitchFamily="34" charset="-122"/>
                <a:cs typeface="Montserrat ExtraBold" pitchFamily="34" charset="-120"/>
              </a:rPr>
              <a:t>03</a:t>
            </a:r>
            <a:endParaRPr lang="en-US" sz="1300" dirty="0"/>
          </a:p>
        </p:txBody>
      </p:sp>
      <p:sp>
        <p:nvSpPr>
          <p:cNvPr id="40" name="Text 37"/>
          <p:cNvSpPr txBox="1"/>
          <p:nvPr/>
        </p:nvSpPr>
        <p:spPr>
          <a:xfrm>
            <a:off x="9221495" y="3200400"/>
            <a:ext cx="1973504" cy="274320"/>
          </a:xfrm>
          <a:prstGeom prst="rect">
            <a:avLst/>
          </a:prstGeom>
          <a:noFill/>
          <a:ln/>
        </p:spPr>
        <p:txBody>
          <a:bodyPr wrap="square" lIns="0" tIns="0" rIns="0" bIns="0" rtlCol="0" anchor="t"/>
          <a:lstStyle/>
          <a:p>
            <a:pPr indent="0" marL="0">
              <a:buNone/>
            </a:pPr>
            <a:r>
              <a:rPr lang="en-US" sz="1600" spc="30" kern="0" dirty="0">
                <a:solidFill>
                  <a:srgbClr val="2B2D30"/>
                </a:solidFill>
                <a:latin typeface="Montserrat ExtraBold" pitchFamily="34" charset="0"/>
                <a:ea typeface="Montserrat ExtraBold" pitchFamily="34" charset="-122"/>
                <a:cs typeface="Montserrat ExtraBold" pitchFamily="34" charset="-120"/>
              </a:rPr>
              <a:t>REGRESS</a:t>
            </a:r>
            <a:endParaRPr lang="en-US" sz="1600" dirty="0"/>
          </a:p>
        </p:txBody>
      </p:sp>
      <p:sp>
        <p:nvSpPr>
          <p:cNvPr id="41" name="Text 38"/>
          <p:cNvSpPr txBox="1"/>
          <p:nvPr/>
        </p:nvSpPr>
        <p:spPr>
          <a:xfrm>
            <a:off x="9221495" y="3529584"/>
            <a:ext cx="1973504" cy="713232"/>
          </a:xfrm>
          <a:prstGeom prst="rect">
            <a:avLst/>
          </a:prstGeom>
          <a:noFill/>
          <a:ln/>
        </p:spPr>
        <p:txBody>
          <a:bodyPr wrap="square" lIns="0" tIns="0" rIns="0" bIns="0" rtlCol="0" anchor="t"/>
          <a:lstStyle/>
          <a:p>
            <a:pPr indent="0" marL="0">
              <a:lnSpc>
                <a:spcPct val="118000"/>
              </a:lnSpc>
              <a:buNone/>
            </a:pPr>
            <a:r>
              <a:rPr lang="en-US" sz="950" dirty="0">
                <a:solidFill>
                  <a:srgbClr val="6E7175"/>
                </a:solidFill>
                <a:latin typeface="Montserrat" pitchFamily="34" charset="0"/>
                <a:ea typeface="Montserrat" pitchFamily="34" charset="-122"/>
                <a:cs typeface="Montserrat" pitchFamily="34" charset="-120"/>
              </a:rPr>
              <a:t>Checks whether the security fix could break something — test coverage and upgrade risk, kept separate.</a:t>
            </a:r>
            <a:endParaRPr lang="en-US" sz="950" dirty="0"/>
          </a:p>
        </p:txBody>
      </p:sp>
      <p:sp>
        <p:nvSpPr>
          <p:cNvPr id="42" name="Text 39"/>
          <p:cNvSpPr txBox="1"/>
          <p:nvPr/>
        </p:nvSpPr>
        <p:spPr>
          <a:xfrm>
            <a:off x="9221495" y="4261104"/>
            <a:ext cx="1973504" cy="201168"/>
          </a:xfrm>
          <a:prstGeom prst="rect">
            <a:avLst/>
          </a:prstGeom>
          <a:noFill/>
          <a:ln/>
        </p:spPr>
        <p:txBody>
          <a:bodyPr wrap="square" lIns="0" tIns="0" rIns="0" bIns="0" rtlCol="0" anchor="t"/>
          <a:lstStyle/>
          <a:p>
            <a:pPr indent="0" marL="0">
              <a:buNone/>
            </a:pPr>
            <a:r>
              <a:rPr lang="en-US" sz="850" spc="60" kern="0" dirty="0">
                <a:solidFill>
                  <a:srgbClr val="942838"/>
                </a:solidFill>
                <a:latin typeface="Montserrat SemiBold" pitchFamily="34" charset="0"/>
                <a:ea typeface="Montserrat SemiBold" pitchFamily="34" charset="-122"/>
                <a:cs typeface="Montserrat SemiBold" pitchFamily="34" charset="-120"/>
              </a:rPr>
              <a:t>Analyses local code only</a:t>
            </a:r>
            <a:endParaRPr lang="en-US" sz="850" dirty="0"/>
          </a:p>
        </p:txBody>
      </p:sp>
      <p:sp>
        <p:nvSpPr>
          <p:cNvPr id="43" name="Shape 40"/>
          <p:cNvSpPr/>
          <p:nvPr/>
        </p:nvSpPr>
        <p:spPr>
          <a:xfrm>
            <a:off x="10198189" y="4553712"/>
            <a:ext cx="20117" cy="82296"/>
          </a:xfrm>
          <a:prstGeom prst="rect">
            <a:avLst/>
          </a:prstGeom>
          <a:solidFill>
            <a:srgbClr val="942838"/>
          </a:solidFill>
          <a:ln/>
        </p:spPr>
      </p:sp>
      <p:sp>
        <p:nvSpPr>
          <p:cNvPr id="44" name="Shape 41"/>
          <p:cNvSpPr/>
          <p:nvPr/>
        </p:nvSpPr>
        <p:spPr>
          <a:xfrm rot="10800000">
            <a:off x="10162527" y="4636008"/>
            <a:ext cx="91440" cy="118872"/>
          </a:xfrm>
          <a:prstGeom prst="triangle">
            <a:avLst/>
          </a:prstGeom>
          <a:solidFill>
            <a:srgbClr val="942838"/>
          </a:solidFill>
          <a:ln/>
        </p:spPr>
      </p:sp>
      <p:sp>
        <p:nvSpPr>
          <p:cNvPr id="45" name="Text 42"/>
          <p:cNvSpPr txBox="1"/>
          <p:nvPr/>
        </p:nvSpPr>
        <p:spPr>
          <a:xfrm>
            <a:off x="7830807" y="4645152"/>
            <a:ext cx="2194560" cy="201168"/>
          </a:xfrm>
          <a:prstGeom prst="rect">
            <a:avLst/>
          </a:prstGeom>
          <a:noFill/>
          <a:ln/>
        </p:spPr>
        <p:txBody>
          <a:bodyPr wrap="square" lIns="0" tIns="0" rIns="0" bIns="0" rtlCol="0" anchor="t"/>
          <a:lstStyle/>
          <a:p>
            <a:pPr algn="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ONLY IF YOU ASK</a:t>
            </a:r>
            <a:endParaRPr lang="en-US" sz="850" dirty="0"/>
          </a:p>
        </p:txBody>
      </p:sp>
      <p:sp>
        <p:nvSpPr>
          <p:cNvPr id="46" name="Shape 43"/>
          <p:cNvSpPr/>
          <p:nvPr/>
        </p:nvSpPr>
        <p:spPr>
          <a:xfrm>
            <a:off x="777240" y="4773168"/>
            <a:ext cx="10637215" cy="1133856"/>
          </a:xfrm>
          <a:prstGeom prst="roundRect">
            <a:avLst>
              <a:gd name="adj" fmla="val 4839"/>
            </a:avLst>
          </a:prstGeom>
          <a:solidFill>
            <a:srgbClr val="2B2D30"/>
          </a:solidFill>
          <a:ln/>
          <a:effectLst>
            <a:outerShdw sx="100000" sy="100000" kx="0" ky="0" algn="bl" rotWithShape="0" blurRad="114300" dist="25400" dir="5400000">
              <a:srgbClr val="959092">
                <a:alpha val="16000"/>
              </a:srgbClr>
            </a:outerShdw>
          </a:effectLst>
        </p:spPr>
      </p:sp>
      <p:sp>
        <p:nvSpPr>
          <p:cNvPr id="47" name="Text 44"/>
          <p:cNvSpPr txBox="1"/>
          <p:nvPr/>
        </p:nvSpPr>
        <p:spPr>
          <a:xfrm>
            <a:off x="1088136" y="4974336"/>
            <a:ext cx="1463040" cy="201168"/>
          </a:xfrm>
          <a:prstGeom prst="rect">
            <a:avLst/>
          </a:prstGeom>
          <a:noFill/>
          <a:ln/>
        </p:spPr>
        <p:txBody>
          <a:bodyPr wrap="square" lIns="0" tIns="0" rIns="0" bIns="0" rtlCol="0" anchor="t"/>
          <a:lstStyle/>
          <a:p>
            <a:pPr indent="0" marL="0">
              <a:buNone/>
            </a:pPr>
            <a:r>
              <a:rPr lang="en-US" sz="850" spc="140" kern="0" dirty="0">
                <a:solidFill>
                  <a:srgbClr val="D9A3AE"/>
                </a:solidFill>
                <a:latin typeface="Montserrat SemiBold" pitchFamily="34" charset="0"/>
                <a:ea typeface="Montserrat SemiBold" pitchFamily="34" charset="-122"/>
                <a:cs typeface="Montserrat SemiBold" pitchFamily="34" charset="-120"/>
              </a:rPr>
              <a:t>STAGE 04</a:t>
            </a:r>
            <a:endParaRPr lang="en-US" sz="850" dirty="0"/>
          </a:p>
        </p:txBody>
      </p:sp>
      <p:sp>
        <p:nvSpPr>
          <p:cNvPr id="48" name="Text 45"/>
          <p:cNvSpPr txBox="1"/>
          <p:nvPr/>
        </p:nvSpPr>
        <p:spPr>
          <a:xfrm>
            <a:off x="1088136" y="5212080"/>
            <a:ext cx="1828800" cy="365760"/>
          </a:xfrm>
          <a:prstGeom prst="rect">
            <a:avLst/>
          </a:prstGeom>
          <a:noFill/>
          <a:ln/>
        </p:spPr>
        <p:txBody>
          <a:bodyPr wrap="square" lIns="0" tIns="0" rIns="0" bIns="0" rtlCol="0" anchor="t"/>
          <a:lstStyle/>
          <a:p>
            <a:pPr indent="0" marL="0">
              <a:buNone/>
            </a:pPr>
            <a:r>
              <a:rPr lang="en-US" sz="2200" spc="30" kern="0" dirty="0">
                <a:solidFill>
                  <a:srgbClr val="FFFFFF"/>
                </a:solidFill>
                <a:latin typeface="Montserrat ExtraBold" pitchFamily="34" charset="0"/>
                <a:ea typeface="Montserrat ExtraBold" pitchFamily="34" charset="-122"/>
                <a:cs typeface="Montserrat ExtraBold" pitchFamily="34" charset="-120"/>
              </a:rPr>
              <a:t>FIX</a:t>
            </a:r>
            <a:endParaRPr lang="en-US" sz="2200" dirty="0"/>
          </a:p>
        </p:txBody>
      </p:sp>
      <p:sp>
        <p:nvSpPr>
          <p:cNvPr id="49" name="Text 46"/>
          <p:cNvSpPr txBox="1"/>
          <p:nvPr/>
        </p:nvSpPr>
        <p:spPr>
          <a:xfrm>
            <a:off x="2880360" y="4992624"/>
            <a:ext cx="3200400" cy="731520"/>
          </a:xfrm>
          <a:prstGeom prst="rect">
            <a:avLst/>
          </a:prstGeom>
          <a:noFill/>
          <a:ln/>
        </p:spPr>
        <p:txBody>
          <a:bodyPr wrap="square" lIns="0" tIns="0" rIns="0" bIns="0" rtlCol="0" anchor="t"/>
          <a:lstStyle/>
          <a:p>
            <a:pPr indent="0" marL="0">
              <a:lnSpc>
                <a:spcPct val="120000"/>
              </a:lnSpc>
              <a:buNone/>
            </a:pPr>
            <a:r>
              <a:rPr lang="en-US" sz="1000" dirty="0">
                <a:solidFill>
                  <a:srgbClr val="DED9DA"/>
                </a:solidFill>
                <a:latin typeface="Montserrat" pitchFamily="34" charset="0"/>
                <a:ea typeface="Montserrat" pitchFamily="34" charset="-122"/>
                <a:cs typeface="Montserrat" pitchFamily="34" charset="-120"/>
              </a:rPr>
              <a:t>Builds and tests the fix — only when you ask, and one approved step at a time.</a:t>
            </a:r>
            <a:endParaRPr lang="en-US" sz="1000" dirty="0"/>
          </a:p>
        </p:txBody>
      </p:sp>
      <p:sp>
        <p:nvSpPr>
          <p:cNvPr id="50" name="Text 47"/>
          <p:cNvSpPr txBox="1"/>
          <p:nvPr/>
        </p:nvSpPr>
        <p:spPr>
          <a:xfrm>
            <a:off x="6355080" y="4956048"/>
            <a:ext cx="182880" cy="219456"/>
          </a:xfrm>
          <a:prstGeom prst="rect">
            <a:avLst/>
          </a:prstGeom>
          <a:noFill/>
          <a:ln/>
        </p:spPr>
        <p:txBody>
          <a:bodyPr wrap="square" lIns="0" tIns="0" rIns="0" bIns="0" rtlCol="0" anchor="t"/>
          <a:lstStyle/>
          <a:p>
            <a:pPr indent="0" marL="0">
              <a:buNone/>
            </a:pPr>
            <a:r>
              <a:rPr lang="en-US" sz="1000" dirty="0">
                <a:solidFill>
                  <a:srgbClr val="D9A3AE"/>
                </a:solidFill>
                <a:latin typeface="Montserrat SemiBold" pitchFamily="34" charset="0"/>
                <a:ea typeface="Montserrat SemiBold" pitchFamily="34" charset="-122"/>
                <a:cs typeface="Montserrat SemiBold" pitchFamily="34" charset="-120"/>
              </a:rPr>
              <a:t>—</a:t>
            </a:r>
            <a:endParaRPr lang="en-US" sz="1000" dirty="0"/>
          </a:p>
        </p:txBody>
      </p:sp>
      <p:sp>
        <p:nvSpPr>
          <p:cNvPr id="51" name="Text 48"/>
          <p:cNvSpPr txBox="1"/>
          <p:nvPr/>
        </p:nvSpPr>
        <p:spPr>
          <a:xfrm>
            <a:off x="6574536" y="4956048"/>
            <a:ext cx="4663440" cy="237744"/>
          </a:xfrm>
          <a:prstGeom prst="rect">
            <a:avLst/>
          </a:prstGeom>
          <a:noFill/>
          <a:ln/>
        </p:spPr>
        <p:txBody>
          <a:bodyPr wrap="square" lIns="0" tIns="0" rIns="0" bIns="0" rtlCol="0" anchor="t"/>
          <a:lstStyle/>
          <a:p>
            <a:pPr indent="0" marL="0">
              <a:buNone/>
            </a:pPr>
            <a:r>
              <a:rPr lang="en-US" sz="1050" dirty="0">
                <a:solidFill>
                  <a:srgbClr val="FFFFFF"/>
                </a:solidFill>
                <a:latin typeface="Montserrat SemiBold" pitchFamily="34" charset="0"/>
                <a:ea typeface="Montserrat SemiBold" pitchFamily="34" charset="-122"/>
                <a:cs typeface="Montserrat SemiBold" pitchFamily="34" charset="-120"/>
              </a:rPr>
              <a:t>Every step needs explicit human approval</a:t>
            </a:r>
            <a:endParaRPr lang="en-US" sz="1050" dirty="0"/>
          </a:p>
        </p:txBody>
      </p:sp>
      <p:sp>
        <p:nvSpPr>
          <p:cNvPr id="52" name="Text 49"/>
          <p:cNvSpPr txBox="1"/>
          <p:nvPr/>
        </p:nvSpPr>
        <p:spPr>
          <a:xfrm>
            <a:off x="6355080" y="5221224"/>
            <a:ext cx="182880" cy="219456"/>
          </a:xfrm>
          <a:prstGeom prst="rect">
            <a:avLst/>
          </a:prstGeom>
          <a:noFill/>
          <a:ln/>
        </p:spPr>
        <p:txBody>
          <a:bodyPr wrap="square" lIns="0" tIns="0" rIns="0" bIns="0" rtlCol="0" anchor="t"/>
          <a:lstStyle/>
          <a:p>
            <a:pPr indent="0" marL="0">
              <a:buNone/>
            </a:pPr>
            <a:r>
              <a:rPr lang="en-US" sz="1000" dirty="0">
                <a:solidFill>
                  <a:srgbClr val="D9A3AE"/>
                </a:solidFill>
                <a:latin typeface="Montserrat SemiBold" pitchFamily="34" charset="0"/>
                <a:ea typeface="Montserrat SemiBold" pitchFamily="34" charset="-122"/>
                <a:cs typeface="Montserrat SemiBold" pitchFamily="34" charset="-120"/>
              </a:rPr>
              <a:t>—</a:t>
            </a:r>
            <a:endParaRPr lang="en-US" sz="1000" dirty="0"/>
          </a:p>
        </p:txBody>
      </p:sp>
      <p:sp>
        <p:nvSpPr>
          <p:cNvPr id="53" name="Text 50"/>
          <p:cNvSpPr txBox="1"/>
          <p:nvPr/>
        </p:nvSpPr>
        <p:spPr>
          <a:xfrm>
            <a:off x="6574536" y="5221224"/>
            <a:ext cx="4663440" cy="237744"/>
          </a:xfrm>
          <a:prstGeom prst="rect">
            <a:avLst/>
          </a:prstGeom>
          <a:noFill/>
          <a:ln/>
        </p:spPr>
        <p:txBody>
          <a:bodyPr wrap="square" lIns="0" tIns="0" rIns="0" bIns="0" rtlCol="0" anchor="t"/>
          <a:lstStyle/>
          <a:p>
            <a:pPr indent="0" marL="0">
              <a:buNone/>
            </a:pPr>
            <a:r>
              <a:rPr lang="en-US" sz="1050" dirty="0">
                <a:solidFill>
                  <a:srgbClr val="FFFFFF"/>
                </a:solidFill>
                <a:latin typeface="Montserrat SemiBold" pitchFamily="34" charset="0"/>
                <a:ea typeface="Montserrat SemiBold" pitchFamily="34" charset="-122"/>
                <a:cs typeface="Montserrat SemiBold" pitchFamily="34" charset="-120"/>
              </a:rPr>
              <a:t>Refuses to touch a protected branch</a:t>
            </a:r>
            <a:endParaRPr lang="en-US" sz="1050" dirty="0"/>
          </a:p>
        </p:txBody>
      </p:sp>
      <p:sp>
        <p:nvSpPr>
          <p:cNvPr id="54" name="Text 51"/>
          <p:cNvSpPr txBox="1"/>
          <p:nvPr/>
        </p:nvSpPr>
        <p:spPr>
          <a:xfrm>
            <a:off x="6355080" y="5486400"/>
            <a:ext cx="182880" cy="219456"/>
          </a:xfrm>
          <a:prstGeom prst="rect">
            <a:avLst/>
          </a:prstGeom>
          <a:noFill/>
          <a:ln/>
        </p:spPr>
        <p:txBody>
          <a:bodyPr wrap="square" lIns="0" tIns="0" rIns="0" bIns="0" rtlCol="0" anchor="t"/>
          <a:lstStyle/>
          <a:p>
            <a:pPr indent="0" marL="0">
              <a:buNone/>
            </a:pPr>
            <a:r>
              <a:rPr lang="en-US" sz="1000" dirty="0">
                <a:solidFill>
                  <a:srgbClr val="D9A3AE"/>
                </a:solidFill>
                <a:latin typeface="Montserrat SemiBold" pitchFamily="34" charset="0"/>
                <a:ea typeface="Montserrat SemiBold" pitchFamily="34" charset="-122"/>
                <a:cs typeface="Montserrat SemiBold" pitchFamily="34" charset="-120"/>
              </a:rPr>
              <a:t>—</a:t>
            </a:r>
            <a:endParaRPr lang="en-US" sz="1000" dirty="0"/>
          </a:p>
        </p:txBody>
      </p:sp>
      <p:sp>
        <p:nvSpPr>
          <p:cNvPr id="55" name="Text 52"/>
          <p:cNvSpPr txBox="1"/>
          <p:nvPr/>
        </p:nvSpPr>
        <p:spPr>
          <a:xfrm>
            <a:off x="6574536" y="5486400"/>
            <a:ext cx="4663440" cy="237744"/>
          </a:xfrm>
          <a:prstGeom prst="rect">
            <a:avLst/>
          </a:prstGeom>
          <a:noFill/>
          <a:ln/>
        </p:spPr>
        <p:txBody>
          <a:bodyPr wrap="square" lIns="0" tIns="0" rIns="0" bIns="0" rtlCol="0" anchor="t"/>
          <a:lstStyle/>
          <a:p>
            <a:pPr indent="0" marL="0">
              <a:buNone/>
            </a:pPr>
            <a:r>
              <a:rPr lang="en-US" sz="1050" dirty="0">
                <a:solidFill>
                  <a:srgbClr val="FFFFFF"/>
                </a:solidFill>
                <a:latin typeface="Montserrat SemiBold" pitchFamily="34" charset="0"/>
                <a:ea typeface="Montserrat SemiBold" pitchFamily="34" charset="-122"/>
                <a:cs typeface="Montserrat SemiBold" pitchFamily="34" charset="-120"/>
              </a:rPr>
              <a:t>Never merges, and never marks its own work resolved</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02  ·  A REAL RUN</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1,518 packages, 28 real flaws, nothing guessed</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AEGIS</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13</a:t>
            </a:r>
            <a:endParaRPr lang="en-US" sz="850" dirty="0"/>
          </a:p>
        </p:txBody>
      </p:sp>
      <p:sp>
        <p:nvSpPr>
          <p:cNvPr id="9" name="Text 6"/>
          <p:cNvSpPr txBox="1"/>
          <p:nvPr/>
        </p:nvSpPr>
        <p:spPr>
          <a:xfrm>
            <a:off x="777240" y="1956816"/>
            <a:ext cx="10424160" cy="310896"/>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Not a test project — the </a:t>
            </a:r>
            <a:pPr indent="0" marL="0">
              <a:buNone/>
            </a:pPr>
            <a:r>
              <a:rPr lang="en-US" sz="1400" dirty="0">
                <a:solidFill>
                  <a:srgbClr val="2B2D30"/>
                </a:solidFill>
                <a:latin typeface="Montserrat SemiBold" pitchFamily="34" charset="0"/>
                <a:ea typeface="Montserrat SemiBold" pitchFamily="34" charset="-122"/>
                <a:cs typeface="Montserrat SemiBold" pitchFamily="34" charset="-120"/>
              </a:rPr>
              <a:t>Stewart.STEPS.Frontend</a:t>
            </a:r>
            <a:pPr indent="0" marL="0">
              <a:buNone/>
            </a:pPr>
            <a:r>
              <a:rPr lang="en-US" sz="1400" dirty="0">
                <a:solidFill>
                  <a:srgbClr val="6E7175"/>
                </a:solidFill>
                <a:latin typeface="Montserrat Medium" pitchFamily="34" charset="0"/>
                <a:ea typeface="Montserrat Medium" pitchFamily="34" charset="-122"/>
                <a:cs typeface="Montserrat Medium" pitchFamily="34" charset="-120"/>
              </a:rPr>
              <a:t> repository. Every flaw is genuine, pulled live.</a:t>
            </a:r>
            <a:endParaRPr lang="en-US" sz="1400" dirty="0"/>
          </a:p>
        </p:txBody>
      </p:sp>
      <p:sp>
        <p:nvSpPr>
          <p:cNvPr id="10" name="Shape 7"/>
          <p:cNvSpPr/>
          <p:nvPr/>
        </p:nvSpPr>
        <p:spPr>
          <a:xfrm>
            <a:off x="777240" y="2432304"/>
            <a:ext cx="3310128" cy="1207008"/>
          </a:xfrm>
          <a:prstGeom prst="roundRect">
            <a:avLst>
              <a:gd name="adj" fmla="val 4545"/>
            </a:avLst>
          </a:prstGeom>
          <a:solidFill>
            <a:srgbClr val="F5F4F3"/>
          </a:solidFill>
          <a:ln w="9525">
            <a:solidFill>
              <a:srgbClr val="E6E4E2"/>
            </a:solidFill>
            <a:prstDash val="solid"/>
          </a:ln>
          <a:effectLst>
            <a:outerShdw sx="100000" sy="100000" kx="0" ky="0" algn="bl" rotWithShape="0" blurRad="9.474532793742643e+33" dist="2.3686331984356606e+33" dir="1.5116544e+40">
              <a:srgbClr val="959092">
                <a:alpha val="2.2e+39"/>
              </a:srgbClr>
            </a:outerShdw>
          </a:effectLst>
        </p:spPr>
      </p:sp>
      <p:sp>
        <p:nvSpPr>
          <p:cNvPr id="11" name="Text 8"/>
          <p:cNvSpPr txBox="1"/>
          <p:nvPr/>
        </p:nvSpPr>
        <p:spPr>
          <a:xfrm>
            <a:off x="960120" y="2633472"/>
            <a:ext cx="2944368" cy="566928"/>
          </a:xfrm>
          <a:prstGeom prst="rect">
            <a:avLst/>
          </a:prstGeom>
          <a:noFill/>
          <a:ln/>
        </p:spPr>
        <p:txBody>
          <a:bodyPr wrap="square" lIns="0" tIns="0" rIns="0" bIns="0" rtlCol="0" anchor="t"/>
          <a:lstStyle/>
          <a:p>
            <a:pPr algn="ctr" indent="0" marL="0">
              <a:buNone/>
            </a:pPr>
            <a:r>
              <a:rPr lang="en-US" sz="3800" spc="-140" kern="0" dirty="0">
                <a:solidFill>
                  <a:srgbClr val="2B2D30"/>
                </a:solidFill>
                <a:latin typeface="Montserrat ExtraBold" pitchFamily="34" charset="0"/>
                <a:ea typeface="Montserrat ExtraBold" pitchFamily="34" charset="-122"/>
                <a:cs typeface="Montserrat ExtraBold" pitchFamily="34" charset="-120"/>
              </a:rPr>
              <a:t>1,518</a:t>
            </a:r>
            <a:endParaRPr lang="en-US" sz="3800" dirty="0"/>
          </a:p>
        </p:txBody>
      </p:sp>
      <p:sp>
        <p:nvSpPr>
          <p:cNvPr id="12" name="Text 9"/>
          <p:cNvSpPr txBox="1"/>
          <p:nvPr/>
        </p:nvSpPr>
        <p:spPr>
          <a:xfrm>
            <a:off x="960120" y="3255264"/>
            <a:ext cx="2944368" cy="274320"/>
          </a:xfrm>
          <a:prstGeom prst="rect">
            <a:avLst/>
          </a:prstGeom>
          <a:noFill/>
          <a:ln/>
        </p:spPr>
        <p:txBody>
          <a:bodyPr wrap="square" lIns="0" tIns="0" rIns="0" bIns="0" rtlCol="0" anchor="t"/>
          <a:lstStyle/>
          <a:p>
            <a:pPr algn="ctr" indent="0" marL="0">
              <a:buNone/>
            </a:pPr>
            <a:r>
              <a:rPr lang="en-US" sz="950" spc="30" kern="0" dirty="0">
                <a:solidFill>
                  <a:srgbClr val="6E7175"/>
                </a:solidFill>
                <a:latin typeface="Montserrat Medium" pitchFamily="34" charset="0"/>
                <a:ea typeface="Montserrat Medium" pitchFamily="34" charset="-122"/>
                <a:cs typeface="Montserrat Medium" pitchFamily="34" charset="-120"/>
              </a:rPr>
              <a:t>packages scanned</a:t>
            </a:r>
            <a:endParaRPr lang="en-US" sz="950" dirty="0"/>
          </a:p>
        </p:txBody>
      </p:sp>
      <p:sp>
        <p:nvSpPr>
          <p:cNvPr id="13" name="Text 10"/>
          <p:cNvSpPr txBox="1"/>
          <p:nvPr/>
        </p:nvSpPr>
        <p:spPr>
          <a:xfrm>
            <a:off x="4081196" y="2816352"/>
            <a:ext cx="365760" cy="420624"/>
          </a:xfrm>
          <a:prstGeom prst="rect">
            <a:avLst/>
          </a:prstGeom>
          <a:noFill/>
          <a:ln/>
        </p:spPr>
        <p:txBody>
          <a:bodyPr wrap="square" lIns="0" tIns="0" rIns="0" bIns="0" rtlCol="0" anchor="ctr"/>
          <a:lstStyle/>
          <a:p>
            <a:pPr algn="ctr" indent="0" marL="0">
              <a:buNone/>
            </a:pPr>
            <a:r>
              <a:rPr lang="en-US" sz="2600" b="1" dirty="0">
                <a:solidFill>
                  <a:srgbClr val="C9C6C4"/>
                </a:solidFill>
                <a:latin typeface="Montserrat" pitchFamily="34" charset="0"/>
                <a:ea typeface="Montserrat" pitchFamily="34" charset="-122"/>
                <a:cs typeface="Montserrat" pitchFamily="34" charset="-120"/>
              </a:rPr>
              <a:t>›</a:t>
            </a:r>
            <a:endParaRPr lang="en-US" sz="2600" dirty="0"/>
          </a:p>
        </p:txBody>
      </p:sp>
      <p:sp>
        <p:nvSpPr>
          <p:cNvPr id="14" name="Shape 11"/>
          <p:cNvSpPr/>
          <p:nvPr/>
        </p:nvSpPr>
        <p:spPr>
          <a:xfrm>
            <a:off x="4440784" y="2432304"/>
            <a:ext cx="3310128" cy="1207008"/>
          </a:xfrm>
          <a:prstGeom prst="roundRect">
            <a:avLst>
              <a:gd name="adj" fmla="val 4545"/>
            </a:avLst>
          </a:prstGeom>
          <a:solidFill>
            <a:srgbClr val="F5F4F3"/>
          </a:solidFill>
          <a:ln w="9525">
            <a:solidFill>
              <a:srgbClr val="E6E4E2"/>
            </a:solidFill>
            <a:prstDash val="solid"/>
          </a:ln>
          <a:effectLst>
            <a:outerShdw sx="100000" sy="100000" kx="0" ky="0" algn="bl" rotWithShape="0" blurRad="1.2032656648053156e+38" dist="3.008164162013289e+37" dir="9.069926400000001e+44">
              <a:srgbClr val="959092">
                <a:alpha val="2.2e+44"/>
              </a:srgbClr>
            </a:outerShdw>
          </a:effectLst>
        </p:spPr>
      </p:sp>
      <p:sp>
        <p:nvSpPr>
          <p:cNvPr id="15" name="Text 12"/>
          <p:cNvSpPr txBox="1"/>
          <p:nvPr/>
        </p:nvSpPr>
        <p:spPr>
          <a:xfrm>
            <a:off x="4623664" y="2633472"/>
            <a:ext cx="2944368" cy="566928"/>
          </a:xfrm>
          <a:prstGeom prst="rect">
            <a:avLst/>
          </a:prstGeom>
          <a:noFill/>
          <a:ln/>
        </p:spPr>
        <p:txBody>
          <a:bodyPr wrap="square" lIns="0" tIns="0" rIns="0" bIns="0" rtlCol="0" anchor="t"/>
          <a:lstStyle/>
          <a:p>
            <a:pPr algn="ctr" indent="0" marL="0">
              <a:buNone/>
            </a:pPr>
            <a:r>
              <a:rPr lang="en-US" sz="3800" spc="-140" kern="0" dirty="0">
                <a:solidFill>
                  <a:srgbClr val="2B2D30"/>
                </a:solidFill>
                <a:latin typeface="Montserrat ExtraBold" pitchFamily="34" charset="0"/>
                <a:ea typeface="Montserrat ExtraBold" pitchFamily="34" charset="-122"/>
                <a:cs typeface="Montserrat ExtraBold" pitchFamily="34" charset="-120"/>
              </a:rPr>
              <a:t>28</a:t>
            </a:r>
            <a:endParaRPr lang="en-US" sz="3800" dirty="0"/>
          </a:p>
        </p:txBody>
      </p:sp>
      <p:sp>
        <p:nvSpPr>
          <p:cNvPr id="16" name="Text 13"/>
          <p:cNvSpPr txBox="1"/>
          <p:nvPr/>
        </p:nvSpPr>
        <p:spPr>
          <a:xfrm>
            <a:off x="4623664" y="3255264"/>
            <a:ext cx="2944368" cy="274320"/>
          </a:xfrm>
          <a:prstGeom prst="rect">
            <a:avLst/>
          </a:prstGeom>
          <a:noFill/>
          <a:ln/>
        </p:spPr>
        <p:txBody>
          <a:bodyPr wrap="square" lIns="0" tIns="0" rIns="0" bIns="0" rtlCol="0" anchor="t"/>
          <a:lstStyle/>
          <a:p>
            <a:pPr algn="ctr" indent="0" marL="0">
              <a:buNone/>
            </a:pPr>
            <a:r>
              <a:rPr lang="en-US" sz="950" spc="30" kern="0" dirty="0">
                <a:solidFill>
                  <a:srgbClr val="6E7175"/>
                </a:solidFill>
                <a:latin typeface="Montserrat Medium" pitchFamily="34" charset="0"/>
                <a:ea typeface="Montserrat Medium" pitchFamily="34" charset="-122"/>
                <a:cs typeface="Montserrat Medium" pitchFamily="34" charset="-120"/>
              </a:rPr>
              <a:t>carrying a known flaw</a:t>
            </a:r>
            <a:endParaRPr lang="en-US" sz="950" dirty="0"/>
          </a:p>
        </p:txBody>
      </p:sp>
      <p:sp>
        <p:nvSpPr>
          <p:cNvPr id="17" name="Text 14"/>
          <p:cNvSpPr txBox="1"/>
          <p:nvPr/>
        </p:nvSpPr>
        <p:spPr>
          <a:xfrm>
            <a:off x="7744739" y="2816352"/>
            <a:ext cx="365760" cy="420624"/>
          </a:xfrm>
          <a:prstGeom prst="rect">
            <a:avLst/>
          </a:prstGeom>
          <a:noFill/>
          <a:ln/>
        </p:spPr>
        <p:txBody>
          <a:bodyPr wrap="square" lIns="0" tIns="0" rIns="0" bIns="0" rtlCol="0" anchor="ctr"/>
          <a:lstStyle/>
          <a:p>
            <a:pPr algn="ctr" indent="0" marL="0">
              <a:buNone/>
            </a:pPr>
            <a:r>
              <a:rPr lang="en-US" sz="2600" b="1" dirty="0">
                <a:solidFill>
                  <a:srgbClr val="C9C6C4"/>
                </a:solidFill>
                <a:latin typeface="Montserrat" pitchFamily="34" charset="0"/>
                <a:ea typeface="Montserrat" pitchFamily="34" charset="-122"/>
                <a:cs typeface="Montserrat" pitchFamily="34" charset="-120"/>
              </a:rPr>
              <a:t>›</a:t>
            </a:r>
            <a:endParaRPr lang="en-US" sz="2600" dirty="0"/>
          </a:p>
        </p:txBody>
      </p:sp>
      <p:sp>
        <p:nvSpPr>
          <p:cNvPr id="18" name="Shape 15"/>
          <p:cNvSpPr/>
          <p:nvPr/>
        </p:nvSpPr>
        <p:spPr>
          <a:xfrm>
            <a:off x="8104327" y="2432304"/>
            <a:ext cx="3310128" cy="1207008"/>
          </a:xfrm>
          <a:prstGeom prst="roundRect">
            <a:avLst>
              <a:gd name="adj" fmla="val 4545"/>
            </a:avLst>
          </a:prstGeom>
          <a:solidFill>
            <a:srgbClr val="F6EEF0"/>
          </a:solidFill>
          <a:ln w="9525">
            <a:solidFill>
              <a:srgbClr val="942838"/>
            </a:solidFill>
            <a:prstDash val="solid"/>
          </a:ln>
          <a:effectLst>
            <a:outerShdw sx="100000" sy="100000" kx="0" ky="0" algn="bl" rotWithShape="0" blurRad="1.528147394302751e+42" dist="3.8203684857568774e+41" dir="5.44195584e+49">
              <a:srgbClr val="959092">
                <a:alpha val="2.2e+49"/>
              </a:srgbClr>
            </a:outerShdw>
          </a:effectLst>
        </p:spPr>
      </p:sp>
      <p:sp>
        <p:nvSpPr>
          <p:cNvPr id="19" name="Text 16"/>
          <p:cNvSpPr txBox="1"/>
          <p:nvPr/>
        </p:nvSpPr>
        <p:spPr>
          <a:xfrm>
            <a:off x="8287207" y="2633472"/>
            <a:ext cx="2944368" cy="566928"/>
          </a:xfrm>
          <a:prstGeom prst="rect">
            <a:avLst/>
          </a:prstGeom>
          <a:noFill/>
          <a:ln/>
        </p:spPr>
        <p:txBody>
          <a:bodyPr wrap="square" lIns="0" tIns="0" rIns="0" bIns="0" rtlCol="0" anchor="t"/>
          <a:lstStyle/>
          <a:p>
            <a:pPr algn="ctr" indent="0" marL="0">
              <a:buNone/>
            </a:pPr>
            <a:r>
              <a:rPr lang="en-US" sz="3800" spc="-140" kern="0" dirty="0">
                <a:solidFill>
                  <a:srgbClr val="942838"/>
                </a:solidFill>
                <a:latin typeface="Montserrat ExtraBold" pitchFamily="34" charset="0"/>
                <a:ea typeface="Montserrat ExtraBold" pitchFamily="34" charset="-122"/>
                <a:cs typeface="Montserrat ExtraBold" pitchFamily="34" charset="-120"/>
              </a:rPr>
              <a:t>3</a:t>
            </a:r>
            <a:endParaRPr lang="en-US" sz="3800" dirty="0"/>
          </a:p>
        </p:txBody>
      </p:sp>
      <p:sp>
        <p:nvSpPr>
          <p:cNvPr id="20" name="Text 17"/>
          <p:cNvSpPr txBox="1"/>
          <p:nvPr/>
        </p:nvSpPr>
        <p:spPr>
          <a:xfrm>
            <a:off x="8287207" y="3255264"/>
            <a:ext cx="2944368" cy="274320"/>
          </a:xfrm>
          <a:prstGeom prst="rect">
            <a:avLst/>
          </a:prstGeom>
          <a:noFill/>
          <a:ln/>
        </p:spPr>
        <p:txBody>
          <a:bodyPr wrap="square" lIns="0" tIns="0" rIns="0" bIns="0" rtlCol="0" anchor="t"/>
          <a:lstStyle/>
          <a:p>
            <a:pPr algn="ctr" indent="0" marL="0">
              <a:buNone/>
            </a:pPr>
            <a:r>
              <a:rPr lang="en-US" sz="950" spc="30" kern="0" dirty="0">
                <a:solidFill>
                  <a:srgbClr val="6E7175"/>
                </a:solidFill>
                <a:latin typeface="Montserrat Medium" pitchFamily="34" charset="0"/>
                <a:ea typeface="Montserrat Medium" pitchFamily="34" charset="-122"/>
                <a:cs typeface="Montserrat Medium" pitchFamily="34" charset="-120"/>
              </a:rPr>
              <a:t>needing a human decision</a:t>
            </a:r>
            <a:endParaRPr lang="en-US" sz="950" dirty="0"/>
          </a:p>
        </p:txBody>
      </p:sp>
      <p:sp>
        <p:nvSpPr>
          <p:cNvPr id="21" name="Shape 18"/>
          <p:cNvSpPr/>
          <p:nvPr/>
        </p:nvSpPr>
        <p:spPr>
          <a:xfrm>
            <a:off x="777240" y="3931920"/>
            <a:ext cx="5175504" cy="1371600"/>
          </a:xfrm>
          <a:prstGeom prst="roundRect">
            <a:avLst>
              <a:gd name="adj" fmla="val 4000"/>
            </a:avLst>
          </a:prstGeom>
          <a:solidFill>
            <a:srgbClr val="FFFFFF"/>
          </a:solidFill>
          <a:ln w="9525">
            <a:solidFill>
              <a:srgbClr val="E6E4E2"/>
            </a:solidFill>
            <a:prstDash val="solid"/>
          </a:ln>
          <a:effectLst>
            <a:outerShdw sx="100000" sy="100000" kx="0" ky="0" algn="bl" rotWithShape="0" blurRad="1.9407471907644937e+46" dist="4.851867976911234e+45" dir="3.2651735040000005e+54">
              <a:srgbClr val="959092">
                <a:alpha val="2.2e+54"/>
              </a:srgbClr>
            </a:outerShdw>
          </a:effectLst>
        </p:spPr>
      </p:sp>
      <p:sp>
        <p:nvSpPr>
          <p:cNvPr id="22" name="Shape 19"/>
          <p:cNvSpPr/>
          <p:nvPr/>
        </p:nvSpPr>
        <p:spPr>
          <a:xfrm>
            <a:off x="777240" y="3931920"/>
            <a:ext cx="5175504" cy="45720"/>
          </a:xfrm>
          <a:prstGeom prst="rect">
            <a:avLst/>
          </a:prstGeom>
          <a:solidFill>
            <a:srgbClr val="C9C6C4"/>
          </a:solidFill>
          <a:ln/>
        </p:spPr>
      </p:sp>
      <p:sp>
        <p:nvSpPr>
          <p:cNvPr id="23" name="Text 20"/>
          <p:cNvSpPr txBox="1"/>
          <p:nvPr/>
        </p:nvSpPr>
        <p:spPr>
          <a:xfrm>
            <a:off x="1069848" y="4187952"/>
            <a:ext cx="4590288" cy="274320"/>
          </a:xfrm>
          <a:prstGeom prst="rect">
            <a:avLst/>
          </a:prstGeom>
          <a:noFill/>
          <a:ln/>
        </p:spPr>
        <p:txBody>
          <a:bodyPr wrap="square" lIns="0" tIns="0" rIns="0" bIns="0" rtlCol="0" anchor="t"/>
          <a:lstStyle/>
          <a:p>
            <a:pPr indent="0" marL="0">
              <a:buNone/>
            </a:pPr>
            <a:r>
              <a:rPr lang="en-US" sz="1350" dirty="0">
                <a:solidFill>
                  <a:srgbClr val="2B2D30"/>
                </a:solidFill>
                <a:latin typeface="Montserrat SemiBold" pitchFamily="34" charset="0"/>
                <a:ea typeface="Montserrat SemiBold" pitchFamily="34" charset="-122"/>
                <a:cs typeface="Montserrat SemiBold" pitchFamily="34" charset="-120"/>
              </a:rPr>
              <a:t>25 confirmed not called by our code</a:t>
            </a:r>
            <a:endParaRPr lang="en-US" sz="1350" dirty="0"/>
          </a:p>
        </p:txBody>
      </p:sp>
      <p:sp>
        <p:nvSpPr>
          <p:cNvPr id="24" name="Text 21"/>
          <p:cNvSpPr txBox="1"/>
          <p:nvPr/>
        </p:nvSpPr>
        <p:spPr>
          <a:xfrm>
            <a:off x="1069848" y="4517136"/>
            <a:ext cx="4590288" cy="676656"/>
          </a:xfrm>
          <a:prstGeom prst="rect">
            <a:avLst/>
          </a:prstGeom>
          <a:noFill/>
          <a:ln/>
        </p:spPr>
        <p:txBody>
          <a:bodyPr wrap="square" lIns="0" tIns="0" rIns="0" bIns="0" rtlCol="0" anchor="t"/>
          <a:lstStyle/>
          <a:p>
            <a:pPr indent="0" marL="0">
              <a:lnSpc>
                <a:spcPct val="122000"/>
              </a:lnSpc>
              <a:buNone/>
            </a:pPr>
            <a:r>
              <a:rPr lang="en-US" sz="1100" dirty="0">
                <a:solidFill>
                  <a:srgbClr val="6E7175"/>
                </a:solidFill>
                <a:latin typeface="Montserrat" pitchFamily="34" charset="0"/>
                <a:ea typeface="Montserrat" pitchFamily="34" charset="-122"/>
                <a:cs typeface="Montserrat" pitchFamily="34" charset="-120"/>
              </a:rPr>
              <a:t>Dev and build tooling, resolved with a real code parser rather than a text search — so this is a confident answer, not a guess.</a:t>
            </a:r>
            <a:endParaRPr lang="en-US" sz="1100" dirty="0"/>
          </a:p>
        </p:txBody>
      </p:sp>
      <p:sp>
        <p:nvSpPr>
          <p:cNvPr id="25" name="Shape 22"/>
          <p:cNvSpPr/>
          <p:nvPr/>
        </p:nvSpPr>
        <p:spPr>
          <a:xfrm>
            <a:off x="6236208" y="3931920"/>
            <a:ext cx="5175504" cy="1371600"/>
          </a:xfrm>
          <a:prstGeom prst="roundRect">
            <a:avLst>
              <a:gd name="adj" fmla="val 4000"/>
            </a:avLst>
          </a:prstGeom>
          <a:solidFill>
            <a:srgbClr val="FFFFFF"/>
          </a:solidFill>
          <a:ln w="9525">
            <a:solidFill>
              <a:srgbClr val="942838"/>
            </a:solidFill>
            <a:prstDash val="solid"/>
          </a:ln>
          <a:effectLst>
            <a:outerShdw sx="100000" sy="100000" kx="0" ky="0" algn="bl" rotWithShape="0" blurRad="2.464748932270907e+50" dist="6.161872330677268e+49" dir="1.9591041024000004e+59">
              <a:srgbClr val="959092">
                <a:alpha val="2.2e+59"/>
              </a:srgbClr>
            </a:outerShdw>
          </a:effectLst>
        </p:spPr>
      </p:sp>
      <p:sp>
        <p:nvSpPr>
          <p:cNvPr id="26" name="Shape 23"/>
          <p:cNvSpPr/>
          <p:nvPr/>
        </p:nvSpPr>
        <p:spPr>
          <a:xfrm>
            <a:off x="6236208" y="3931920"/>
            <a:ext cx="5175504" cy="45720"/>
          </a:xfrm>
          <a:prstGeom prst="rect">
            <a:avLst/>
          </a:prstGeom>
          <a:solidFill>
            <a:srgbClr val="942838"/>
          </a:solidFill>
          <a:ln/>
        </p:spPr>
      </p:sp>
      <p:sp>
        <p:nvSpPr>
          <p:cNvPr id="27" name="Text 24"/>
          <p:cNvSpPr txBox="1"/>
          <p:nvPr/>
        </p:nvSpPr>
        <p:spPr>
          <a:xfrm>
            <a:off x="6528816" y="4187952"/>
            <a:ext cx="4590288" cy="274320"/>
          </a:xfrm>
          <a:prstGeom prst="rect">
            <a:avLst/>
          </a:prstGeom>
          <a:noFill/>
          <a:ln/>
        </p:spPr>
        <p:txBody>
          <a:bodyPr wrap="square" lIns="0" tIns="0" rIns="0" bIns="0" rtlCol="0" anchor="t"/>
          <a:lstStyle/>
          <a:p>
            <a:pPr indent="0" marL="0">
              <a:buNone/>
            </a:pPr>
            <a:r>
              <a:rPr lang="en-US" sz="1350" dirty="0">
                <a:solidFill>
                  <a:srgbClr val="2B2D30"/>
                </a:solidFill>
                <a:latin typeface="Montserrat SemiBold" pitchFamily="34" charset="0"/>
                <a:ea typeface="Montserrat SemiBold" pitchFamily="34" charset="-122"/>
                <a:cs typeface="Montserrat SemiBold" pitchFamily="34" charset="-120"/>
              </a:rPr>
              <a:t>2 could not be proven either way</a:t>
            </a:r>
            <a:endParaRPr lang="en-US" sz="1350" dirty="0"/>
          </a:p>
        </p:txBody>
      </p:sp>
      <p:sp>
        <p:nvSpPr>
          <p:cNvPr id="28" name="Text 25"/>
          <p:cNvSpPr txBox="1"/>
          <p:nvPr/>
        </p:nvSpPr>
        <p:spPr>
          <a:xfrm>
            <a:off x="6528816" y="4517136"/>
            <a:ext cx="4590288" cy="676656"/>
          </a:xfrm>
          <a:prstGeom prst="rect">
            <a:avLst/>
          </a:prstGeom>
          <a:noFill/>
          <a:ln/>
        </p:spPr>
        <p:txBody>
          <a:bodyPr wrap="square" lIns="0" tIns="0" rIns="0" bIns="0" rtlCol="0" anchor="t"/>
          <a:lstStyle/>
          <a:p>
            <a:pPr indent="0" marL="0">
              <a:lnSpc>
                <a:spcPct val="122000"/>
              </a:lnSpc>
              <a:buNone/>
            </a:pPr>
            <a:r>
              <a:rPr lang="en-US" sz="1100" dirty="0">
                <a:solidFill>
                  <a:srgbClr val="6E7175"/>
                </a:solidFill>
                <a:latin typeface="Montserrat" pitchFamily="34" charset="0"/>
                <a:ea typeface="Montserrat" pitchFamily="34" charset="-122"/>
                <a:cs typeface="Montserrat" pitchFamily="34" charset="-120"/>
              </a:rPr>
              <a:t>Both actively used by the app. AEGIS reported them as unproven rather than safe — the exact behaviour it exists to have.</a:t>
            </a:r>
            <a:endParaRPr lang="en-US" sz="1100" dirty="0"/>
          </a:p>
        </p:txBody>
      </p:sp>
      <p:sp>
        <p:nvSpPr>
          <p:cNvPr id="29" name="Shape 26"/>
          <p:cNvSpPr/>
          <p:nvPr/>
        </p:nvSpPr>
        <p:spPr>
          <a:xfrm>
            <a:off x="795528" y="5568696"/>
            <a:ext cx="73152" cy="73152"/>
          </a:xfrm>
          <a:prstGeom prst="ellipse">
            <a:avLst/>
          </a:prstGeom>
          <a:solidFill>
            <a:srgbClr val="942838"/>
          </a:solidFill>
          <a:ln/>
        </p:spPr>
      </p:sp>
      <p:sp>
        <p:nvSpPr>
          <p:cNvPr id="30" name="Text 27"/>
          <p:cNvSpPr txBox="1"/>
          <p:nvPr/>
        </p:nvSpPr>
        <p:spPr>
          <a:xfrm>
            <a:off x="996696" y="5504688"/>
            <a:ext cx="10417759" cy="219456"/>
          </a:xfrm>
          <a:prstGeom prst="rect">
            <a:avLst/>
          </a:prstGeom>
          <a:noFill/>
          <a:ln/>
        </p:spPr>
        <p:txBody>
          <a:bodyPr wrap="square" lIns="0" tIns="0" rIns="0" bIns="0" rtlCol="0" anchor="t"/>
          <a:lstStyle/>
          <a:p>
            <a:pPr indent="0" marL="0">
              <a:buNone/>
            </a:pPr>
            <a:r>
              <a:rPr lang="en-US" sz="1050" dirty="0">
                <a:solidFill>
                  <a:srgbClr val="6E7175"/>
                </a:solidFill>
                <a:latin typeface="Montserrat" pitchFamily="34" charset="0"/>
                <a:ea typeface="Montserrat" pitchFamily="34" charset="-122"/>
                <a:cs typeface="Montserrat" pitchFamily="34" charset="-120"/>
              </a:rPr>
              <a:t>None of the 28 are on the US government's actively-exploited list.</a:t>
            </a:r>
            <a:endParaRPr lang="en-US" sz="1050" dirty="0"/>
          </a:p>
        </p:txBody>
      </p:sp>
      <p:sp>
        <p:nvSpPr>
          <p:cNvPr id="31" name="Shape 28"/>
          <p:cNvSpPr/>
          <p:nvPr/>
        </p:nvSpPr>
        <p:spPr>
          <a:xfrm>
            <a:off x="795528" y="5797296"/>
            <a:ext cx="73152" cy="73152"/>
          </a:xfrm>
          <a:prstGeom prst="ellipse">
            <a:avLst/>
          </a:prstGeom>
          <a:solidFill>
            <a:srgbClr val="942838"/>
          </a:solidFill>
          <a:ln/>
        </p:spPr>
      </p:sp>
      <p:sp>
        <p:nvSpPr>
          <p:cNvPr id="32" name="Text 29"/>
          <p:cNvSpPr txBox="1"/>
          <p:nvPr/>
        </p:nvSpPr>
        <p:spPr>
          <a:xfrm>
            <a:off x="996696" y="5733288"/>
            <a:ext cx="10417759" cy="219456"/>
          </a:xfrm>
          <a:prstGeom prst="rect">
            <a:avLst/>
          </a:prstGeom>
          <a:noFill/>
          <a:ln/>
        </p:spPr>
        <p:txBody>
          <a:bodyPr wrap="square" lIns="0" tIns="0" rIns="0" bIns="0" rtlCol="0" anchor="t"/>
          <a:lstStyle/>
          <a:p>
            <a:pPr indent="0" marL="0">
              <a:buNone/>
            </a:pPr>
            <a:r>
              <a:rPr lang="en-US" sz="1050" dirty="0">
                <a:solidFill>
                  <a:srgbClr val="6E7175"/>
                </a:solidFill>
                <a:latin typeface="Montserrat" pitchFamily="34" charset="0"/>
                <a:ea typeface="Montserrat" pitchFamily="34" charset="-122"/>
                <a:cs typeface="Montserrat" pitchFamily="34" charset="-120"/>
              </a:rPr>
              <a:t>All three needing a decision have a non-breaking upgrade available, and the repo's own tests can verify it.</a:t>
            </a:r>
            <a:endParaRPr lang="en-US" sz="1050" dirty="0"/>
          </a:p>
        </p:txBody>
      </p:sp>
      <p:sp>
        <p:nvSpPr>
          <p:cNvPr id="33" name="Shape 30"/>
          <p:cNvSpPr/>
          <p:nvPr/>
        </p:nvSpPr>
        <p:spPr>
          <a:xfrm>
            <a:off x="795528" y="6025896"/>
            <a:ext cx="73152" cy="73152"/>
          </a:xfrm>
          <a:prstGeom prst="ellipse">
            <a:avLst/>
          </a:prstGeom>
          <a:solidFill>
            <a:srgbClr val="942838"/>
          </a:solidFill>
          <a:ln/>
        </p:spPr>
      </p:sp>
      <p:sp>
        <p:nvSpPr>
          <p:cNvPr id="34" name="Text 31"/>
          <p:cNvSpPr txBox="1"/>
          <p:nvPr/>
        </p:nvSpPr>
        <p:spPr>
          <a:xfrm>
            <a:off x="996696" y="5961888"/>
            <a:ext cx="10417759" cy="219456"/>
          </a:xfrm>
          <a:prstGeom prst="rect">
            <a:avLst/>
          </a:prstGeom>
          <a:noFill/>
          <a:ln/>
        </p:spPr>
        <p:txBody>
          <a:bodyPr wrap="square" lIns="0" tIns="0" rIns="0" bIns="0" rtlCol="0" anchor="t"/>
          <a:lstStyle/>
          <a:p>
            <a:pPr indent="0" marL="0">
              <a:buNone/>
            </a:pPr>
            <a:r>
              <a:rPr lang="en-US" sz="1050" dirty="0">
                <a:solidFill>
                  <a:srgbClr val="6E7175"/>
                </a:solidFill>
                <a:latin typeface="Montserrat" pitchFamily="34" charset="0"/>
                <a:ea typeface="Montserrat" pitchFamily="34" charset="-122"/>
                <a:cs typeface="Montserrat" pitchFamily="34" charset="-120"/>
              </a:rPr>
              <a:t>The scan was read-only. Nothing in the repository was changed.</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02  ·  WHAT COMES NEXT</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What is still open, and how I would close it</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AEGIS</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14</a:t>
            </a:r>
            <a:endParaRPr lang="en-US" sz="850" dirty="0"/>
          </a:p>
        </p:txBody>
      </p:sp>
      <p:sp>
        <p:nvSpPr>
          <p:cNvPr id="9" name="Text 6"/>
          <p:cNvSpPr txBox="1"/>
          <p:nvPr/>
        </p:nvSpPr>
        <p:spPr>
          <a:xfrm>
            <a:off x="777240" y="1975104"/>
            <a:ext cx="10241280" cy="329184"/>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Built, safety-rail tested, and already run against a real repository. Three things would take it further.</a:t>
            </a:r>
            <a:endParaRPr lang="en-US" sz="1400" dirty="0"/>
          </a:p>
        </p:txBody>
      </p:sp>
      <p:sp>
        <p:nvSpPr>
          <p:cNvPr id="10" name="Shape 7"/>
          <p:cNvSpPr/>
          <p:nvPr/>
        </p:nvSpPr>
        <p:spPr>
          <a:xfrm>
            <a:off x="777240" y="2523744"/>
            <a:ext cx="3356762" cy="3145536"/>
          </a:xfrm>
          <a:prstGeom prst="roundRect">
            <a:avLst>
              <a:gd name="adj" fmla="val 1744"/>
            </a:avLst>
          </a:prstGeom>
          <a:solidFill>
            <a:srgbClr val="FFFFFF"/>
          </a:solidFill>
          <a:ln w="9525">
            <a:solidFill>
              <a:srgbClr val="E6E4E2"/>
            </a:solidFill>
            <a:prstDash val="solid"/>
          </a:ln>
          <a:effectLst>
            <a:outerShdw sx="100000" sy="100000" kx="0" ky="0" algn="bl" rotWithShape="0" blurRad="3.1302311439840524e+54" dist="7.825577859960131e+53" dir="1.1754624614400003e+64">
              <a:srgbClr val="959092">
                <a:alpha val="2.2e+64"/>
              </a:srgbClr>
            </a:outerShdw>
          </a:effectLst>
        </p:spPr>
      </p:sp>
      <p:sp>
        <p:nvSpPr>
          <p:cNvPr id="11" name="Shape 8"/>
          <p:cNvSpPr/>
          <p:nvPr/>
        </p:nvSpPr>
        <p:spPr>
          <a:xfrm>
            <a:off x="777240" y="2523744"/>
            <a:ext cx="3356762" cy="45720"/>
          </a:xfrm>
          <a:prstGeom prst="rect">
            <a:avLst/>
          </a:prstGeom>
          <a:solidFill>
            <a:srgbClr val="942838"/>
          </a:solidFill>
          <a:ln/>
        </p:spPr>
      </p:sp>
      <p:sp>
        <p:nvSpPr>
          <p:cNvPr id="12" name="Text 9"/>
          <p:cNvSpPr txBox="1"/>
          <p:nvPr/>
        </p:nvSpPr>
        <p:spPr>
          <a:xfrm>
            <a:off x="1088136" y="2798064"/>
            <a:ext cx="914400" cy="310896"/>
          </a:xfrm>
          <a:prstGeom prst="rect">
            <a:avLst/>
          </a:prstGeom>
          <a:noFill/>
          <a:ln/>
        </p:spPr>
        <p:txBody>
          <a:bodyPr wrap="square" lIns="0" tIns="0" rIns="0" bIns="0" rtlCol="0" anchor="t"/>
          <a:lstStyle/>
          <a:p>
            <a:pPr indent="0" marL="0">
              <a:buNone/>
            </a:pPr>
            <a:r>
              <a:rPr lang="en-US" sz="2000" spc="-30" kern="0" dirty="0">
                <a:solidFill>
                  <a:srgbClr val="DFBEC4"/>
                </a:solidFill>
                <a:latin typeface="Montserrat ExtraBold" pitchFamily="34" charset="0"/>
                <a:ea typeface="Montserrat ExtraBold" pitchFamily="34" charset="-122"/>
                <a:cs typeface="Montserrat ExtraBold" pitchFamily="34" charset="-120"/>
              </a:rPr>
              <a:t>01</a:t>
            </a:r>
            <a:endParaRPr lang="en-US" sz="2000" dirty="0"/>
          </a:p>
        </p:txBody>
      </p:sp>
      <p:sp>
        <p:nvSpPr>
          <p:cNvPr id="13" name="Text 10"/>
          <p:cNvSpPr txBox="1"/>
          <p:nvPr/>
        </p:nvSpPr>
        <p:spPr>
          <a:xfrm>
            <a:off x="1088136" y="3182112"/>
            <a:ext cx="2734970" cy="566928"/>
          </a:xfrm>
          <a:prstGeom prst="rect">
            <a:avLst/>
          </a:prstGeom>
          <a:noFill/>
          <a:ln/>
        </p:spPr>
        <p:txBody>
          <a:bodyPr wrap="square" lIns="0" tIns="0" rIns="0" bIns="0" rtlCol="0" anchor="t"/>
          <a:lstStyle/>
          <a:p>
            <a:pPr indent="0" marL="0">
              <a:lnSpc>
                <a:spcPct val="108000"/>
              </a:lnSpc>
              <a:buNone/>
            </a:pPr>
            <a:r>
              <a:rPr lang="en-US" sz="1450" dirty="0">
                <a:solidFill>
                  <a:srgbClr val="2B2D30"/>
                </a:solidFill>
                <a:latin typeface="Montserrat SemiBold" pitchFamily="34" charset="0"/>
                <a:ea typeface="Montserrat SemiBold" pitchFamily="34" charset="-122"/>
                <a:cs typeface="Montserrat SemiBold" pitchFamily="34" charset="-120"/>
              </a:rPr>
              <a:t>Teach it the framework packages</a:t>
            </a:r>
            <a:endParaRPr lang="en-US" sz="1450" dirty="0"/>
          </a:p>
        </p:txBody>
      </p:sp>
      <p:sp>
        <p:nvSpPr>
          <p:cNvPr id="14" name="Text 11"/>
          <p:cNvSpPr txBox="1"/>
          <p:nvPr/>
        </p:nvSpPr>
        <p:spPr>
          <a:xfrm>
            <a:off x="1088136" y="3822192"/>
            <a:ext cx="2734970" cy="1737360"/>
          </a:xfrm>
          <a:prstGeom prst="rect">
            <a:avLst/>
          </a:prstGeom>
          <a:noFill/>
          <a:ln/>
        </p:spPr>
        <p:txBody>
          <a:bodyPr wrap="square" lIns="0" tIns="0" rIns="0" bIns="0" rtlCol="0" anchor="t"/>
          <a:lstStyle/>
          <a:p>
            <a:pPr indent="0" marL="0">
              <a:lnSpc>
                <a:spcPct val="126000"/>
              </a:lnSpc>
              <a:buNone/>
            </a:pPr>
            <a:r>
              <a:rPr lang="en-US" sz="1100" dirty="0">
                <a:solidFill>
                  <a:srgbClr val="6E7175"/>
                </a:solidFill>
                <a:latin typeface="Montserrat" pitchFamily="34" charset="0"/>
                <a:ea typeface="Montserrat" pitchFamily="34" charset="-122"/>
                <a:cs typeface="Montserrat" pitchFamily="34" charset="-120"/>
              </a:rPr>
              <a:t>AEGIS knows exactly which function is the dangerous one for about nine packages. Angular is not among them yet — which is why two findings came back "can't prove" instead of a straight answer. Extending that list turns those into a verdict.</a:t>
            </a:r>
            <a:endParaRPr lang="en-US" sz="1100" dirty="0"/>
          </a:p>
        </p:txBody>
      </p:sp>
      <p:sp>
        <p:nvSpPr>
          <p:cNvPr id="15" name="Shape 12"/>
          <p:cNvSpPr/>
          <p:nvPr/>
        </p:nvSpPr>
        <p:spPr>
          <a:xfrm>
            <a:off x="4417466" y="2523744"/>
            <a:ext cx="3356762" cy="3145536"/>
          </a:xfrm>
          <a:prstGeom prst="roundRect">
            <a:avLst>
              <a:gd name="adj" fmla="val 1744"/>
            </a:avLst>
          </a:prstGeom>
          <a:solidFill>
            <a:srgbClr val="FFFFFF"/>
          </a:solidFill>
          <a:ln w="9525">
            <a:solidFill>
              <a:srgbClr val="E6E4E2"/>
            </a:solidFill>
            <a:prstDash val="solid"/>
          </a:ln>
          <a:effectLst>
            <a:outerShdw sx="100000" sy="100000" kx="0" ky="0" algn="bl" rotWithShape="0" blurRad="3.9753935528597466e+58" dist="9.938483882149366e+57" dir="7.052774768640002e+68">
              <a:srgbClr val="959092">
                <a:alpha val="2.2e+69"/>
              </a:srgbClr>
            </a:outerShdw>
          </a:effectLst>
        </p:spPr>
      </p:sp>
      <p:sp>
        <p:nvSpPr>
          <p:cNvPr id="16" name="Shape 13"/>
          <p:cNvSpPr/>
          <p:nvPr/>
        </p:nvSpPr>
        <p:spPr>
          <a:xfrm>
            <a:off x="4417466" y="2523744"/>
            <a:ext cx="3356762" cy="45720"/>
          </a:xfrm>
          <a:prstGeom prst="rect">
            <a:avLst/>
          </a:prstGeom>
          <a:solidFill>
            <a:srgbClr val="942838"/>
          </a:solidFill>
          <a:ln/>
        </p:spPr>
      </p:sp>
      <p:sp>
        <p:nvSpPr>
          <p:cNvPr id="17" name="Text 14"/>
          <p:cNvSpPr txBox="1"/>
          <p:nvPr/>
        </p:nvSpPr>
        <p:spPr>
          <a:xfrm>
            <a:off x="4728362" y="2798064"/>
            <a:ext cx="914400" cy="310896"/>
          </a:xfrm>
          <a:prstGeom prst="rect">
            <a:avLst/>
          </a:prstGeom>
          <a:noFill/>
          <a:ln/>
        </p:spPr>
        <p:txBody>
          <a:bodyPr wrap="square" lIns="0" tIns="0" rIns="0" bIns="0" rtlCol="0" anchor="t"/>
          <a:lstStyle/>
          <a:p>
            <a:pPr indent="0" marL="0">
              <a:buNone/>
            </a:pPr>
            <a:r>
              <a:rPr lang="en-US" sz="2000" spc="-30" kern="0" dirty="0">
                <a:solidFill>
                  <a:srgbClr val="DFBEC4"/>
                </a:solidFill>
                <a:latin typeface="Montserrat ExtraBold" pitchFamily="34" charset="0"/>
                <a:ea typeface="Montserrat ExtraBold" pitchFamily="34" charset="-122"/>
                <a:cs typeface="Montserrat ExtraBold" pitchFamily="34" charset="-120"/>
              </a:rPr>
              <a:t>02</a:t>
            </a:r>
            <a:endParaRPr lang="en-US" sz="2000" dirty="0"/>
          </a:p>
        </p:txBody>
      </p:sp>
      <p:sp>
        <p:nvSpPr>
          <p:cNvPr id="18" name="Text 15"/>
          <p:cNvSpPr txBox="1"/>
          <p:nvPr/>
        </p:nvSpPr>
        <p:spPr>
          <a:xfrm>
            <a:off x="4728362" y="3182112"/>
            <a:ext cx="2734970" cy="566928"/>
          </a:xfrm>
          <a:prstGeom prst="rect">
            <a:avLst/>
          </a:prstGeom>
          <a:noFill/>
          <a:ln/>
        </p:spPr>
        <p:txBody>
          <a:bodyPr wrap="square" lIns="0" tIns="0" rIns="0" bIns="0" rtlCol="0" anchor="t"/>
          <a:lstStyle/>
          <a:p>
            <a:pPr indent="0" marL="0">
              <a:lnSpc>
                <a:spcPct val="108000"/>
              </a:lnSpc>
              <a:buNone/>
            </a:pPr>
            <a:r>
              <a:rPr lang="en-US" sz="1450" dirty="0">
                <a:solidFill>
                  <a:srgbClr val="2B2D30"/>
                </a:solidFill>
                <a:latin typeface="Montserrat SemiBold" pitchFamily="34" charset="0"/>
                <a:ea typeface="Montserrat SemiBold" pitchFamily="34" charset="-122"/>
                <a:cs typeface="Montserrat SemiBold" pitchFamily="34" charset="-120"/>
              </a:rPr>
              <a:t>Keep the live lookups working everywhere</a:t>
            </a:r>
            <a:endParaRPr lang="en-US" sz="1450" dirty="0"/>
          </a:p>
        </p:txBody>
      </p:sp>
      <p:sp>
        <p:nvSpPr>
          <p:cNvPr id="19" name="Text 16"/>
          <p:cNvSpPr txBox="1"/>
          <p:nvPr/>
        </p:nvSpPr>
        <p:spPr>
          <a:xfrm>
            <a:off x="4728362" y="3822192"/>
            <a:ext cx="2734970" cy="1737360"/>
          </a:xfrm>
          <a:prstGeom prst="rect">
            <a:avLst/>
          </a:prstGeom>
          <a:noFill/>
          <a:ln/>
        </p:spPr>
        <p:txBody>
          <a:bodyPr wrap="square" lIns="0" tIns="0" rIns="0" bIns="0" rtlCol="0" anchor="t"/>
          <a:lstStyle/>
          <a:p>
            <a:pPr indent="0" marL="0">
              <a:lnSpc>
                <a:spcPct val="126000"/>
              </a:lnSpc>
              <a:buNone/>
            </a:pPr>
            <a:r>
              <a:rPr lang="en-US" sz="1100" dirty="0">
                <a:solidFill>
                  <a:srgbClr val="6E7175"/>
                </a:solidFill>
                <a:latin typeface="Montserrat" pitchFamily="34" charset="0"/>
                <a:ea typeface="Montserrat" pitchFamily="34" charset="-122"/>
                <a:cs typeface="Montserrat" pitchFamily="34" charset="-120"/>
              </a:rPr>
              <a:t>This run pulled real flaw data live. On networks where the security proxy inspects traffic it still fails, so the split-scan workaround stays until an inspection bypass is in place.</a:t>
            </a:r>
            <a:endParaRPr lang="en-US" sz="1100" dirty="0"/>
          </a:p>
        </p:txBody>
      </p:sp>
      <p:sp>
        <p:nvSpPr>
          <p:cNvPr id="20" name="Shape 17"/>
          <p:cNvSpPr/>
          <p:nvPr/>
        </p:nvSpPr>
        <p:spPr>
          <a:xfrm>
            <a:off x="8057693" y="2523744"/>
            <a:ext cx="3356762" cy="3145536"/>
          </a:xfrm>
          <a:prstGeom prst="roundRect">
            <a:avLst>
              <a:gd name="adj" fmla="val 1744"/>
            </a:avLst>
          </a:prstGeom>
          <a:solidFill>
            <a:srgbClr val="FFFFFF"/>
          </a:solidFill>
          <a:ln w="9525">
            <a:solidFill>
              <a:srgbClr val="E6E4E2"/>
            </a:solidFill>
            <a:prstDash val="solid"/>
          </a:ln>
          <a:effectLst>
            <a:outerShdw sx="100000" sy="100000" kx="0" ky="0" algn="bl" rotWithShape="0" blurRad="5.048749812131878e+62" dist="1.2621874530329695e+62" dir="4.2316648611840007e+73">
              <a:srgbClr val="959092">
                <a:alpha val="2.2e+74"/>
              </a:srgbClr>
            </a:outerShdw>
          </a:effectLst>
        </p:spPr>
      </p:sp>
      <p:sp>
        <p:nvSpPr>
          <p:cNvPr id="21" name="Shape 18"/>
          <p:cNvSpPr/>
          <p:nvPr/>
        </p:nvSpPr>
        <p:spPr>
          <a:xfrm>
            <a:off x="8057693" y="2523744"/>
            <a:ext cx="3356762" cy="45720"/>
          </a:xfrm>
          <a:prstGeom prst="rect">
            <a:avLst/>
          </a:prstGeom>
          <a:solidFill>
            <a:srgbClr val="942838"/>
          </a:solidFill>
          <a:ln/>
        </p:spPr>
      </p:sp>
      <p:sp>
        <p:nvSpPr>
          <p:cNvPr id="22" name="Text 19"/>
          <p:cNvSpPr txBox="1"/>
          <p:nvPr/>
        </p:nvSpPr>
        <p:spPr>
          <a:xfrm>
            <a:off x="8368589" y="2798064"/>
            <a:ext cx="914400" cy="310896"/>
          </a:xfrm>
          <a:prstGeom prst="rect">
            <a:avLst/>
          </a:prstGeom>
          <a:noFill/>
          <a:ln/>
        </p:spPr>
        <p:txBody>
          <a:bodyPr wrap="square" lIns="0" tIns="0" rIns="0" bIns="0" rtlCol="0" anchor="t"/>
          <a:lstStyle/>
          <a:p>
            <a:pPr indent="0" marL="0">
              <a:buNone/>
            </a:pPr>
            <a:r>
              <a:rPr lang="en-US" sz="2000" spc="-30" kern="0" dirty="0">
                <a:solidFill>
                  <a:srgbClr val="DFBEC4"/>
                </a:solidFill>
                <a:latin typeface="Montserrat ExtraBold" pitchFamily="34" charset="0"/>
                <a:ea typeface="Montserrat ExtraBold" pitchFamily="34" charset="-122"/>
                <a:cs typeface="Montserrat ExtraBold" pitchFamily="34" charset="-120"/>
              </a:rPr>
              <a:t>03</a:t>
            </a:r>
            <a:endParaRPr lang="en-US" sz="2000" dirty="0"/>
          </a:p>
        </p:txBody>
      </p:sp>
      <p:sp>
        <p:nvSpPr>
          <p:cNvPr id="23" name="Text 20"/>
          <p:cNvSpPr txBox="1"/>
          <p:nvPr/>
        </p:nvSpPr>
        <p:spPr>
          <a:xfrm>
            <a:off x="8368589" y="3182112"/>
            <a:ext cx="2734970" cy="566928"/>
          </a:xfrm>
          <a:prstGeom prst="rect">
            <a:avLst/>
          </a:prstGeom>
          <a:noFill/>
          <a:ln/>
        </p:spPr>
        <p:txBody>
          <a:bodyPr wrap="square" lIns="0" tIns="0" rIns="0" bIns="0" rtlCol="0" anchor="t"/>
          <a:lstStyle/>
          <a:p>
            <a:pPr indent="0" marL="0">
              <a:lnSpc>
                <a:spcPct val="108000"/>
              </a:lnSpc>
              <a:buNone/>
            </a:pPr>
            <a:r>
              <a:rPr lang="en-US" sz="1450" dirty="0">
                <a:solidFill>
                  <a:srgbClr val="2B2D30"/>
                </a:solidFill>
                <a:latin typeface="Montserrat SemiBold" pitchFamily="34" charset="0"/>
                <a:ea typeface="Montserrat SemiBold" pitchFamily="34" charset="-122"/>
                <a:cs typeface="Montserrat SemiBold" pitchFamily="34" charset="-120"/>
              </a:rPr>
              <a:t>Get it into other people's hands</a:t>
            </a:r>
            <a:endParaRPr lang="en-US" sz="1450" dirty="0"/>
          </a:p>
        </p:txBody>
      </p:sp>
      <p:sp>
        <p:nvSpPr>
          <p:cNvPr id="24" name="Text 21"/>
          <p:cNvSpPr txBox="1"/>
          <p:nvPr/>
        </p:nvSpPr>
        <p:spPr>
          <a:xfrm>
            <a:off x="8368589" y="3822192"/>
            <a:ext cx="2734970" cy="1737360"/>
          </a:xfrm>
          <a:prstGeom prst="rect">
            <a:avLst/>
          </a:prstGeom>
          <a:noFill/>
          <a:ln/>
        </p:spPr>
        <p:txBody>
          <a:bodyPr wrap="square" lIns="0" tIns="0" rIns="0" bIns="0" rtlCol="0" anchor="t"/>
          <a:lstStyle/>
          <a:p>
            <a:pPr indent="0" marL="0">
              <a:lnSpc>
                <a:spcPct val="126000"/>
              </a:lnSpc>
              <a:buNone/>
            </a:pPr>
            <a:r>
              <a:rPr lang="en-US" sz="1100" dirty="0">
                <a:solidFill>
                  <a:srgbClr val="6E7175"/>
                </a:solidFill>
                <a:latin typeface="Montserrat" pitchFamily="34" charset="0"/>
                <a:ea typeface="Montserrat" pitchFamily="34" charset="-122"/>
                <a:cs typeface="Montserrat" pitchFamily="34" charset="-120"/>
              </a:rPr>
              <a:t>Packaged as a plugin so a developer can install it with one command. The install flow itself has not been run start to finish yet.</a:t>
            </a:r>
            <a:endParaRPr lang="en-US" sz="1100" dirty="0"/>
          </a:p>
        </p:txBody>
      </p:sp>
      <p:sp>
        <p:nvSpPr>
          <p:cNvPr id="25" name="Text 22"/>
          <p:cNvSpPr txBox="1"/>
          <p:nvPr/>
        </p:nvSpPr>
        <p:spPr>
          <a:xfrm>
            <a:off x="777240" y="5833872"/>
            <a:ext cx="10637215" cy="274320"/>
          </a:xfrm>
          <a:prstGeom prst="rect">
            <a:avLst/>
          </a:prstGeom>
          <a:noFill/>
          <a:ln/>
        </p:spPr>
        <p:txBody>
          <a:bodyPr wrap="square" lIns="0" tIns="0" rIns="0" bIns="0" rtlCol="0" anchor="t"/>
          <a:lstStyle/>
          <a:p>
            <a:pPr indent="0" marL="0">
              <a:buNone/>
            </a:pPr>
            <a:r>
              <a:rPr lang="en-US" sz="1150" dirty="0">
                <a:solidFill>
                  <a:srgbClr val="2B2D30"/>
                </a:solidFill>
                <a:latin typeface="Montserrat SemiBold" pitchFamily="34" charset="0"/>
                <a:ea typeface="Montserrat SemiBold" pitchFamily="34" charset="-122"/>
                <a:cs typeface="Montserrat SemiBold" pitchFamily="34" charset="-120"/>
              </a:rPr>
              <a:t>Said plainly:</a:t>
            </a:r>
            <a:pPr indent="0" marL="0">
              <a:buNone/>
            </a:pPr>
            <a:r>
              <a:rPr lang="en-US" sz="1150" dirty="0">
                <a:solidFill>
                  <a:srgbClr val="6E7175"/>
                </a:solidFill>
                <a:latin typeface="Montserrat" pitchFamily="34" charset="0"/>
                <a:ea typeface="Montserrat" pitchFamily="34" charset="-122"/>
                <a:cs typeface="Montserrat" pitchFamily="34" charset="-120"/>
              </a:rPr>
              <a:t>  it works, and it has been run for real. What is left is widening what it can answer with certainty, and getting it into other hands.</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home/user/ai/assets/gen/panel-red.png"/>
          <p:cNvPicPr>
            <a:picLocks noChangeAspect="1"/>
          </p:cNvPicPr>
          <p:nvPr/>
        </p:nvPicPr>
        <p:blipFill>
          <a:blip r:embed="rId3"/>
          <a:stretch>
            <a:fillRect/>
          </a:stretch>
        </p:blipFill>
        <p:spPr>
          <a:xfrm>
            <a:off x="0" y="0"/>
            <a:ext cx="12191695" cy="6858000"/>
          </a:xfrm>
          <a:prstGeom prst="rect">
            <a:avLst/>
          </a:prstGeom>
        </p:spPr>
      </p:pic>
      <p:pic>
        <p:nvPicPr>
          <p:cNvPr id="3" name="Image 1" descr="/home/user/ai/assets/gen/mark-slash-faint.png"/>
          <p:cNvPicPr>
            <a:picLocks noChangeAspect="1"/>
          </p:cNvPicPr>
          <p:nvPr/>
        </p:nvPicPr>
        <p:blipFill>
          <a:blip r:embed="rId4"/>
          <a:stretch>
            <a:fillRect/>
          </a:stretch>
        </p:blipFill>
        <p:spPr>
          <a:xfrm>
            <a:off x="8229600" y="365760"/>
            <a:ext cx="5120640" cy="5120640"/>
          </a:xfrm>
          <a:prstGeom prst="rect">
            <a:avLst/>
          </a:prstGeom>
        </p:spPr>
      </p:pic>
      <p:sp>
        <p:nvSpPr>
          <p:cNvPr id="4" name="Text 0"/>
          <p:cNvSpPr txBox="1"/>
          <p:nvPr/>
        </p:nvSpPr>
        <p:spPr>
          <a:xfrm>
            <a:off x="6766560" y="566928"/>
            <a:ext cx="4754880" cy="4206240"/>
          </a:xfrm>
          <a:prstGeom prst="rect">
            <a:avLst/>
          </a:prstGeom>
          <a:noFill/>
          <a:ln/>
        </p:spPr>
        <p:txBody>
          <a:bodyPr wrap="square" lIns="0" tIns="0" rIns="0" bIns="0" rtlCol="0" anchor="t"/>
          <a:lstStyle/>
          <a:p>
            <a:pPr marL="0" indent="0" algn="r">
              <a:buNone/>
            </a:pPr>
            <a:r>
              <a:rPr lang="en-US" sz="21000" kern="0" spc="-800" dirty="0">
                <a:solidFill>
                  <a:srgbClr val="B9737E">
                    <a:alpha val="38000"/>
                  </a:srgbClr>
                </a:solidFill>
                <a:latin typeface="Montserrat ExtraBold" pitchFamily="34" charset="0"/>
                <a:ea typeface="Montserrat ExtraBold" pitchFamily="34" charset="-122"/>
                <a:cs typeface="Montserrat ExtraBold" pitchFamily="34" charset="-120"/>
              </a:rPr>
              <a:t>03</a:t>
            </a:r>
            <a:endParaRPr lang="en-US" sz="21000" dirty="0"/>
          </a:p>
        </p:txBody>
      </p:sp>
      <p:sp>
        <p:nvSpPr>
          <p:cNvPr id="5" name="Text 1"/>
          <p:cNvSpPr txBox="1"/>
          <p:nvPr/>
        </p:nvSpPr>
        <p:spPr>
          <a:xfrm>
            <a:off x="777240" y="2395728"/>
            <a:ext cx="6400800" cy="256032"/>
          </a:xfrm>
          <a:prstGeom prst="rect">
            <a:avLst/>
          </a:prstGeom>
          <a:noFill/>
          <a:ln/>
        </p:spPr>
        <p:txBody>
          <a:bodyPr wrap="square" lIns="0" tIns="0" rIns="0" bIns="0" rtlCol="0" anchor="t"/>
          <a:lstStyle/>
          <a:p>
            <a:pPr marL="0" indent="0">
              <a:buNone/>
            </a:pPr>
            <a:r>
              <a:rPr lang="en-US" sz="1000" kern="0" spc="220" dirty="0">
                <a:solidFill>
                  <a:srgbClr val="E4C9CE"/>
                </a:solidFill>
                <a:latin typeface="Montserrat SemiBold" pitchFamily="34" charset="0"/>
                <a:ea typeface="Montserrat SemiBold" pitchFamily="34" charset="-122"/>
                <a:cs typeface="Montserrat SemiBold" pitchFamily="34" charset="-120"/>
              </a:rPr>
              <a:t>PROJECT 03</a:t>
            </a:r>
            <a:endParaRPr lang="en-US" sz="1000" dirty="0"/>
          </a:p>
        </p:txBody>
      </p:sp>
      <p:sp>
        <p:nvSpPr>
          <p:cNvPr id="6" name="Text 2"/>
          <p:cNvSpPr txBox="1"/>
          <p:nvPr/>
        </p:nvSpPr>
        <p:spPr>
          <a:xfrm>
            <a:off x="777239" y="2743200"/>
            <a:ext cx="7013089" cy="1280160"/>
          </a:xfrm>
          <a:prstGeom prst="rect">
            <a:avLst/>
          </a:prstGeom>
          <a:noFill/>
          <a:ln/>
        </p:spPr>
        <p:txBody>
          <a:bodyPr wrap="square" lIns="0" tIns="0" rIns="0" bIns="0" rtlCol="0" anchor="t"/>
          <a:lstStyle/>
          <a:p>
            <a:pPr marL="0" indent="0">
              <a:lnSpc>
                <a:spcPct val="98000"/>
              </a:lnSpc>
              <a:buNone/>
            </a:pPr>
            <a:r>
              <a:rPr lang="en-US" sz="4100" kern="0" spc="-90" dirty="0" err="1">
                <a:solidFill>
                  <a:srgbClr val="FFFFFF"/>
                </a:solidFill>
                <a:latin typeface="Montserrat ExtraBold" pitchFamily="34" charset="0"/>
                <a:ea typeface="Montserrat ExtraBold" pitchFamily="34" charset="-122"/>
                <a:cs typeface="Montserrat ExtraBold" pitchFamily="34" charset="-120"/>
              </a:rPr>
              <a:t>KEVlar</a:t>
            </a:r>
            <a:r>
              <a:rPr lang="en-US" sz="4100" kern="0" spc="-90" dirty="0">
                <a:solidFill>
                  <a:srgbClr val="FFFFFF"/>
                </a:solidFill>
                <a:latin typeface="Montserrat ExtraBold" pitchFamily="34" charset="0"/>
                <a:ea typeface="Montserrat ExtraBold" pitchFamily="34" charset="-122"/>
                <a:cs typeface="Montserrat ExtraBold" pitchFamily="34" charset="-120"/>
              </a:rPr>
              <a:t> Patch Automation</a:t>
            </a:r>
            <a:endParaRPr lang="en-US" sz="4100" dirty="0"/>
          </a:p>
        </p:txBody>
      </p:sp>
      <p:sp>
        <p:nvSpPr>
          <p:cNvPr id="7" name="Shape 3"/>
          <p:cNvSpPr/>
          <p:nvPr/>
        </p:nvSpPr>
        <p:spPr>
          <a:xfrm>
            <a:off x="777240" y="4114800"/>
            <a:ext cx="640080" cy="50292"/>
          </a:xfrm>
          <a:prstGeom prst="rect">
            <a:avLst/>
          </a:prstGeom>
          <a:solidFill>
            <a:srgbClr val="FFFFFF"/>
          </a:solidFill>
          <a:ln/>
        </p:spPr>
        <p:txBody>
          <a:bodyPr/>
          <a:lstStyle/>
          <a:p>
            <a:endParaRPr lang="en-US"/>
          </a:p>
        </p:txBody>
      </p:sp>
      <p:sp>
        <p:nvSpPr>
          <p:cNvPr id="8" name="Text 4"/>
          <p:cNvSpPr txBox="1"/>
          <p:nvPr/>
        </p:nvSpPr>
        <p:spPr>
          <a:xfrm>
            <a:off x="777240" y="4389120"/>
            <a:ext cx="6309360" cy="731520"/>
          </a:xfrm>
          <a:prstGeom prst="rect">
            <a:avLst/>
          </a:prstGeom>
          <a:noFill/>
          <a:ln/>
        </p:spPr>
        <p:txBody>
          <a:bodyPr wrap="square" lIns="0" tIns="0" rIns="0" bIns="0" rtlCol="0" anchor="t"/>
          <a:lstStyle/>
          <a:p>
            <a:pPr marL="0" indent="0">
              <a:lnSpc>
                <a:spcPct val="125000"/>
              </a:lnSpc>
              <a:buNone/>
            </a:pPr>
            <a:r>
              <a:rPr lang="en-US" sz="1400" dirty="0">
                <a:solidFill>
                  <a:srgbClr val="DAB4BA"/>
                </a:solidFill>
                <a:latin typeface="Montserrat Medium" pitchFamily="34" charset="0"/>
                <a:ea typeface="Montserrat Medium" pitchFamily="34" charset="-122"/>
                <a:cs typeface="Montserrat Medium" pitchFamily="34" charset="-120"/>
              </a:rPr>
              <a:t>Turning a manual, one-at-a-time patch lookup into a job that finishes in seconds.</a:t>
            </a:r>
            <a:endParaRPr lang="en-US" sz="1400" dirty="0"/>
          </a:p>
        </p:txBody>
      </p:sp>
      <p:pic>
        <p:nvPicPr>
          <p:cNvPr id="9" name="Image 2" descr="/home/user/ai/assets/gen/logo-white.png"/>
          <p:cNvPicPr>
            <a:picLocks noChangeAspect="1"/>
          </p:cNvPicPr>
          <p:nvPr/>
        </p:nvPicPr>
        <p:blipFill>
          <a:blip r:embed="rId5"/>
          <a:stretch>
            <a:fillRect/>
          </a:stretch>
        </p:blipFill>
        <p:spPr>
          <a:xfrm>
            <a:off x="9768535" y="457200"/>
            <a:ext cx="1645920" cy="166053"/>
          </a:xfrm>
          <a:prstGeom prst="rect">
            <a:avLst/>
          </a:prstGeom>
        </p:spPr>
      </p:pic>
      <p:sp>
        <p:nvSpPr>
          <p:cNvPr id="10" name="Text 5"/>
          <p:cNvSpPr txBox="1"/>
          <p:nvPr/>
        </p:nvSpPr>
        <p:spPr>
          <a:xfrm>
            <a:off x="777240" y="6327648"/>
            <a:ext cx="7315200" cy="201168"/>
          </a:xfrm>
          <a:prstGeom prst="rect">
            <a:avLst/>
          </a:prstGeom>
          <a:noFill/>
          <a:ln/>
        </p:spPr>
        <p:txBody>
          <a:bodyPr wrap="square" lIns="0" tIns="0" rIns="0" bIns="0" rtlCol="0" anchor="t"/>
          <a:lstStyle/>
          <a:p>
            <a:pPr marL="0" indent="0">
              <a:buNone/>
            </a:pPr>
            <a:r>
              <a:rPr lang="en-US" sz="850" kern="0" spc="140" dirty="0">
                <a:solidFill>
                  <a:srgbClr val="E4C9CE"/>
                </a:solidFill>
                <a:latin typeface="Montserrat SemiBold" pitchFamily="34" charset="0"/>
                <a:ea typeface="Montserrat SemiBold" pitchFamily="34" charset="-122"/>
                <a:cs typeface="Montserrat SemiBold" pitchFamily="34" charset="-120"/>
              </a:rPr>
              <a:t>PROJECT 03</a:t>
            </a:r>
            <a:endParaRPr lang="en-US" sz="850" dirty="0"/>
          </a:p>
        </p:txBody>
      </p:sp>
      <p:sp>
        <p:nvSpPr>
          <p:cNvPr id="11" name="Text 6"/>
          <p:cNvSpPr txBox="1"/>
          <p:nvPr/>
        </p:nvSpPr>
        <p:spPr>
          <a:xfrm>
            <a:off x="10317175" y="6327648"/>
            <a:ext cx="1097280" cy="201168"/>
          </a:xfrm>
          <a:prstGeom prst="rect">
            <a:avLst/>
          </a:prstGeom>
          <a:noFill/>
          <a:ln/>
        </p:spPr>
        <p:txBody>
          <a:bodyPr wrap="square" lIns="0" tIns="0" rIns="0" bIns="0" rtlCol="0" anchor="t"/>
          <a:lstStyle/>
          <a:p>
            <a:pPr marL="0" indent="0" algn="r">
              <a:buNone/>
            </a:pPr>
            <a:r>
              <a:rPr lang="en-US" sz="850" kern="0" spc="140" dirty="0">
                <a:solidFill>
                  <a:srgbClr val="E4C9CE"/>
                </a:solidFill>
                <a:latin typeface="Montserrat SemiBold" pitchFamily="34" charset="0"/>
                <a:ea typeface="Montserrat SemiBold" pitchFamily="34" charset="-122"/>
                <a:cs typeface="Montserrat SemiBold" pitchFamily="34" charset="-120"/>
              </a:rPr>
              <a:t>15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pic>
        <p:nvPicPr>
          <p:cNvPr id="2" name="Image 0" descr="/home/user/ai/assets/gen/logo-red.png"/>
          <p:cNvPicPr>
            <a:picLocks noChangeAspect="1"/>
          </p:cNvPicPr>
          <p:nvPr/>
        </p:nvPicPr>
        <p:blipFill>
          <a:blip r:embed="rId3"/>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marL="0" indent="0">
              <a:buNone/>
            </a:pPr>
            <a:r>
              <a:rPr lang="en-US" sz="1000" kern="0" spc="220" dirty="0">
                <a:solidFill>
                  <a:srgbClr val="942838"/>
                </a:solidFill>
                <a:latin typeface="Montserrat SemiBold" pitchFamily="34" charset="0"/>
                <a:ea typeface="Montserrat SemiBold" pitchFamily="34" charset="-122"/>
                <a:cs typeface="Montserrat SemiBold" pitchFamily="34" charset="-120"/>
              </a:rPr>
              <a:t>PROJECT 03  ·  THE PROBLEM</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marL="0" indent="0">
              <a:lnSpc>
                <a:spcPct val="98000"/>
              </a:lnSpc>
              <a:buNone/>
            </a:pPr>
            <a:r>
              <a:rPr lang="en-US" sz="2900" kern="0" spc="-50" dirty="0">
                <a:solidFill>
                  <a:srgbClr val="2B2D30"/>
                </a:solidFill>
                <a:latin typeface="Montserrat ExtraBold" pitchFamily="34" charset="0"/>
                <a:ea typeface="Montserrat ExtraBold" pitchFamily="34" charset="-122"/>
                <a:cs typeface="Montserrat ExtraBold" pitchFamily="34" charset="-120"/>
              </a:rPr>
              <a:t>Every flaw needed its own patch, found by hand</a:t>
            </a:r>
            <a:endParaRPr lang="en-US" sz="2900" dirty="0"/>
          </a:p>
        </p:txBody>
      </p:sp>
      <p:sp>
        <p:nvSpPr>
          <p:cNvPr id="5" name="Shape 2"/>
          <p:cNvSpPr/>
          <p:nvPr/>
        </p:nvSpPr>
        <p:spPr>
          <a:xfrm>
            <a:off x="777240" y="1700784"/>
            <a:ext cx="566928" cy="50292"/>
          </a:xfrm>
          <a:prstGeom prst="rect">
            <a:avLst/>
          </a:prstGeom>
          <a:solidFill>
            <a:srgbClr val="942838"/>
          </a:solidFill>
          <a:ln/>
        </p:spPr>
        <p:txBody>
          <a:bodyPr/>
          <a:lstStyle/>
          <a:p>
            <a:endParaRPr lang="en-US"/>
          </a:p>
        </p:txBody>
      </p:sp>
      <p:sp>
        <p:nvSpPr>
          <p:cNvPr id="6" name="Shape 3"/>
          <p:cNvSpPr/>
          <p:nvPr/>
        </p:nvSpPr>
        <p:spPr>
          <a:xfrm>
            <a:off x="777240" y="6181344"/>
            <a:ext cx="10637215" cy="10973"/>
          </a:xfrm>
          <a:prstGeom prst="rect">
            <a:avLst/>
          </a:prstGeom>
          <a:solidFill>
            <a:srgbClr val="E6E4E2"/>
          </a:solidFill>
          <a:ln/>
        </p:spPr>
        <p:txBody>
          <a:bodyPr/>
          <a:lstStyle/>
          <a:p>
            <a:endParaRPr lang="en-US"/>
          </a:p>
        </p:txBody>
      </p:sp>
      <p:sp>
        <p:nvSpPr>
          <p:cNvPr id="7" name="Text 4"/>
          <p:cNvSpPr txBox="1"/>
          <p:nvPr/>
        </p:nvSpPr>
        <p:spPr>
          <a:xfrm>
            <a:off x="777240" y="6327648"/>
            <a:ext cx="7315200" cy="201168"/>
          </a:xfrm>
          <a:prstGeom prst="rect">
            <a:avLst/>
          </a:prstGeom>
          <a:noFill/>
          <a:ln/>
        </p:spPr>
        <p:txBody>
          <a:bodyPr wrap="square" lIns="0" tIns="0" rIns="0" bIns="0" rtlCol="0" anchor="t"/>
          <a:lstStyle/>
          <a:p>
            <a:pPr marL="0" indent="0">
              <a:buNone/>
            </a:pPr>
            <a:r>
              <a:rPr lang="en-US" sz="850" kern="0" spc="140" dirty="0">
                <a:solidFill>
                  <a:srgbClr val="6E7175"/>
                </a:solidFill>
                <a:latin typeface="Montserrat SemiBold" pitchFamily="34" charset="0"/>
                <a:ea typeface="Montserrat SemiBold" pitchFamily="34" charset="-122"/>
                <a:cs typeface="Montserrat SemiBold" pitchFamily="34" charset="-120"/>
              </a:rPr>
              <a:t>CVE-TO-PATCH AUTOMATION</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marL="0" indent="0" algn="r">
              <a:buNone/>
            </a:pPr>
            <a:r>
              <a:rPr lang="en-US" sz="850" kern="0" spc="140" dirty="0">
                <a:solidFill>
                  <a:srgbClr val="6E7175"/>
                </a:solidFill>
                <a:latin typeface="Montserrat SemiBold" pitchFamily="34" charset="0"/>
                <a:ea typeface="Montserrat SemiBold" pitchFamily="34" charset="-122"/>
                <a:cs typeface="Montserrat SemiBold" pitchFamily="34" charset="-120"/>
              </a:rPr>
              <a:t>16</a:t>
            </a:r>
            <a:endParaRPr lang="en-US" sz="850" dirty="0"/>
          </a:p>
        </p:txBody>
      </p:sp>
      <p:sp>
        <p:nvSpPr>
          <p:cNvPr id="9" name="Text 6"/>
          <p:cNvSpPr txBox="1"/>
          <p:nvPr/>
        </p:nvSpPr>
        <p:spPr>
          <a:xfrm>
            <a:off x="777240" y="2103120"/>
            <a:ext cx="4251960" cy="1133856"/>
          </a:xfrm>
          <a:prstGeom prst="rect">
            <a:avLst/>
          </a:prstGeom>
          <a:noFill/>
          <a:ln/>
        </p:spPr>
        <p:txBody>
          <a:bodyPr wrap="square" lIns="0" tIns="0" rIns="0" bIns="0" rtlCol="0" anchor="t"/>
          <a:lstStyle/>
          <a:p>
            <a:pPr marL="0" indent="0" algn="l">
              <a:buNone/>
            </a:pPr>
            <a:r>
              <a:rPr lang="en-US" sz="7200" kern="0" spc="-250" dirty="0">
                <a:solidFill>
                  <a:srgbClr val="942838"/>
                </a:solidFill>
                <a:latin typeface="Montserrat ExtraBold" pitchFamily="34" charset="0"/>
                <a:ea typeface="Montserrat ExtraBold" pitchFamily="34" charset="-122"/>
                <a:cs typeface="Montserrat ExtraBold" pitchFamily="34" charset="-120"/>
              </a:rPr>
              <a:t>117</a:t>
            </a:r>
            <a:endParaRPr lang="en-US" sz="7200" dirty="0"/>
          </a:p>
        </p:txBody>
      </p:sp>
      <p:sp>
        <p:nvSpPr>
          <p:cNvPr id="10" name="Text 7"/>
          <p:cNvSpPr txBox="1"/>
          <p:nvPr/>
        </p:nvSpPr>
        <p:spPr>
          <a:xfrm>
            <a:off x="777240" y="3236976"/>
            <a:ext cx="3840480" cy="457200"/>
          </a:xfrm>
          <a:prstGeom prst="rect">
            <a:avLst/>
          </a:prstGeom>
          <a:noFill/>
          <a:ln/>
        </p:spPr>
        <p:txBody>
          <a:bodyPr wrap="square" lIns="0" tIns="0" rIns="0" bIns="0" rtlCol="0" anchor="t"/>
          <a:lstStyle/>
          <a:p>
            <a:pPr marL="0" indent="0" algn="l">
              <a:lnSpc>
                <a:spcPct val="115000"/>
              </a:lnSpc>
              <a:buNone/>
            </a:pPr>
            <a:r>
              <a:rPr lang="en-US" sz="950" kern="0" spc="30" dirty="0">
                <a:solidFill>
                  <a:srgbClr val="6E7175"/>
                </a:solidFill>
                <a:latin typeface="Montserrat Medium" pitchFamily="34" charset="0"/>
                <a:ea typeface="Montserrat Medium" pitchFamily="34" charset="-122"/>
                <a:cs typeface="Montserrat Medium" pitchFamily="34" charset="-120"/>
              </a:rPr>
              <a:t>high and critical flaws tracked</a:t>
            </a:r>
            <a:endParaRPr lang="en-US" sz="950" dirty="0"/>
          </a:p>
          <a:p>
            <a:pPr marL="0" indent="0" algn="l">
              <a:lnSpc>
                <a:spcPct val="115000"/>
              </a:lnSpc>
              <a:buNone/>
            </a:pPr>
            <a:r>
              <a:rPr lang="en-US" sz="950" kern="0" spc="30" dirty="0">
                <a:solidFill>
                  <a:srgbClr val="6E7175"/>
                </a:solidFill>
                <a:latin typeface="Montserrat Medium" pitchFamily="34" charset="0"/>
                <a:ea typeface="Montserrat Medium" pitchFamily="34" charset="-122"/>
                <a:cs typeface="Montserrat Medium" pitchFamily="34" charset="-120"/>
              </a:rPr>
              <a:t>this cycle, every one of them</a:t>
            </a:r>
            <a:endParaRPr lang="en-US" sz="950" dirty="0"/>
          </a:p>
          <a:p>
            <a:pPr marL="0" indent="0" algn="l">
              <a:lnSpc>
                <a:spcPct val="115000"/>
              </a:lnSpc>
              <a:buNone/>
            </a:pPr>
            <a:r>
              <a:rPr lang="en-US" sz="950" kern="0" spc="30" dirty="0">
                <a:solidFill>
                  <a:srgbClr val="6E7175"/>
                </a:solidFill>
                <a:latin typeface="Montserrat Medium" pitchFamily="34" charset="0"/>
                <a:ea typeface="Montserrat Medium" pitchFamily="34" charset="-122"/>
                <a:cs typeface="Montserrat Medium" pitchFamily="34" charset="-120"/>
              </a:rPr>
              <a:t>directly affecting the business</a:t>
            </a:r>
            <a:endParaRPr lang="en-US" sz="950" dirty="0"/>
          </a:p>
        </p:txBody>
      </p:sp>
      <p:sp>
        <p:nvSpPr>
          <p:cNvPr id="11" name="Shape 8"/>
          <p:cNvSpPr/>
          <p:nvPr/>
        </p:nvSpPr>
        <p:spPr>
          <a:xfrm>
            <a:off x="777240" y="4041648"/>
            <a:ext cx="566928" cy="45720"/>
          </a:xfrm>
          <a:prstGeom prst="rect">
            <a:avLst/>
          </a:prstGeom>
          <a:solidFill>
            <a:srgbClr val="942838"/>
          </a:solidFill>
          <a:ln/>
        </p:spPr>
        <p:txBody>
          <a:bodyPr/>
          <a:lstStyle/>
          <a:p>
            <a:endParaRPr lang="en-US"/>
          </a:p>
        </p:txBody>
      </p:sp>
      <p:sp>
        <p:nvSpPr>
          <p:cNvPr id="12" name="Text 9"/>
          <p:cNvSpPr txBox="1"/>
          <p:nvPr/>
        </p:nvSpPr>
        <p:spPr>
          <a:xfrm>
            <a:off x="777240" y="4242816"/>
            <a:ext cx="3703320" cy="1005840"/>
          </a:xfrm>
          <a:prstGeom prst="rect">
            <a:avLst/>
          </a:prstGeom>
          <a:noFill/>
          <a:ln/>
        </p:spPr>
        <p:txBody>
          <a:bodyPr wrap="square" lIns="0" tIns="0" rIns="0" bIns="0" rtlCol="0" anchor="t"/>
          <a:lstStyle/>
          <a:p>
            <a:pPr marL="0" indent="0">
              <a:lnSpc>
                <a:spcPct val="125000"/>
              </a:lnSpc>
              <a:buNone/>
            </a:pPr>
            <a:r>
              <a:rPr lang="en-US" sz="1100" dirty="0">
                <a:solidFill>
                  <a:srgbClr val="6E7175"/>
                </a:solidFill>
                <a:latin typeface="Montserrat" pitchFamily="34" charset="0"/>
                <a:ea typeface="Montserrat" pitchFamily="34" charset="-122"/>
                <a:cs typeface="Montserrat" pitchFamily="34" charset="-120"/>
              </a:rPr>
              <a:t>This is not a sample. Kevlar — the team's vulnerability tracker — flagged these because they met both bars: high or critical severity, and a direct effect on business operations.</a:t>
            </a:r>
            <a:endParaRPr lang="en-US" sz="1100" dirty="0"/>
          </a:p>
        </p:txBody>
      </p:sp>
      <p:sp>
        <p:nvSpPr>
          <p:cNvPr id="13" name="Text 10"/>
          <p:cNvSpPr txBox="1"/>
          <p:nvPr/>
        </p:nvSpPr>
        <p:spPr>
          <a:xfrm>
            <a:off x="5029200" y="2084832"/>
            <a:ext cx="6385255" cy="219456"/>
          </a:xfrm>
          <a:prstGeom prst="rect">
            <a:avLst/>
          </a:prstGeom>
          <a:noFill/>
          <a:ln/>
        </p:spPr>
        <p:txBody>
          <a:bodyPr wrap="square" lIns="0" tIns="0" rIns="0" bIns="0" rtlCol="0" anchor="t"/>
          <a:lstStyle/>
          <a:p>
            <a:pPr marL="0" indent="0">
              <a:buNone/>
            </a:pPr>
            <a:r>
              <a:rPr lang="en-US" sz="850" kern="0" spc="140" dirty="0">
                <a:solidFill>
                  <a:srgbClr val="942838"/>
                </a:solidFill>
                <a:latin typeface="Montserrat SemiBold" pitchFamily="34" charset="0"/>
                <a:ea typeface="Montserrat SemiBold" pitchFamily="34" charset="-122"/>
                <a:cs typeface="Montserrat SemiBold" pitchFamily="34" charset="-120"/>
              </a:rPr>
              <a:t>WHAT A "KNOWN FLAW" IS</a:t>
            </a:r>
            <a:endParaRPr lang="en-US" sz="850" dirty="0"/>
          </a:p>
        </p:txBody>
      </p:sp>
      <p:sp>
        <p:nvSpPr>
          <p:cNvPr id="14" name="Text 11"/>
          <p:cNvSpPr txBox="1"/>
          <p:nvPr/>
        </p:nvSpPr>
        <p:spPr>
          <a:xfrm>
            <a:off x="5029200" y="2340864"/>
            <a:ext cx="6385255" cy="786384"/>
          </a:xfrm>
          <a:prstGeom prst="rect">
            <a:avLst/>
          </a:prstGeom>
          <a:noFill/>
          <a:ln/>
        </p:spPr>
        <p:txBody>
          <a:bodyPr wrap="square" lIns="0" tIns="0" rIns="0" bIns="0" rtlCol="0" anchor="t"/>
          <a:lstStyle/>
          <a:p>
            <a:pPr marL="0" indent="0">
              <a:lnSpc>
                <a:spcPct val="124000"/>
              </a:lnSpc>
              <a:buNone/>
            </a:pPr>
            <a:r>
              <a:rPr lang="en-US" sz="1250" dirty="0">
                <a:solidFill>
                  <a:srgbClr val="43464A"/>
                </a:solidFill>
                <a:latin typeface="Montserrat" pitchFamily="34" charset="0"/>
                <a:ea typeface="Montserrat" pitchFamily="34" charset="-122"/>
                <a:cs typeface="Montserrat" pitchFamily="34" charset="-120"/>
              </a:rPr>
              <a:t>A publicly published weakness in software that attackers already know about. Each one has a matching fix released by the vendor.</a:t>
            </a:r>
            <a:endParaRPr lang="en-US" sz="1250" dirty="0"/>
          </a:p>
        </p:txBody>
      </p:sp>
      <p:sp>
        <p:nvSpPr>
          <p:cNvPr id="15" name="Shape 12"/>
          <p:cNvSpPr/>
          <p:nvPr/>
        </p:nvSpPr>
        <p:spPr>
          <a:xfrm>
            <a:off x="5029200" y="3182112"/>
            <a:ext cx="6385255" cy="10973"/>
          </a:xfrm>
          <a:prstGeom prst="rect">
            <a:avLst/>
          </a:prstGeom>
          <a:solidFill>
            <a:srgbClr val="E6E4E2"/>
          </a:solidFill>
          <a:ln/>
        </p:spPr>
        <p:txBody>
          <a:bodyPr/>
          <a:lstStyle/>
          <a:p>
            <a:endParaRPr lang="en-US"/>
          </a:p>
        </p:txBody>
      </p:sp>
      <p:sp>
        <p:nvSpPr>
          <p:cNvPr id="16" name="Text 13"/>
          <p:cNvSpPr txBox="1"/>
          <p:nvPr/>
        </p:nvSpPr>
        <p:spPr>
          <a:xfrm>
            <a:off x="5029200" y="3419856"/>
            <a:ext cx="6385255" cy="219456"/>
          </a:xfrm>
          <a:prstGeom prst="rect">
            <a:avLst/>
          </a:prstGeom>
          <a:noFill/>
          <a:ln/>
        </p:spPr>
        <p:txBody>
          <a:bodyPr wrap="square" lIns="0" tIns="0" rIns="0" bIns="0" rtlCol="0" anchor="t"/>
          <a:lstStyle/>
          <a:p>
            <a:pPr marL="0" indent="0">
              <a:buNone/>
            </a:pPr>
            <a:r>
              <a:rPr lang="en-US" sz="850" kern="0" spc="140" dirty="0">
                <a:solidFill>
                  <a:srgbClr val="942838"/>
                </a:solidFill>
                <a:latin typeface="Montserrat SemiBold" pitchFamily="34" charset="0"/>
                <a:ea typeface="Montserrat SemiBold" pitchFamily="34" charset="-122"/>
                <a:cs typeface="Montserrat SemiBold" pitchFamily="34" charset="-120"/>
              </a:rPr>
              <a:t>THE BOTTLENECK</a:t>
            </a:r>
            <a:endParaRPr lang="en-US" sz="850" dirty="0"/>
          </a:p>
        </p:txBody>
      </p:sp>
      <p:sp>
        <p:nvSpPr>
          <p:cNvPr id="17" name="Text 14"/>
          <p:cNvSpPr txBox="1"/>
          <p:nvPr/>
        </p:nvSpPr>
        <p:spPr>
          <a:xfrm>
            <a:off x="5029200" y="3675888"/>
            <a:ext cx="6385255" cy="786384"/>
          </a:xfrm>
          <a:prstGeom prst="rect">
            <a:avLst/>
          </a:prstGeom>
          <a:noFill/>
          <a:ln/>
        </p:spPr>
        <p:txBody>
          <a:bodyPr wrap="square" lIns="0" tIns="0" rIns="0" bIns="0" rtlCol="0" anchor="t"/>
          <a:lstStyle/>
          <a:p>
            <a:pPr marL="0" indent="0">
              <a:lnSpc>
                <a:spcPct val="124000"/>
              </a:lnSpc>
              <a:buNone/>
            </a:pPr>
            <a:r>
              <a:rPr lang="en-US" sz="1250" dirty="0">
                <a:solidFill>
                  <a:srgbClr val="43464A"/>
                </a:solidFill>
                <a:latin typeface="Montserrat" pitchFamily="34" charset="0"/>
                <a:ea typeface="Montserrat" pitchFamily="34" charset="-122"/>
                <a:cs typeface="Montserrat" pitchFamily="34" charset="-120"/>
              </a:rPr>
              <a:t>Microsoft publishes the flaw and the fix in separate documents. Someone must cross-reference them by hand, once per flaw, then check it against the real machine list. Do that 117 times and it is two days of work.</a:t>
            </a:r>
            <a:endParaRPr lang="en-US" sz="1250" dirty="0"/>
          </a:p>
        </p:txBody>
      </p:sp>
      <p:sp>
        <p:nvSpPr>
          <p:cNvPr id="18" name="Shape 15"/>
          <p:cNvSpPr/>
          <p:nvPr/>
        </p:nvSpPr>
        <p:spPr>
          <a:xfrm>
            <a:off x="5029200" y="4517136"/>
            <a:ext cx="6385255" cy="10973"/>
          </a:xfrm>
          <a:prstGeom prst="rect">
            <a:avLst/>
          </a:prstGeom>
          <a:solidFill>
            <a:srgbClr val="E6E4E2"/>
          </a:solidFill>
          <a:ln/>
        </p:spPr>
        <p:txBody>
          <a:bodyPr/>
          <a:lstStyle/>
          <a:p>
            <a:endParaRPr lang="en-US"/>
          </a:p>
        </p:txBody>
      </p:sp>
      <p:sp>
        <p:nvSpPr>
          <p:cNvPr id="19" name="Shape 16"/>
          <p:cNvSpPr/>
          <p:nvPr/>
        </p:nvSpPr>
        <p:spPr>
          <a:xfrm>
            <a:off x="5029200" y="4700016"/>
            <a:ext cx="6385255" cy="1335024"/>
          </a:xfrm>
          <a:prstGeom prst="roundRect">
            <a:avLst>
              <a:gd name="adj" fmla="val 4110"/>
            </a:avLst>
          </a:prstGeom>
          <a:solidFill>
            <a:srgbClr val="2B2D30"/>
          </a:solidFill>
          <a:ln/>
          <a:effectLst>
            <a:outerShdw algn="bl" rotWithShape="0">
              <a:srgbClr val="959092">
                <a:alpha val="0"/>
              </a:srgbClr>
            </a:outerShdw>
          </a:effectLst>
        </p:spPr>
        <p:txBody>
          <a:bodyPr/>
          <a:lstStyle/>
          <a:p>
            <a:endParaRPr lang="en-US"/>
          </a:p>
        </p:txBody>
      </p:sp>
      <p:sp>
        <p:nvSpPr>
          <p:cNvPr id="20" name="Text 17"/>
          <p:cNvSpPr txBox="1"/>
          <p:nvPr/>
        </p:nvSpPr>
        <p:spPr>
          <a:xfrm>
            <a:off x="5303520" y="4846320"/>
            <a:ext cx="3657600" cy="201168"/>
          </a:xfrm>
          <a:prstGeom prst="rect">
            <a:avLst/>
          </a:prstGeom>
          <a:noFill/>
          <a:ln/>
        </p:spPr>
        <p:txBody>
          <a:bodyPr wrap="square" lIns="0" tIns="0" rIns="0" bIns="0" rtlCol="0" anchor="t"/>
          <a:lstStyle/>
          <a:p>
            <a:pPr marL="0" indent="0">
              <a:buNone/>
            </a:pPr>
            <a:r>
              <a:rPr lang="en-US" sz="850" kern="0" spc="140" dirty="0">
                <a:solidFill>
                  <a:srgbClr val="D9A3AE"/>
                </a:solidFill>
                <a:latin typeface="Montserrat SemiBold" pitchFamily="34" charset="0"/>
                <a:ea typeface="Montserrat SemiBold" pitchFamily="34" charset="-122"/>
                <a:cs typeface="Montserrat SemiBold" pitchFamily="34" charset="-120"/>
              </a:rPr>
              <a:t>BEFORE  ·  DOING IT BY HAND</a:t>
            </a:r>
            <a:endParaRPr lang="en-US" sz="850" dirty="0"/>
          </a:p>
        </p:txBody>
      </p:sp>
      <p:sp>
        <p:nvSpPr>
          <p:cNvPr id="21" name="Text 18"/>
          <p:cNvSpPr txBox="1"/>
          <p:nvPr/>
        </p:nvSpPr>
        <p:spPr>
          <a:xfrm>
            <a:off x="5303520" y="5120640"/>
            <a:ext cx="5836615" cy="402336"/>
          </a:xfrm>
          <a:prstGeom prst="rect">
            <a:avLst/>
          </a:prstGeom>
          <a:noFill/>
          <a:ln/>
        </p:spPr>
        <p:txBody>
          <a:bodyPr wrap="square" lIns="0" tIns="0" rIns="0" bIns="0" rtlCol="0" anchor="t"/>
          <a:lstStyle/>
          <a:p>
            <a:pPr marL="0" indent="0">
              <a:buNone/>
            </a:pPr>
            <a:r>
              <a:rPr lang="en-US" sz="2600" kern="0" spc="-80" dirty="0">
                <a:solidFill>
                  <a:srgbClr val="FFFFFF"/>
                </a:solidFill>
                <a:latin typeface="Montserrat ExtraBold" pitchFamily="34" charset="0"/>
                <a:ea typeface="Montserrat ExtraBold" pitchFamily="34" charset="-122"/>
                <a:cs typeface="Montserrat ExtraBold" pitchFamily="34" charset="-120"/>
              </a:rPr>
              <a:t>~17.5 hours</a:t>
            </a:r>
            <a:r>
              <a:rPr lang="en-US" sz="1250" dirty="0">
                <a:solidFill>
                  <a:srgbClr val="DED9DA"/>
                </a:solidFill>
                <a:latin typeface="Montserrat Medium" pitchFamily="34" charset="0"/>
                <a:ea typeface="Montserrat Medium" pitchFamily="34" charset="-122"/>
                <a:cs typeface="Montserrat Medium" pitchFamily="34" charset="-120"/>
              </a:rPr>
              <a:t>   about 2 to 2.5 business days</a:t>
            </a:r>
            <a:endParaRPr lang="en-US" sz="2600" dirty="0"/>
          </a:p>
        </p:txBody>
      </p:sp>
      <p:sp>
        <p:nvSpPr>
          <p:cNvPr id="22" name="Text 19"/>
          <p:cNvSpPr txBox="1"/>
          <p:nvPr/>
        </p:nvSpPr>
        <p:spPr>
          <a:xfrm>
            <a:off x="5303520" y="5559552"/>
            <a:ext cx="5836615" cy="402336"/>
          </a:xfrm>
          <a:prstGeom prst="rect">
            <a:avLst/>
          </a:prstGeom>
          <a:noFill/>
          <a:ln/>
        </p:spPr>
        <p:txBody>
          <a:bodyPr wrap="square" lIns="0" tIns="0" rIns="0" bIns="0" rtlCol="0" anchor="t"/>
          <a:lstStyle/>
          <a:p>
            <a:pPr marL="0" indent="0">
              <a:lnSpc>
                <a:spcPct val="120000"/>
              </a:lnSpc>
              <a:buNone/>
            </a:pPr>
            <a:r>
              <a:rPr lang="en-US" sz="1000" dirty="0">
                <a:solidFill>
                  <a:srgbClr val="C4BBBD"/>
                </a:solidFill>
                <a:latin typeface="Montserrat Medium" pitchFamily="34" charset="0"/>
                <a:ea typeface="Montserrat Medium" pitchFamily="34" charset="-122"/>
                <a:cs typeface="Montserrat Medium" pitchFamily="34" charset="-120"/>
              </a:rPr>
              <a:t>Estimated at 8–10 min per flaw from the steps above  a reasoned estimate based on the work involved, not a stopwatch measurement.</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pic>
        <p:nvPicPr>
          <p:cNvPr id="2" name="Image 0" descr="/home/user/ai/assets/gen/logo-red.png"/>
          <p:cNvPicPr>
            <a:picLocks noChangeAspect="1"/>
          </p:cNvPicPr>
          <p:nvPr/>
        </p:nvPicPr>
        <p:blipFill>
          <a:blip r:embed="rId3"/>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marL="0" indent="0">
              <a:buNone/>
            </a:pPr>
            <a:r>
              <a:rPr lang="en-US" sz="1000" kern="0" spc="220" dirty="0">
                <a:solidFill>
                  <a:srgbClr val="942838"/>
                </a:solidFill>
                <a:latin typeface="Montserrat SemiBold" pitchFamily="34" charset="0"/>
                <a:ea typeface="Montserrat SemiBold" pitchFamily="34" charset="-122"/>
                <a:cs typeface="Montserrat SemiBold" pitchFamily="34" charset="-120"/>
              </a:rPr>
              <a:t>PROJECT 03  ·  THE RESULT</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marL="0" indent="0">
              <a:lnSpc>
                <a:spcPct val="98000"/>
              </a:lnSpc>
              <a:buNone/>
            </a:pPr>
            <a:r>
              <a:rPr lang="en-US" sz="2900" kern="0" spc="-50" dirty="0">
                <a:solidFill>
                  <a:srgbClr val="2B2D30"/>
                </a:solidFill>
                <a:latin typeface="Montserrat ExtraBold" pitchFamily="34" charset="0"/>
                <a:ea typeface="Montserrat ExtraBold" pitchFamily="34" charset="-122"/>
                <a:cs typeface="Montserrat ExtraBold" pitchFamily="34" charset="-120"/>
              </a:rPr>
              <a:t>From about two days of work to twelve seconds</a:t>
            </a:r>
            <a:endParaRPr lang="en-US" sz="2900" dirty="0"/>
          </a:p>
        </p:txBody>
      </p:sp>
      <p:sp>
        <p:nvSpPr>
          <p:cNvPr id="5" name="Shape 2"/>
          <p:cNvSpPr/>
          <p:nvPr/>
        </p:nvSpPr>
        <p:spPr>
          <a:xfrm>
            <a:off x="777240" y="1700784"/>
            <a:ext cx="566928" cy="50292"/>
          </a:xfrm>
          <a:prstGeom prst="rect">
            <a:avLst/>
          </a:prstGeom>
          <a:solidFill>
            <a:srgbClr val="942838"/>
          </a:solidFill>
          <a:ln/>
        </p:spPr>
        <p:txBody>
          <a:bodyPr/>
          <a:lstStyle/>
          <a:p>
            <a:endParaRPr lang="en-US"/>
          </a:p>
        </p:txBody>
      </p:sp>
      <p:sp>
        <p:nvSpPr>
          <p:cNvPr id="6" name="Shape 3"/>
          <p:cNvSpPr/>
          <p:nvPr/>
        </p:nvSpPr>
        <p:spPr>
          <a:xfrm>
            <a:off x="777240" y="6181344"/>
            <a:ext cx="10637215" cy="10973"/>
          </a:xfrm>
          <a:prstGeom prst="rect">
            <a:avLst/>
          </a:prstGeom>
          <a:solidFill>
            <a:srgbClr val="E6E4E2"/>
          </a:solidFill>
          <a:ln/>
        </p:spPr>
        <p:txBody>
          <a:bodyPr/>
          <a:lstStyle/>
          <a:p>
            <a:endParaRPr lang="en-US"/>
          </a:p>
        </p:txBody>
      </p:sp>
      <p:sp>
        <p:nvSpPr>
          <p:cNvPr id="7" name="Text 4"/>
          <p:cNvSpPr txBox="1"/>
          <p:nvPr/>
        </p:nvSpPr>
        <p:spPr>
          <a:xfrm>
            <a:off x="777240" y="6327648"/>
            <a:ext cx="7315200" cy="201168"/>
          </a:xfrm>
          <a:prstGeom prst="rect">
            <a:avLst/>
          </a:prstGeom>
          <a:noFill/>
          <a:ln/>
        </p:spPr>
        <p:txBody>
          <a:bodyPr wrap="square" lIns="0" tIns="0" rIns="0" bIns="0" rtlCol="0" anchor="t"/>
          <a:lstStyle/>
          <a:p>
            <a:pPr marL="0" indent="0">
              <a:buNone/>
            </a:pPr>
            <a:r>
              <a:rPr lang="en-US" sz="850" kern="0" spc="140" dirty="0">
                <a:solidFill>
                  <a:srgbClr val="6E7175"/>
                </a:solidFill>
                <a:latin typeface="Montserrat SemiBold" pitchFamily="34" charset="0"/>
                <a:ea typeface="Montserrat SemiBold" pitchFamily="34" charset="-122"/>
                <a:cs typeface="Montserrat SemiBold" pitchFamily="34" charset="-120"/>
              </a:rPr>
              <a:t>CVE-TO-PATCH AUTOMATION</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marL="0" indent="0" algn="r">
              <a:buNone/>
            </a:pPr>
            <a:r>
              <a:rPr lang="en-US" sz="850" kern="0" spc="140" dirty="0">
                <a:solidFill>
                  <a:srgbClr val="6E7175"/>
                </a:solidFill>
                <a:latin typeface="Montserrat SemiBold" pitchFamily="34" charset="0"/>
                <a:ea typeface="Montserrat SemiBold" pitchFamily="34" charset="-122"/>
                <a:cs typeface="Montserrat SemiBold" pitchFamily="34" charset="-120"/>
              </a:rPr>
              <a:t>17</a:t>
            </a:r>
            <a:endParaRPr lang="en-US" sz="850" dirty="0"/>
          </a:p>
        </p:txBody>
      </p:sp>
      <p:sp>
        <p:nvSpPr>
          <p:cNvPr id="9" name="Text 6"/>
          <p:cNvSpPr txBox="1"/>
          <p:nvPr/>
        </p:nvSpPr>
        <p:spPr>
          <a:xfrm>
            <a:off x="777240" y="1956816"/>
            <a:ext cx="10241280" cy="310896"/>
          </a:xfrm>
          <a:prstGeom prst="rect">
            <a:avLst/>
          </a:prstGeom>
          <a:noFill/>
          <a:ln/>
        </p:spPr>
        <p:txBody>
          <a:bodyPr wrap="square" lIns="0" tIns="0" rIns="0" bIns="0" rtlCol="0" anchor="t"/>
          <a:lstStyle/>
          <a:p>
            <a:pPr marL="0" indent="0">
              <a:buNone/>
            </a:pPr>
            <a:r>
              <a:rPr lang="en-US" sz="1400" dirty="0">
                <a:solidFill>
                  <a:srgbClr val="6E7175"/>
                </a:solidFill>
                <a:latin typeface="Montserrat Medium" pitchFamily="34" charset="0"/>
                <a:ea typeface="Montserrat Medium" pitchFamily="34" charset="-122"/>
                <a:cs typeface="Montserrat Medium" pitchFamily="34" charset="-120"/>
              </a:rPr>
              <a:t>I built a Python script that matches each flaw to its Microsoft patch automatically, using Microsoft's own public security feeds — no API key, no manual searching.</a:t>
            </a:r>
            <a:endParaRPr lang="en-US" sz="1400" dirty="0"/>
          </a:p>
        </p:txBody>
      </p:sp>
      <p:pic>
        <p:nvPicPr>
          <p:cNvPr id="10" name="Image 1" descr="/home/user/ai/assets/gen/chart-match.png"/>
          <p:cNvPicPr>
            <a:picLocks noChangeAspect="1"/>
          </p:cNvPicPr>
          <p:nvPr/>
        </p:nvPicPr>
        <p:blipFill>
          <a:blip r:embed="rId4"/>
          <a:stretch>
            <a:fillRect/>
          </a:stretch>
        </p:blipFill>
        <p:spPr>
          <a:xfrm>
            <a:off x="731520" y="2487168"/>
            <a:ext cx="5852160" cy="3251200"/>
          </a:xfrm>
          <a:prstGeom prst="rect">
            <a:avLst/>
          </a:prstGeom>
        </p:spPr>
      </p:pic>
      <p:sp>
        <p:nvSpPr>
          <p:cNvPr id="11" name="Text 7"/>
          <p:cNvSpPr txBox="1"/>
          <p:nvPr/>
        </p:nvSpPr>
        <p:spPr>
          <a:xfrm>
            <a:off x="777240" y="5811520"/>
            <a:ext cx="5669280" cy="274320"/>
          </a:xfrm>
          <a:prstGeom prst="rect">
            <a:avLst/>
          </a:prstGeom>
          <a:noFill/>
          <a:ln/>
        </p:spPr>
        <p:txBody>
          <a:bodyPr wrap="square" lIns="0" tIns="0" rIns="0" bIns="0" rtlCol="0" anchor="t"/>
          <a:lstStyle/>
          <a:p>
            <a:pPr marL="0" indent="0" algn="ctr">
              <a:buNone/>
            </a:pPr>
            <a:r>
              <a:rPr lang="en-US" sz="950" kern="0" spc="30" dirty="0">
                <a:solidFill>
                  <a:srgbClr val="6E7175"/>
                </a:solidFill>
                <a:latin typeface="Montserrat Medium" pitchFamily="34" charset="0"/>
                <a:ea typeface="Montserrat Medium" pitchFamily="34" charset="-122"/>
                <a:cs typeface="Montserrat Medium" pitchFamily="34" charset="-120"/>
              </a:rPr>
              <a:t>Share of the 117 flaws matched to their correct patch automatically</a:t>
            </a:r>
            <a:endParaRPr lang="en-US" sz="950" dirty="0"/>
          </a:p>
        </p:txBody>
      </p:sp>
      <p:sp>
        <p:nvSpPr>
          <p:cNvPr id="12" name="Shape 8"/>
          <p:cNvSpPr/>
          <p:nvPr/>
        </p:nvSpPr>
        <p:spPr>
          <a:xfrm>
            <a:off x="7315200" y="2432304"/>
            <a:ext cx="4099255" cy="1097280"/>
          </a:xfrm>
          <a:prstGeom prst="roundRect">
            <a:avLst>
              <a:gd name="adj" fmla="val 5000"/>
            </a:avLst>
          </a:prstGeom>
          <a:solidFill>
            <a:srgbClr val="FFFFFF"/>
          </a:solidFill>
          <a:ln w="9525">
            <a:solidFill>
              <a:srgbClr val="E6E4E2"/>
            </a:solidFill>
            <a:prstDash val="solid"/>
          </a:ln>
          <a:effectLst>
            <a:outerShdw algn="bl" rotWithShape="0">
              <a:srgbClr val="959092">
                <a:alpha val="0"/>
              </a:srgbClr>
            </a:outerShdw>
          </a:effectLst>
        </p:spPr>
        <p:txBody>
          <a:bodyPr/>
          <a:lstStyle/>
          <a:p>
            <a:endParaRPr lang="en-US"/>
          </a:p>
        </p:txBody>
      </p:sp>
      <p:sp>
        <p:nvSpPr>
          <p:cNvPr id="13" name="Text 9"/>
          <p:cNvSpPr txBox="1"/>
          <p:nvPr/>
        </p:nvSpPr>
        <p:spPr>
          <a:xfrm>
            <a:off x="7589520" y="2606040"/>
            <a:ext cx="3550615" cy="438912"/>
          </a:xfrm>
          <a:prstGeom prst="rect">
            <a:avLst/>
          </a:prstGeom>
          <a:noFill/>
          <a:ln/>
        </p:spPr>
        <p:txBody>
          <a:bodyPr wrap="square" lIns="0" tIns="0" rIns="0" bIns="0" rtlCol="0" anchor="t"/>
          <a:lstStyle/>
          <a:p>
            <a:pPr marL="0" indent="0">
              <a:buNone/>
            </a:pPr>
            <a:r>
              <a:rPr lang="en-US" sz="2700" kern="0" spc="-90" dirty="0">
                <a:solidFill>
                  <a:srgbClr val="942838"/>
                </a:solidFill>
                <a:latin typeface="Montserrat ExtraBold" pitchFamily="34" charset="0"/>
                <a:ea typeface="Montserrat ExtraBold" pitchFamily="34" charset="-122"/>
                <a:cs typeface="Montserrat ExtraBold" pitchFamily="34" charset="-120"/>
              </a:rPr>
              <a:t>117/117</a:t>
            </a:r>
            <a:endParaRPr lang="en-US" sz="2700" dirty="0"/>
          </a:p>
        </p:txBody>
      </p:sp>
      <p:sp>
        <p:nvSpPr>
          <p:cNvPr id="14" name="Text 10"/>
          <p:cNvSpPr txBox="1"/>
          <p:nvPr/>
        </p:nvSpPr>
        <p:spPr>
          <a:xfrm>
            <a:off x="7589520" y="3081528"/>
            <a:ext cx="3550615" cy="384048"/>
          </a:xfrm>
          <a:prstGeom prst="rect">
            <a:avLst/>
          </a:prstGeom>
          <a:noFill/>
          <a:ln/>
        </p:spPr>
        <p:txBody>
          <a:bodyPr wrap="square" lIns="0" tIns="0" rIns="0" bIns="0" rtlCol="0" anchor="t"/>
          <a:lstStyle/>
          <a:p>
            <a:pPr marL="0" indent="0">
              <a:lnSpc>
                <a:spcPct val="118000"/>
              </a:lnSpc>
              <a:buNone/>
            </a:pPr>
            <a:r>
              <a:rPr lang="en-US" sz="1100" dirty="0">
                <a:solidFill>
                  <a:srgbClr val="6E7175"/>
                </a:solidFill>
                <a:latin typeface="Montserrat" pitchFamily="34" charset="0"/>
                <a:ea typeface="Montserrat" pitchFamily="34" charset="-122"/>
                <a:cs typeface="Montserrat" pitchFamily="34" charset="-120"/>
              </a:rPr>
              <a:t>flaws matched to the correct patch</a:t>
            </a:r>
            <a:endParaRPr lang="en-US" sz="1100" dirty="0"/>
          </a:p>
        </p:txBody>
      </p:sp>
      <p:sp>
        <p:nvSpPr>
          <p:cNvPr id="15" name="Shape 11"/>
          <p:cNvSpPr/>
          <p:nvPr/>
        </p:nvSpPr>
        <p:spPr>
          <a:xfrm>
            <a:off x="7315200" y="3675888"/>
            <a:ext cx="4099255" cy="1097280"/>
          </a:xfrm>
          <a:prstGeom prst="roundRect">
            <a:avLst>
              <a:gd name="adj" fmla="val 5000"/>
            </a:avLst>
          </a:prstGeom>
          <a:solidFill>
            <a:srgbClr val="FFFFFF"/>
          </a:solidFill>
          <a:ln w="9525">
            <a:solidFill>
              <a:srgbClr val="E6E4E2"/>
            </a:solidFill>
            <a:prstDash val="solid"/>
          </a:ln>
          <a:effectLst>
            <a:outerShdw algn="bl" rotWithShape="0">
              <a:srgbClr val="959092">
                <a:alpha val="0"/>
              </a:srgbClr>
            </a:outerShdw>
          </a:effectLst>
        </p:spPr>
        <p:txBody>
          <a:bodyPr/>
          <a:lstStyle/>
          <a:p>
            <a:endParaRPr lang="en-US"/>
          </a:p>
        </p:txBody>
      </p:sp>
      <p:sp>
        <p:nvSpPr>
          <p:cNvPr id="16" name="Text 12"/>
          <p:cNvSpPr txBox="1"/>
          <p:nvPr/>
        </p:nvSpPr>
        <p:spPr>
          <a:xfrm>
            <a:off x="7589520" y="3849624"/>
            <a:ext cx="3550615" cy="438912"/>
          </a:xfrm>
          <a:prstGeom prst="rect">
            <a:avLst/>
          </a:prstGeom>
          <a:noFill/>
          <a:ln/>
        </p:spPr>
        <p:txBody>
          <a:bodyPr wrap="square" lIns="0" tIns="0" rIns="0" bIns="0" rtlCol="0" anchor="t"/>
          <a:lstStyle/>
          <a:p>
            <a:pPr marL="0" indent="0">
              <a:buNone/>
            </a:pPr>
            <a:r>
              <a:rPr lang="en-US" sz="2700" kern="0" spc="-90" dirty="0">
                <a:solidFill>
                  <a:srgbClr val="942838"/>
                </a:solidFill>
                <a:latin typeface="Montserrat ExtraBold" pitchFamily="34" charset="0"/>
                <a:ea typeface="Montserrat ExtraBold" pitchFamily="34" charset="-122"/>
                <a:cs typeface="Montserrat ExtraBold" pitchFamily="34" charset="-120"/>
              </a:rPr>
              <a:t>~12 sec</a:t>
            </a:r>
            <a:endParaRPr lang="en-US" sz="2700" dirty="0"/>
          </a:p>
        </p:txBody>
      </p:sp>
      <p:sp>
        <p:nvSpPr>
          <p:cNvPr id="17" name="Text 13"/>
          <p:cNvSpPr txBox="1"/>
          <p:nvPr/>
        </p:nvSpPr>
        <p:spPr>
          <a:xfrm>
            <a:off x="7589520" y="4325112"/>
            <a:ext cx="3550615" cy="384048"/>
          </a:xfrm>
          <a:prstGeom prst="rect">
            <a:avLst/>
          </a:prstGeom>
          <a:noFill/>
          <a:ln/>
        </p:spPr>
        <p:txBody>
          <a:bodyPr wrap="square" lIns="0" tIns="0" rIns="0" bIns="0" rtlCol="0" anchor="t"/>
          <a:lstStyle/>
          <a:p>
            <a:pPr marL="0" indent="0">
              <a:lnSpc>
                <a:spcPct val="118000"/>
              </a:lnSpc>
              <a:buNone/>
            </a:pPr>
            <a:r>
              <a:rPr lang="en-US" sz="1100" dirty="0">
                <a:solidFill>
                  <a:srgbClr val="6E7175"/>
                </a:solidFill>
                <a:latin typeface="Montserrat" pitchFamily="34" charset="0"/>
                <a:ea typeface="Montserrat" pitchFamily="34" charset="-122"/>
                <a:cs typeface="Montserrat" pitchFamily="34" charset="-120"/>
              </a:rPr>
              <a:t>total runtime, start to finish</a:t>
            </a:r>
            <a:endParaRPr lang="en-US" sz="1100" dirty="0"/>
          </a:p>
        </p:txBody>
      </p:sp>
      <p:sp>
        <p:nvSpPr>
          <p:cNvPr id="18" name="Shape 14"/>
          <p:cNvSpPr/>
          <p:nvPr/>
        </p:nvSpPr>
        <p:spPr>
          <a:xfrm>
            <a:off x="7315200" y="4919472"/>
            <a:ext cx="4099255" cy="1097280"/>
          </a:xfrm>
          <a:prstGeom prst="roundRect">
            <a:avLst>
              <a:gd name="adj" fmla="val 5000"/>
            </a:avLst>
          </a:prstGeom>
          <a:solidFill>
            <a:srgbClr val="F6EEF0"/>
          </a:solidFill>
          <a:ln w="9525">
            <a:solidFill>
              <a:srgbClr val="942838"/>
            </a:solidFill>
            <a:prstDash val="solid"/>
          </a:ln>
          <a:effectLst>
            <a:outerShdw algn="bl" rotWithShape="0">
              <a:srgbClr val="959092">
                <a:alpha val="0"/>
              </a:srgbClr>
            </a:outerShdw>
          </a:effectLst>
        </p:spPr>
        <p:txBody>
          <a:bodyPr/>
          <a:lstStyle/>
          <a:p>
            <a:endParaRPr lang="en-US"/>
          </a:p>
        </p:txBody>
      </p:sp>
      <p:sp>
        <p:nvSpPr>
          <p:cNvPr id="19" name="Text 15"/>
          <p:cNvSpPr txBox="1"/>
          <p:nvPr/>
        </p:nvSpPr>
        <p:spPr>
          <a:xfrm>
            <a:off x="7589520" y="5093208"/>
            <a:ext cx="3550615" cy="438912"/>
          </a:xfrm>
          <a:prstGeom prst="rect">
            <a:avLst/>
          </a:prstGeom>
          <a:noFill/>
          <a:ln/>
        </p:spPr>
        <p:txBody>
          <a:bodyPr wrap="square" lIns="0" tIns="0" rIns="0" bIns="0" rtlCol="0" anchor="t"/>
          <a:lstStyle/>
          <a:p>
            <a:pPr marL="0" indent="0">
              <a:buNone/>
            </a:pPr>
            <a:r>
              <a:rPr lang="en-US" sz="2700" kern="0" spc="-90" dirty="0">
                <a:solidFill>
                  <a:srgbClr val="942838"/>
                </a:solidFill>
                <a:latin typeface="Montserrat ExtraBold" pitchFamily="34" charset="0"/>
                <a:ea typeface="Montserrat ExtraBold" pitchFamily="34" charset="-122"/>
                <a:cs typeface="Montserrat ExtraBold" pitchFamily="34" charset="-120"/>
              </a:rPr>
              <a:t>29/29</a:t>
            </a:r>
            <a:endParaRPr lang="en-US" sz="2700" dirty="0"/>
          </a:p>
        </p:txBody>
      </p:sp>
      <p:sp>
        <p:nvSpPr>
          <p:cNvPr id="20" name="Text 16"/>
          <p:cNvSpPr txBox="1"/>
          <p:nvPr/>
        </p:nvSpPr>
        <p:spPr>
          <a:xfrm>
            <a:off x="7589520" y="5568696"/>
            <a:ext cx="3550615" cy="384048"/>
          </a:xfrm>
          <a:prstGeom prst="rect">
            <a:avLst/>
          </a:prstGeom>
          <a:noFill/>
          <a:ln/>
        </p:spPr>
        <p:txBody>
          <a:bodyPr wrap="square" lIns="0" tIns="0" rIns="0" bIns="0" rtlCol="0" anchor="t"/>
          <a:lstStyle/>
          <a:p>
            <a:pPr marL="0" indent="0">
              <a:lnSpc>
                <a:spcPct val="118000"/>
              </a:lnSpc>
              <a:buNone/>
            </a:pPr>
            <a:r>
              <a:rPr lang="en-US" sz="1100" dirty="0">
                <a:solidFill>
                  <a:srgbClr val="6E7175"/>
                </a:solidFill>
                <a:latin typeface="Montserrat" pitchFamily="34" charset="0"/>
                <a:ea typeface="Montserrat" pitchFamily="34" charset="-122"/>
                <a:cs typeface="Montserrat" pitchFamily="34" charset="-120"/>
              </a:rPr>
              <a:t>spot-checked against Tenable, Rapid7 and public advisories — all confirmed correct</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home/user/ai/assets/gen/logo-red.png"/>
          <p:cNvPicPr>
            <a:picLocks noChangeAspect="1"/>
          </p:cNvPicPr>
          <p:nvPr/>
        </p:nvPicPr>
        <p:blipFill>
          <a:blip r:embed="rId3"/>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marL="0" indent="0">
              <a:buNone/>
            </a:pPr>
            <a:r>
              <a:rPr lang="en-US" sz="1000" kern="0" spc="220" dirty="0">
                <a:solidFill>
                  <a:srgbClr val="942838"/>
                </a:solidFill>
                <a:latin typeface="Montserrat SemiBold" pitchFamily="34" charset="0"/>
                <a:ea typeface="Montserrat SemiBold" pitchFamily="34" charset="-122"/>
                <a:cs typeface="Montserrat SemiBold" pitchFamily="34" charset="-120"/>
              </a:rPr>
              <a:t>PROJECT 03  ·  THE FINDING</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marL="0" indent="0">
              <a:lnSpc>
                <a:spcPct val="98000"/>
              </a:lnSpc>
              <a:buNone/>
            </a:pPr>
            <a:r>
              <a:rPr lang="en-US" sz="2900" kern="0" spc="-50" dirty="0">
                <a:solidFill>
                  <a:srgbClr val="2B2D30"/>
                </a:solidFill>
                <a:latin typeface="Montserrat ExtraBold" pitchFamily="34" charset="0"/>
                <a:ea typeface="Montserrat ExtraBold" pitchFamily="34" charset="-122"/>
                <a:cs typeface="Montserrat ExtraBold" pitchFamily="34" charset="-120"/>
              </a:rPr>
              <a:t>52 of the 117 were already fixed</a:t>
            </a:r>
            <a:endParaRPr lang="en-US" sz="2900" dirty="0"/>
          </a:p>
        </p:txBody>
      </p:sp>
      <p:sp>
        <p:nvSpPr>
          <p:cNvPr id="5" name="Shape 2"/>
          <p:cNvSpPr/>
          <p:nvPr/>
        </p:nvSpPr>
        <p:spPr>
          <a:xfrm>
            <a:off x="777240" y="1700784"/>
            <a:ext cx="566928" cy="50292"/>
          </a:xfrm>
          <a:prstGeom prst="rect">
            <a:avLst/>
          </a:prstGeom>
          <a:solidFill>
            <a:srgbClr val="942838"/>
          </a:solidFill>
          <a:ln/>
        </p:spPr>
        <p:txBody>
          <a:bodyPr/>
          <a:lstStyle/>
          <a:p>
            <a:endParaRPr lang="en-US"/>
          </a:p>
        </p:txBody>
      </p:sp>
      <p:sp>
        <p:nvSpPr>
          <p:cNvPr id="6" name="Shape 3"/>
          <p:cNvSpPr/>
          <p:nvPr/>
        </p:nvSpPr>
        <p:spPr>
          <a:xfrm>
            <a:off x="777240" y="6181344"/>
            <a:ext cx="10637215" cy="10973"/>
          </a:xfrm>
          <a:prstGeom prst="rect">
            <a:avLst/>
          </a:prstGeom>
          <a:solidFill>
            <a:srgbClr val="E6E4E2"/>
          </a:solidFill>
          <a:ln/>
        </p:spPr>
        <p:txBody>
          <a:bodyPr/>
          <a:lstStyle/>
          <a:p>
            <a:endParaRPr lang="en-US"/>
          </a:p>
        </p:txBody>
      </p:sp>
      <p:sp>
        <p:nvSpPr>
          <p:cNvPr id="7" name="Text 4"/>
          <p:cNvSpPr txBox="1"/>
          <p:nvPr/>
        </p:nvSpPr>
        <p:spPr>
          <a:xfrm>
            <a:off x="777240" y="6327648"/>
            <a:ext cx="7315200" cy="201168"/>
          </a:xfrm>
          <a:prstGeom prst="rect">
            <a:avLst/>
          </a:prstGeom>
          <a:noFill/>
          <a:ln/>
        </p:spPr>
        <p:txBody>
          <a:bodyPr wrap="square" lIns="0" tIns="0" rIns="0" bIns="0" rtlCol="0" anchor="t"/>
          <a:lstStyle/>
          <a:p>
            <a:pPr marL="0" indent="0">
              <a:buNone/>
            </a:pPr>
            <a:r>
              <a:rPr lang="en-US" sz="850" kern="0" spc="140" dirty="0">
                <a:solidFill>
                  <a:srgbClr val="6E7175"/>
                </a:solidFill>
                <a:latin typeface="Montserrat SemiBold" pitchFamily="34" charset="0"/>
                <a:ea typeface="Montserrat SemiBold" pitchFamily="34" charset="-122"/>
                <a:cs typeface="Montserrat SemiBold" pitchFamily="34" charset="-120"/>
              </a:rPr>
              <a:t>CVE-TO-PATCH AUTOMATION</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marL="0" indent="0" algn="r">
              <a:buNone/>
            </a:pPr>
            <a:r>
              <a:rPr lang="en-US" sz="850" kern="0" spc="140" dirty="0">
                <a:solidFill>
                  <a:srgbClr val="6E7175"/>
                </a:solidFill>
                <a:latin typeface="Montserrat SemiBold" pitchFamily="34" charset="0"/>
                <a:ea typeface="Montserrat SemiBold" pitchFamily="34" charset="-122"/>
                <a:cs typeface="Montserrat SemiBold" pitchFamily="34" charset="-120"/>
              </a:rPr>
              <a:t>18</a:t>
            </a:r>
            <a:endParaRPr lang="en-US" sz="850" dirty="0"/>
          </a:p>
        </p:txBody>
      </p:sp>
      <p:sp>
        <p:nvSpPr>
          <p:cNvPr id="9" name="Shape 6"/>
          <p:cNvSpPr/>
          <p:nvPr/>
        </p:nvSpPr>
        <p:spPr>
          <a:xfrm>
            <a:off x="777240" y="1847088"/>
            <a:ext cx="10637215" cy="603504"/>
          </a:xfrm>
          <a:prstGeom prst="roundRect">
            <a:avLst>
              <a:gd name="adj" fmla="val 9091"/>
            </a:avLst>
          </a:prstGeom>
          <a:solidFill>
            <a:srgbClr val="F6EEF0"/>
          </a:solidFill>
          <a:ln/>
        </p:spPr>
        <p:txBody>
          <a:bodyPr/>
          <a:lstStyle/>
          <a:p>
            <a:endParaRPr lang="en-US"/>
          </a:p>
        </p:txBody>
      </p:sp>
      <p:sp>
        <p:nvSpPr>
          <p:cNvPr id="10" name="Shape 7"/>
          <p:cNvSpPr/>
          <p:nvPr/>
        </p:nvSpPr>
        <p:spPr>
          <a:xfrm>
            <a:off x="777240" y="1847088"/>
            <a:ext cx="50292" cy="603504"/>
          </a:xfrm>
          <a:prstGeom prst="rect">
            <a:avLst/>
          </a:prstGeom>
          <a:solidFill>
            <a:srgbClr val="942838"/>
          </a:solidFill>
          <a:ln/>
        </p:spPr>
        <p:txBody>
          <a:bodyPr/>
          <a:lstStyle/>
          <a:p>
            <a:endParaRPr lang="en-US"/>
          </a:p>
        </p:txBody>
      </p:sp>
      <p:sp>
        <p:nvSpPr>
          <p:cNvPr id="11" name="Text 8"/>
          <p:cNvSpPr txBox="1"/>
          <p:nvPr/>
        </p:nvSpPr>
        <p:spPr>
          <a:xfrm>
            <a:off x="1014984" y="2048256"/>
            <a:ext cx="10180015" cy="310896"/>
          </a:xfrm>
          <a:prstGeom prst="rect">
            <a:avLst/>
          </a:prstGeom>
          <a:noFill/>
          <a:ln/>
        </p:spPr>
        <p:txBody>
          <a:bodyPr wrap="square" lIns="0" tIns="0" rIns="0" bIns="0" rtlCol="0" anchor="t"/>
          <a:lstStyle/>
          <a:p>
            <a:pPr marL="0" indent="0">
              <a:buNone/>
            </a:pPr>
            <a:r>
              <a:rPr lang="en-US" sz="900" kern="0" spc="140" dirty="0">
                <a:solidFill>
                  <a:srgbClr val="942838"/>
                </a:solidFill>
                <a:latin typeface="Montserrat SemiBold" pitchFamily="34" charset="0"/>
                <a:ea typeface="Montserrat SemiBold" pitchFamily="34" charset="-122"/>
                <a:cs typeface="Montserrat SemiBold" pitchFamily="34" charset="-120"/>
              </a:rPr>
              <a:t>THE ONE FACT   </a:t>
            </a:r>
            <a:r>
              <a:rPr lang="en-US" sz="1250" dirty="0">
                <a:solidFill>
                  <a:srgbClr val="2B2D30"/>
                </a:solidFill>
                <a:latin typeface="Montserrat SemiBold" pitchFamily="34" charset="0"/>
                <a:ea typeface="Montserrat SemiBold" pitchFamily="34" charset="-122"/>
                <a:cs typeface="Montserrat SemiBold" pitchFamily="34" charset="-120"/>
              </a:rPr>
              <a:t>Windows updates are cumulative. Installing the newest one automatically includes every older fix — exactly like a phone update.</a:t>
            </a:r>
            <a:endParaRPr lang="en-US" sz="900" dirty="0"/>
          </a:p>
        </p:txBody>
      </p:sp>
      <p:pic>
        <p:nvPicPr>
          <p:cNvPr id="12" name="Image 1" descr="/home/user/ai/assets/gen/cumulative-patch.png"/>
          <p:cNvPicPr>
            <a:picLocks noChangeAspect="1"/>
          </p:cNvPicPr>
          <p:nvPr/>
        </p:nvPicPr>
        <p:blipFill>
          <a:blip r:embed="rId4"/>
          <a:stretch>
            <a:fillRect/>
          </a:stretch>
        </p:blipFill>
        <p:spPr>
          <a:xfrm>
            <a:off x="777240" y="2670048"/>
            <a:ext cx="6537960" cy="1641445"/>
          </a:xfrm>
          <a:prstGeom prst="rect">
            <a:avLst/>
          </a:prstGeom>
        </p:spPr>
      </p:pic>
      <p:sp>
        <p:nvSpPr>
          <p:cNvPr id="13" name="Text 9"/>
          <p:cNvSpPr txBox="1"/>
          <p:nvPr/>
        </p:nvSpPr>
        <p:spPr>
          <a:xfrm>
            <a:off x="7680960" y="2706624"/>
            <a:ext cx="3733495" cy="201168"/>
          </a:xfrm>
          <a:prstGeom prst="rect">
            <a:avLst/>
          </a:prstGeom>
          <a:noFill/>
          <a:ln/>
        </p:spPr>
        <p:txBody>
          <a:bodyPr wrap="square" lIns="0" tIns="0" rIns="0" bIns="0" rtlCol="0" anchor="t"/>
          <a:lstStyle/>
          <a:p>
            <a:pPr marL="0" indent="0">
              <a:buNone/>
            </a:pPr>
            <a:r>
              <a:rPr lang="en-US" sz="850" kern="0" spc="140" dirty="0">
                <a:solidFill>
                  <a:srgbClr val="942838"/>
                </a:solidFill>
                <a:latin typeface="Montserrat SemiBold" pitchFamily="34" charset="0"/>
                <a:ea typeface="Montserrat SemiBold" pitchFamily="34" charset="-122"/>
                <a:cs typeface="Montserrat SemiBold" pitchFamily="34" charset="-120"/>
              </a:rPr>
              <a:t>SO WHEN WE CHECKED ALL 117</a:t>
            </a:r>
            <a:endParaRPr lang="en-US" sz="850" dirty="0"/>
          </a:p>
        </p:txBody>
      </p:sp>
      <p:sp>
        <p:nvSpPr>
          <p:cNvPr id="14" name="Shape 10"/>
          <p:cNvSpPr/>
          <p:nvPr/>
        </p:nvSpPr>
        <p:spPr>
          <a:xfrm>
            <a:off x="7680960" y="3035808"/>
            <a:ext cx="3733495" cy="859536"/>
          </a:xfrm>
          <a:prstGeom prst="roundRect">
            <a:avLst>
              <a:gd name="adj" fmla="val 6383"/>
            </a:avLst>
          </a:prstGeom>
          <a:solidFill>
            <a:srgbClr val="F5F4F3"/>
          </a:solidFill>
          <a:ln w="9525">
            <a:solidFill>
              <a:srgbClr val="E6E4E2"/>
            </a:solidFill>
            <a:prstDash val="solid"/>
          </a:ln>
          <a:effectLst>
            <a:outerShdw algn="bl" rotWithShape="0">
              <a:srgbClr val="959092">
                <a:alpha val="0"/>
              </a:srgbClr>
            </a:outerShdw>
          </a:effectLst>
        </p:spPr>
        <p:txBody>
          <a:bodyPr/>
          <a:lstStyle/>
          <a:p>
            <a:endParaRPr lang="en-US"/>
          </a:p>
        </p:txBody>
      </p:sp>
      <p:sp>
        <p:nvSpPr>
          <p:cNvPr id="15" name="Text 11"/>
          <p:cNvSpPr txBox="1"/>
          <p:nvPr/>
        </p:nvSpPr>
        <p:spPr>
          <a:xfrm>
            <a:off x="7882128" y="3182112"/>
            <a:ext cx="1097280" cy="566928"/>
          </a:xfrm>
          <a:prstGeom prst="rect">
            <a:avLst/>
          </a:prstGeom>
          <a:noFill/>
          <a:ln/>
        </p:spPr>
        <p:txBody>
          <a:bodyPr wrap="square" lIns="0" tIns="0" rIns="0" bIns="0" rtlCol="0" anchor="t"/>
          <a:lstStyle/>
          <a:p>
            <a:pPr marL="0" indent="0">
              <a:buNone/>
            </a:pPr>
            <a:r>
              <a:rPr lang="en-US" sz="3600" kern="0" spc="-140" dirty="0">
                <a:solidFill>
                  <a:srgbClr val="2B2D30"/>
                </a:solidFill>
                <a:latin typeface="Montserrat ExtraBold" pitchFamily="34" charset="0"/>
                <a:ea typeface="Montserrat ExtraBold" pitchFamily="34" charset="-122"/>
                <a:cs typeface="Montserrat ExtraBold" pitchFamily="34" charset="-120"/>
              </a:rPr>
              <a:t>52</a:t>
            </a:r>
            <a:endParaRPr lang="en-US" sz="3600" dirty="0"/>
          </a:p>
        </p:txBody>
      </p:sp>
      <p:sp>
        <p:nvSpPr>
          <p:cNvPr id="16" name="Text 12"/>
          <p:cNvSpPr txBox="1"/>
          <p:nvPr/>
        </p:nvSpPr>
        <p:spPr>
          <a:xfrm>
            <a:off x="9052560" y="3218688"/>
            <a:ext cx="2160727" cy="530352"/>
          </a:xfrm>
          <a:prstGeom prst="rect">
            <a:avLst/>
          </a:prstGeom>
          <a:noFill/>
          <a:ln/>
        </p:spPr>
        <p:txBody>
          <a:bodyPr wrap="square" lIns="0" tIns="0" rIns="0" bIns="0" rtlCol="0" anchor="t"/>
          <a:lstStyle/>
          <a:p>
            <a:pPr marL="0" indent="0">
              <a:lnSpc>
                <a:spcPct val="120000"/>
              </a:lnSpc>
              <a:buNone/>
            </a:pPr>
            <a:r>
              <a:rPr lang="en-US" sz="950" kern="0" spc="30" dirty="0">
                <a:solidFill>
                  <a:srgbClr val="6E7175"/>
                </a:solidFill>
                <a:latin typeface="Montserrat Medium" pitchFamily="34" charset="0"/>
                <a:ea typeface="Montserrat Medium" pitchFamily="34" charset="-122"/>
                <a:cs typeface="Montserrat Medium" pitchFamily="34" charset="-120"/>
              </a:rPr>
              <a:t>were already fixed on every</a:t>
            </a:r>
            <a:endParaRPr lang="en-US" sz="950" dirty="0"/>
          </a:p>
          <a:p>
            <a:pPr marL="0" indent="0">
              <a:lnSpc>
                <a:spcPct val="120000"/>
              </a:lnSpc>
              <a:buNone/>
            </a:pPr>
            <a:r>
              <a:rPr lang="en-US" sz="950" kern="0" spc="30" dirty="0">
                <a:solidFill>
                  <a:srgbClr val="6E7175"/>
                </a:solidFill>
                <a:latin typeface="Montserrat Medium" pitchFamily="34" charset="0"/>
                <a:ea typeface="Montserrat Medium" pitchFamily="34" charset="-122"/>
                <a:cs typeface="Montserrat Medium" pitchFamily="34" charset="-120"/>
              </a:rPr>
              <a:t>machine — nothing to do</a:t>
            </a:r>
            <a:endParaRPr lang="en-US" sz="950" dirty="0"/>
          </a:p>
        </p:txBody>
      </p:sp>
      <p:sp>
        <p:nvSpPr>
          <p:cNvPr id="17" name="Shape 13"/>
          <p:cNvSpPr/>
          <p:nvPr/>
        </p:nvSpPr>
        <p:spPr>
          <a:xfrm>
            <a:off x="7680960" y="4005072"/>
            <a:ext cx="3733495" cy="859536"/>
          </a:xfrm>
          <a:prstGeom prst="roundRect">
            <a:avLst>
              <a:gd name="adj" fmla="val 6383"/>
            </a:avLst>
          </a:prstGeom>
          <a:solidFill>
            <a:srgbClr val="F6EEF0"/>
          </a:solidFill>
          <a:ln w="9525">
            <a:solidFill>
              <a:srgbClr val="942838"/>
            </a:solidFill>
            <a:prstDash val="solid"/>
          </a:ln>
          <a:effectLst>
            <a:outerShdw algn="bl" rotWithShape="0">
              <a:srgbClr val="959092">
                <a:alpha val="0"/>
              </a:srgbClr>
            </a:outerShdw>
          </a:effectLst>
        </p:spPr>
        <p:txBody>
          <a:bodyPr/>
          <a:lstStyle/>
          <a:p>
            <a:endParaRPr lang="en-US"/>
          </a:p>
        </p:txBody>
      </p:sp>
      <p:sp>
        <p:nvSpPr>
          <p:cNvPr id="18" name="Text 14"/>
          <p:cNvSpPr txBox="1"/>
          <p:nvPr/>
        </p:nvSpPr>
        <p:spPr>
          <a:xfrm>
            <a:off x="7882128" y="4151376"/>
            <a:ext cx="1097280" cy="566928"/>
          </a:xfrm>
          <a:prstGeom prst="rect">
            <a:avLst/>
          </a:prstGeom>
          <a:noFill/>
          <a:ln/>
        </p:spPr>
        <p:txBody>
          <a:bodyPr wrap="square" lIns="0" tIns="0" rIns="0" bIns="0" rtlCol="0" anchor="t"/>
          <a:lstStyle/>
          <a:p>
            <a:pPr marL="0" indent="0">
              <a:buNone/>
            </a:pPr>
            <a:r>
              <a:rPr lang="en-US" sz="3600" kern="0" spc="-140" dirty="0">
                <a:solidFill>
                  <a:srgbClr val="942838"/>
                </a:solidFill>
                <a:latin typeface="Montserrat ExtraBold" pitchFamily="34" charset="0"/>
                <a:ea typeface="Montserrat ExtraBold" pitchFamily="34" charset="-122"/>
                <a:cs typeface="Montserrat ExtraBold" pitchFamily="34" charset="-120"/>
              </a:rPr>
              <a:t>65</a:t>
            </a:r>
            <a:endParaRPr lang="en-US" sz="3600" dirty="0"/>
          </a:p>
        </p:txBody>
      </p:sp>
      <p:sp>
        <p:nvSpPr>
          <p:cNvPr id="19" name="Text 15"/>
          <p:cNvSpPr txBox="1"/>
          <p:nvPr/>
        </p:nvSpPr>
        <p:spPr>
          <a:xfrm>
            <a:off x="9052560" y="4187952"/>
            <a:ext cx="2160727" cy="530352"/>
          </a:xfrm>
          <a:prstGeom prst="rect">
            <a:avLst/>
          </a:prstGeom>
          <a:noFill/>
          <a:ln/>
        </p:spPr>
        <p:txBody>
          <a:bodyPr wrap="square" lIns="0" tIns="0" rIns="0" bIns="0" rtlCol="0" anchor="t"/>
          <a:lstStyle/>
          <a:p>
            <a:pPr marL="0" indent="0">
              <a:lnSpc>
                <a:spcPct val="120000"/>
              </a:lnSpc>
              <a:buNone/>
            </a:pPr>
            <a:r>
              <a:rPr lang="en-US" sz="950" kern="0" spc="30" dirty="0">
                <a:solidFill>
                  <a:srgbClr val="6E7175"/>
                </a:solidFill>
                <a:latin typeface="Montserrat Medium" pitchFamily="34" charset="0"/>
                <a:ea typeface="Montserrat Medium" pitchFamily="34" charset="-122"/>
                <a:cs typeface="Montserrat Medium" pitchFamily="34" charset="-120"/>
              </a:rPr>
              <a:t>were genuinely still open</a:t>
            </a:r>
            <a:endParaRPr lang="en-US" sz="950" dirty="0"/>
          </a:p>
          <a:p>
            <a:pPr marL="0" indent="0">
              <a:lnSpc>
                <a:spcPct val="120000"/>
              </a:lnSpc>
              <a:buNone/>
            </a:pPr>
            <a:r>
              <a:rPr lang="en-US" sz="950" kern="0" spc="30" dirty="0">
                <a:solidFill>
                  <a:srgbClr val="6E7175"/>
                </a:solidFill>
                <a:latin typeface="Montserrat Medium" pitchFamily="34" charset="0"/>
                <a:ea typeface="Montserrat Medium" pitchFamily="34" charset="-122"/>
                <a:cs typeface="Montserrat Medium" pitchFamily="34" charset="-120"/>
              </a:rPr>
              <a:t>somewhere</a:t>
            </a:r>
            <a:endParaRPr lang="en-US" sz="950" dirty="0"/>
          </a:p>
        </p:txBody>
      </p:sp>
      <p:pic>
        <p:nvPicPr>
          <p:cNvPr id="20" name="Image 2" descr="/home/user/ai/assets/gen/chart-no-action.png"/>
          <p:cNvPicPr>
            <a:picLocks noChangeAspect="1"/>
          </p:cNvPicPr>
          <p:nvPr/>
        </p:nvPicPr>
        <p:blipFill>
          <a:blip r:embed="rId5"/>
          <a:stretch>
            <a:fillRect/>
          </a:stretch>
        </p:blipFill>
        <p:spPr>
          <a:xfrm>
            <a:off x="777240" y="5029200"/>
            <a:ext cx="10637215" cy="767634"/>
          </a:xfrm>
          <a:prstGeom prst="rect">
            <a:avLst/>
          </a:prstGeom>
        </p:spPr>
      </p:pic>
      <p:sp>
        <p:nvSpPr>
          <p:cNvPr id="21" name="Text 16"/>
          <p:cNvSpPr txBox="1"/>
          <p:nvPr/>
        </p:nvSpPr>
        <p:spPr>
          <a:xfrm>
            <a:off x="777240" y="5869986"/>
            <a:ext cx="4572000" cy="256032"/>
          </a:xfrm>
          <a:prstGeom prst="rect">
            <a:avLst/>
          </a:prstGeom>
          <a:noFill/>
          <a:ln/>
        </p:spPr>
        <p:txBody>
          <a:bodyPr wrap="square" lIns="0" tIns="0" rIns="0" bIns="0" rtlCol="0" anchor="t"/>
          <a:lstStyle/>
          <a:p>
            <a:pPr marL="0" indent="0">
              <a:buNone/>
            </a:pPr>
            <a:r>
              <a:rPr lang="en-US" sz="1150" dirty="0">
                <a:solidFill>
                  <a:srgbClr val="942838"/>
                </a:solidFill>
                <a:latin typeface="Montserrat SemiBold" pitchFamily="34" charset="0"/>
                <a:ea typeface="Montserrat SemiBold" pitchFamily="34" charset="-122"/>
                <a:cs typeface="Montserrat SemiBold" pitchFamily="34" charset="-120"/>
              </a:rPr>
              <a:t>65 still needed patching</a:t>
            </a:r>
            <a:endParaRPr lang="en-US" sz="1150" dirty="0"/>
          </a:p>
        </p:txBody>
      </p:sp>
      <p:sp>
        <p:nvSpPr>
          <p:cNvPr id="22" name="Text 17"/>
          <p:cNvSpPr txBox="1"/>
          <p:nvPr/>
        </p:nvSpPr>
        <p:spPr>
          <a:xfrm>
            <a:off x="5013655" y="5869986"/>
            <a:ext cx="6400800" cy="256032"/>
          </a:xfrm>
          <a:prstGeom prst="rect">
            <a:avLst/>
          </a:prstGeom>
          <a:noFill/>
          <a:ln/>
        </p:spPr>
        <p:txBody>
          <a:bodyPr wrap="square" lIns="0" tIns="0" rIns="0" bIns="0" rtlCol="0" anchor="t"/>
          <a:lstStyle/>
          <a:p>
            <a:pPr marL="0" indent="0" algn="r">
              <a:buNone/>
            </a:pPr>
            <a:r>
              <a:rPr lang="en-US" sz="1150" dirty="0">
                <a:solidFill>
                  <a:srgbClr val="6E7175"/>
                </a:solidFill>
                <a:latin typeface="Montserrat SemiBold" pitchFamily="34" charset="0"/>
                <a:ea typeface="Montserrat SemiBold" pitchFamily="34" charset="-122"/>
                <a:cs typeface="Montserrat SemiBold" pitchFamily="34" charset="-120"/>
              </a:rPr>
              <a:t>52 already covered — nobody had to do anything for these</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home/user/ai/assets/gen/logo-red.png"/>
          <p:cNvPicPr>
            <a:picLocks noChangeAspect="1"/>
          </p:cNvPicPr>
          <p:nvPr/>
        </p:nvPicPr>
        <p:blipFill>
          <a:blip r:embed="rId3"/>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marL="0" indent="0">
              <a:buNone/>
            </a:pPr>
            <a:r>
              <a:rPr lang="en-US" sz="1000" kern="0" spc="220" dirty="0">
                <a:solidFill>
                  <a:srgbClr val="942838"/>
                </a:solidFill>
                <a:latin typeface="Montserrat SemiBold" pitchFamily="34" charset="0"/>
                <a:ea typeface="Montserrat SemiBold" pitchFamily="34" charset="-122"/>
                <a:cs typeface="Montserrat SemiBold" pitchFamily="34" charset="-120"/>
              </a:rPr>
              <a:t>PROJECT 03  ·  GOING DEEPER</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marL="0" indent="0">
              <a:lnSpc>
                <a:spcPct val="98000"/>
              </a:lnSpc>
              <a:buNone/>
            </a:pPr>
            <a:r>
              <a:rPr lang="en-US" sz="2900" kern="0" spc="-50" dirty="0">
                <a:solidFill>
                  <a:srgbClr val="2B2D30"/>
                </a:solidFill>
                <a:latin typeface="Montserrat ExtraBold" pitchFamily="34" charset="0"/>
                <a:ea typeface="Montserrat ExtraBold" pitchFamily="34" charset="-122"/>
                <a:cs typeface="Montserrat ExtraBold" pitchFamily="34" charset="-120"/>
              </a:rPr>
              <a:t>Why 65 flaws turn into 209 rows</a:t>
            </a:r>
            <a:endParaRPr lang="en-US" sz="2900" dirty="0"/>
          </a:p>
        </p:txBody>
      </p:sp>
      <p:sp>
        <p:nvSpPr>
          <p:cNvPr id="5" name="Shape 2"/>
          <p:cNvSpPr/>
          <p:nvPr/>
        </p:nvSpPr>
        <p:spPr>
          <a:xfrm>
            <a:off x="777240" y="1700784"/>
            <a:ext cx="566928" cy="50292"/>
          </a:xfrm>
          <a:prstGeom prst="rect">
            <a:avLst/>
          </a:prstGeom>
          <a:solidFill>
            <a:srgbClr val="942838"/>
          </a:solidFill>
          <a:ln/>
        </p:spPr>
        <p:txBody>
          <a:bodyPr/>
          <a:lstStyle/>
          <a:p>
            <a:endParaRPr lang="en-US"/>
          </a:p>
        </p:txBody>
      </p:sp>
      <p:sp>
        <p:nvSpPr>
          <p:cNvPr id="6" name="Shape 3"/>
          <p:cNvSpPr/>
          <p:nvPr/>
        </p:nvSpPr>
        <p:spPr>
          <a:xfrm>
            <a:off x="777240" y="6181344"/>
            <a:ext cx="10637215" cy="10973"/>
          </a:xfrm>
          <a:prstGeom prst="rect">
            <a:avLst/>
          </a:prstGeom>
          <a:solidFill>
            <a:srgbClr val="E6E4E2"/>
          </a:solidFill>
          <a:ln/>
        </p:spPr>
        <p:txBody>
          <a:bodyPr/>
          <a:lstStyle/>
          <a:p>
            <a:endParaRPr lang="en-US"/>
          </a:p>
        </p:txBody>
      </p:sp>
      <p:sp>
        <p:nvSpPr>
          <p:cNvPr id="7" name="Text 4"/>
          <p:cNvSpPr txBox="1"/>
          <p:nvPr/>
        </p:nvSpPr>
        <p:spPr>
          <a:xfrm>
            <a:off x="777240" y="6327648"/>
            <a:ext cx="7315200" cy="201168"/>
          </a:xfrm>
          <a:prstGeom prst="rect">
            <a:avLst/>
          </a:prstGeom>
          <a:noFill/>
          <a:ln/>
        </p:spPr>
        <p:txBody>
          <a:bodyPr wrap="square" lIns="0" tIns="0" rIns="0" bIns="0" rtlCol="0" anchor="t"/>
          <a:lstStyle/>
          <a:p>
            <a:pPr marL="0" indent="0">
              <a:buNone/>
            </a:pPr>
            <a:r>
              <a:rPr lang="en-US" sz="850" kern="0" spc="140" dirty="0">
                <a:solidFill>
                  <a:srgbClr val="6E7175"/>
                </a:solidFill>
                <a:latin typeface="Montserrat SemiBold" pitchFamily="34" charset="0"/>
                <a:ea typeface="Montserrat SemiBold" pitchFamily="34" charset="-122"/>
                <a:cs typeface="Montserrat SemiBold" pitchFamily="34" charset="-120"/>
              </a:rPr>
              <a:t>CVE-TO-PATCH AUTOMATION</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marL="0" indent="0" algn="r">
              <a:buNone/>
            </a:pPr>
            <a:r>
              <a:rPr lang="en-US" sz="850" kern="0" spc="140" dirty="0">
                <a:solidFill>
                  <a:srgbClr val="6E7175"/>
                </a:solidFill>
                <a:latin typeface="Montserrat SemiBold" pitchFamily="34" charset="0"/>
                <a:ea typeface="Montserrat SemiBold" pitchFamily="34" charset="-122"/>
                <a:cs typeface="Montserrat SemiBold" pitchFamily="34" charset="-120"/>
              </a:rPr>
              <a:t>19</a:t>
            </a:r>
            <a:endParaRPr lang="en-US" sz="850" dirty="0"/>
          </a:p>
        </p:txBody>
      </p:sp>
      <p:sp>
        <p:nvSpPr>
          <p:cNvPr id="9" name="Text 6"/>
          <p:cNvSpPr txBox="1"/>
          <p:nvPr/>
        </p:nvSpPr>
        <p:spPr>
          <a:xfrm>
            <a:off x="777240" y="1956816"/>
            <a:ext cx="10241280" cy="310896"/>
          </a:xfrm>
          <a:prstGeom prst="rect">
            <a:avLst/>
          </a:prstGeom>
          <a:noFill/>
          <a:ln/>
        </p:spPr>
        <p:txBody>
          <a:bodyPr wrap="square" lIns="0" tIns="0" rIns="0" bIns="0" rtlCol="0" anchor="t"/>
          <a:lstStyle/>
          <a:p>
            <a:pPr marL="0" indent="0">
              <a:buNone/>
            </a:pPr>
            <a:r>
              <a:rPr lang="en-US" sz="1400" dirty="0">
                <a:solidFill>
                  <a:srgbClr val="6E7175"/>
                </a:solidFill>
                <a:latin typeface="Montserrat Medium" pitchFamily="34" charset="0"/>
                <a:ea typeface="Montserrat Medium" pitchFamily="34" charset="-122"/>
                <a:cs typeface="Montserrat Medium" pitchFamily="34" charset="-120"/>
              </a:rPr>
              <a:t>One flaw does not mean one patch. The same flaw needs a differently numbered patch on each version of Windows we run — so one flaw becomes several rows on the list.</a:t>
            </a:r>
            <a:endParaRPr lang="en-US" sz="1400" dirty="0"/>
          </a:p>
        </p:txBody>
      </p:sp>
      <p:pic>
        <p:nvPicPr>
          <p:cNvPr id="10" name="Image 1" descr="/home/user/ai/assets/gen/one-flaw-many-patches.png"/>
          <p:cNvPicPr>
            <a:picLocks noChangeAspect="1"/>
          </p:cNvPicPr>
          <p:nvPr/>
        </p:nvPicPr>
        <p:blipFill>
          <a:blip r:embed="rId4"/>
          <a:stretch>
            <a:fillRect/>
          </a:stretch>
        </p:blipFill>
        <p:spPr>
          <a:xfrm>
            <a:off x="685800" y="2450592"/>
            <a:ext cx="5943600" cy="2286000"/>
          </a:xfrm>
          <a:prstGeom prst="rect">
            <a:avLst/>
          </a:prstGeom>
        </p:spPr>
      </p:pic>
      <p:sp>
        <p:nvSpPr>
          <p:cNvPr id="11" name="Shape 7"/>
          <p:cNvSpPr/>
          <p:nvPr/>
        </p:nvSpPr>
        <p:spPr>
          <a:xfrm>
            <a:off x="6949440" y="2450592"/>
            <a:ext cx="4465015" cy="2212848"/>
          </a:xfrm>
          <a:prstGeom prst="roundRect">
            <a:avLst>
              <a:gd name="adj" fmla="val 2479"/>
            </a:avLst>
          </a:prstGeom>
          <a:solidFill>
            <a:srgbClr val="FFFFFF"/>
          </a:solidFill>
          <a:ln w="9525">
            <a:solidFill>
              <a:srgbClr val="E6E4E2"/>
            </a:solidFill>
            <a:prstDash val="solid"/>
          </a:ln>
          <a:effectLst>
            <a:outerShdw algn="bl" rotWithShape="0">
              <a:srgbClr val="959092">
                <a:alpha val="0"/>
              </a:srgbClr>
            </a:outerShdw>
          </a:effectLst>
        </p:spPr>
        <p:txBody>
          <a:bodyPr/>
          <a:lstStyle/>
          <a:p>
            <a:endParaRPr lang="en-US"/>
          </a:p>
        </p:txBody>
      </p:sp>
      <p:sp>
        <p:nvSpPr>
          <p:cNvPr id="12" name="Text 8"/>
          <p:cNvSpPr txBox="1"/>
          <p:nvPr/>
        </p:nvSpPr>
        <p:spPr>
          <a:xfrm>
            <a:off x="7242048" y="2688336"/>
            <a:ext cx="3879799" cy="201168"/>
          </a:xfrm>
          <a:prstGeom prst="rect">
            <a:avLst/>
          </a:prstGeom>
          <a:noFill/>
          <a:ln/>
        </p:spPr>
        <p:txBody>
          <a:bodyPr wrap="square" lIns="0" tIns="0" rIns="0" bIns="0" rtlCol="0" anchor="t"/>
          <a:lstStyle/>
          <a:p>
            <a:pPr marL="0" indent="0">
              <a:buNone/>
            </a:pPr>
            <a:r>
              <a:rPr lang="en-US" sz="850" kern="0" spc="140" dirty="0">
                <a:solidFill>
                  <a:srgbClr val="942838"/>
                </a:solidFill>
                <a:latin typeface="Montserrat SemiBold" pitchFamily="34" charset="0"/>
                <a:ea typeface="Montserrat SemiBold" pitchFamily="34" charset="-122"/>
                <a:cs typeface="Montserrat SemiBold" pitchFamily="34" charset="-120"/>
              </a:rPr>
              <a:t>WHERE 209 COMES FROM</a:t>
            </a:r>
            <a:endParaRPr lang="en-US" sz="850" dirty="0"/>
          </a:p>
        </p:txBody>
      </p:sp>
      <p:sp>
        <p:nvSpPr>
          <p:cNvPr id="13" name="Text 9"/>
          <p:cNvSpPr txBox="1"/>
          <p:nvPr/>
        </p:nvSpPr>
        <p:spPr>
          <a:xfrm>
            <a:off x="7242048" y="2944368"/>
            <a:ext cx="3879799" cy="384048"/>
          </a:xfrm>
          <a:prstGeom prst="rect">
            <a:avLst/>
          </a:prstGeom>
          <a:noFill/>
          <a:ln/>
        </p:spPr>
        <p:txBody>
          <a:bodyPr wrap="square" lIns="0" tIns="0" rIns="0" bIns="0" rtlCol="0" anchor="t"/>
          <a:lstStyle/>
          <a:p>
            <a:pPr marL="0" indent="0">
              <a:buNone/>
            </a:pPr>
            <a:r>
              <a:rPr lang="en-US" sz="2200" kern="0" spc="-70" dirty="0">
                <a:solidFill>
                  <a:srgbClr val="2B2D30"/>
                </a:solidFill>
                <a:latin typeface="Montserrat ExtraBold" pitchFamily="34" charset="0"/>
                <a:ea typeface="Montserrat ExtraBold" pitchFamily="34" charset="-122"/>
                <a:cs typeface="Montserrat ExtraBold" pitchFamily="34" charset="-120"/>
              </a:rPr>
              <a:t>Kevlar’s own report</a:t>
            </a:r>
            <a:endParaRPr lang="en-US" sz="2200" dirty="0"/>
          </a:p>
        </p:txBody>
      </p:sp>
      <p:sp>
        <p:nvSpPr>
          <p:cNvPr id="14" name="Text 10"/>
          <p:cNvSpPr txBox="1"/>
          <p:nvPr/>
        </p:nvSpPr>
        <p:spPr>
          <a:xfrm>
            <a:off x="7242048" y="3438144"/>
            <a:ext cx="3879799" cy="1005840"/>
          </a:xfrm>
          <a:prstGeom prst="rect">
            <a:avLst/>
          </a:prstGeom>
          <a:noFill/>
          <a:ln/>
        </p:spPr>
        <p:txBody>
          <a:bodyPr wrap="square" lIns="0" tIns="0" rIns="0" bIns="0" rtlCol="0" anchor="t"/>
          <a:lstStyle/>
          <a:p>
            <a:pPr marL="0" indent="0">
              <a:lnSpc>
                <a:spcPct val="126000"/>
              </a:lnSpc>
              <a:buNone/>
            </a:pPr>
            <a:r>
              <a:rPr lang="en-US" sz="1100" dirty="0">
                <a:solidFill>
                  <a:srgbClr val="43464A"/>
                </a:solidFill>
                <a:latin typeface="Montserrat" pitchFamily="34" charset="0"/>
                <a:ea typeface="Montserrat" pitchFamily="34" charset="-122"/>
                <a:cs typeface="Montserrat" pitchFamily="34" charset="-120"/>
              </a:rPr>
              <a:t>Do that fan-out for all 65 open flaws, across every Windows version in the fleet, and it adds up to 209 rows. Kevlar already publishes that list  I opened it and counted; I did not calculate it.</a:t>
            </a:r>
            <a:endParaRPr lang="en-US" sz="1100" dirty="0"/>
          </a:p>
        </p:txBody>
      </p:sp>
      <p:sp>
        <p:nvSpPr>
          <p:cNvPr id="15" name="Text 11"/>
          <p:cNvSpPr txBox="1"/>
          <p:nvPr/>
        </p:nvSpPr>
        <p:spPr>
          <a:xfrm>
            <a:off x="777240" y="4846320"/>
            <a:ext cx="5486400" cy="201168"/>
          </a:xfrm>
          <a:prstGeom prst="rect">
            <a:avLst/>
          </a:prstGeom>
          <a:noFill/>
          <a:ln/>
        </p:spPr>
        <p:txBody>
          <a:bodyPr wrap="square" lIns="0" tIns="0" rIns="0" bIns="0" rtlCol="0" anchor="t"/>
          <a:lstStyle/>
          <a:p>
            <a:pPr marL="0" indent="0">
              <a:buNone/>
            </a:pPr>
            <a:r>
              <a:rPr lang="en-US" sz="850" kern="0" spc="140" dirty="0">
                <a:solidFill>
                  <a:srgbClr val="942838"/>
                </a:solidFill>
                <a:latin typeface="Montserrat SemiBold" pitchFamily="34" charset="0"/>
                <a:ea typeface="Montserrat SemiBold" pitchFamily="34" charset="-122"/>
                <a:cs typeface="Montserrat SemiBold" pitchFamily="34" charset="-120"/>
              </a:rPr>
              <a:t>THE WHOLE CHAIN</a:t>
            </a:r>
            <a:endParaRPr lang="en-US" sz="850" dirty="0"/>
          </a:p>
        </p:txBody>
      </p:sp>
      <p:sp>
        <p:nvSpPr>
          <p:cNvPr id="16" name="Shape 12"/>
          <p:cNvSpPr/>
          <p:nvPr/>
        </p:nvSpPr>
        <p:spPr>
          <a:xfrm>
            <a:off x="777240" y="5138928"/>
            <a:ext cx="2487168" cy="932688"/>
          </a:xfrm>
          <a:prstGeom prst="roundRect">
            <a:avLst>
              <a:gd name="adj" fmla="val 5882"/>
            </a:avLst>
          </a:prstGeom>
          <a:solidFill>
            <a:srgbClr val="F5F4F3"/>
          </a:solidFill>
          <a:ln w="9525">
            <a:solidFill>
              <a:srgbClr val="E6E4E2"/>
            </a:solidFill>
            <a:prstDash val="solid"/>
          </a:ln>
          <a:effectLst>
            <a:outerShdw blurRad="101600" dist="50800" dir="5400000" algn="bl" rotWithShape="0">
              <a:srgbClr val="FFFFFF">
                <a:alpha val="75000"/>
              </a:srgbClr>
            </a:outerShdw>
          </a:effectLst>
        </p:spPr>
        <p:txBody>
          <a:bodyPr/>
          <a:lstStyle/>
          <a:p>
            <a:endParaRPr lang="en-US"/>
          </a:p>
        </p:txBody>
      </p:sp>
      <p:sp>
        <p:nvSpPr>
          <p:cNvPr id="17" name="Text 13"/>
          <p:cNvSpPr txBox="1"/>
          <p:nvPr/>
        </p:nvSpPr>
        <p:spPr>
          <a:xfrm>
            <a:off x="960120" y="5248656"/>
            <a:ext cx="2121408" cy="402336"/>
          </a:xfrm>
          <a:prstGeom prst="rect">
            <a:avLst/>
          </a:prstGeom>
          <a:noFill/>
          <a:ln/>
        </p:spPr>
        <p:txBody>
          <a:bodyPr wrap="square" lIns="0" tIns="0" rIns="0" bIns="0" rtlCol="0" anchor="ctr"/>
          <a:lstStyle/>
          <a:p>
            <a:pPr marL="0" indent="0" algn="ctr">
              <a:buNone/>
            </a:pPr>
            <a:r>
              <a:rPr lang="en-US" sz="2500" kern="0" spc="-90" dirty="0">
                <a:solidFill>
                  <a:srgbClr val="2B2D30"/>
                </a:solidFill>
                <a:latin typeface="Montserrat ExtraBold" pitchFamily="34" charset="0"/>
                <a:ea typeface="Montserrat ExtraBold" pitchFamily="34" charset="-122"/>
                <a:cs typeface="Montserrat ExtraBold" pitchFamily="34" charset="-120"/>
              </a:rPr>
              <a:t>117</a:t>
            </a:r>
            <a:endParaRPr lang="en-US" sz="2500" dirty="0"/>
          </a:p>
        </p:txBody>
      </p:sp>
      <p:sp>
        <p:nvSpPr>
          <p:cNvPr id="18" name="Text 14"/>
          <p:cNvSpPr txBox="1"/>
          <p:nvPr/>
        </p:nvSpPr>
        <p:spPr>
          <a:xfrm>
            <a:off x="923544" y="5669280"/>
            <a:ext cx="2194560" cy="365760"/>
          </a:xfrm>
          <a:prstGeom prst="rect">
            <a:avLst/>
          </a:prstGeom>
          <a:noFill/>
          <a:ln/>
        </p:spPr>
        <p:txBody>
          <a:bodyPr wrap="square" lIns="0" tIns="0" rIns="0" bIns="0" rtlCol="0" anchor="t"/>
          <a:lstStyle/>
          <a:p>
            <a:pPr marL="0" indent="0" algn="ctr">
              <a:lnSpc>
                <a:spcPct val="115000"/>
              </a:lnSpc>
              <a:buNone/>
            </a:pPr>
            <a:r>
              <a:rPr lang="en-US" sz="950" kern="0" spc="30" dirty="0">
                <a:solidFill>
                  <a:srgbClr val="6E7175"/>
                </a:solidFill>
                <a:latin typeface="Montserrat Medium" pitchFamily="34" charset="0"/>
                <a:ea typeface="Montserrat Medium" pitchFamily="34" charset="-122"/>
                <a:cs typeface="Montserrat Medium" pitchFamily="34" charset="-120"/>
              </a:rPr>
              <a:t>flaws tracked</a:t>
            </a:r>
            <a:endParaRPr lang="en-US" sz="950" dirty="0"/>
          </a:p>
        </p:txBody>
      </p:sp>
      <p:sp>
        <p:nvSpPr>
          <p:cNvPr id="19" name="Text 15"/>
          <p:cNvSpPr txBox="1"/>
          <p:nvPr/>
        </p:nvSpPr>
        <p:spPr>
          <a:xfrm>
            <a:off x="3196285" y="5394960"/>
            <a:ext cx="365760" cy="420624"/>
          </a:xfrm>
          <a:prstGeom prst="rect">
            <a:avLst/>
          </a:prstGeom>
          <a:noFill/>
          <a:ln/>
        </p:spPr>
        <p:txBody>
          <a:bodyPr wrap="square" lIns="0" tIns="0" rIns="0" bIns="0" rtlCol="0" anchor="ctr"/>
          <a:lstStyle/>
          <a:p>
            <a:pPr marL="0" indent="0" algn="ctr">
              <a:buNone/>
            </a:pPr>
            <a:r>
              <a:rPr lang="en-US" sz="2600" b="1" dirty="0">
                <a:solidFill>
                  <a:srgbClr val="C9C6C4"/>
                </a:solidFill>
                <a:latin typeface="Montserrat" pitchFamily="34" charset="0"/>
                <a:ea typeface="Montserrat" pitchFamily="34" charset="-122"/>
                <a:cs typeface="Montserrat" pitchFamily="34" charset="-120"/>
              </a:rPr>
              <a:t>›</a:t>
            </a:r>
            <a:endParaRPr lang="en-US" sz="2600" dirty="0"/>
          </a:p>
        </p:txBody>
      </p:sp>
      <p:sp>
        <p:nvSpPr>
          <p:cNvPr id="20" name="Shape 16"/>
          <p:cNvSpPr/>
          <p:nvPr/>
        </p:nvSpPr>
        <p:spPr>
          <a:xfrm>
            <a:off x="3493922" y="5138928"/>
            <a:ext cx="2487168" cy="932688"/>
          </a:xfrm>
          <a:prstGeom prst="roundRect">
            <a:avLst>
              <a:gd name="adj" fmla="val 5882"/>
            </a:avLst>
          </a:prstGeom>
          <a:solidFill>
            <a:srgbClr val="F5F4F3"/>
          </a:solidFill>
          <a:ln w="9525">
            <a:solidFill>
              <a:srgbClr val="E6E4E2"/>
            </a:solidFill>
            <a:prstDash val="solid"/>
          </a:ln>
          <a:effectLst>
            <a:outerShdw blurRad="1290320000" dist="645160000" algn="bl" rotWithShape="0">
              <a:srgbClr val="FFFFFF">
                <a:alpha val="0"/>
              </a:srgbClr>
            </a:outerShdw>
          </a:effectLst>
        </p:spPr>
        <p:txBody>
          <a:bodyPr/>
          <a:lstStyle/>
          <a:p>
            <a:endParaRPr lang="en-US"/>
          </a:p>
        </p:txBody>
      </p:sp>
      <p:sp>
        <p:nvSpPr>
          <p:cNvPr id="21" name="Text 17"/>
          <p:cNvSpPr txBox="1"/>
          <p:nvPr/>
        </p:nvSpPr>
        <p:spPr>
          <a:xfrm>
            <a:off x="3676802" y="5248656"/>
            <a:ext cx="2121408" cy="402336"/>
          </a:xfrm>
          <a:prstGeom prst="rect">
            <a:avLst/>
          </a:prstGeom>
          <a:noFill/>
          <a:ln/>
        </p:spPr>
        <p:txBody>
          <a:bodyPr wrap="square" lIns="0" tIns="0" rIns="0" bIns="0" rtlCol="0" anchor="ctr"/>
          <a:lstStyle/>
          <a:p>
            <a:pPr marL="0" indent="0" algn="ctr">
              <a:buNone/>
            </a:pPr>
            <a:r>
              <a:rPr lang="en-US" sz="2500" kern="0" spc="-90" dirty="0">
                <a:solidFill>
                  <a:srgbClr val="2B2D30"/>
                </a:solidFill>
                <a:latin typeface="Montserrat ExtraBold" pitchFamily="34" charset="0"/>
                <a:ea typeface="Montserrat ExtraBold" pitchFamily="34" charset="-122"/>
                <a:cs typeface="Montserrat ExtraBold" pitchFamily="34" charset="-120"/>
              </a:rPr>
              <a:t>65</a:t>
            </a:r>
            <a:endParaRPr lang="en-US" sz="2500" dirty="0"/>
          </a:p>
        </p:txBody>
      </p:sp>
      <p:sp>
        <p:nvSpPr>
          <p:cNvPr id="22" name="Text 18"/>
          <p:cNvSpPr txBox="1"/>
          <p:nvPr/>
        </p:nvSpPr>
        <p:spPr>
          <a:xfrm>
            <a:off x="3640226" y="5669280"/>
            <a:ext cx="2194560" cy="365760"/>
          </a:xfrm>
          <a:prstGeom prst="rect">
            <a:avLst/>
          </a:prstGeom>
          <a:noFill/>
          <a:ln/>
        </p:spPr>
        <p:txBody>
          <a:bodyPr wrap="square" lIns="0" tIns="0" rIns="0" bIns="0" rtlCol="0" anchor="t"/>
          <a:lstStyle/>
          <a:p>
            <a:pPr marL="0" indent="0" algn="ctr">
              <a:lnSpc>
                <a:spcPct val="115000"/>
              </a:lnSpc>
              <a:buNone/>
            </a:pPr>
            <a:r>
              <a:rPr lang="en-US" sz="950" kern="0" spc="30" dirty="0">
                <a:solidFill>
                  <a:srgbClr val="6E7175"/>
                </a:solidFill>
                <a:latin typeface="Montserrat Medium" pitchFamily="34" charset="0"/>
                <a:ea typeface="Montserrat Medium" pitchFamily="34" charset="-122"/>
                <a:cs typeface="Montserrat Medium" pitchFamily="34" charset="-120"/>
              </a:rPr>
              <a:t>still open</a:t>
            </a:r>
            <a:endParaRPr lang="en-US" sz="950" dirty="0"/>
          </a:p>
        </p:txBody>
      </p:sp>
      <p:sp>
        <p:nvSpPr>
          <p:cNvPr id="23" name="Text 19"/>
          <p:cNvSpPr txBox="1"/>
          <p:nvPr/>
        </p:nvSpPr>
        <p:spPr>
          <a:xfrm>
            <a:off x="5912968" y="5394960"/>
            <a:ext cx="365760" cy="420624"/>
          </a:xfrm>
          <a:prstGeom prst="rect">
            <a:avLst/>
          </a:prstGeom>
          <a:noFill/>
          <a:ln/>
        </p:spPr>
        <p:txBody>
          <a:bodyPr wrap="square" lIns="0" tIns="0" rIns="0" bIns="0" rtlCol="0" anchor="ctr"/>
          <a:lstStyle/>
          <a:p>
            <a:pPr marL="0" indent="0" algn="ctr">
              <a:buNone/>
            </a:pPr>
            <a:r>
              <a:rPr lang="en-US" sz="2600" b="1" dirty="0">
                <a:solidFill>
                  <a:srgbClr val="C9C6C4"/>
                </a:solidFill>
                <a:latin typeface="Montserrat" pitchFamily="34" charset="0"/>
                <a:ea typeface="Montserrat" pitchFamily="34" charset="-122"/>
                <a:cs typeface="Montserrat" pitchFamily="34" charset="-120"/>
              </a:rPr>
              <a:t>›</a:t>
            </a:r>
            <a:endParaRPr lang="en-US" sz="2600" dirty="0"/>
          </a:p>
        </p:txBody>
      </p:sp>
      <p:sp>
        <p:nvSpPr>
          <p:cNvPr id="24" name="Shape 20"/>
          <p:cNvSpPr/>
          <p:nvPr/>
        </p:nvSpPr>
        <p:spPr>
          <a:xfrm>
            <a:off x="6210605" y="5138928"/>
            <a:ext cx="2487168" cy="932688"/>
          </a:xfrm>
          <a:prstGeom prst="roundRect">
            <a:avLst>
              <a:gd name="adj" fmla="val 5882"/>
            </a:avLst>
          </a:prstGeom>
          <a:solidFill>
            <a:srgbClr val="F5F4F3"/>
          </a:solidFill>
          <a:ln w="9525">
            <a:solidFill>
              <a:srgbClr val="E6E4E2"/>
            </a:solidFill>
            <a:prstDash val="solid"/>
          </a:ln>
          <a:effectLst>
            <a:outerShdw algn="bl" rotWithShape="0">
              <a:srgbClr val="FFFFFF">
                <a:alpha val="0"/>
              </a:srgbClr>
            </a:outerShdw>
          </a:effectLst>
        </p:spPr>
        <p:txBody>
          <a:bodyPr/>
          <a:lstStyle/>
          <a:p>
            <a:endParaRPr lang="en-US"/>
          </a:p>
        </p:txBody>
      </p:sp>
      <p:sp>
        <p:nvSpPr>
          <p:cNvPr id="25" name="Text 21"/>
          <p:cNvSpPr txBox="1"/>
          <p:nvPr/>
        </p:nvSpPr>
        <p:spPr>
          <a:xfrm>
            <a:off x="6393485" y="5248656"/>
            <a:ext cx="2121408" cy="402336"/>
          </a:xfrm>
          <a:prstGeom prst="rect">
            <a:avLst/>
          </a:prstGeom>
          <a:noFill/>
          <a:ln/>
        </p:spPr>
        <p:txBody>
          <a:bodyPr wrap="square" lIns="0" tIns="0" rIns="0" bIns="0" rtlCol="0" anchor="ctr"/>
          <a:lstStyle/>
          <a:p>
            <a:pPr marL="0" indent="0" algn="ctr">
              <a:buNone/>
            </a:pPr>
            <a:r>
              <a:rPr lang="en-US" sz="2500" kern="0" spc="-90" dirty="0">
                <a:solidFill>
                  <a:srgbClr val="2B2D30"/>
                </a:solidFill>
                <a:latin typeface="Montserrat ExtraBold" pitchFamily="34" charset="0"/>
                <a:ea typeface="Montserrat ExtraBold" pitchFamily="34" charset="-122"/>
                <a:cs typeface="Montserrat ExtraBold" pitchFamily="34" charset="-120"/>
              </a:rPr>
              <a:t>209</a:t>
            </a:r>
            <a:endParaRPr lang="en-US" sz="2500" dirty="0"/>
          </a:p>
        </p:txBody>
      </p:sp>
      <p:sp>
        <p:nvSpPr>
          <p:cNvPr id="26" name="Text 22"/>
          <p:cNvSpPr txBox="1"/>
          <p:nvPr/>
        </p:nvSpPr>
        <p:spPr>
          <a:xfrm>
            <a:off x="6356909" y="5669280"/>
            <a:ext cx="2194560" cy="365760"/>
          </a:xfrm>
          <a:prstGeom prst="rect">
            <a:avLst/>
          </a:prstGeom>
          <a:noFill/>
          <a:ln/>
        </p:spPr>
        <p:txBody>
          <a:bodyPr wrap="square" lIns="0" tIns="0" rIns="0" bIns="0" rtlCol="0" anchor="t"/>
          <a:lstStyle/>
          <a:p>
            <a:pPr marL="0" indent="0" algn="ctr">
              <a:lnSpc>
                <a:spcPct val="115000"/>
              </a:lnSpc>
              <a:buNone/>
            </a:pPr>
            <a:r>
              <a:rPr lang="en-US" sz="950" kern="0" spc="30" dirty="0">
                <a:solidFill>
                  <a:srgbClr val="6E7175"/>
                </a:solidFill>
                <a:latin typeface="Montserrat Medium" pitchFamily="34" charset="0"/>
                <a:ea typeface="Montserrat Medium" pitchFamily="34" charset="-122"/>
                <a:cs typeface="Montserrat Medium" pitchFamily="34" charset="-120"/>
              </a:rPr>
              <a:t>rows once split</a:t>
            </a:r>
            <a:endParaRPr lang="en-US" sz="950" dirty="0"/>
          </a:p>
          <a:p>
            <a:pPr marL="0" indent="0" algn="ctr">
              <a:lnSpc>
                <a:spcPct val="115000"/>
              </a:lnSpc>
              <a:buNone/>
            </a:pPr>
            <a:r>
              <a:rPr lang="en-US" sz="950" kern="0" spc="30" dirty="0">
                <a:solidFill>
                  <a:srgbClr val="6E7175"/>
                </a:solidFill>
                <a:latin typeface="Montserrat Medium" pitchFamily="34" charset="0"/>
                <a:ea typeface="Montserrat Medium" pitchFamily="34" charset="-122"/>
                <a:cs typeface="Montserrat Medium" pitchFamily="34" charset="-120"/>
              </a:rPr>
              <a:t>by Windows version</a:t>
            </a:r>
            <a:endParaRPr lang="en-US" sz="950" dirty="0"/>
          </a:p>
        </p:txBody>
      </p:sp>
      <p:sp>
        <p:nvSpPr>
          <p:cNvPr id="27" name="Text 23"/>
          <p:cNvSpPr txBox="1"/>
          <p:nvPr/>
        </p:nvSpPr>
        <p:spPr>
          <a:xfrm>
            <a:off x="8629650" y="5394960"/>
            <a:ext cx="365760" cy="420624"/>
          </a:xfrm>
          <a:prstGeom prst="rect">
            <a:avLst/>
          </a:prstGeom>
          <a:noFill/>
          <a:ln/>
        </p:spPr>
        <p:txBody>
          <a:bodyPr wrap="square" lIns="0" tIns="0" rIns="0" bIns="0" rtlCol="0" anchor="ctr"/>
          <a:lstStyle/>
          <a:p>
            <a:pPr marL="0" indent="0" algn="ctr">
              <a:buNone/>
            </a:pPr>
            <a:r>
              <a:rPr lang="en-US" sz="2600" b="1" dirty="0">
                <a:solidFill>
                  <a:srgbClr val="C9C6C4"/>
                </a:solidFill>
                <a:latin typeface="Montserrat" pitchFamily="34" charset="0"/>
                <a:ea typeface="Montserrat" pitchFamily="34" charset="-122"/>
                <a:cs typeface="Montserrat" pitchFamily="34" charset="-120"/>
              </a:rPr>
              <a:t>›</a:t>
            </a:r>
            <a:endParaRPr lang="en-US" sz="2600" dirty="0"/>
          </a:p>
        </p:txBody>
      </p:sp>
      <p:sp>
        <p:nvSpPr>
          <p:cNvPr id="28" name="Shape 24"/>
          <p:cNvSpPr/>
          <p:nvPr/>
        </p:nvSpPr>
        <p:spPr>
          <a:xfrm>
            <a:off x="8927287" y="5138928"/>
            <a:ext cx="2487168" cy="932688"/>
          </a:xfrm>
          <a:prstGeom prst="roundRect">
            <a:avLst>
              <a:gd name="adj" fmla="val 5882"/>
            </a:avLst>
          </a:prstGeom>
          <a:solidFill>
            <a:srgbClr val="942838"/>
          </a:solidFill>
          <a:ln w="9525">
            <a:solidFill>
              <a:srgbClr val="942838"/>
            </a:solidFill>
            <a:prstDash val="solid"/>
          </a:ln>
          <a:effectLst>
            <a:outerShdw blurRad="203200" dist="50800" dir="5400000" algn="bl" rotWithShape="0">
              <a:srgbClr val="5D1923">
                <a:alpha val="34000"/>
              </a:srgbClr>
            </a:outerShdw>
          </a:effectLst>
        </p:spPr>
        <p:txBody>
          <a:bodyPr/>
          <a:lstStyle/>
          <a:p>
            <a:endParaRPr lang="en-US"/>
          </a:p>
        </p:txBody>
      </p:sp>
      <p:sp>
        <p:nvSpPr>
          <p:cNvPr id="29" name="Text 25"/>
          <p:cNvSpPr txBox="1"/>
          <p:nvPr/>
        </p:nvSpPr>
        <p:spPr>
          <a:xfrm>
            <a:off x="9110167" y="5248656"/>
            <a:ext cx="2121408" cy="402336"/>
          </a:xfrm>
          <a:prstGeom prst="rect">
            <a:avLst/>
          </a:prstGeom>
          <a:noFill/>
          <a:ln/>
        </p:spPr>
        <p:txBody>
          <a:bodyPr wrap="square" lIns="0" tIns="0" rIns="0" bIns="0" rtlCol="0" anchor="ctr"/>
          <a:lstStyle/>
          <a:p>
            <a:pPr marL="0" indent="0" algn="ctr">
              <a:buNone/>
            </a:pPr>
            <a:r>
              <a:rPr lang="en-US" sz="2500" kern="0" spc="-90" dirty="0">
                <a:solidFill>
                  <a:srgbClr val="FFFFFF"/>
                </a:solidFill>
                <a:latin typeface="Montserrat ExtraBold" pitchFamily="34" charset="0"/>
                <a:ea typeface="Montserrat ExtraBold" pitchFamily="34" charset="-122"/>
                <a:cs typeface="Montserrat ExtraBold" pitchFamily="34" charset="-120"/>
              </a:rPr>
              <a:t>46</a:t>
            </a:r>
            <a:endParaRPr lang="en-US" sz="2500" dirty="0"/>
          </a:p>
        </p:txBody>
      </p:sp>
      <p:sp>
        <p:nvSpPr>
          <p:cNvPr id="30" name="Text 26"/>
          <p:cNvSpPr txBox="1"/>
          <p:nvPr/>
        </p:nvSpPr>
        <p:spPr>
          <a:xfrm>
            <a:off x="9073591" y="5669280"/>
            <a:ext cx="2194560" cy="365760"/>
          </a:xfrm>
          <a:prstGeom prst="rect">
            <a:avLst/>
          </a:prstGeom>
          <a:noFill/>
          <a:ln/>
        </p:spPr>
        <p:txBody>
          <a:bodyPr wrap="square" lIns="0" tIns="0" rIns="0" bIns="0" rtlCol="0" anchor="t"/>
          <a:lstStyle/>
          <a:p>
            <a:pPr marL="0" indent="0" algn="ctr">
              <a:lnSpc>
                <a:spcPct val="115000"/>
              </a:lnSpc>
              <a:buNone/>
            </a:pPr>
            <a:r>
              <a:rPr lang="en-US" sz="950" kern="0" spc="30" dirty="0">
                <a:solidFill>
                  <a:srgbClr val="E4C9CE"/>
                </a:solidFill>
                <a:latin typeface="Montserrat Medium" pitchFamily="34" charset="0"/>
                <a:ea typeface="Montserrat Medium" pitchFamily="34" charset="-122"/>
                <a:cs typeface="Montserrat Medium" pitchFamily="34" charset="-120"/>
              </a:rPr>
              <a:t>tickets, after the</a:t>
            </a:r>
            <a:endParaRPr lang="en-US" sz="950" dirty="0"/>
          </a:p>
          <a:p>
            <a:pPr marL="0" indent="0" algn="ctr">
              <a:lnSpc>
                <a:spcPct val="115000"/>
              </a:lnSpc>
              <a:buNone/>
            </a:pPr>
            <a:r>
              <a:rPr lang="en-US" sz="950" kern="0" spc="30" dirty="0">
                <a:solidFill>
                  <a:srgbClr val="E4C9CE"/>
                </a:solidFill>
                <a:latin typeface="Montserrat Medium" pitchFamily="34" charset="0"/>
                <a:ea typeface="Montserrat Medium" pitchFamily="34" charset="-122"/>
                <a:cs typeface="Montserrat Medium" pitchFamily="34" charset="-120"/>
              </a:rPr>
              <a:t>next slide’s rule</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home/user/ai/assets/gen/logo-red.png"/>
          <p:cNvPicPr>
            <a:picLocks noChangeAspect="1"/>
          </p:cNvPicPr>
          <p:nvPr/>
        </p:nvPicPr>
        <p:blipFill>
          <a:blip r:embed="rId3"/>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marL="0" indent="0">
              <a:buNone/>
            </a:pPr>
            <a:r>
              <a:rPr lang="en-US" sz="1000" kern="0" spc="220" dirty="0">
                <a:solidFill>
                  <a:srgbClr val="942838"/>
                </a:solidFill>
                <a:latin typeface="Montserrat SemiBold" pitchFamily="34" charset="0"/>
                <a:ea typeface="Montserrat SemiBold" pitchFamily="34" charset="-122"/>
                <a:cs typeface="Montserrat SemiBold" pitchFamily="34" charset="-120"/>
              </a:rPr>
              <a:t>PROJECT 03  ·  THE PAYOFF</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marL="0" indent="0">
              <a:lnSpc>
                <a:spcPct val="98000"/>
              </a:lnSpc>
              <a:buNone/>
            </a:pPr>
            <a:r>
              <a:rPr lang="en-US" sz="2900" kern="0" spc="-50" dirty="0">
                <a:solidFill>
                  <a:srgbClr val="2B2D30"/>
                </a:solidFill>
                <a:latin typeface="Montserrat ExtraBold" pitchFamily="34" charset="0"/>
                <a:ea typeface="Montserrat ExtraBold" pitchFamily="34" charset="-122"/>
                <a:cs typeface="Montserrat ExtraBold" pitchFamily="34" charset="-120"/>
              </a:rPr>
              <a:t>209 rows became 46 tickets</a:t>
            </a:r>
            <a:endParaRPr lang="en-US" sz="2900" dirty="0"/>
          </a:p>
        </p:txBody>
      </p:sp>
      <p:sp>
        <p:nvSpPr>
          <p:cNvPr id="5" name="Shape 2"/>
          <p:cNvSpPr/>
          <p:nvPr/>
        </p:nvSpPr>
        <p:spPr>
          <a:xfrm>
            <a:off x="777240" y="1700784"/>
            <a:ext cx="566928" cy="50292"/>
          </a:xfrm>
          <a:prstGeom prst="rect">
            <a:avLst/>
          </a:prstGeom>
          <a:solidFill>
            <a:srgbClr val="942838"/>
          </a:solidFill>
          <a:ln/>
        </p:spPr>
        <p:txBody>
          <a:bodyPr/>
          <a:lstStyle/>
          <a:p>
            <a:endParaRPr lang="en-US"/>
          </a:p>
        </p:txBody>
      </p:sp>
      <p:sp>
        <p:nvSpPr>
          <p:cNvPr id="6" name="Shape 3"/>
          <p:cNvSpPr/>
          <p:nvPr/>
        </p:nvSpPr>
        <p:spPr>
          <a:xfrm>
            <a:off x="777240" y="6181344"/>
            <a:ext cx="10637215" cy="10973"/>
          </a:xfrm>
          <a:prstGeom prst="rect">
            <a:avLst/>
          </a:prstGeom>
          <a:solidFill>
            <a:srgbClr val="E6E4E2"/>
          </a:solidFill>
          <a:ln/>
        </p:spPr>
        <p:txBody>
          <a:bodyPr/>
          <a:lstStyle/>
          <a:p>
            <a:endParaRPr lang="en-US"/>
          </a:p>
        </p:txBody>
      </p:sp>
      <p:sp>
        <p:nvSpPr>
          <p:cNvPr id="7" name="Text 4"/>
          <p:cNvSpPr txBox="1"/>
          <p:nvPr/>
        </p:nvSpPr>
        <p:spPr>
          <a:xfrm>
            <a:off x="777240" y="6327648"/>
            <a:ext cx="7315200" cy="201168"/>
          </a:xfrm>
          <a:prstGeom prst="rect">
            <a:avLst/>
          </a:prstGeom>
          <a:noFill/>
          <a:ln/>
        </p:spPr>
        <p:txBody>
          <a:bodyPr wrap="square" lIns="0" tIns="0" rIns="0" bIns="0" rtlCol="0" anchor="t"/>
          <a:lstStyle/>
          <a:p>
            <a:pPr marL="0" indent="0">
              <a:buNone/>
            </a:pPr>
            <a:r>
              <a:rPr lang="en-US" sz="850" kern="0" spc="140" dirty="0">
                <a:solidFill>
                  <a:srgbClr val="6E7175"/>
                </a:solidFill>
                <a:latin typeface="Montserrat SemiBold" pitchFamily="34" charset="0"/>
                <a:ea typeface="Montserrat SemiBold" pitchFamily="34" charset="-122"/>
                <a:cs typeface="Montserrat SemiBold" pitchFamily="34" charset="-120"/>
              </a:rPr>
              <a:t>CVE-TO-PATCH AUTOMATION</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marL="0" indent="0" algn="r">
              <a:buNone/>
            </a:pPr>
            <a:r>
              <a:rPr lang="en-US" sz="850" kern="0" spc="140" dirty="0">
                <a:solidFill>
                  <a:srgbClr val="6E7175"/>
                </a:solidFill>
                <a:latin typeface="Montserrat SemiBold" pitchFamily="34" charset="0"/>
                <a:ea typeface="Montserrat SemiBold" pitchFamily="34" charset="-122"/>
                <a:cs typeface="Montserrat SemiBold" pitchFamily="34" charset="-120"/>
              </a:rPr>
              <a:t>20</a:t>
            </a:r>
            <a:endParaRPr lang="en-US" sz="850" dirty="0"/>
          </a:p>
        </p:txBody>
      </p:sp>
      <p:sp>
        <p:nvSpPr>
          <p:cNvPr id="9" name="Shape 6"/>
          <p:cNvSpPr/>
          <p:nvPr/>
        </p:nvSpPr>
        <p:spPr>
          <a:xfrm>
            <a:off x="777240" y="1847088"/>
            <a:ext cx="10637215" cy="603504"/>
          </a:xfrm>
          <a:prstGeom prst="roundRect">
            <a:avLst>
              <a:gd name="adj" fmla="val 9091"/>
            </a:avLst>
          </a:prstGeom>
          <a:solidFill>
            <a:srgbClr val="F6EEF0"/>
          </a:solidFill>
          <a:ln/>
        </p:spPr>
        <p:txBody>
          <a:bodyPr/>
          <a:lstStyle/>
          <a:p>
            <a:endParaRPr lang="en-US"/>
          </a:p>
        </p:txBody>
      </p:sp>
      <p:sp>
        <p:nvSpPr>
          <p:cNvPr id="10" name="Shape 7"/>
          <p:cNvSpPr/>
          <p:nvPr/>
        </p:nvSpPr>
        <p:spPr>
          <a:xfrm>
            <a:off x="777240" y="1847088"/>
            <a:ext cx="50292" cy="603504"/>
          </a:xfrm>
          <a:prstGeom prst="rect">
            <a:avLst/>
          </a:prstGeom>
          <a:solidFill>
            <a:srgbClr val="942838"/>
          </a:solidFill>
          <a:ln/>
        </p:spPr>
        <p:txBody>
          <a:bodyPr/>
          <a:lstStyle/>
          <a:p>
            <a:endParaRPr lang="en-US"/>
          </a:p>
        </p:txBody>
      </p:sp>
      <p:sp>
        <p:nvSpPr>
          <p:cNvPr id="11" name="Text 8"/>
          <p:cNvSpPr txBox="1"/>
          <p:nvPr/>
        </p:nvSpPr>
        <p:spPr>
          <a:xfrm>
            <a:off x="1014984" y="2048256"/>
            <a:ext cx="10180015" cy="310896"/>
          </a:xfrm>
          <a:prstGeom prst="rect">
            <a:avLst/>
          </a:prstGeom>
          <a:noFill/>
          <a:ln/>
        </p:spPr>
        <p:txBody>
          <a:bodyPr wrap="square" lIns="0" tIns="0" rIns="0" bIns="0" rtlCol="0" anchor="t"/>
          <a:lstStyle/>
          <a:p>
            <a:pPr marL="0" indent="0">
              <a:buNone/>
            </a:pPr>
            <a:r>
              <a:rPr lang="en-US" sz="900" kern="0" spc="140" dirty="0">
                <a:solidFill>
                  <a:srgbClr val="942838"/>
                </a:solidFill>
                <a:latin typeface="Montserrat SemiBold" pitchFamily="34" charset="0"/>
                <a:ea typeface="Montserrat SemiBold" pitchFamily="34" charset="-122"/>
                <a:cs typeface="Montserrat SemiBold" pitchFamily="34" charset="-120"/>
              </a:rPr>
              <a:t>THE SAME FACT AGAIN   </a:t>
            </a:r>
            <a:r>
              <a:rPr lang="en-US" sz="1250" dirty="0">
                <a:solidFill>
                  <a:srgbClr val="2B2D30"/>
                </a:solidFill>
                <a:latin typeface="Montserrat SemiBold" pitchFamily="34" charset="0"/>
                <a:ea typeface="Montserrat SemiBold" pitchFamily="34" charset="-122"/>
                <a:cs typeface="Montserrat SemiBold" pitchFamily="34" charset="-120"/>
              </a:rPr>
              <a:t>Only now applied to one machine at a time — because the newest patch already contains the older ones, most of those rows are the same job twice.</a:t>
            </a:r>
            <a:endParaRPr lang="en-US" sz="900" dirty="0"/>
          </a:p>
        </p:txBody>
      </p:sp>
      <p:sp>
        <p:nvSpPr>
          <p:cNvPr id="12" name="Shape 9"/>
          <p:cNvSpPr/>
          <p:nvPr/>
        </p:nvSpPr>
        <p:spPr>
          <a:xfrm>
            <a:off x="777240" y="2633472"/>
            <a:ext cx="5577840" cy="1627632"/>
          </a:xfrm>
          <a:prstGeom prst="roundRect">
            <a:avLst>
              <a:gd name="adj" fmla="val 3371"/>
            </a:avLst>
          </a:prstGeom>
          <a:solidFill>
            <a:srgbClr val="FFFFFF"/>
          </a:solidFill>
          <a:ln w="9525">
            <a:solidFill>
              <a:srgbClr val="E6E4E2"/>
            </a:solidFill>
            <a:prstDash val="solid"/>
          </a:ln>
          <a:effectLst>
            <a:outerShdw algn="bl" rotWithShape="0">
              <a:srgbClr val="959092">
                <a:alpha val="0"/>
              </a:srgbClr>
            </a:outerShdw>
          </a:effectLst>
        </p:spPr>
        <p:txBody>
          <a:bodyPr/>
          <a:lstStyle/>
          <a:p>
            <a:endParaRPr lang="en-US"/>
          </a:p>
        </p:txBody>
      </p:sp>
      <p:sp>
        <p:nvSpPr>
          <p:cNvPr id="13" name="Text 10"/>
          <p:cNvSpPr txBox="1"/>
          <p:nvPr/>
        </p:nvSpPr>
        <p:spPr>
          <a:xfrm>
            <a:off x="1051560" y="2852928"/>
            <a:ext cx="5029200" cy="201168"/>
          </a:xfrm>
          <a:prstGeom prst="rect">
            <a:avLst/>
          </a:prstGeom>
          <a:noFill/>
          <a:ln/>
        </p:spPr>
        <p:txBody>
          <a:bodyPr wrap="square" lIns="0" tIns="0" rIns="0" bIns="0" rtlCol="0" anchor="t"/>
          <a:lstStyle/>
          <a:p>
            <a:pPr marL="0" indent="0">
              <a:buNone/>
            </a:pPr>
            <a:r>
              <a:rPr lang="en-US" sz="850" kern="0" spc="140" dirty="0">
                <a:solidFill>
                  <a:srgbClr val="942838"/>
                </a:solidFill>
                <a:latin typeface="Montserrat SemiBold" pitchFamily="34" charset="0"/>
                <a:ea typeface="Montserrat SemiBold" pitchFamily="34" charset="-122"/>
                <a:cs typeface="Montserrat SemiBold" pitchFamily="34" charset="-120"/>
              </a:rPr>
              <a:t>ONE SERVER, THREE ROWS ON THE LIST</a:t>
            </a:r>
            <a:endParaRPr lang="en-US" sz="850" dirty="0"/>
          </a:p>
        </p:txBody>
      </p:sp>
      <p:sp>
        <p:nvSpPr>
          <p:cNvPr id="14" name="Text 11"/>
          <p:cNvSpPr txBox="1"/>
          <p:nvPr/>
        </p:nvSpPr>
        <p:spPr>
          <a:xfrm>
            <a:off x="1051560" y="3145536"/>
            <a:ext cx="219456" cy="237744"/>
          </a:xfrm>
          <a:prstGeom prst="rect">
            <a:avLst/>
          </a:prstGeom>
          <a:noFill/>
          <a:ln/>
        </p:spPr>
        <p:txBody>
          <a:bodyPr wrap="square" lIns="0" tIns="0" rIns="0" bIns="0" rtlCol="0" anchor="t"/>
          <a:lstStyle/>
          <a:p>
            <a:pPr marL="0" indent="0">
              <a:buNone/>
            </a:pPr>
            <a:r>
              <a:rPr lang="en-US" sz="1200" dirty="0">
                <a:solidFill>
                  <a:srgbClr val="C9C6C4"/>
                </a:solidFill>
                <a:latin typeface="Montserrat SemiBold" pitchFamily="34" charset="0"/>
                <a:ea typeface="Montserrat SemiBold" pitchFamily="34" charset="-122"/>
                <a:cs typeface="Montserrat SemiBold" pitchFamily="34" charset="-120"/>
              </a:rPr>
              <a:t>—</a:t>
            </a:r>
            <a:endParaRPr lang="en-US" sz="1200" dirty="0"/>
          </a:p>
        </p:txBody>
      </p:sp>
      <p:sp>
        <p:nvSpPr>
          <p:cNvPr id="15" name="Text 12"/>
          <p:cNvSpPr txBox="1"/>
          <p:nvPr/>
        </p:nvSpPr>
        <p:spPr>
          <a:xfrm>
            <a:off x="1325880" y="3145536"/>
            <a:ext cx="4754880" cy="237744"/>
          </a:xfrm>
          <a:prstGeom prst="rect">
            <a:avLst/>
          </a:prstGeom>
          <a:noFill/>
          <a:ln/>
        </p:spPr>
        <p:txBody>
          <a:bodyPr wrap="square" lIns="0" tIns="0" rIns="0" bIns="0" rtlCol="0" anchor="t"/>
          <a:lstStyle/>
          <a:p>
            <a:pPr marL="0" indent="0">
              <a:buNone/>
            </a:pPr>
            <a:r>
              <a:rPr lang="en-US" sz="1200" dirty="0">
                <a:solidFill>
                  <a:srgbClr val="6E7175"/>
                </a:solidFill>
                <a:latin typeface="Montserrat" pitchFamily="34" charset="0"/>
                <a:ea typeface="Montserrat" pitchFamily="34" charset="-122"/>
                <a:cs typeface="Montserrat" pitchFamily="34" charset="-120"/>
              </a:rPr>
              <a:t>March patch</a:t>
            </a:r>
            <a:r>
              <a:rPr lang="en-US" sz="1100" dirty="0">
                <a:solidFill>
                  <a:srgbClr val="6E7175"/>
                </a:solidFill>
                <a:latin typeface="Montserrat" pitchFamily="34" charset="0"/>
                <a:ea typeface="Montserrat" pitchFamily="34" charset="-122"/>
                <a:cs typeface="Montserrat" pitchFamily="34" charset="-120"/>
              </a:rPr>
              <a:t>   for flaw 1</a:t>
            </a:r>
            <a:endParaRPr lang="en-US" sz="1200" dirty="0"/>
          </a:p>
        </p:txBody>
      </p:sp>
      <p:sp>
        <p:nvSpPr>
          <p:cNvPr id="16" name="Text 13"/>
          <p:cNvSpPr txBox="1"/>
          <p:nvPr/>
        </p:nvSpPr>
        <p:spPr>
          <a:xfrm>
            <a:off x="1051560" y="3456432"/>
            <a:ext cx="219456" cy="237744"/>
          </a:xfrm>
          <a:prstGeom prst="rect">
            <a:avLst/>
          </a:prstGeom>
          <a:noFill/>
          <a:ln/>
        </p:spPr>
        <p:txBody>
          <a:bodyPr wrap="square" lIns="0" tIns="0" rIns="0" bIns="0" rtlCol="0" anchor="t"/>
          <a:lstStyle/>
          <a:p>
            <a:pPr marL="0" indent="0">
              <a:buNone/>
            </a:pPr>
            <a:r>
              <a:rPr lang="en-US" sz="1200" dirty="0">
                <a:solidFill>
                  <a:srgbClr val="C9C6C4"/>
                </a:solidFill>
                <a:latin typeface="Montserrat SemiBold" pitchFamily="34" charset="0"/>
                <a:ea typeface="Montserrat SemiBold" pitchFamily="34" charset="-122"/>
                <a:cs typeface="Montserrat SemiBold" pitchFamily="34" charset="-120"/>
              </a:rPr>
              <a:t>—</a:t>
            </a:r>
            <a:endParaRPr lang="en-US" sz="1200" dirty="0"/>
          </a:p>
        </p:txBody>
      </p:sp>
      <p:sp>
        <p:nvSpPr>
          <p:cNvPr id="17" name="Text 14"/>
          <p:cNvSpPr txBox="1"/>
          <p:nvPr/>
        </p:nvSpPr>
        <p:spPr>
          <a:xfrm>
            <a:off x="1325880" y="3456432"/>
            <a:ext cx="4754880" cy="237744"/>
          </a:xfrm>
          <a:prstGeom prst="rect">
            <a:avLst/>
          </a:prstGeom>
          <a:noFill/>
          <a:ln/>
        </p:spPr>
        <p:txBody>
          <a:bodyPr wrap="square" lIns="0" tIns="0" rIns="0" bIns="0" rtlCol="0" anchor="t"/>
          <a:lstStyle/>
          <a:p>
            <a:pPr marL="0" indent="0">
              <a:buNone/>
            </a:pPr>
            <a:r>
              <a:rPr lang="en-US" sz="1200" dirty="0">
                <a:solidFill>
                  <a:srgbClr val="6E7175"/>
                </a:solidFill>
                <a:latin typeface="Montserrat" pitchFamily="34" charset="0"/>
                <a:ea typeface="Montserrat" pitchFamily="34" charset="-122"/>
                <a:cs typeface="Montserrat" pitchFamily="34" charset="-120"/>
              </a:rPr>
              <a:t>June patch</a:t>
            </a:r>
            <a:r>
              <a:rPr lang="en-US" sz="1100" dirty="0">
                <a:solidFill>
                  <a:srgbClr val="6E7175"/>
                </a:solidFill>
                <a:latin typeface="Montserrat" pitchFamily="34" charset="0"/>
                <a:ea typeface="Montserrat" pitchFamily="34" charset="-122"/>
                <a:cs typeface="Montserrat" pitchFamily="34" charset="-120"/>
              </a:rPr>
              <a:t>   for flaw 2</a:t>
            </a:r>
            <a:endParaRPr lang="en-US" sz="1200" dirty="0"/>
          </a:p>
        </p:txBody>
      </p:sp>
      <p:sp>
        <p:nvSpPr>
          <p:cNvPr id="18" name="Text 15"/>
          <p:cNvSpPr txBox="1"/>
          <p:nvPr/>
        </p:nvSpPr>
        <p:spPr>
          <a:xfrm>
            <a:off x="1051560" y="3767328"/>
            <a:ext cx="219456" cy="237744"/>
          </a:xfrm>
          <a:prstGeom prst="rect">
            <a:avLst/>
          </a:prstGeom>
          <a:noFill/>
          <a:ln/>
        </p:spPr>
        <p:txBody>
          <a:bodyPr wrap="square" lIns="0" tIns="0" rIns="0" bIns="0" rtlCol="0" anchor="t"/>
          <a:lstStyle/>
          <a:p>
            <a:pPr marL="0" indent="0">
              <a:buNone/>
            </a:pPr>
            <a:r>
              <a:rPr lang="en-US" sz="1200" dirty="0">
                <a:solidFill>
                  <a:srgbClr val="942838"/>
                </a:solidFill>
                <a:latin typeface="Montserrat SemiBold" pitchFamily="34" charset="0"/>
                <a:ea typeface="Montserrat SemiBold" pitchFamily="34" charset="-122"/>
                <a:cs typeface="Montserrat SemiBold" pitchFamily="34" charset="-120"/>
              </a:rPr>
              <a:t>✓</a:t>
            </a:r>
            <a:endParaRPr lang="en-US" sz="1200" dirty="0"/>
          </a:p>
        </p:txBody>
      </p:sp>
      <p:sp>
        <p:nvSpPr>
          <p:cNvPr id="19" name="Text 16"/>
          <p:cNvSpPr txBox="1"/>
          <p:nvPr/>
        </p:nvSpPr>
        <p:spPr>
          <a:xfrm>
            <a:off x="1325880" y="3767328"/>
            <a:ext cx="4754880" cy="237744"/>
          </a:xfrm>
          <a:prstGeom prst="rect">
            <a:avLst/>
          </a:prstGeom>
          <a:noFill/>
          <a:ln/>
        </p:spPr>
        <p:txBody>
          <a:bodyPr wrap="square" lIns="0" tIns="0" rIns="0" bIns="0" rtlCol="0" anchor="t"/>
          <a:lstStyle/>
          <a:p>
            <a:pPr marL="0" indent="0">
              <a:buNone/>
            </a:pPr>
            <a:r>
              <a:rPr lang="en-US" sz="1200" dirty="0">
                <a:solidFill>
                  <a:srgbClr val="2B2D30"/>
                </a:solidFill>
                <a:latin typeface="Montserrat SemiBold" pitchFamily="34" charset="0"/>
                <a:ea typeface="Montserrat SemiBold" pitchFamily="34" charset="-122"/>
                <a:cs typeface="Montserrat SemiBold" pitchFamily="34" charset="-120"/>
              </a:rPr>
              <a:t>September patch</a:t>
            </a:r>
            <a:r>
              <a:rPr lang="en-US" sz="1100" dirty="0">
                <a:solidFill>
                  <a:srgbClr val="6E7175"/>
                </a:solidFill>
                <a:latin typeface="Montserrat" pitchFamily="34" charset="0"/>
                <a:ea typeface="Montserrat" pitchFamily="34" charset="-122"/>
                <a:cs typeface="Montserrat" pitchFamily="34" charset="-120"/>
              </a:rPr>
              <a:t>   for flaw 3</a:t>
            </a:r>
            <a:endParaRPr lang="en-US" sz="1200" dirty="0"/>
          </a:p>
        </p:txBody>
      </p:sp>
      <p:sp>
        <p:nvSpPr>
          <p:cNvPr id="20" name="Text 17"/>
          <p:cNvSpPr txBox="1"/>
          <p:nvPr/>
        </p:nvSpPr>
        <p:spPr>
          <a:xfrm>
            <a:off x="1051560" y="3950208"/>
            <a:ext cx="5029200" cy="237744"/>
          </a:xfrm>
          <a:prstGeom prst="rect">
            <a:avLst/>
          </a:prstGeom>
          <a:noFill/>
          <a:ln/>
        </p:spPr>
        <p:txBody>
          <a:bodyPr wrap="square" lIns="0" tIns="0" rIns="0" bIns="0" rtlCol="0" anchor="t"/>
          <a:lstStyle/>
          <a:p>
            <a:pPr marL="0" indent="0">
              <a:buNone/>
            </a:pPr>
            <a:r>
              <a:rPr lang="en-US" sz="1100" dirty="0">
                <a:solidFill>
                  <a:srgbClr val="942838"/>
                </a:solidFill>
                <a:latin typeface="Montserrat SemiBold" pitchFamily="34" charset="0"/>
                <a:ea typeface="Montserrat SemiBold" pitchFamily="34" charset="-122"/>
                <a:cs typeface="Montserrat SemiBold" pitchFamily="34" charset="-120"/>
              </a:rPr>
              <a:t>September already contains March and June — one action, not three.</a:t>
            </a:r>
            <a:endParaRPr lang="en-US" sz="1100" dirty="0"/>
          </a:p>
        </p:txBody>
      </p:sp>
      <p:sp>
        <p:nvSpPr>
          <p:cNvPr id="21" name="Shape 18"/>
          <p:cNvSpPr/>
          <p:nvPr/>
        </p:nvSpPr>
        <p:spPr>
          <a:xfrm>
            <a:off x="6766560" y="2633472"/>
            <a:ext cx="1402994" cy="1627632"/>
          </a:xfrm>
          <a:prstGeom prst="roundRect">
            <a:avLst>
              <a:gd name="adj" fmla="val 3910"/>
            </a:avLst>
          </a:prstGeom>
          <a:solidFill>
            <a:srgbClr val="F5F4F3"/>
          </a:solidFill>
          <a:ln w="9525">
            <a:solidFill>
              <a:srgbClr val="E6E4E2"/>
            </a:solidFill>
            <a:prstDash val="solid"/>
          </a:ln>
          <a:effectLst>
            <a:outerShdw algn="bl" rotWithShape="0">
              <a:srgbClr val="959092">
                <a:alpha val="0"/>
              </a:srgbClr>
            </a:outerShdw>
          </a:effectLst>
        </p:spPr>
        <p:txBody>
          <a:bodyPr/>
          <a:lstStyle/>
          <a:p>
            <a:endParaRPr lang="en-US"/>
          </a:p>
        </p:txBody>
      </p:sp>
      <p:sp>
        <p:nvSpPr>
          <p:cNvPr id="22" name="Text 19"/>
          <p:cNvSpPr txBox="1"/>
          <p:nvPr/>
        </p:nvSpPr>
        <p:spPr>
          <a:xfrm>
            <a:off x="6894576" y="3017520"/>
            <a:ext cx="1146962" cy="640080"/>
          </a:xfrm>
          <a:prstGeom prst="rect">
            <a:avLst/>
          </a:prstGeom>
          <a:noFill/>
          <a:ln/>
        </p:spPr>
        <p:txBody>
          <a:bodyPr wrap="square" lIns="0" tIns="0" rIns="0" bIns="0" rtlCol="0" anchor="t"/>
          <a:lstStyle/>
          <a:p>
            <a:pPr marL="0" indent="0" algn="ctr">
              <a:buNone/>
            </a:pPr>
            <a:r>
              <a:rPr lang="en-US" sz="4000" kern="0" spc="-160" dirty="0">
                <a:solidFill>
                  <a:srgbClr val="2B2D30"/>
                </a:solidFill>
                <a:latin typeface="Montserrat ExtraBold" pitchFamily="34" charset="0"/>
                <a:ea typeface="Montserrat ExtraBold" pitchFamily="34" charset="-122"/>
                <a:cs typeface="Montserrat ExtraBold" pitchFamily="34" charset="-120"/>
              </a:rPr>
              <a:t>209</a:t>
            </a:r>
            <a:endParaRPr lang="en-US" sz="4000" dirty="0"/>
          </a:p>
        </p:txBody>
      </p:sp>
      <p:sp>
        <p:nvSpPr>
          <p:cNvPr id="23" name="Text 20"/>
          <p:cNvSpPr txBox="1"/>
          <p:nvPr/>
        </p:nvSpPr>
        <p:spPr>
          <a:xfrm>
            <a:off x="6894576" y="3730752"/>
            <a:ext cx="1146962" cy="457200"/>
          </a:xfrm>
          <a:prstGeom prst="rect">
            <a:avLst/>
          </a:prstGeom>
          <a:noFill/>
          <a:ln/>
        </p:spPr>
        <p:txBody>
          <a:bodyPr wrap="square" lIns="0" tIns="0" rIns="0" bIns="0" rtlCol="0" anchor="t"/>
          <a:lstStyle/>
          <a:p>
            <a:pPr marL="0" indent="0" algn="ctr">
              <a:lnSpc>
                <a:spcPct val="120000"/>
              </a:lnSpc>
              <a:buNone/>
            </a:pPr>
            <a:r>
              <a:rPr lang="en-US" sz="950" kern="0" spc="30" dirty="0">
                <a:solidFill>
                  <a:srgbClr val="6E7175"/>
                </a:solidFill>
                <a:latin typeface="Montserrat Medium" pitchFamily="34" charset="0"/>
                <a:ea typeface="Montserrat Medium" pitchFamily="34" charset="-122"/>
                <a:cs typeface="Montserrat Medium" pitchFamily="34" charset="-120"/>
              </a:rPr>
              <a:t>rows on Kevlar’s list</a:t>
            </a:r>
            <a:endParaRPr lang="en-US" sz="950" dirty="0"/>
          </a:p>
        </p:txBody>
      </p:sp>
      <p:sp>
        <p:nvSpPr>
          <p:cNvPr id="24" name="Shape 21"/>
          <p:cNvSpPr/>
          <p:nvPr/>
        </p:nvSpPr>
        <p:spPr>
          <a:xfrm>
            <a:off x="8389010" y="2633472"/>
            <a:ext cx="1402994" cy="1627632"/>
          </a:xfrm>
          <a:prstGeom prst="roundRect">
            <a:avLst>
              <a:gd name="adj" fmla="val 3910"/>
            </a:avLst>
          </a:prstGeom>
          <a:solidFill>
            <a:srgbClr val="F6EEF0"/>
          </a:solidFill>
          <a:ln w="9525">
            <a:solidFill>
              <a:srgbClr val="942838"/>
            </a:solidFill>
            <a:prstDash val="solid"/>
          </a:ln>
          <a:effectLst>
            <a:outerShdw algn="bl" rotWithShape="0">
              <a:srgbClr val="959092">
                <a:alpha val="0"/>
              </a:srgbClr>
            </a:outerShdw>
          </a:effectLst>
        </p:spPr>
        <p:txBody>
          <a:bodyPr/>
          <a:lstStyle/>
          <a:p>
            <a:endParaRPr lang="en-US"/>
          </a:p>
        </p:txBody>
      </p:sp>
      <p:sp>
        <p:nvSpPr>
          <p:cNvPr id="25" name="Text 22"/>
          <p:cNvSpPr txBox="1"/>
          <p:nvPr/>
        </p:nvSpPr>
        <p:spPr>
          <a:xfrm>
            <a:off x="8517026" y="3017520"/>
            <a:ext cx="1146962" cy="640080"/>
          </a:xfrm>
          <a:prstGeom prst="rect">
            <a:avLst/>
          </a:prstGeom>
          <a:noFill/>
          <a:ln/>
        </p:spPr>
        <p:txBody>
          <a:bodyPr wrap="square" lIns="0" tIns="0" rIns="0" bIns="0" rtlCol="0" anchor="t"/>
          <a:lstStyle/>
          <a:p>
            <a:pPr marL="0" indent="0" algn="ctr">
              <a:buNone/>
            </a:pPr>
            <a:r>
              <a:rPr lang="en-US" sz="4000" kern="0" spc="-160" dirty="0">
                <a:solidFill>
                  <a:srgbClr val="942838"/>
                </a:solidFill>
                <a:latin typeface="Montserrat ExtraBold" pitchFamily="34" charset="0"/>
                <a:ea typeface="Montserrat ExtraBold" pitchFamily="34" charset="-122"/>
                <a:cs typeface="Montserrat ExtraBold" pitchFamily="34" charset="-120"/>
              </a:rPr>
              <a:t>46</a:t>
            </a:r>
            <a:endParaRPr lang="en-US" sz="4000" dirty="0"/>
          </a:p>
        </p:txBody>
      </p:sp>
      <p:sp>
        <p:nvSpPr>
          <p:cNvPr id="26" name="Text 23"/>
          <p:cNvSpPr txBox="1"/>
          <p:nvPr/>
        </p:nvSpPr>
        <p:spPr>
          <a:xfrm>
            <a:off x="8517026" y="3730752"/>
            <a:ext cx="1146962" cy="457200"/>
          </a:xfrm>
          <a:prstGeom prst="rect">
            <a:avLst/>
          </a:prstGeom>
          <a:noFill/>
          <a:ln/>
        </p:spPr>
        <p:txBody>
          <a:bodyPr wrap="square" lIns="0" tIns="0" rIns="0" bIns="0" rtlCol="0" anchor="t"/>
          <a:lstStyle/>
          <a:p>
            <a:pPr marL="0" indent="0" algn="ctr">
              <a:lnSpc>
                <a:spcPct val="120000"/>
              </a:lnSpc>
              <a:buNone/>
            </a:pPr>
            <a:r>
              <a:rPr lang="en-US" sz="950" kern="0" spc="30" dirty="0">
                <a:solidFill>
                  <a:srgbClr val="6E7175"/>
                </a:solidFill>
                <a:latin typeface="Montserrat Medium" pitchFamily="34" charset="0"/>
                <a:ea typeface="Montserrat Medium" pitchFamily="34" charset="-122"/>
                <a:cs typeface="Montserrat Medium" pitchFamily="34" charset="-120"/>
              </a:rPr>
              <a:t>tickets actually opened</a:t>
            </a:r>
            <a:endParaRPr lang="en-US" sz="950" dirty="0"/>
          </a:p>
        </p:txBody>
      </p:sp>
      <p:sp>
        <p:nvSpPr>
          <p:cNvPr id="27" name="Shape 24"/>
          <p:cNvSpPr/>
          <p:nvPr/>
        </p:nvSpPr>
        <p:spPr>
          <a:xfrm>
            <a:off x="10011461" y="2633472"/>
            <a:ext cx="1402994" cy="1627632"/>
          </a:xfrm>
          <a:prstGeom prst="roundRect">
            <a:avLst>
              <a:gd name="adj" fmla="val 3910"/>
            </a:avLst>
          </a:prstGeom>
          <a:solidFill>
            <a:srgbClr val="F6EEF0"/>
          </a:solidFill>
          <a:ln w="9525">
            <a:solidFill>
              <a:srgbClr val="942838"/>
            </a:solidFill>
            <a:prstDash val="solid"/>
          </a:ln>
          <a:effectLst>
            <a:outerShdw algn="bl" rotWithShape="0">
              <a:srgbClr val="959092">
                <a:alpha val="0"/>
              </a:srgbClr>
            </a:outerShdw>
          </a:effectLst>
        </p:spPr>
        <p:txBody>
          <a:bodyPr/>
          <a:lstStyle/>
          <a:p>
            <a:endParaRPr lang="en-US"/>
          </a:p>
        </p:txBody>
      </p:sp>
      <p:sp>
        <p:nvSpPr>
          <p:cNvPr id="28" name="Text 25"/>
          <p:cNvSpPr txBox="1"/>
          <p:nvPr/>
        </p:nvSpPr>
        <p:spPr>
          <a:xfrm>
            <a:off x="10139477" y="3017520"/>
            <a:ext cx="1146962" cy="640080"/>
          </a:xfrm>
          <a:prstGeom prst="rect">
            <a:avLst/>
          </a:prstGeom>
          <a:noFill/>
          <a:ln/>
        </p:spPr>
        <p:txBody>
          <a:bodyPr wrap="square" lIns="0" tIns="0" rIns="0" bIns="0" rtlCol="0" anchor="t"/>
          <a:lstStyle/>
          <a:p>
            <a:pPr marL="0" indent="0" algn="ctr">
              <a:buNone/>
            </a:pPr>
            <a:r>
              <a:rPr lang="en-US" sz="4000" kern="0" spc="-160" dirty="0">
                <a:solidFill>
                  <a:srgbClr val="942838"/>
                </a:solidFill>
                <a:latin typeface="Montserrat ExtraBold" pitchFamily="34" charset="0"/>
                <a:ea typeface="Montserrat ExtraBold" pitchFamily="34" charset="-122"/>
                <a:cs typeface="Montserrat ExtraBold" pitchFamily="34" charset="-120"/>
              </a:rPr>
              <a:t>78%</a:t>
            </a:r>
            <a:endParaRPr lang="en-US" sz="4000" dirty="0"/>
          </a:p>
        </p:txBody>
      </p:sp>
      <p:sp>
        <p:nvSpPr>
          <p:cNvPr id="29" name="Text 26"/>
          <p:cNvSpPr txBox="1"/>
          <p:nvPr/>
        </p:nvSpPr>
        <p:spPr>
          <a:xfrm>
            <a:off x="10139477" y="3730752"/>
            <a:ext cx="1146962" cy="457200"/>
          </a:xfrm>
          <a:prstGeom prst="rect">
            <a:avLst/>
          </a:prstGeom>
          <a:noFill/>
          <a:ln/>
        </p:spPr>
        <p:txBody>
          <a:bodyPr wrap="square" lIns="0" tIns="0" rIns="0" bIns="0" rtlCol="0" anchor="t"/>
          <a:lstStyle/>
          <a:p>
            <a:pPr marL="0" indent="0" algn="ctr">
              <a:lnSpc>
                <a:spcPct val="120000"/>
              </a:lnSpc>
              <a:buNone/>
            </a:pPr>
            <a:r>
              <a:rPr lang="en-US" sz="950" kern="0" spc="30" dirty="0">
                <a:solidFill>
                  <a:srgbClr val="6E7175"/>
                </a:solidFill>
                <a:latin typeface="Montserrat Medium" pitchFamily="34" charset="0"/>
                <a:ea typeface="Montserrat Medium" pitchFamily="34" charset="-122"/>
                <a:cs typeface="Montserrat Medium" pitchFamily="34" charset="-120"/>
              </a:rPr>
              <a:t>fewer — 163 absorbed</a:t>
            </a:r>
            <a:endParaRPr lang="en-US" sz="950" dirty="0"/>
          </a:p>
        </p:txBody>
      </p:sp>
      <p:sp>
        <p:nvSpPr>
          <p:cNvPr id="30" name="Text 27"/>
          <p:cNvSpPr txBox="1"/>
          <p:nvPr/>
        </p:nvSpPr>
        <p:spPr>
          <a:xfrm>
            <a:off x="777240" y="4462272"/>
            <a:ext cx="7315200" cy="201168"/>
          </a:xfrm>
          <a:prstGeom prst="rect">
            <a:avLst/>
          </a:prstGeom>
          <a:noFill/>
          <a:ln/>
        </p:spPr>
        <p:txBody>
          <a:bodyPr wrap="square" lIns="0" tIns="0" rIns="0" bIns="0" rtlCol="0" anchor="t"/>
          <a:lstStyle/>
          <a:p>
            <a:pPr marL="0" indent="0">
              <a:buNone/>
            </a:pPr>
            <a:r>
              <a:rPr lang="en-US" sz="850" kern="0" spc="140" dirty="0">
                <a:solidFill>
                  <a:srgbClr val="942838"/>
                </a:solidFill>
                <a:latin typeface="Montserrat SemiBold" pitchFamily="34" charset="0"/>
                <a:ea typeface="Montserrat SemiBold" pitchFamily="34" charset="-122"/>
                <a:cs typeface="Montserrat SemiBold" pitchFamily="34" charset="-120"/>
              </a:rPr>
              <a:t>EVERY SQUARE IS ONE ROW ON KEVLAR’S LIST  ·  RED BECAME A TICKET</a:t>
            </a:r>
            <a:endParaRPr lang="en-US" sz="850" dirty="0"/>
          </a:p>
        </p:txBody>
      </p:sp>
      <p:pic>
        <p:nvPicPr>
          <p:cNvPr id="31" name="Image 1" descr="/home/user/ai/assets/gen/chart-consolidation.png"/>
          <p:cNvPicPr>
            <a:picLocks noChangeAspect="1"/>
          </p:cNvPicPr>
          <p:nvPr/>
        </p:nvPicPr>
        <p:blipFill>
          <a:blip r:embed="rId4"/>
          <a:stretch>
            <a:fillRect/>
          </a:stretch>
        </p:blipFill>
        <p:spPr>
          <a:xfrm>
            <a:off x="1340968" y="4736592"/>
            <a:ext cx="9509760" cy="1092030"/>
          </a:xfrm>
          <a:prstGeom prst="rect">
            <a:avLst/>
          </a:prstGeom>
        </p:spPr>
      </p:pic>
      <p:sp>
        <p:nvSpPr>
          <p:cNvPr id="32" name="Text 28"/>
          <p:cNvSpPr txBox="1"/>
          <p:nvPr/>
        </p:nvSpPr>
        <p:spPr>
          <a:xfrm>
            <a:off x="777240" y="5907024"/>
            <a:ext cx="10637215" cy="274320"/>
          </a:xfrm>
          <a:prstGeom prst="rect">
            <a:avLst/>
          </a:prstGeom>
          <a:noFill/>
          <a:ln/>
        </p:spPr>
        <p:txBody>
          <a:bodyPr wrap="square" lIns="0" tIns="0" rIns="0" bIns="0" rtlCol="0" anchor="t"/>
          <a:lstStyle/>
          <a:p>
            <a:pPr marL="0" indent="0">
              <a:buNone/>
            </a:pPr>
            <a:r>
              <a:rPr lang="en-US" sz="1150" dirty="0">
                <a:solidFill>
                  <a:srgbClr val="2B2D30"/>
                </a:solidFill>
                <a:latin typeface="Montserrat SemiBold" pitchFamily="34" charset="0"/>
                <a:ea typeface="Montserrat SemiBold" pitchFamily="34" charset="-122"/>
                <a:cs typeface="Montserrat SemiBold" pitchFamily="34" charset="-120"/>
              </a:rPr>
              <a:t>Nothing was skipped. </a:t>
            </a:r>
            <a:r>
              <a:rPr lang="en-US" sz="1150" dirty="0">
                <a:solidFill>
                  <a:srgbClr val="6E7175"/>
                </a:solidFill>
                <a:latin typeface="Montserrat" pitchFamily="34" charset="0"/>
                <a:ea typeface="Montserrat" pitchFamily="34" charset="-122"/>
                <a:cs typeface="Montserrat" pitchFamily="34" charset="-120"/>
              </a:rPr>
              <a:t> Checked across all 2,658 machine-and-product combinations, not a sample.</a:t>
            </a:r>
            <a:endParaRPr lang="en-US" sz="11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user/ai/assets/gen/panel-r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ai/assets/gen/mark-slash-faint.png">    </p:cNvPr>
          <p:cNvPicPr>
            <a:picLocks noChangeAspect="1"/>
          </p:cNvPicPr>
          <p:nvPr/>
        </p:nvPicPr>
        <p:blipFill>
          <a:blip r:embed="rId2"/>
          <a:stretch>
            <a:fillRect/>
          </a:stretch>
        </p:blipFill>
        <p:spPr>
          <a:xfrm>
            <a:off x="8412480" y="-548640"/>
            <a:ext cx="4937760" cy="4937760"/>
          </a:xfrm>
          <a:prstGeom prst="rect">
            <a:avLst/>
          </a:prstGeom>
        </p:spPr>
      </p:pic>
      <p:pic>
        <p:nvPicPr>
          <p:cNvPr id="4" name="Image 2" descr="/home/user/ai/assets/gen/logo-white.png">    </p:cNvPr>
          <p:cNvPicPr>
            <a:picLocks noChangeAspect="1"/>
          </p:cNvPicPr>
          <p:nvPr/>
        </p:nvPicPr>
        <p:blipFill>
          <a:blip r:embed="rId3"/>
          <a:stretch>
            <a:fillRect/>
          </a:stretch>
        </p:blipFill>
        <p:spPr>
          <a:xfrm>
            <a:off x="9768535" y="457200"/>
            <a:ext cx="1645920" cy="166053"/>
          </a:xfrm>
          <a:prstGeom prst="rect">
            <a:avLst/>
          </a:prstGeom>
        </p:spPr>
      </p:pic>
      <p:sp>
        <p:nvSpPr>
          <p:cNvPr id="5" name="Text 0"/>
          <p:cNvSpPr txBox="1"/>
          <p:nvPr/>
        </p:nvSpPr>
        <p:spPr>
          <a:xfrm>
            <a:off x="777240" y="676656"/>
            <a:ext cx="5486400" cy="237744"/>
          </a:xfrm>
          <a:prstGeom prst="rect">
            <a:avLst/>
          </a:prstGeom>
          <a:noFill/>
          <a:ln/>
        </p:spPr>
        <p:txBody>
          <a:bodyPr wrap="square" lIns="0" tIns="0" rIns="0" bIns="0" rtlCol="0" anchor="t"/>
          <a:lstStyle/>
          <a:p>
            <a:pPr indent="0" marL="0">
              <a:buNone/>
            </a:pPr>
            <a:r>
              <a:rPr lang="en-US" sz="1000" spc="220" kern="0" dirty="0">
                <a:solidFill>
                  <a:srgbClr val="E4C9CE"/>
                </a:solidFill>
                <a:latin typeface="Montserrat SemiBold" pitchFamily="34" charset="0"/>
                <a:ea typeface="Montserrat SemiBold" pitchFamily="34" charset="-122"/>
                <a:cs typeface="Montserrat SemiBold" pitchFamily="34" charset="-120"/>
              </a:rPr>
              <a:t>SUMMARY</a:t>
            </a:r>
            <a:endParaRPr lang="en-US" sz="1000" dirty="0"/>
          </a:p>
        </p:txBody>
      </p:sp>
      <p:sp>
        <p:nvSpPr>
          <p:cNvPr id="6" name="Text 1"/>
          <p:cNvSpPr txBox="1"/>
          <p:nvPr/>
        </p:nvSpPr>
        <p:spPr>
          <a:xfrm>
            <a:off x="777240" y="969264"/>
            <a:ext cx="9509760" cy="749808"/>
          </a:xfrm>
          <a:prstGeom prst="rect">
            <a:avLst/>
          </a:prstGeom>
          <a:noFill/>
          <a:ln/>
        </p:spPr>
        <p:txBody>
          <a:bodyPr wrap="square" lIns="0" tIns="0" rIns="0" bIns="0" rtlCol="0" anchor="t"/>
          <a:lstStyle/>
          <a:p>
            <a:pPr indent="0" marL="0">
              <a:buNone/>
            </a:pPr>
            <a:r>
              <a:rPr lang="en-US" sz="3600" spc="-90" kern="0" dirty="0">
                <a:solidFill>
                  <a:srgbClr val="FFFFFF"/>
                </a:solidFill>
                <a:latin typeface="Montserrat ExtraBold" pitchFamily="34" charset="0"/>
                <a:ea typeface="Montserrat ExtraBold" pitchFamily="34" charset="-122"/>
                <a:cs typeface="Montserrat ExtraBold" pitchFamily="34" charset="-120"/>
              </a:rPr>
              <a:t>What this means for Stewart</a:t>
            </a:r>
            <a:endParaRPr lang="en-US" sz="3600" dirty="0"/>
          </a:p>
        </p:txBody>
      </p:sp>
      <p:sp>
        <p:nvSpPr>
          <p:cNvPr id="7" name="Shape 2"/>
          <p:cNvSpPr/>
          <p:nvPr/>
        </p:nvSpPr>
        <p:spPr>
          <a:xfrm>
            <a:off x="777240" y="1810512"/>
            <a:ext cx="640080" cy="50292"/>
          </a:xfrm>
          <a:prstGeom prst="rect">
            <a:avLst/>
          </a:prstGeom>
          <a:solidFill>
            <a:srgbClr val="FFFFFF"/>
          </a:solidFill>
          <a:ln/>
        </p:spPr>
      </p:sp>
      <p:sp>
        <p:nvSpPr>
          <p:cNvPr id="8" name="Text 3"/>
          <p:cNvSpPr txBox="1"/>
          <p:nvPr/>
        </p:nvSpPr>
        <p:spPr>
          <a:xfrm>
            <a:off x="777240" y="2029968"/>
            <a:ext cx="10241280" cy="310896"/>
          </a:xfrm>
          <a:prstGeom prst="rect">
            <a:avLst/>
          </a:prstGeom>
          <a:noFill/>
          <a:ln/>
        </p:spPr>
        <p:txBody>
          <a:bodyPr wrap="square" lIns="0" tIns="0" rIns="0" bIns="0" rtlCol="0" anchor="t"/>
          <a:lstStyle/>
          <a:p>
            <a:pPr indent="0" marL="0">
              <a:buNone/>
            </a:pPr>
            <a:r>
              <a:rPr lang="en-US" sz="1400" dirty="0">
                <a:solidFill>
                  <a:srgbClr val="DAB4BA"/>
                </a:solidFill>
                <a:latin typeface="Montserrat Medium" pitchFamily="34" charset="0"/>
                <a:ea typeface="Montserrat Medium" pitchFamily="34" charset="-122"/>
                <a:cs typeface="Montserrat Medium" pitchFamily="34" charset="-120"/>
              </a:rPr>
              <a:t>Three gaps going in. Where each one stands now.</a:t>
            </a:r>
            <a:endParaRPr lang="en-US" sz="1400" dirty="0"/>
          </a:p>
        </p:txBody>
      </p:sp>
      <p:sp>
        <p:nvSpPr>
          <p:cNvPr id="9" name="Text 4"/>
          <p:cNvSpPr txBox="1"/>
          <p:nvPr/>
        </p:nvSpPr>
        <p:spPr>
          <a:xfrm>
            <a:off x="777240" y="2542032"/>
            <a:ext cx="640080" cy="365760"/>
          </a:xfrm>
          <a:prstGeom prst="rect">
            <a:avLst/>
          </a:prstGeom>
          <a:noFill/>
          <a:ln/>
        </p:spPr>
        <p:txBody>
          <a:bodyPr wrap="square" lIns="0" tIns="0" rIns="0" bIns="0" rtlCol="0" anchor="t"/>
          <a:lstStyle/>
          <a:p>
            <a:pPr indent="0" marL="0">
              <a:buNone/>
            </a:pPr>
            <a:r>
              <a:rPr lang="en-US" sz="2400" spc="-40" kern="0" dirty="0">
                <a:solidFill>
                  <a:srgbClr val="B9737E"/>
                </a:solidFill>
                <a:latin typeface="Montserrat ExtraBold" pitchFamily="34" charset="0"/>
                <a:ea typeface="Montserrat ExtraBold" pitchFamily="34" charset="-122"/>
                <a:cs typeface="Montserrat ExtraBold" pitchFamily="34" charset="-120"/>
              </a:rPr>
              <a:t>01</a:t>
            </a:r>
            <a:endParaRPr lang="en-US" sz="2400" dirty="0"/>
          </a:p>
        </p:txBody>
      </p:sp>
      <p:sp>
        <p:nvSpPr>
          <p:cNvPr id="10" name="Text 5"/>
          <p:cNvSpPr txBox="1"/>
          <p:nvPr/>
        </p:nvSpPr>
        <p:spPr>
          <a:xfrm>
            <a:off x="1527048" y="2487168"/>
            <a:ext cx="1828800" cy="182880"/>
          </a:xfrm>
          <a:prstGeom prst="rect">
            <a:avLst/>
          </a:prstGeom>
          <a:noFill/>
          <a:ln/>
        </p:spPr>
        <p:txBody>
          <a:bodyPr wrap="square" lIns="0" tIns="0" rIns="0" bIns="0" rtlCol="0" anchor="t"/>
          <a:lstStyle/>
          <a:p>
            <a:pPr indent="0" marL="0">
              <a:buNone/>
            </a:pPr>
            <a:r>
              <a:rPr lang="en-US" sz="850" spc="140" kern="0" dirty="0">
                <a:solidFill>
                  <a:srgbClr val="CA949C"/>
                </a:solidFill>
                <a:latin typeface="Montserrat SemiBold" pitchFamily="34" charset="0"/>
                <a:ea typeface="Montserrat SemiBold" pitchFamily="34" charset="-122"/>
                <a:cs typeface="Montserrat SemiBold" pitchFamily="34" charset="-120"/>
              </a:rPr>
              <a:t>WAS</a:t>
            </a:r>
            <a:endParaRPr lang="en-US" sz="850" dirty="0"/>
          </a:p>
        </p:txBody>
      </p:sp>
      <p:sp>
        <p:nvSpPr>
          <p:cNvPr id="11" name="Text 6"/>
          <p:cNvSpPr txBox="1"/>
          <p:nvPr/>
        </p:nvSpPr>
        <p:spPr>
          <a:xfrm>
            <a:off x="1527048" y="2706624"/>
            <a:ext cx="3310128" cy="603504"/>
          </a:xfrm>
          <a:prstGeom prst="rect">
            <a:avLst/>
          </a:prstGeom>
          <a:noFill/>
          <a:ln/>
        </p:spPr>
        <p:txBody>
          <a:bodyPr wrap="square" lIns="0" tIns="0" rIns="0" bIns="0" rtlCol="0" anchor="t"/>
          <a:lstStyle/>
          <a:p>
            <a:pPr indent="0" marL="0">
              <a:lnSpc>
                <a:spcPct val="122000"/>
              </a:lnSpc>
              <a:buNone/>
            </a:pPr>
            <a:r>
              <a:rPr lang="en-US" sz="1100" dirty="0">
                <a:solidFill>
                  <a:srgbClr val="DAB4BA"/>
                </a:solidFill>
                <a:latin typeface="Montserrat" pitchFamily="34" charset="0"/>
                <a:ea typeface="Montserrat" pitchFamily="34" charset="-122"/>
                <a:cs typeface="Montserrat" pitchFamily="34" charset="-120"/>
              </a:rPr>
              <a:t>Machines could ship without their security baseline.</a:t>
            </a:r>
            <a:endParaRPr lang="en-US" sz="1100" dirty="0"/>
          </a:p>
        </p:txBody>
      </p:sp>
      <p:sp>
        <p:nvSpPr>
          <p:cNvPr id="12" name="Text 7"/>
          <p:cNvSpPr txBox="1"/>
          <p:nvPr/>
        </p:nvSpPr>
        <p:spPr>
          <a:xfrm>
            <a:off x="4882896" y="2651760"/>
            <a:ext cx="365760" cy="420624"/>
          </a:xfrm>
          <a:prstGeom prst="rect">
            <a:avLst/>
          </a:prstGeom>
          <a:noFill/>
          <a:ln/>
        </p:spPr>
        <p:txBody>
          <a:bodyPr wrap="square" lIns="0" tIns="0" rIns="0" bIns="0" rtlCol="0" anchor="ctr"/>
          <a:lstStyle/>
          <a:p>
            <a:pPr algn="ctr" indent="0" marL="0">
              <a:buNone/>
            </a:pPr>
            <a:r>
              <a:rPr lang="en-US" sz="2600" b="1" dirty="0">
                <a:solidFill>
                  <a:srgbClr val="CA949C"/>
                </a:solidFill>
                <a:latin typeface="Montserrat" pitchFamily="34" charset="0"/>
                <a:ea typeface="Montserrat" pitchFamily="34" charset="-122"/>
                <a:cs typeface="Montserrat" pitchFamily="34" charset="-120"/>
              </a:rPr>
              <a:t>›</a:t>
            </a:r>
            <a:endParaRPr lang="en-US" sz="2600" dirty="0"/>
          </a:p>
        </p:txBody>
      </p:sp>
      <p:sp>
        <p:nvSpPr>
          <p:cNvPr id="13" name="Shape 8"/>
          <p:cNvSpPr/>
          <p:nvPr/>
        </p:nvSpPr>
        <p:spPr>
          <a:xfrm>
            <a:off x="5486400" y="2432304"/>
            <a:ext cx="5928055" cy="914400"/>
          </a:xfrm>
          <a:prstGeom prst="roundRect">
            <a:avLst>
              <a:gd name="adj" fmla="val 5000"/>
            </a:avLst>
          </a:prstGeom>
          <a:solidFill>
            <a:srgbClr val="FFFFFF"/>
          </a:solidFill>
          <a:ln/>
          <a:effectLst>
            <a:outerShdw sx="100000" sy="100000" kx="0" ky="0" algn="bl" rotWithShape="0" blurRad="203200" dist="50800" dir="5400000">
              <a:srgbClr val="5D1923">
                <a:alpha val="34000"/>
              </a:srgbClr>
            </a:outerShdw>
          </a:effectLst>
        </p:spPr>
      </p:sp>
      <p:sp>
        <p:nvSpPr>
          <p:cNvPr id="14" name="Shape 9"/>
          <p:cNvSpPr/>
          <p:nvPr/>
        </p:nvSpPr>
        <p:spPr>
          <a:xfrm>
            <a:off x="5486400" y="2432304"/>
            <a:ext cx="45720" cy="914400"/>
          </a:xfrm>
          <a:prstGeom prst="rect">
            <a:avLst/>
          </a:prstGeom>
          <a:solidFill>
            <a:srgbClr val="942838"/>
          </a:solidFill>
          <a:ln/>
        </p:spPr>
      </p:sp>
      <p:sp>
        <p:nvSpPr>
          <p:cNvPr id="15" name="Text 10"/>
          <p:cNvSpPr txBox="1"/>
          <p:nvPr/>
        </p:nvSpPr>
        <p:spPr>
          <a:xfrm>
            <a:off x="5724144" y="2560320"/>
            <a:ext cx="1828800" cy="182880"/>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NOW</a:t>
            </a:r>
            <a:endParaRPr lang="en-US" sz="850" dirty="0"/>
          </a:p>
        </p:txBody>
      </p:sp>
      <p:sp>
        <p:nvSpPr>
          <p:cNvPr id="16" name="Text 11"/>
          <p:cNvSpPr txBox="1"/>
          <p:nvPr/>
        </p:nvSpPr>
        <p:spPr>
          <a:xfrm>
            <a:off x="5724144" y="2779776"/>
            <a:ext cx="5452567" cy="548640"/>
          </a:xfrm>
          <a:prstGeom prst="rect">
            <a:avLst/>
          </a:prstGeom>
          <a:noFill/>
          <a:ln/>
        </p:spPr>
        <p:txBody>
          <a:bodyPr wrap="square" lIns="0" tIns="0" rIns="0" bIns="0" rtlCol="0" anchor="t"/>
          <a:lstStyle/>
          <a:p>
            <a:pPr indent="0" marL="0">
              <a:lnSpc>
                <a:spcPct val="122000"/>
              </a:lnSpc>
              <a:buNone/>
            </a:pPr>
            <a:r>
              <a:rPr lang="en-US" sz="1150" dirty="0">
                <a:solidFill>
                  <a:srgbClr val="2B2D30"/>
                </a:solidFill>
                <a:latin typeface="Montserrat SemiBold" pitchFamily="34" charset="0"/>
                <a:ea typeface="Montserrat SemiBold" pitchFamily="34" charset="-122"/>
                <a:cs typeface="Montserrat SemiBold" pitchFamily="34" charset="-120"/>
              </a:rPr>
              <a:t>Nine required tools named, owners assigned, and a written framework staged for Q4 sign-off.</a:t>
            </a:r>
            <a:endParaRPr lang="en-US" sz="1150" dirty="0"/>
          </a:p>
        </p:txBody>
      </p:sp>
      <p:sp>
        <p:nvSpPr>
          <p:cNvPr id="17" name="Text 12"/>
          <p:cNvSpPr txBox="1"/>
          <p:nvPr/>
        </p:nvSpPr>
        <p:spPr>
          <a:xfrm>
            <a:off x="777240" y="3621024"/>
            <a:ext cx="640080" cy="365760"/>
          </a:xfrm>
          <a:prstGeom prst="rect">
            <a:avLst/>
          </a:prstGeom>
          <a:noFill/>
          <a:ln/>
        </p:spPr>
        <p:txBody>
          <a:bodyPr wrap="square" lIns="0" tIns="0" rIns="0" bIns="0" rtlCol="0" anchor="t"/>
          <a:lstStyle/>
          <a:p>
            <a:pPr indent="0" marL="0">
              <a:buNone/>
            </a:pPr>
            <a:r>
              <a:rPr lang="en-US" sz="2400" spc="-40" kern="0" dirty="0">
                <a:solidFill>
                  <a:srgbClr val="B9737E"/>
                </a:solidFill>
                <a:latin typeface="Montserrat ExtraBold" pitchFamily="34" charset="0"/>
                <a:ea typeface="Montserrat ExtraBold" pitchFamily="34" charset="-122"/>
                <a:cs typeface="Montserrat ExtraBold" pitchFamily="34" charset="-120"/>
              </a:rPr>
              <a:t>02</a:t>
            </a:r>
            <a:endParaRPr lang="en-US" sz="2400" dirty="0"/>
          </a:p>
        </p:txBody>
      </p:sp>
      <p:sp>
        <p:nvSpPr>
          <p:cNvPr id="18" name="Text 13"/>
          <p:cNvSpPr txBox="1"/>
          <p:nvPr/>
        </p:nvSpPr>
        <p:spPr>
          <a:xfrm>
            <a:off x="1527048" y="3566160"/>
            <a:ext cx="1828800" cy="182880"/>
          </a:xfrm>
          <a:prstGeom prst="rect">
            <a:avLst/>
          </a:prstGeom>
          <a:noFill/>
          <a:ln/>
        </p:spPr>
        <p:txBody>
          <a:bodyPr wrap="square" lIns="0" tIns="0" rIns="0" bIns="0" rtlCol="0" anchor="t"/>
          <a:lstStyle/>
          <a:p>
            <a:pPr indent="0" marL="0">
              <a:buNone/>
            </a:pPr>
            <a:r>
              <a:rPr lang="en-US" sz="850" spc="140" kern="0" dirty="0">
                <a:solidFill>
                  <a:srgbClr val="CA949C"/>
                </a:solidFill>
                <a:latin typeface="Montserrat SemiBold" pitchFamily="34" charset="0"/>
                <a:ea typeface="Montserrat SemiBold" pitchFamily="34" charset="-122"/>
                <a:cs typeface="Montserrat SemiBold" pitchFamily="34" charset="-120"/>
              </a:rPr>
              <a:t>WAS</a:t>
            </a:r>
            <a:endParaRPr lang="en-US" sz="850" dirty="0"/>
          </a:p>
        </p:txBody>
      </p:sp>
      <p:sp>
        <p:nvSpPr>
          <p:cNvPr id="19" name="Text 14"/>
          <p:cNvSpPr txBox="1"/>
          <p:nvPr/>
        </p:nvSpPr>
        <p:spPr>
          <a:xfrm>
            <a:off x="1527048" y="3785616"/>
            <a:ext cx="3310128" cy="603504"/>
          </a:xfrm>
          <a:prstGeom prst="rect">
            <a:avLst/>
          </a:prstGeom>
          <a:noFill/>
          <a:ln/>
        </p:spPr>
        <p:txBody>
          <a:bodyPr wrap="square" lIns="0" tIns="0" rIns="0" bIns="0" rtlCol="0" anchor="t"/>
          <a:lstStyle/>
          <a:p>
            <a:pPr indent="0" marL="0">
              <a:lnSpc>
                <a:spcPct val="122000"/>
              </a:lnSpc>
              <a:buNone/>
            </a:pPr>
            <a:r>
              <a:rPr lang="en-US" sz="1100" dirty="0">
                <a:solidFill>
                  <a:srgbClr val="DAB4BA"/>
                </a:solidFill>
                <a:latin typeface="Montserrat" pitchFamily="34" charset="0"/>
                <a:ea typeface="Montserrat" pitchFamily="34" charset="-122"/>
                <a:cs typeface="Montserrat" pitchFamily="34" charset="-120"/>
              </a:rPr>
              <a:t>Attackers hide malicious code inside the open-source packages we depend on.</a:t>
            </a:r>
            <a:endParaRPr lang="en-US" sz="1100" dirty="0"/>
          </a:p>
        </p:txBody>
      </p:sp>
      <p:sp>
        <p:nvSpPr>
          <p:cNvPr id="20" name="Text 15"/>
          <p:cNvSpPr txBox="1"/>
          <p:nvPr/>
        </p:nvSpPr>
        <p:spPr>
          <a:xfrm>
            <a:off x="4882896" y="3730752"/>
            <a:ext cx="365760" cy="420624"/>
          </a:xfrm>
          <a:prstGeom prst="rect">
            <a:avLst/>
          </a:prstGeom>
          <a:noFill/>
          <a:ln/>
        </p:spPr>
        <p:txBody>
          <a:bodyPr wrap="square" lIns="0" tIns="0" rIns="0" bIns="0" rtlCol="0" anchor="ctr"/>
          <a:lstStyle/>
          <a:p>
            <a:pPr algn="ctr" indent="0" marL="0">
              <a:buNone/>
            </a:pPr>
            <a:r>
              <a:rPr lang="en-US" sz="2600" b="1" dirty="0">
                <a:solidFill>
                  <a:srgbClr val="CA949C"/>
                </a:solidFill>
                <a:latin typeface="Montserrat" pitchFamily="34" charset="0"/>
                <a:ea typeface="Montserrat" pitchFamily="34" charset="-122"/>
                <a:cs typeface="Montserrat" pitchFamily="34" charset="-120"/>
              </a:rPr>
              <a:t>›</a:t>
            </a:r>
            <a:endParaRPr lang="en-US" sz="2600" dirty="0"/>
          </a:p>
        </p:txBody>
      </p:sp>
      <p:sp>
        <p:nvSpPr>
          <p:cNvPr id="21" name="Shape 16"/>
          <p:cNvSpPr/>
          <p:nvPr/>
        </p:nvSpPr>
        <p:spPr>
          <a:xfrm>
            <a:off x="5486400" y="3511296"/>
            <a:ext cx="5928055" cy="914400"/>
          </a:xfrm>
          <a:prstGeom prst="roundRect">
            <a:avLst>
              <a:gd name="adj" fmla="val 5000"/>
            </a:avLst>
          </a:prstGeom>
          <a:solidFill>
            <a:srgbClr val="FFFFFF"/>
          </a:solidFill>
          <a:ln/>
          <a:effectLst>
            <a:outerShdw sx="100000" sy="100000" kx="0" ky="0" algn="bl" rotWithShape="0" blurRad="2580640000" dist="645160000" dir="324000000000">
              <a:srgbClr val="5D1923">
                <a:alpha val="3400000000"/>
              </a:srgbClr>
            </a:outerShdw>
          </a:effectLst>
        </p:spPr>
      </p:sp>
      <p:sp>
        <p:nvSpPr>
          <p:cNvPr id="22" name="Shape 17"/>
          <p:cNvSpPr/>
          <p:nvPr/>
        </p:nvSpPr>
        <p:spPr>
          <a:xfrm>
            <a:off x="5486400" y="3511296"/>
            <a:ext cx="45720" cy="914400"/>
          </a:xfrm>
          <a:prstGeom prst="rect">
            <a:avLst/>
          </a:prstGeom>
          <a:solidFill>
            <a:srgbClr val="942838"/>
          </a:solidFill>
          <a:ln/>
        </p:spPr>
      </p:sp>
      <p:sp>
        <p:nvSpPr>
          <p:cNvPr id="23" name="Text 18"/>
          <p:cNvSpPr txBox="1"/>
          <p:nvPr/>
        </p:nvSpPr>
        <p:spPr>
          <a:xfrm>
            <a:off x="5724144" y="3639312"/>
            <a:ext cx="1828800" cy="182880"/>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NOW</a:t>
            </a:r>
            <a:endParaRPr lang="en-US" sz="850" dirty="0"/>
          </a:p>
        </p:txBody>
      </p:sp>
      <p:sp>
        <p:nvSpPr>
          <p:cNvPr id="24" name="Text 19"/>
          <p:cNvSpPr txBox="1"/>
          <p:nvPr/>
        </p:nvSpPr>
        <p:spPr>
          <a:xfrm>
            <a:off x="5724144" y="3858768"/>
            <a:ext cx="5452567" cy="548640"/>
          </a:xfrm>
          <a:prstGeom prst="rect">
            <a:avLst/>
          </a:prstGeom>
          <a:noFill/>
          <a:ln/>
        </p:spPr>
        <p:txBody>
          <a:bodyPr wrap="square" lIns="0" tIns="0" rIns="0" bIns="0" rtlCol="0" anchor="t"/>
          <a:lstStyle/>
          <a:p>
            <a:pPr indent="0" marL="0">
              <a:lnSpc>
                <a:spcPct val="122000"/>
              </a:lnSpc>
              <a:buNone/>
            </a:pPr>
            <a:r>
              <a:rPr lang="en-US" sz="1150" dirty="0">
                <a:solidFill>
                  <a:srgbClr val="2B2D30"/>
                </a:solidFill>
                <a:latin typeface="Montserrat SemiBold" pitchFamily="34" charset="0"/>
                <a:ea typeface="Montserrat SemiBold" pitchFamily="34" charset="-122"/>
                <a:cs typeface="Montserrat SemiBold" pitchFamily="34" charset="-120"/>
              </a:rPr>
              <a:t>AEGIS built, its safety rails tested, and run for real: 1,518 packages in a Stewart repository down to 3 needing a decision.</a:t>
            </a:r>
            <a:endParaRPr lang="en-US" sz="1150" dirty="0"/>
          </a:p>
        </p:txBody>
      </p:sp>
      <p:sp>
        <p:nvSpPr>
          <p:cNvPr id="25" name="Text 20"/>
          <p:cNvSpPr txBox="1"/>
          <p:nvPr/>
        </p:nvSpPr>
        <p:spPr>
          <a:xfrm>
            <a:off x="777240" y="4700016"/>
            <a:ext cx="640080" cy="365760"/>
          </a:xfrm>
          <a:prstGeom prst="rect">
            <a:avLst/>
          </a:prstGeom>
          <a:noFill/>
          <a:ln/>
        </p:spPr>
        <p:txBody>
          <a:bodyPr wrap="square" lIns="0" tIns="0" rIns="0" bIns="0" rtlCol="0" anchor="t"/>
          <a:lstStyle/>
          <a:p>
            <a:pPr indent="0" marL="0">
              <a:buNone/>
            </a:pPr>
            <a:r>
              <a:rPr lang="en-US" sz="2400" spc="-40" kern="0" dirty="0">
                <a:solidFill>
                  <a:srgbClr val="B9737E"/>
                </a:solidFill>
                <a:latin typeface="Montserrat ExtraBold" pitchFamily="34" charset="0"/>
                <a:ea typeface="Montserrat ExtraBold" pitchFamily="34" charset="-122"/>
                <a:cs typeface="Montserrat ExtraBold" pitchFamily="34" charset="-120"/>
              </a:rPr>
              <a:t>03</a:t>
            </a:r>
            <a:endParaRPr lang="en-US" sz="2400" dirty="0"/>
          </a:p>
        </p:txBody>
      </p:sp>
      <p:sp>
        <p:nvSpPr>
          <p:cNvPr id="26" name="Text 21"/>
          <p:cNvSpPr txBox="1"/>
          <p:nvPr/>
        </p:nvSpPr>
        <p:spPr>
          <a:xfrm>
            <a:off x="1527048" y="4645152"/>
            <a:ext cx="1828800" cy="182880"/>
          </a:xfrm>
          <a:prstGeom prst="rect">
            <a:avLst/>
          </a:prstGeom>
          <a:noFill/>
          <a:ln/>
        </p:spPr>
        <p:txBody>
          <a:bodyPr wrap="square" lIns="0" tIns="0" rIns="0" bIns="0" rtlCol="0" anchor="t"/>
          <a:lstStyle/>
          <a:p>
            <a:pPr indent="0" marL="0">
              <a:buNone/>
            </a:pPr>
            <a:r>
              <a:rPr lang="en-US" sz="850" spc="140" kern="0" dirty="0">
                <a:solidFill>
                  <a:srgbClr val="CA949C"/>
                </a:solidFill>
                <a:latin typeface="Montserrat SemiBold" pitchFamily="34" charset="0"/>
                <a:ea typeface="Montserrat SemiBold" pitchFamily="34" charset="-122"/>
                <a:cs typeface="Montserrat SemiBold" pitchFamily="34" charset="-120"/>
              </a:rPr>
              <a:t>WAS</a:t>
            </a:r>
            <a:endParaRPr lang="en-US" sz="850" dirty="0"/>
          </a:p>
        </p:txBody>
      </p:sp>
      <p:sp>
        <p:nvSpPr>
          <p:cNvPr id="27" name="Text 22"/>
          <p:cNvSpPr txBox="1"/>
          <p:nvPr/>
        </p:nvSpPr>
        <p:spPr>
          <a:xfrm>
            <a:off x="1527048" y="4864608"/>
            <a:ext cx="3310128" cy="603504"/>
          </a:xfrm>
          <a:prstGeom prst="rect">
            <a:avLst/>
          </a:prstGeom>
          <a:noFill/>
          <a:ln/>
        </p:spPr>
        <p:txBody>
          <a:bodyPr wrap="square" lIns="0" tIns="0" rIns="0" bIns="0" rtlCol="0" anchor="t"/>
          <a:lstStyle/>
          <a:p>
            <a:pPr indent="0" marL="0">
              <a:lnSpc>
                <a:spcPct val="122000"/>
              </a:lnSpc>
              <a:buNone/>
            </a:pPr>
            <a:r>
              <a:rPr lang="en-US" sz="1100" dirty="0">
                <a:solidFill>
                  <a:srgbClr val="DAB4BA"/>
                </a:solidFill>
                <a:latin typeface="Montserrat" pitchFamily="34" charset="0"/>
                <a:ea typeface="Montserrat" pitchFamily="34" charset="-122"/>
                <a:cs typeface="Montserrat" pitchFamily="34" charset="-120"/>
              </a:rPr>
              <a:t>Matching every tracked flaw to its patch took about two days of analyst time.</a:t>
            </a:r>
            <a:endParaRPr lang="en-US" sz="1100" dirty="0"/>
          </a:p>
        </p:txBody>
      </p:sp>
      <p:sp>
        <p:nvSpPr>
          <p:cNvPr id="28" name="Text 23"/>
          <p:cNvSpPr txBox="1"/>
          <p:nvPr/>
        </p:nvSpPr>
        <p:spPr>
          <a:xfrm>
            <a:off x="4882896" y="4809744"/>
            <a:ext cx="365760" cy="420624"/>
          </a:xfrm>
          <a:prstGeom prst="rect">
            <a:avLst/>
          </a:prstGeom>
          <a:noFill/>
          <a:ln/>
        </p:spPr>
        <p:txBody>
          <a:bodyPr wrap="square" lIns="0" tIns="0" rIns="0" bIns="0" rtlCol="0" anchor="ctr"/>
          <a:lstStyle/>
          <a:p>
            <a:pPr algn="ctr" indent="0" marL="0">
              <a:buNone/>
            </a:pPr>
            <a:r>
              <a:rPr lang="en-US" sz="2600" b="1" dirty="0">
                <a:solidFill>
                  <a:srgbClr val="CA949C"/>
                </a:solidFill>
                <a:latin typeface="Montserrat" pitchFamily="34" charset="0"/>
                <a:ea typeface="Montserrat" pitchFamily="34" charset="-122"/>
                <a:cs typeface="Montserrat" pitchFamily="34" charset="-120"/>
              </a:rPr>
              <a:t>›</a:t>
            </a:r>
            <a:endParaRPr lang="en-US" sz="2600" dirty="0"/>
          </a:p>
        </p:txBody>
      </p:sp>
      <p:sp>
        <p:nvSpPr>
          <p:cNvPr id="29" name="Shape 24"/>
          <p:cNvSpPr/>
          <p:nvPr/>
        </p:nvSpPr>
        <p:spPr>
          <a:xfrm>
            <a:off x="5486400" y="4590288"/>
            <a:ext cx="5928055" cy="914400"/>
          </a:xfrm>
          <a:prstGeom prst="roundRect">
            <a:avLst>
              <a:gd name="adj" fmla="val 5000"/>
            </a:avLst>
          </a:prstGeom>
          <a:solidFill>
            <a:srgbClr val="FFFFFF"/>
          </a:solidFill>
          <a:ln/>
          <a:effectLst>
            <a:outerShdw sx="100000" sy="100000" kx="0" ky="0" algn="bl" rotWithShape="0" blurRad="32774128000000" dist="8193532000000" dir="19440000000000000">
              <a:srgbClr val="5D1923">
                <a:alpha val="340000000000000"/>
              </a:srgbClr>
            </a:outerShdw>
          </a:effectLst>
        </p:spPr>
      </p:sp>
      <p:sp>
        <p:nvSpPr>
          <p:cNvPr id="30" name="Shape 25"/>
          <p:cNvSpPr/>
          <p:nvPr/>
        </p:nvSpPr>
        <p:spPr>
          <a:xfrm>
            <a:off x="5486400" y="4590288"/>
            <a:ext cx="45720" cy="914400"/>
          </a:xfrm>
          <a:prstGeom prst="rect">
            <a:avLst/>
          </a:prstGeom>
          <a:solidFill>
            <a:srgbClr val="942838"/>
          </a:solidFill>
          <a:ln/>
        </p:spPr>
      </p:sp>
      <p:sp>
        <p:nvSpPr>
          <p:cNvPr id="31" name="Text 26"/>
          <p:cNvSpPr txBox="1"/>
          <p:nvPr/>
        </p:nvSpPr>
        <p:spPr>
          <a:xfrm>
            <a:off x="5724144" y="4718304"/>
            <a:ext cx="1828800" cy="182880"/>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NOW</a:t>
            </a:r>
            <a:endParaRPr lang="en-US" sz="850" dirty="0"/>
          </a:p>
        </p:txBody>
      </p:sp>
      <p:sp>
        <p:nvSpPr>
          <p:cNvPr id="32" name="Text 27"/>
          <p:cNvSpPr txBox="1"/>
          <p:nvPr/>
        </p:nvSpPr>
        <p:spPr>
          <a:xfrm>
            <a:off x="5724144" y="4937760"/>
            <a:ext cx="5452567" cy="548640"/>
          </a:xfrm>
          <a:prstGeom prst="rect">
            <a:avLst/>
          </a:prstGeom>
          <a:noFill/>
          <a:ln/>
        </p:spPr>
        <p:txBody>
          <a:bodyPr wrap="square" lIns="0" tIns="0" rIns="0" bIns="0" rtlCol="0" anchor="t"/>
          <a:lstStyle/>
          <a:p>
            <a:pPr indent="0" marL="0">
              <a:lnSpc>
                <a:spcPct val="122000"/>
              </a:lnSpc>
              <a:buNone/>
            </a:pPr>
            <a:r>
              <a:rPr lang="en-US" sz="1150" dirty="0">
                <a:solidFill>
                  <a:srgbClr val="2B2D30"/>
                </a:solidFill>
                <a:latin typeface="Montserrat SemiBold" pitchFamily="34" charset="0"/>
                <a:ea typeface="Montserrat SemiBold" pitchFamily="34" charset="-122"/>
                <a:cs typeface="Montserrat SemiBold" pitchFamily="34" charset="-120"/>
              </a:rPr>
              <a:t>117 matched in ~12 seconds, and 209 rows collapsed to 46 tickets with nothing skipped.</a:t>
            </a:r>
            <a:endParaRPr lang="en-US" sz="1150" dirty="0"/>
          </a:p>
        </p:txBody>
      </p:sp>
      <p:sp>
        <p:nvSpPr>
          <p:cNvPr id="33" name="Text 28"/>
          <p:cNvSpPr txBox="1"/>
          <p:nvPr/>
        </p:nvSpPr>
        <p:spPr>
          <a:xfrm>
            <a:off x="777240" y="5833872"/>
            <a:ext cx="10637215" cy="310896"/>
          </a:xfrm>
          <a:prstGeom prst="rect">
            <a:avLst/>
          </a:prstGeom>
          <a:noFill/>
          <a:ln/>
        </p:spPr>
        <p:txBody>
          <a:bodyPr wrap="square" lIns="0" tIns="0" rIns="0" bIns="0" rtlCol="0" anchor="t"/>
          <a:lstStyle/>
          <a:p>
            <a:pPr indent="0" marL="0">
              <a:buNone/>
            </a:pPr>
            <a:r>
              <a:rPr lang="en-US" sz="1300" dirty="0">
                <a:solidFill>
                  <a:srgbClr val="FFFFFF"/>
                </a:solidFill>
                <a:latin typeface="Montserrat SemiBold" pitchFamily="34" charset="0"/>
                <a:ea typeface="Montserrat SemiBold" pitchFamily="34" charset="-122"/>
                <a:cs typeface="Montserrat SemiBold" pitchFamily="34" charset="-120"/>
              </a:rPr>
              <a:t>All three leave something behind: a written framework, a working scanner, and a script the team can run every cycle.</a:t>
            </a:r>
            <a:endParaRPr lang="en-US" sz="1300" dirty="0"/>
          </a:p>
        </p:txBody>
      </p:sp>
      <p:sp>
        <p:nvSpPr>
          <p:cNvPr id="34" name="Text 29"/>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SUMMARY</a:t>
            </a:r>
            <a:endParaRPr lang="en-US" sz="850" dirty="0"/>
          </a:p>
        </p:txBody>
      </p:sp>
      <p:sp>
        <p:nvSpPr>
          <p:cNvPr id="35" name="Text 30"/>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21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home/user/ai/assets/gen/panel-red.png"/>
          <p:cNvPicPr>
            <a:picLocks noChangeAspect="1"/>
          </p:cNvPicPr>
          <p:nvPr/>
        </p:nvPicPr>
        <p:blipFill>
          <a:blip r:embed="rId3"/>
          <a:stretch>
            <a:fillRect/>
          </a:stretch>
        </p:blipFill>
        <p:spPr>
          <a:xfrm>
            <a:off x="0" y="0"/>
            <a:ext cx="12191695" cy="6858000"/>
          </a:xfrm>
          <a:prstGeom prst="rect">
            <a:avLst/>
          </a:prstGeom>
        </p:spPr>
      </p:pic>
      <p:pic>
        <p:nvPicPr>
          <p:cNvPr id="3" name="Image 1" descr="/home/user/ai/assets/gen/mark-slash-faint.png"/>
          <p:cNvPicPr>
            <a:picLocks noChangeAspect="1"/>
          </p:cNvPicPr>
          <p:nvPr/>
        </p:nvPicPr>
        <p:blipFill>
          <a:blip r:embed="rId4"/>
          <a:stretch>
            <a:fillRect/>
          </a:stretch>
        </p:blipFill>
        <p:spPr>
          <a:xfrm>
            <a:off x="8595360" y="2377440"/>
            <a:ext cx="5120640" cy="5120640"/>
          </a:xfrm>
          <a:prstGeom prst="rect">
            <a:avLst/>
          </a:prstGeom>
        </p:spPr>
      </p:pic>
      <p:pic>
        <p:nvPicPr>
          <p:cNvPr id="4" name="Image 2" descr="/home/user/ai/assets/gen/logo-white.png"/>
          <p:cNvPicPr>
            <a:picLocks noChangeAspect="1"/>
          </p:cNvPicPr>
          <p:nvPr/>
        </p:nvPicPr>
        <p:blipFill>
          <a:blip r:embed="rId5"/>
          <a:stretch>
            <a:fillRect/>
          </a:stretch>
        </p:blipFill>
        <p:spPr>
          <a:xfrm>
            <a:off x="9768535" y="457200"/>
            <a:ext cx="1645920" cy="166053"/>
          </a:xfrm>
          <a:prstGeom prst="rect">
            <a:avLst/>
          </a:prstGeom>
        </p:spPr>
      </p:pic>
      <p:sp>
        <p:nvSpPr>
          <p:cNvPr id="5" name="Text 0"/>
          <p:cNvSpPr txBox="1"/>
          <p:nvPr/>
        </p:nvSpPr>
        <p:spPr>
          <a:xfrm>
            <a:off x="777240" y="713232"/>
            <a:ext cx="5486400" cy="237744"/>
          </a:xfrm>
          <a:prstGeom prst="rect">
            <a:avLst/>
          </a:prstGeom>
          <a:noFill/>
          <a:ln/>
        </p:spPr>
        <p:txBody>
          <a:bodyPr wrap="square" lIns="0" tIns="0" rIns="0" bIns="0" rtlCol="0" anchor="t"/>
          <a:lstStyle/>
          <a:p>
            <a:pPr marL="0" indent="0">
              <a:buNone/>
            </a:pPr>
            <a:r>
              <a:rPr lang="en-US" sz="1000" kern="0" spc="220" dirty="0">
                <a:solidFill>
                  <a:srgbClr val="E4C9CE"/>
                </a:solidFill>
                <a:latin typeface="Montserrat SemiBold" pitchFamily="34" charset="0"/>
                <a:ea typeface="Montserrat SemiBold" pitchFamily="34" charset="-122"/>
                <a:cs typeface="Montserrat SemiBold" pitchFamily="34" charset="-120"/>
              </a:rPr>
              <a:t>IN CLOSING</a:t>
            </a:r>
            <a:endParaRPr lang="en-US" sz="1000" dirty="0"/>
          </a:p>
        </p:txBody>
      </p:sp>
      <p:sp>
        <p:nvSpPr>
          <p:cNvPr id="6" name="Text 1"/>
          <p:cNvSpPr txBox="1"/>
          <p:nvPr/>
        </p:nvSpPr>
        <p:spPr>
          <a:xfrm>
            <a:off x="777240" y="1042416"/>
            <a:ext cx="7315200" cy="896112"/>
          </a:xfrm>
          <a:prstGeom prst="rect">
            <a:avLst/>
          </a:prstGeom>
          <a:noFill/>
          <a:ln/>
        </p:spPr>
        <p:txBody>
          <a:bodyPr wrap="square" lIns="0" tIns="0" rIns="0" bIns="0" rtlCol="0" anchor="t"/>
          <a:lstStyle/>
          <a:p>
            <a:pPr marL="0" indent="0">
              <a:buNone/>
            </a:pPr>
            <a:r>
              <a:rPr lang="en-US" sz="4600" kern="0" spc="-120" dirty="0">
                <a:solidFill>
                  <a:srgbClr val="FFFFFF"/>
                </a:solidFill>
                <a:latin typeface="Montserrat ExtraBold" pitchFamily="34" charset="0"/>
                <a:ea typeface="Montserrat ExtraBold" pitchFamily="34" charset="-122"/>
                <a:cs typeface="Montserrat ExtraBold" pitchFamily="34" charset="-120"/>
              </a:rPr>
              <a:t>Thank you</a:t>
            </a:r>
            <a:endParaRPr lang="en-US" sz="4600" dirty="0"/>
          </a:p>
        </p:txBody>
      </p:sp>
      <p:sp>
        <p:nvSpPr>
          <p:cNvPr id="7" name="Shape 2"/>
          <p:cNvSpPr/>
          <p:nvPr/>
        </p:nvSpPr>
        <p:spPr>
          <a:xfrm>
            <a:off x="777240" y="2066544"/>
            <a:ext cx="640080" cy="50292"/>
          </a:xfrm>
          <a:prstGeom prst="rect">
            <a:avLst/>
          </a:prstGeom>
          <a:solidFill>
            <a:srgbClr val="FFFFFF"/>
          </a:solidFill>
          <a:ln/>
        </p:spPr>
        <p:txBody>
          <a:bodyPr/>
          <a:lstStyle/>
          <a:p>
            <a:endParaRPr lang="en-US"/>
          </a:p>
        </p:txBody>
      </p:sp>
      <p:sp>
        <p:nvSpPr>
          <p:cNvPr id="8" name="Text 3"/>
          <p:cNvSpPr txBox="1"/>
          <p:nvPr/>
        </p:nvSpPr>
        <p:spPr>
          <a:xfrm>
            <a:off x="777240" y="2340864"/>
            <a:ext cx="7863840" cy="566928"/>
          </a:xfrm>
          <a:prstGeom prst="rect">
            <a:avLst/>
          </a:prstGeom>
          <a:noFill/>
          <a:ln/>
        </p:spPr>
        <p:txBody>
          <a:bodyPr wrap="square" lIns="0" tIns="0" rIns="0" bIns="0" rtlCol="0" anchor="t"/>
          <a:lstStyle/>
          <a:p>
            <a:pPr marL="0" indent="0">
              <a:lnSpc>
                <a:spcPct val="130000"/>
              </a:lnSpc>
              <a:buNone/>
            </a:pPr>
            <a:r>
              <a:rPr lang="en-US" sz="1400" dirty="0">
                <a:solidFill>
                  <a:srgbClr val="DAB4BA"/>
                </a:solidFill>
                <a:latin typeface="Montserrat Medium" pitchFamily="34" charset="0"/>
                <a:ea typeface="Montserrat Medium" pitchFamily="34" charset="-122"/>
                <a:cs typeface="Montserrat Medium" pitchFamily="34" charset="-120"/>
              </a:rPr>
              <a:t>Everything in this deck exists because people here made room for an intern to do real work and because plenty of them guided me towards the correct answers.</a:t>
            </a:r>
            <a:endParaRPr lang="en-US" sz="1400" dirty="0"/>
          </a:p>
        </p:txBody>
      </p:sp>
      <p:sp>
        <p:nvSpPr>
          <p:cNvPr id="9" name="Shape 4"/>
          <p:cNvSpPr/>
          <p:nvPr/>
        </p:nvSpPr>
        <p:spPr>
          <a:xfrm>
            <a:off x="777240" y="3182112"/>
            <a:ext cx="45720" cy="384048"/>
          </a:xfrm>
          <a:prstGeom prst="rect">
            <a:avLst/>
          </a:prstGeom>
          <a:solidFill>
            <a:srgbClr val="FFFFFF"/>
          </a:solidFill>
          <a:ln/>
        </p:spPr>
        <p:txBody>
          <a:bodyPr/>
          <a:lstStyle/>
          <a:p>
            <a:endParaRPr lang="en-US"/>
          </a:p>
        </p:txBody>
      </p:sp>
      <p:sp>
        <p:nvSpPr>
          <p:cNvPr id="10" name="Text 5"/>
          <p:cNvSpPr txBox="1"/>
          <p:nvPr/>
        </p:nvSpPr>
        <p:spPr>
          <a:xfrm>
            <a:off x="1014984" y="3127248"/>
            <a:ext cx="9692640" cy="274320"/>
          </a:xfrm>
          <a:prstGeom prst="rect">
            <a:avLst/>
          </a:prstGeom>
          <a:noFill/>
          <a:ln/>
        </p:spPr>
        <p:txBody>
          <a:bodyPr wrap="square" lIns="0" tIns="0" rIns="0" bIns="0" rtlCol="0" anchor="t"/>
          <a:lstStyle/>
          <a:p>
            <a:pPr marL="0" indent="0">
              <a:buNone/>
            </a:pPr>
            <a:r>
              <a:rPr lang="en-US" sz="1400" dirty="0">
                <a:solidFill>
                  <a:srgbClr val="FFFFFF"/>
                </a:solidFill>
                <a:latin typeface="Montserrat SemiBold" pitchFamily="34" charset="0"/>
                <a:ea typeface="Montserrat SemiBold" pitchFamily="34" charset="-122"/>
                <a:cs typeface="Montserrat SemiBold" pitchFamily="34" charset="-120"/>
              </a:rPr>
              <a:t>To the Information Security team</a:t>
            </a:r>
            <a:endParaRPr lang="en-US" sz="1400" dirty="0"/>
          </a:p>
        </p:txBody>
      </p:sp>
      <p:sp>
        <p:nvSpPr>
          <p:cNvPr id="11" name="Text 6"/>
          <p:cNvSpPr txBox="1"/>
          <p:nvPr/>
        </p:nvSpPr>
        <p:spPr>
          <a:xfrm>
            <a:off x="1014984" y="3419856"/>
            <a:ext cx="9326880" cy="310896"/>
          </a:xfrm>
          <a:prstGeom prst="rect">
            <a:avLst/>
          </a:prstGeom>
          <a:noFill/>
          <a:ln/>
        </p:spPr>
        <p:txBody>
          <a:bodyPr wrap="square" lIns="0" tIns="0" rIns="0" bIns="0" rtlCol="0" anchor="t"/>
          <a:lstStyle/>
          <a:p>
            <a:pPr marL="0" indent="0">
              <a:lnSpc>
                <a:spcPct val="120000"/>
              </a:lnSpc>
              <a:buNone/>
            </a:pPr>
            <a:r>
              <a:rPr lang="en-US" sz="1100" dirty="0">
                <a:solidFill>
                  <a:srgbClr val="DAB4BA"/>
                </a:solidFill>
                <a:latin typeface="Montserrat" pitchFamily="34" charset="0"/>
                <a:ea typeface="Montserrat" pitchFamily="34" charset="-122"/>
                <a:cs typeface="Montserrat" pitchFamily="34" charset="-120"/>
              </a:rPr>
              <a:t>For handing me problems that mattered and trusting me to work on them properly.</a:t>
            </a:r>
            <a:endParaRPr lang="en-US" sz="1100" dirty="0"/>
          </a:p>
        </p:txBody>
      </p:sp>
      <p:sp>
        <p:nvSpPr>
          <p:cNvPr id="12" name="Shape 7"/>
          <p:cNvSpPr/>
          <p:nvPr/>
        </p:nvSpPr>
        <p:spPr>
          <a:xfrm>
            <a:off x="777240" y="3858768"/>
            <a:ext cx="10637215" cy="7315"/>
          </a:xfrm>
          <a:prstGeom prst="rect">
            <a:avLst/>
          </a:prstGeom>
          <a:solidFill>
            <a:srgbClr val="CA949C"/>
          </a:solidFill>
          <a:ln/>
        </p:spPr>
        <p:txBody>
          <a:bodyPr/>
          <a:lstStyle/>
          <a:p>
            <a:endParaRPr lang="en-US"/>
          </a:p>
        </p:txBody>
      </p:sp>
      <p:sp>
        <p:nvSpPr>
          <p:cNvPr id="13" name="Shape 8"/>
          <p:cNvSpPr/>
          <p:nvPr/>
        </p:nvSpPr>
        <p:spPr>
          <a:xfrm>
            <a:off x="777240" y="4041648"/>
            <a:ext cx="45720" cy="384048"/>
          </a:xfrm>
          <a:prstGeom prst="rect">
            <a:avLst/>
          </a:prstGeom>
          <a:solidFill>
            <a:srgbClr val="FFFFFF"/>
          </a:solidFill>
          <a:ln/>
        </p:spPr>
        <p:txBody>
          <a:bodyPr/>
          <a:lstStyle/>
          <a:p>
            <a:endParaRPr lang="en-US"/>
          </a:p>
        </p:txBody>
      </p:sp>
      <p:sp>
        <p:nvSpPr>
          <p:cNvPr id="14" name="Text 9"/>
          <p:cNvSpPr txBox="1"/>
          <p:nvPr/>
        </p:nvSpPr>
        <p:spPr>
          <a:xfrm>
            <a:off x="1014984" y="3986784"/>
            <a:ext cx="9692640" cy="274320"/>
          </a:xfrm>
          <a:prstGeom prst="rect">
            <a:avLst/>
          </a:prstGeom>
          <a:noFill/>
          <a:ln/>
        </p:spPr>
        <p:txBody>
          <a:bodyPr wrap="square" lIns="0" tIns="0" rIns="0" bIns="0" rtlCol="0" anchor="t"/>
          <a:lstStyle/>
          <a:p>
            <a:pPr marL="0" indent="0">
              <a:buNone/>
            </a:pPr>
            <a:r>
              <a:rPr lang="en-US" sz="1400" dirty="0">
                <a:solidFill>
                  <a:srgbClr val="FFFFFF"/>
                </a:solidFill>
                <a:latin typeface="Montserrat SemiBold" pitchFamily="34" charset="0"/>
                <a:ea typeface="Montserrat SemiBold" pitchFamily="34" charset="-122"/>
                <a:cs typeface="Montserrat SemiBold" pitchFamily="34" charset="-120"/>
              </a:rPr>
              <a:t>To Vulnerability Management, Application Security and Network Security</a:t>
            </a:r>
            <a:endParaRPr lang="en-US" sz="1400" dirty="0"/>
          </a:p>
        </p:txBody>
      </p:sp>
      <p:sp>
        <p:nvSpPr>
          <p:cNvPr id="15" name="Text 10"/>
          <p:cNvSpPr txBox="1"/>
          <p:nvPr/>
        </p:nvSpPr>
        <p:spPr>
          <a:xfrm>
            <a:off x="1014984" y="4279392"/>
            <a:ext cx="9326880" cy="310896"/>
          </a:xfrm>
          <a:prstGeom prst="rect">
            <a:avLst/>
          </a:prstGeom>
          <a:noFill/>
          <a:ln/>
        </p:spPr>
        <p:txBody>
          <a:bodyPr wrap="square" lIns="0" tIns="0" rIns="0" bIns="0" rtlCol="0" anchor="t"/>
          <a:lstStyle/>
          <a:p>
            <a:pPr marL="0" indent="0">
              <a:lnSpc>
                <a:spcPct val="120000"/>
              </a:lnSpc>
              <a:buNone/>
            </a:pPr>
            <a:r>
              <a:rPr lang="en-US" sz="1100" dirty="0">
                <a:solidFill>
                  <a:srgbClr val="DAB4BA"/>
                </a:solidFill>
                <a:latin typeface="Montserrat" pitchFamily="34" charset="0"/>
                <a:ea typeface="Montserrat" pitchFamily="34" charset="-122"/>
                <a:cs typeface="Montserrat" pitchFamily="34" charset="-120"/>
              </a:rPr>
              <a:t>Three rotations, three different ways of looking at the same job. I learned something distinct in each one.</a:t>
            </a:r>
            <a:endParaRPr lang="en-US" sz="1100" dirty="0"/>
          </a:p>
        </p:txBody>
      </p:sp>
      <p:sp>
        <p:nvSpPr>
          <p:cNvPr id="16" name="Shape 11"/>
          <p:cNvSpPr/>
          <p:nvPr/>
        </p:nvSpPr>
        <p:spPr>
          <a:xfrm>
            <a:off x="777240" y="4718304"/>
            <a:ext cx="10637215" cy="7315"/>
          </a:xfrm>
          <a:prstGeom prst="rect">
            <a:avLst/>
          </a:prstGeom>
          <a:solidFill>
            <a:srgbClr val="CA949C"/>
          </a:solidFill>
          <a:ln/>
        </p:spPr>
        <p:txBody>
          <a:bodyPr/>
          <a:lstStyle/>
          <a:p>
            <a:endParaRPr lang="en-US"/>
          </a:p>
        </p:txBody>
      </p:sp>
      <p:sp>
        <p:nvSpPr>
          <p:cNvPr id="17" name="Shape 12"/>
          <p:cNvSpPr/>
          <p:nvPr/>
        </p:nvSpPr>
        <p:spPr>
          <a:xfrm>
            <a:off x="777240" y="4901184"/>
            <a:ext cx="45720" cy="384048"/>
          </a:xfrm>
          <a:prstGeom prst="rect">
            <a:avLst/>
          </a:prstGeom>
          <a:solidFill>
            <a:srgbClr val="FFFFFF"/>
          </a:solidFill>
          <a:ln/>
        </p:spPr>
        <p:txBody>
          <a:bodyPr/>
          <a:lstStyle/>
          <a:p>
            <a:endParaRPr lang="en-US"/>
          </a:p>
        </p:txBody>
      </p:sp>
      <p:sp>
        <p:nvSpPr>
          <p:cNvPr id="18" name="Text 13"/>
          <p:cNvSpPr txBox="1"/>
          <p:nvPr/>
        </p:nvSpPr>
        <p:spPr>
          <a:xfrm>
            <a:off x="1014984" y="4846320"/>
            <a:ext cx="9692640" cy="274320"/>
          </a:xfrm>
          <a:prstGeom prst="rect">
            <a:avLst/>
          </a:prstGeom>
          <a:noFill/>
          <a:ln/>
        </p:spPr>
        <p:txBody>
          <a:bodyPr wrap="square" lIns="0" tIns="0" rIns="0" bIns="0" rtlCol="0" anchor="t"/>
          <a:lstStyle/>
          <a:p>
            <a:pPr marL="0" indent="0">
              <a:buNone/>
            </a:pPr>
            <a:r>
              <a:rPr lang="en-US" sz="1400" dirty="0">
                <a:solidFill>
                  <a:srgbClr val="FFFFFF"/>
                </a:solidFill>
                <a:latin typeface="Montserrat SemiBold" pitchFamily="34" charset="0"/>
                <a:ea typeface="Montserrat SemiBold" pitchFamily="34" charset="-122"/>
                <a:cs typeface="Montserrat SemiBold" pitchFamily="34" charset="-120"/>
              </a:rPr>
              <a:t>To Cloud Operations and Development</a:t>
            </a:r>
            <a:endParaRPr lang="en-US" sz="1400" dirty="0"/>
          </a:p>
        </p:txBody>
      </p:sp>
      <p:sp>
        <p:nvSpPr>
          <p:cNvPr id="19" name="Text 14"/>
          <p:cNvSpPr txBox="1"/>
          <p:nvPr/>
        </p:nvSpPr>
        <p:spPr>
          <a:xfrm>
            <a:off x="1014984" y="5138928"/>
            <a:ext cx="9326880" cy="310896"/>
          </a:xfrm>
          <a:prstGeom prst="rect">
            <a:avLst/>
          </a:prstGeom>
          <a:noFill/>
          <a:ln/>
        </p:spPr>
        <p:txBody>
          <a:bodyPr wrap="square" lIns="0" tIns="0" rIns="0" bIns="0" rtlCol="0" anchor="t"/>
          <a:lstStyle/>
          <a:p>
            <a:pPr marL="0" indent="0">
              <a:lnSpc>
                <a:spcPct val="120000"/>
              </a:lnSpc>
              <a:buNone/>
            </a:pPr>
            <a:r>
              <a:rPr lang="en-US" sz="1100" dirty="0">
                <a:solidFill>
                  <a:srgbClr val="DAB4BA"/>
                </a:solidFill>
                <a:latin typeface="Montserrat" pitchFamily="34" charset="0"/>
                <a:ea typeface="Montserrat" pitchFamily="34" charset="-122"/>
                <a:cs typeface="Montserrat" pitchFamily="34" charset="-120"/>
              </a:rPr>
              <a:t>For being available for someone from another team who kept turning up with questions.</a:t>
            </a:r>
            <a:endParaRPr lang="en-US" sz="1100" dirty="0"/>
          </a:p>
        </p:txBody>
      </p:sp>
      <p:sp>
        <p:nvSpPr>
          <p:cNvPr id="20" name="Text 15"/>
          <p:cNvSpPr txBox="1"/>
          <p:nvPr/>
        </p:nvSpPr>
        <p:spPr>
          <a:xfrm>
            <a:off x="777240" y="5872277"/>
            <a:ext cx="6949440" cy="310896"/>
          </a:xfrm>
          <a:prstGeom prst="rect">
            <a:avLst/>
          </a:prstGeom>
          <a:noFill/>
          <a:ln/>
        </p:spPr>
        <p:txBody>
          <a:bodyPr wrap="square" lIns="0" tIns="0" rIns="0" bIns="0" rtlCol="0" anchor="t"/>
          <a:lstStyle/>
          <a:p>
            <a:pPr marL="0" indent="0">
              <a:buNone/>
            </a:pPr>
            <a:r>
              <a:rPr lang="en-US" sz="1600" dirty="0">
                <a:solidFill>
                  <a:srgbClr val="FFFFFF"/>
                </a:solidFill>
                <a:latin typeface="Montserrat SemiBold" pitchFamily="34" charset="0"/>
                <a:ea typeface="Montserrat SemiBold" pitchFamily="34" charset="-122"/>
                <a:cs typeface="Montserrat SemiBold" pitchFamily="34" charset="-120"/>
              </a:rPr>
              <a:t>Happy to take any questions.</a:t>
            </a:r>
            <a:endParaRPr lang="en-US" sz="1600" dirty="0"/>
          </a:p>
        </p:txBody>
      </p:sp>
      <p:sp>
        <p:nvSpPr>
          <p:cNvPr id="22" name="Text 17"/>
          <p:cNvSpPr txBox="1"/>
          <p:nvPr/>
        </p:nvSpPr>
        <p:spPr>
          <a:xfrm>
            <a:off x="777240" y="6327648"/>
            <a:ext cx="7315200" cy="201168"/>
          </a:xfrm>
          <a:prstGeom prst="rect">
            <a:avLst/>
          </a:prstGeom>
          <a:noFill/>
          <a:ln/>
        </p:spPr>
        <p:txBody>
          <a:bodyPr wrap="square" lIns="0" tIns="0" rIns="0" bIns="0" rtlCol="0" anchor="t"/>
          <a:lstStyle/>
          <a:p>
            <a:pPr marL="0" indent="0">
              <a:buNone/>
            </a:pPr>
            <a:r>
              <a:rPr lang="en-US" sz="850" kern="0" spc="140" dirty="0">
                <a:solidFill>
                  <a:srgbClr val="E4C9CE"/>
                </a:solidFill>
                <a:latin typeface="Montserrat SemiBold" pitchFamily="34" charset="0"/>
                <a:ea typeface="Montserrat SemiBold" pitchFamily="34" charset="-122"/>
                <a:cs typeface="Montserrat SemiBold" pitchFamily="34" charset="-120"/>
              </a:rPr>
              <a:t>THANK YOU</a:t>
            </a:r>
            <a:endParaRPr lang="en-US" sz="850" dirty="0"/>
          </a:p>
        </p:txBody>
      </p:sp>
      <p:sp>
        <p:nvSpPr>
          <p:cNvPr id="23" name="Text 18"/>
          <p:cNvSpPr txBox="1"/>
          <p:nvPr/>
        </p:nvSpPr>
        <p:spPr>
          <a:xfrm>
            <a:off x="10317175" y="6327648"/>
            <a:ext cx="1097280" cy="201168"/>
          </a:xfrm>
          <a:prstGeom prst="rect">
            <a:avLst/>
          </a:prstGeom>
          <a:noFill/>
          <a:ln/>
        </p:spPr>
        <p:txBody>
          <a:bodyPr wrap="square" lIns="0" tIns="0" rIns="0" bIns="0" rtlCol="0" anchor="t"/>
          <a:lstStyle/>
          <a:p>
            <a:pPr marL="0" indent="0" algn="r">
              <a:buNone/>
            </a:pPr>
            <a:r>
              <a:rPr lang="en-US" sz="850" kern="0" spc="140" dirty="0">
                <a:solidFill>
                  <a:srgbClr val="E4C9CE"/>
                </a:solidFill>
                <a:latin typeface="Montserrat SemiBold" pitchFamily="34" charset="0"/>
                <a:ea typeface="Montserrat SemiBold" pitchFamily="34" charset="-122"/>
                <a:cs typeface="Montserrat SemiBold" pitchFamily="34" charset="-120"/>
              </a:rPr>
              <a:t>22</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67A3EF07-BCD6-461A-AB84-F7DD7ECBEB6E}">
  <we:reference id="WA200010001" version="1.0.0.1" store="Omex" storeType="OMEX"/>
  <we:alternateReferences>
    <we:reference id="WA200010001" version="1.0.0.1" store="WA200010001" storeType="OMEX"/>
  </we:alternateReferences>
  <we:properties>
    <we:property name="claude.fileId" value="&quot;7f478986-6973-426e-b5a3-36a112a7e968&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107</TotalTime>
  <Words>2489</Words>
  <Application>Microsoft Office PowerPoint</Application>
  <PresentationFormat>Widescreen</PresentationFormat>
  <Paragraphs>336</Paragraphs>
  <Slides>20</Slides>
  <Notes>20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20</vt:i4>
      </vt:variant>
    </vt:vector>
  </HeadingPairs>
  <TitlesOfParts>
    <vt:vector size="26" baseType="lpstr">
      <vt:lpstr>Arial</vt:lpstr>
      <vt:lpstr>Montserrat</vt:lpstr>
      <vt:lpstr>Montserrat ExtraBold</vt:lpstr>
      <vt:lpstr>Montserrat Medium</vt:lpstr>
      <vt:lpstr>Montserrat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Stewart Title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Security Analyst Internship — Exit Presentation</dc:title>
  <dc:subject>PptxGenJS Presentation</dc:subject>
  <dc:creator>Jair Maldonado</dc:creator>
  <cp:lastModifiedBy>JAIR MALDONADO</cp:lastModifiedBy>
  <cp:revision>2</cp:revision>
  <dcterms:created xsi:type="dcterms:W3CDTF">2026-07-28T00:15:23Z</dcterms:created>
  <dcterms:modified xsi:type="dcterms:W3CDTF">2026-07-28T15:53:35Z</dcterms:modified>
</cp:coreProperties>
</file>